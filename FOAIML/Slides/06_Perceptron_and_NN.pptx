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60" r:id="rId2"/>
  </p:sldMasterIdLst>
  <p:notesMasterIdLst>
    <p:notesMasterId r:id="rId41"/>
  </p:notesMasterIdLst>
  <p:sldIdLst>
    <p:sldId id="300" r:id="rId3"/>
    <p:sldId id="259" r:id="rId4"/>
    <p:sldId id="260" r:id="rId5"/>
    <p:sldId id="261" r:id="rId6"/>
    <p:sldId id="304" r:id="rId7"/>
    <p:sldId id="262" r:id="rId8"/>
    <p:sldId id="263" r:id="rId9"/>
    <p:sldId id="264" r:id="rId10"/>
    <p:sldId id="305" r:id="rId11"/>
    <p:sldId id="306" r:id="rId12"/>
    <p:sldId id="303" r:id="rId13"/>
    <p:sldId id="307" r:id="rId14"/>
    <p:sldId id="308" r:id="rId15"/>
    <p:sldId id="309" r:id="rId16"/>
    <p:sldId id="310" r:id="rId17"/>
    <p:sldId id="265" r:id="rId18"/>
    <p:sldId id="266" r:id="rId19"/>
    <p:sldId id="267" r:id="rId20"/>
    <p:sldId id="273" r:id="rId21"/>
    <p:sldId id="268" r:id="rId22"/>
    <p:sldId id="269" r:id="rId23"/>
    <p:sldId id="270" r:id="rId24"/>
    <p:sldId id="271" r:id="rId25"/>
    <p:sldId id="272" r:id="rId26"/>
    <p:sldId id="274" r:id="rId27"/>
    <p:sldId id="277" r:id="rId28"/>
    <p:sldId id="278" r:id="rId29"/>
    <p:sldId id="279" r:id="rId30"/>
    <p:sldId id="280" r:id="rId31"/>
    <p:sldId id="281" r:id="rId32"/>
    <p:sldId id="282" r:id="rId33"/>
    <p:sldId id="283" r:id="rId34"/>
    <p:sldId id="284" r:id="rId35"/>
    <p:sldId id="285" r:id="rId36"/>
    <p:sldId id="286" r:id="rId37"/>
    <p:sldId id="297" r:id="rId38"/>
    <p:sldId id="298" r:id="rId39"/>
    <p:sldId id="29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FF40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76" autoAdjust="0"/>
    <p:restoredTop sz="81692" autoAdjust="0"/>
  </p:normalViewPr>
  <p:slideViewPr>
    <p:cSldViewPr snapToGrid="0" snapToObjects="1">
      <p:cViewPr varScale="1">
        <p:scale>
          <a:sx n="97" d="100"/>
          <a:sy n="97" d="100"/>
        </p:scale>
        <p:origin x="1016" y="18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70" d="100"/>
          <a:sy n="70" d="100"/>
        </p:scale>
        <p:origin x="2760"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B2B5F3-CA21-B746-93BD-89BD39E53309}" type="datetimeFigureOut">
              <a:rPr lang="en-US" smtClean="0"/>
              <a:t>3/12/26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97D147-E104-D44D-A191-1057172D21DD}" type="slidenum">
              <a:rPr lang="en-US" smtClean="0"/>
              <a:t>‹#›</a:t>
            </a:fld>
            <a:endParaRPr lang="en-US"/>
          </a:p>
        </p:txBody>
      </p:sp>
    </p:spTree>
    <p:extLst>
      <p:ext uri="{BB962C8B-B14F-4D97-AF65-F5344CB8AC3E}">
        <p14:creationId xmlns:p14="http://schemas.microsoft.com/office/powerpoint/2010/main" val="1930086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60311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 name="Google Shape;8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50" baseline="0" dirty="0"/>
              <a:t>So we are here to familiarize ourselves with the perceptron algorithm. We will see later how a perceptron algorithm leads to one of the most powerful machine learning models of today, i.e., neural network. And to learn about neural networks where else to look for motivation than human beings. Human beings are super complicated machines and arguably the main computing behind each of our decisions are done by a complicated network of neurons present in the brain.</a:t>
            </a:r>
            <a:endParaRPr sz="150" baseline="0" dirty="0"/>
          </a:p>
          <a:p>
            <a:pPr marL="0" lvl="0" indent="0" algn="l" rtl="0">
              <a:spcBef>
                <a:spcPts val="0"/>
              </a:spcBef>
              <a:spcAft>
                <a:spcPts val="0"/>
              </a:spcAft>
              <a:buSzPts val="1100"/>
              <a:buNone/>
            </a:pPr>
            <a:r>
              <a:rPr lang="en-US" sz="150" baseline="0" dirty="0"/>
              <a:t>A biological neuron unit consists of several parts - Dendrites carry input stimulation or signal to the cell body or soma. These input stimulations cause protein synthesis inside the soma at different rates depending on the strength of the input signals. Then the axon carries out the signal from the soma (cell body) to other neurons via the branches or the so called dendrites.</a:t>
            </a:r>
            <a:endParaRPr sz="150" baseline="0" dirty="0"/>
          </a:p>
        </p:txBody>
      </p:sp>
      <p:sp>
        <p:nvSpPr>
          <p:cNvPr id="84" name="Google Shape;84;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2437389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4c03cd9916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g4c03cd9916_0_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dirty="0"/>
              <a:t>The early AI researchers have taken the inspiration of this basic building block of the biological neurons - namely its an input-output relation. You get a lot of input signals, you operate on them linearly or non-linearly to get an output signal and then send the output to other connected neurons to feed them with these input signals.</a:t>
            </a:r>
            <a:endParaRPr dirty="0"/>
          </a:p>
          <a:p>
            <a:pPr marL="0" lvl="0" indent="0" algn="l" rtl="0">
              <a:spcBef>
                <a:spcPts val="0"/>
              </a:spcBef>
              <a:spcAft>
                <a:spcPts val="0"/>
              </a:spcAft>
              <a:buClr>
                <a:schemeClr val="dk1"/>
              </a:buClr>
              <a:buSzPts val="1100"/>
              <a:buFont typeface="Arial"/>
              <a:buNone/>
            </a:pPr>
            <a:r>
              <a:rPr lang="en-US" dirty="0"/>
              <a:t>We will see how this "simplified" notion of the working principle of biological neurons is translated to a Mathematical form. But before that, it is worthwhile to mention that it is not only the AI enthusiasts who are getting motivations from neuroscientific works but the reverse is also true. Prof. James </a:t>
            </a:r>
            <a:r>
              <a:rPr lang="en-US" dirty="0" err="1"/>
              <a:t>DiCarlo</a:t>
            </a:r>
            <a:r>
              <a:rPr lang="en-US" dirty="0"/>
              <a:t> the Head of the Department of Brain and Cognitive Sciences at MIT gave a fantastic Keynote speech at CVPR 2017 where he elaborated how advances in deep neural networks are helping explain what happens in the human visual cortex. I would highly encourage you all to listen to the talk which is available in </a:t>
            </a:r>
            <a:r>
              <a:rPr lang="en-US" dirty="0" err="1"/>
              <a:t>youtube</a:t>
            </a:r>
            <a:r>
              <a:rPr lang="en-US" dirty="0"/>
              <a:t>.</a:t>
            </a:r>
            <a:endParaRPr dirty="0"/>
          </a:p>
          <a:p>
            <a:pPr marL="0" lvl="0" indent="0" algn="l" rtl="0">
              <a:spcBef>
                <a:spcPts val="0"/>
              </a:spcBef>
              <a:spcAft>
                <a:spcPts val="0"/>
              </a:spcAft>
              <a:buSzPts val="1100"/>
              <a:buNone/>
            </a:pPr>
            <a:r>
              <a:rPr lang="en-US" dirty="0"/>
              <a:t>And our reference to biological neurons stops here for the purpose of this course. Just the take home message is: To us, a neuron is a computation unit that takes in a bunch of input signals, performs mathematical operations on them and transmit the resulting signal out.</a:t>
            </a:r>
            <a:endParaRPr dirty="0"/>
          </a:p>
        </p:txBody>
      </p:sp>
      <p:sp>
        <p:nvSpPr>
          <p:cNvPr id="92" name="Google Shape;92;g4c03cd9916_0_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3410927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2759823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474567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3133933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511011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886911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7348704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10751635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1898696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4611899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7953963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5713830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en-US" dirty="0"/>
              <a:t>What does the </a:t>
            </a:r>
            <a:r>
              <a:rPr lang="en-US"/>
              <a:t>last line means </a:t>
            </a:r>
            <a:r>
              <a:rPr lang="en-US" dirty="0"/>
              <a:t>-- http://</a:t>
            </a:r>
            <a:r>
              <a:rPr lang="en-US" dirty="0" err="1"/>
              <a:t>www.cs.columbia.edu</a:t>
            </a:r>
            <a:r>
              <a:rPr lang="en-US" dirty="0"/>
              <a:t>/~</a:t>
            </a:r>
            <a:r>
              <a:rPr lang="en-US" dirty="0" err="1"/>
              <a:t>mcollins</a:t>
            </a:r>
            <a:r>
              <a:rPr lang="en-US" dirty="0"/>
              <a:t>/courses/6998-2012/notes/</a:t>
            </a:r>
            <a:r>
              <a:rPr lang="en-US" dirty="0" err="1"/>
              <a:t>perc.converge.pdf</a:t>
            </a:r>
            <a:r>
              <a:rPr lang="en-US" dirty="0"/>
              <a:t> – look at the theorem statement.</a:t>
            </a:r>
            <a:endParaRPr dirty="0"/>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717657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0380056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8575134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39633383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1037534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832576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292640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14654140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34577703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12215597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en-US" dirty="0"/>
              <a:t>Note: I have changed to summation symbol.</a:t>
            </a:r>
            <a:endParaRPr dirty="0"/>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3505958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lvl="0">
              <a:buSzPts val="1100"/>
            </a:pPr>
            <a:r>
              <a:rPr lang="en-US" dirty="0"/>
              <a:t>We know using </a:t>
            </a:r>
            <a:r>
              <a:rPr lang="en-US" dirty="0" err="1"/>
              <a:t>softmax</a:t>
            </a:r>
            <a:r>
              <a:rPr lang="en-US" dirty="0"/>
              <a:t> activation, each neuron in the output layer provides the probability that the input belongs to the corresponding class. So, y_1 gives the probability that x belongs to class 1, y_2 gives the probability that x belongs to class 2 etc.</a:t>
            </a:r>
          </a:p>
          <a:p>
            <a:pPr lvl="0">
              <a:buSzPts val="1100"/>
            </a:pPr>
            <a:r>
              <a:rPr lang="en-US" dirty="0"/>
              <a:t>so </a:t>
            </a:r>
            <a:r>
              <a:rPr lang="en-US" dirty="0" err="1"/>
              <a:t>y_c</a:t>
            </a:r>
            <a:r>
              <a:rPr lang="en-US" dirty="0"/>
              <a:t> = p(x belongs to class c)</a:t>
            </a:r>
          </a:p>
          <a:p>
            <a:pPr lvl="0">
              <a:buSzPts val="1100"/>
            </a:pPr>
            <a:endParaRPr lang="en-US" dirty="0"/>
          </a:p>
          <a:p>
            <a:pPr lvl="0">
              <a:buSzPts val="1100"/>
            </a:pPr>
            <a:r>
              <a:rPr lang="en-US" dirty="0"/>
              <a:t>So, what we can aim to do is maximize the probability corresponding to the correct class for any example x.</a:t>
            </a:r>
          </a:p>
          <a:p>
            <a:pPr lvl="0">
              <a:buSzPts val="1100"/>
            </a:pPr>
            <a:r>
              <a:rPr lang="en-US" dirty="0"/>
              <a:t>Now logarithm is a monotonically increasing function that is [See what Hugo says]. So, we can as well maximize log of the probability. Also maximizing something is same as minimizing the negative of it. So, we can aim to minimize the negative log of the probability. Now, in real life we also try to minimize something which causes us some loss. It is ridiculous to minimize something which causes happiness. So, appropriately the Mathematicians call this term as loss and the aim is to minimize loss.</a:t>
            </a:r>
          </a:p>
          <a:p>
            <a:pPr lvl="0">
              <a:buSzPts val="1100"/>
            </a:pPr>
            <a:r>
              <a:rPr lang="en-US" dirty="0"/>
              <a:t>If x denotes the example and c is the class label [c is any number between 1 and C -- the total number of classes], then our loss function is defined as </a:t>
            </a:r>
            <a:endParaRPr dirty="0"/>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25652510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lvl="0">
              <a:buSzPts val="1100"/>
            </a:pPr>
            <a:r>
              <a:rPr lang="en-US" dirty="0"/>
              <a:t>Let us now turn our attention to a multi-layer neural network where there are not one, but</a:t>
            </a:r>
            <a:r>
              <a:rPr lang="en-US" baseline="0" dirty="0"/>
              <a:t> multiple hidden layers. Lets say we have L hidden layers. The input layer can be thought of as the 0</a:t>
            </a:r>
            <a:r>
              <a:rPr lang="en-US" baseline="30000" dirty="0"/>
              <a:t>th</a:t>
            </a:r>
            <a:r>
              <a:rPr lang="en-US" baseline="0" dirty="0"/>
              <a:t> hidden layer. And the output layer is as usual denoted by ’o’ </a:t>
            </a:r>
            <a:r>
              <a:rPr lang="mr-IN" baseline="0" dirty="0"/>
              <a:t>–</a:t>
            </a:r>
            <a:r>
              <a:rPr lang="en-US" baseline="0" dirty="0"/>
              <a:t> basically the activation function of the output layer.</a:t>
            </a:r>
          </a:p>
          <a:p>
            <a:pPr lvl="0">
              <a:buSzPts val="1100"/>
            </a:pPr>
            <a:r>
              <a:rPr lang="en-US" baseline="0" dirty="0"/>
              <a:t>Similar to what we have seen in the previous class, the pre-activation of any layer is given by w times h + b. The hidden layer activation is obtained by passing the pre-activation value through the activation function. Only the output layer activation is denoted as ‘o’.</a:t>
            </a:r>
          </a:p>
          <a:p>
            <a:pPr lvl="0">
              <a:buSzPts val="1100"/>
            </a:pPr>
            <a:r>
              <a:rPr lang="en-US" baseline="0" dirty="0"/>
              <a:t>The whole computation from x to y is called the forward pass where in each layer computation of pre-activation and then activation and then again pre-activation, activation, this goes on.</a:t>
            </a:r>
          </a:p>
          <a:p>
            <a:pPr lvl="0">
              <a:buSzPts val="1100"/>
            </a:pPr>
            <a:r>
              <a:rPr lang="en-US" baseline="0" dirty="0"/>
              <a:t>All learnable parameters i.e., all W and b are collectively called theta. </a:t>
            </a:r>
            <a:r>
              <a:rPr lang="en-US" dirty="0"/>
              <a:t>In</a:t>
            </a:r>
            <a:r>
              <a:rPr lang="en-US" baseline="0" dirty="0"/>
              <a:t> learning, our task is to come up with a proper theta that causes the loss to be minimum </a:t>
            </a:r>
            <a:r>
              <a:rPr lang="mr-IN" baseline="0" dirty="0"/>
              <a:t>–</a:t>
            </a:r>
            <a:r>
              <a:rPr lang="en-US" baseline="0" dirty="0"/>
              <a:t> which means we are looking for a theta that causes as many correct classifications as possible.</a:t>
            </a: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15416654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lvl="0">
              <a:buSzPts val="1100"/>
            </a:pPr>
            <a:r>
              <a:rPr lang="en-US" baseline="0" dirty="0"/>
              <a:t>The procedure by which we get such thetas is called backpropagation </a:t>
            </a:r>
            <a:r>
              <a:rPr lang="mr-IN" baseline="0" dirty="0"/>
              <a:t>–</a:t>
            </a:r>
            <a:r>
              <a:rPr lang="en-US" baseline="0" dirty="0"/>
              <a:t> which is nothing but intelligent use of the chain rule of differentiation for computation of loss function </a:t>
            </a:r>
            <a:r>
              <a:rPr lang="en-US" baseline="0" dirty="0" err="1"/>
              <a:t>w.r.t</a:t>
            </a:r>
            <a:r>
              <a:rPr lang="en-US" baseline="0" dirty="0"/>
              <a:t>. these parameters.</a:t>
            </a:r>
          </a:p>
          <a:p>
            <a:pPr lvl="0">
              <a:buSzPts val="1100"/>
            </a:pPr>
            <a:r>
              <a:rPr lang="en-US" baseline="0" dirty="0"/>
              <a:t>For gradient descent we need to compute [TELL] and let us see how this is done.</a:t>
            </a:r>
            <a:endParaRPr dirty="0"/>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36310273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lvl="0">
              <a:buSzPts val="1100"/>
            </a:pPr>
            <a:endParaRPr dirty="0"/>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7625750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lvl="0">
              <a:buSzPts val="1100"/>
            </a:pPr>
            <a:endParaRPr dirty="0"/>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9862109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lvl="0">
              <a:buSzPts val="1100"/>
            </a:pPr>
            <a:r>
              <a:rPr lang="en-US" dirty="0"/>
              <a:t>The rule is obtained from result 9.8 in </a:t>
            </a:r>
            <a:r>
              <a:rPr lang="en-US" dirty="0" err="1"/>
              <a:t>Dada’s</a:t>
            </a:r>
            <a:r>
              <a:rPr lang="en-US" dirty="0"/>
              <a:t> pass course Math</a:t>
            </a:r>
            <a:r>
              <a:rPr lang="en-US" baseline="0" dirty="0"/>
              <a:t> book</a:t>
            </a:r>
            <a:endParaRPr dirty="0"/>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27313558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lvl="0">
              <a:buSzPts val="1100"/>
            </a:pPr>
            <a:endParaRPr dirty="0"/>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25797061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lvl="0">
              <a:buSzPts val="1100"/>
            </a:pPr>
            <a:endParaRPr dirty="0"/>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26654192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lvl="0">
              <a:buSzPts val="1100"/>
            </a:pPr>
            <a:endParaRPr dirty="0"/>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16397510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lvl="0">
              <a:buSzPts val="1100"/>
            </a:pPr>
            <a:endParaRPr dirty="0"/>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3747300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extLst>
      <p:ext uri="{BB962C8B-B14F-4D97-AF65-F5344CB8AC3E}">
        <p14:creationId xmlns:p14="http://schemas.microsoft.com/office/powerpoint/2010/main" val="12131586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extLst>
      <p:ext uri="{BB962C8B-B14F-4D97-AF65-F5344CB8AC3E}">
        <p14:creationId xmlns:p14="http://schemas.microsoft.com/office/powerpoint/2010/main" val="455923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03cd99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4c03cd99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endParaRPr/>
          </a:p>
        </p:txBody>
      </p:sp>
      <p:sp>
        <p:nvSpPr>
          <p:cNvPr id="98" name="Google Shape;98;g4c03cd99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extLst>
      <p:ext uri="{BB962C8B-B14F-4D97-AF65-F5344CB8AC3E}">
        <p14:creationId xmlns:p14="http://schemas.microsoft.com/office/powerpoint/2010/main" val="447686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Footer Placeholder 4"/>
          <p:cNvSpPr>
            <a:spLocks noGrp="1"/>
          </p:cNvSpPr>
          <p:nvPr>
            <p:ph type="ftr" sz="quarter" idx="3"/>
          </p:nvPr>
        </p:nvSpPr>
        <p:spPr>
          <a:xfrm>
            <a:off x="2012197" y="6356350"/>
            <a:ext cx="8167606" cy="365125"/>
          </a:xfrm>
          <a:prstGeom prst="rect">
            <a:avLst/>
          </a:prstGeom>
        </p:spPr>
        <p:txBody>
          <a:bodyPr vert="horz" lIns="91440" tIns="45720" rIns="91440" bIns="45720" rtlCol="0" anchor="ctr"/>
          <a:lstStyle>
            <a:lvl1pPr algn="ctr">
              <a:defRPr sz="1200">
                <a:solidFill>
                  <a:srgbClr val="0432FF"/>
                </a:solidFill>
                <a:latin typeface="Segoe UI" charset="0"/>
                <a:ea typeface="Segoe UI" charset="0"/>
                <a:cs typeface="Segoe UI" charset="0"/>
              </a:defRPr>
            </a:lvl1pPr>
          </a:lstStyle>
          <a:p>
            <a:r>
              <a:rPr lang="en-US"/>
              <a:t>CS21206 / FAIML | Perceptron and MLP (c) Abir Das, Ayan Chaudhury</a:t>
            </a:r>
            <a:endParaRPr lang="en-US" dirty="0"/>
          </a:p>
        </p:txBody>
      </p:sp>
      <p:sp>
        <p:nvSpPr>
          <p:cNvPr id="9" name="Slide Number Placeholder 5"/>
          <p:cNvSpPr>
            <a:spLocks noGrp="1"/>
          </p:cNvSpPr>
          <p:nvPr>
            <p:ph type="sldNum" sz="quarter" idx="4"/>
          </p:nvPr>
        </p:nvSpPr>
        <p:spPr>
          <a:xfrm>
            <a:off x="10569844" y="6356350"/>
            <a:ext cx="783956" cy="365125"/>
          </a:xfrm>
          <a:prstGeom prst="rect">
            <a:avLst/>
          </a:prstGeom>
        </p:spPr>
        <p:txBody>
          <a:bodyPr vert="horz" lIns="91440" tIns="45720" rIns="91440" bIns="45720" rtlCol="0" anchor="ctr"/>
          <a:lstStyle>
            <a:lvl1pPr algn="r">
              <a:defRPr sz="1200">
                <a:solidFill>
                  <a:srgbClr val="0432FF"/>
                </a:solidFill>
                <a:latin typeface="Segoe UI" charset="0"/>
                <a:ea typeface="Segoe UI" charset="0"/>
                <a:cs typeface="Segoe UI" charset="0"/>
              </a:defRPr>
            </a:lvl1pPr>
          </a:lstStyle>
          <a:p>
            <a:fld id="{683B8651-0143-4140-839E-3D36292080E8}" type="slidenum">
              <a:rPr lang="en-US" smtClean="0"/>
              <a:pPr/>
              <a:t>‹#›</a:t>
            </a:fld>
            <a:endParaRPr lang="en-US"/>
          </a:p>
        </p:txBody>
      </p:sp>
      <p:sp>
        <p:nvSpPr>
          <p:cNvPr id="10" name="Date Placeholder 3">
            <a:extLst>
              <a:ext uri="{FF2B5EF4-FFF2-40B4-BE49-F238E27FC236}">
                <a16:creationId xmlns:a16="http://schemas.microsoft.com/office/drawing/2014/main" id="{93380AB9-5E02-224D-B291-E76A8C66CCF6}"/>
              </a:ext>
            </a:extLst>
          </p:cNvPr>
          <p:cNvSpPr>
            <a:spLocks noGrp="1"/>
          </p:cNvSpPr>
          <p:nvPr>
            <p:ph type="dt" sz="half" idx="2"/>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641867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012197" y="6356350"/>
            <a:ext cx="8167606" cy="365125"/>
          </a:xfrm>
          <a:prstGeom prst="rect">
            <a:avLst/>
          </a:prstGeom>
        </p:spPr>
        <p:txBody>
          <a:bodyPr vert="horz" lIns="91440" tIns="45720" rIns="91440" bIns="45720" rtlCol="0" anchor="ctr"/>
          <a:lstStyle>
            <a:lvl1pPr algn="ctr">
              <a:defRPr sz="1200">
                <a:solidFill>
                  <a:srgbClr val="0432FF"/>
                </a:solidFill>
                <a:latin typeface="Segoe UI" charset="0"/>
                <a:ea typeface="Segoe UI" charset="0"/>
                <a:cs typeface="Segoe UI" charset="0"/>
              </a:defRPr>
            </a:lvl1pPr>
          </a:lstStyle>
          <a:p>
            <a:r>
              <a:rPr lang="en-US"/>
              <a:t>CS21206 / FAIML | Perceptron and MLP (c) Abir Das, Ayan Chaudhury</a:t>
            </a:r>
            <a:endParaRPr lang="en-US" dirty="0"/>
          </a:p>
        </p:txBody>
      </p:sp>
      <p:sp>
        <p:nvSpPr>
          <p:cNvPr id="9" name="Slide Number Placeholder 5"/>
          <p:cNvSpPr>
            <a:spLocks noGrp="1"/>
          </p:cNvSpPr>
          <p:nvPr>
            <p:ph type="sldNum" sz="quarter" idx="4"/>
          </p:nvPr>
        </p:nvSpPr>
        <p:spPr>
          <a:xfrm>
            <a:off x="10569844" y="6356350"/>
            <a:ext cx="783956" cy="365125"/>
          </a:xfrm>
          <a:prstGeom prst="rect">
            <a:avLst/>
          </a:prstGeom>
        </p:spPr>
        <p:txBody>
          <a:bodyPr vert="horz" lIns="91440" tIns="45720" rIns="91440" bIns="45720" rtlCol="0" anchor="ctr"/>
          <a:lstStyle>
            <a:lvl1pPr algn="r">
              <a:defRPr sz="1200">
                <a:solidFill>
                  <a:srgbClr val="0432FF"/>
                </a:solidFill>
                <a:latin typeface="Segoe UI" charset="0"/>
                <a:ea typeface="Segoe UI" charset="0"/>
                <a:cs typeface="Segoe UI" charset="0"/>
              </a:defRPr>
            </a:lvl1pPr>
          </a:lstStyle>
          <a:p>
            <a:fld id="{683B8651-0143-4140-839E-3D36292080E8}" type="slidenum">
              <a:rPr lang="en-US" smtClean="0"/>
              <a:pPr/>
              <a:t>‹#›</a:t>
            </a:fld>
            <a:endParaRPr lang="en-US"/>
          </a:p>
        </p:txBody>
      </p:sp>
      <p:sp>
        <p:nvSpPr>
          <p:cNvPr id="10" name="Date Placeholder 3">
            <a:extLst>
              <a:ext uri="{FF2B5EF4-FFF2-40B4-BE49-F238E27FC236}">
                <a16:creationId xmlns:a16="http://schemas.microsoft.com/office/drawing/2014/main" id="{208A262E-A419-2840-B8D7-A71FA9C547FB}"/>
              </a:ext>
            </a:extLst>
          </p:cNvPr>
          <p:cNvSpPr>
            <a:spLocks noGrp="1"/>
          </p:cNvSpPr>
          <p:nvPr>
            <p:ph type="dt" sz="half" idx="2"/>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1455287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lgn="l">
              <a:defRPr sz="5400" b="1" cap="small" baseline="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ooter Placeholder 4"/>
          <p:cNvSpPr>
            <a:spLocks noGrp="1"/>
          </p:cNvSpPr>
          <p:nvPr>
            <p:ph type="ftr" sz="quarter" idx="3"/>
          </p:nvPr>
        </p:nvSpPr>
        <p:spPr>
          <a:xfrm>
            <a:off x="2012197" y="6356350"/>
            <a:ext cx="8167606" cy="365125"/>
          </a:xfrm>
          <a:prstGeom prst="rect">
            <a:avLst/>
          </a:prstGeom>
        </p:spPr>
        <p:txBody>
          <a:bodyPr vert="horz" lIns="91440" tIns="45720" rIns="91440" bIns="45720" rtlCol="0" anchor="ctr"/>
          <a:lstStyle>
            <a:lvl1pPr algn="ctr">
              <a:defRPr sz="1200">
                <a:solidFill>
                  <a:srgbClr val="0432FF"/>
                </a:solidFill>
                <a:latin typeface="Segoe UI" charset="0"/>
                <a:ea typeface="Segoe UI" charset="0"/>
                <a:cs typeface="Segoe UI" charset="0"/>
              </a:defRPr>
            </a:lvl1pPr>
          </a:lstStyle>
          <a:p>
            <a:r>
              <a:rPr lang="en-US"/>
              <a:t>CS21206 / FAIML | Perceptron and MLP (c) Abir Das, Ayan Chaudhury</a:t>
            </a:r>
            <a:endParaRPr lang="en-US" dirty="0"/>
          </a:p>
        </p:txBody>
      </p:sp>
      <p:sp>
        <p:nvSpPr>
          <p:cNvPr id="8" name="Date Placeholder 3"/>
          <p:cNvSpPr>
            <a:spLocks noGrp="1"/>
          </p:cNvSpPr>
          <p:nvPr>
            <p:ph type="dt" sz="half" idx="2"/>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
        <p:nvSpPr>
          <p:cNvPr id="9" name="Slide Number Placeholder 5"/>
          <p:cNvSpPr>
            <a:spLocks noGrp="1"/>
          </p:cNvSpPr>
          <p:nvPr>
            <p:ph type="sldNum" sz="quarter" idx="4"/>
          </p:nvPr>
        </p:nvSpPr>
        <p:spPr>
          <a:xfrm>
            <a:off x="10569844" y="6356350"/>
            <a:ext cx="783956" cy="365125"/>
          </a:xfrm>
          <a:prstGeom prst="rect">
            <a:avLst/>
          </a:prstGeom>
        </p:spPr>
        <p:txBody>
          <a:bodyPr vert="horz" lIns="91440" tIns="45720" rIns="91440" bIns="45720" rtlCol="0" anchor="ctr"/>
          <a:lstStyle>
            <a:lvl1pPr algn="r">
              <a:defRPr sz="1200">
                <a:solidFill>
                  <a:srgbClr val="0432FF"/>
                </a:solidFill>
                <a:latin typeface="Segoe UI" charset="0"/>
                <a:ea typeface="Segoe UI" charset="0"/>
                <a:cs typeface="Segoe UI" charset="0"/>
              </a:defRPr>
            </a:lvl1pPr>
          </a:lstStyle>
          <a:p>
            <a:fld id="{683B8651-0143-4140-839E-3D36292080E8}" type="slidenum">
              <a:rPr lang="en-US" smtClean="0"/>
              <a:pPr/>
              <a:t>‹#›</a:t>
            </a:fld>
            <a:endParaRPr lang="en-US"/>
          </a:p>
        </p:txBody>
      </p:sp>
    </p:spTree>
    <p:extLst>
      <p:ext uri="{BB962C8B-B14F-4D97-AF65-F5344CB8AC3E}">
        <p14:creationId xmlns:p14="http://schemas.microsoft.com/office/powerpoint/2010/main" val="1332294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2184863"/>
            <a:ext cx="5181600" cy="3992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84863"/>
            <a:ext cx="5181600" cy="3992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4"/>
          <p:cNvSpPr>
            <a:spLocks noGrp="1"/>
          </p:cNvSpPr>
          <p:nvPr>
            <p:ph type="ftr" sz="quarter" idx="3"/>
          </p:nvPr>
        </p:nvSpPr>
        <p:spPr>
          <a:xfrm>
            <a:off x="2012197" y="6356350"/>
            <a:ext cx="8167606" cy="365125"/>
          </a:xfrm>
          <a:prstGeom prst="rect">
            <a:avLst/>
          </a:prstGeom>
        </p:spPr>
        <p:txBody>
          <a:bodyPr vert="horz" lIns="91440" tIns="45720" rIns="91440" bIns="45720" rtlCol="0" anchor="ctr"/>
          <a:lstStyle>
            <a:lvl1pPr algn="ctr">
              <a:defRPr sz="1200">
                <a:solidFill>
                  <a:srgbClr val="0432FF"/>
                </a:solidFill>
                <a:latin typeface="Segoe UI" charset="0"/>
                <a:ea typeface="Segoe UI" charset="0"/>
                <a:cs typeface="Segoe UI" charset="0"/>
              </a:defRPr>
            </a:lvl1pPr>
          </a:lstStyle>
          <a:p>
            <a:r>
              <a:rPr lang="en-US"/>
              <a:t>CS21206 / FAIML | Perceptron and MLP (c) Abir Das, Ayan Chaudhury</a:t>
            </a:r>
            <a:endParaRPr lang="en-US" dirty="0"/>
          </a:p>
        </p:txBody>
      </p:sp>
      <p:sp>
        <p:nvSpPr>
          <p:cNvPr id="10" name="Slide Number Placeholder 5"/>
          <p:cNvSpPr>
            <a:spLocks noGrp="1"/>
          </p:cNvSpPr>
          <p:nvPr>
            <p:ph type="sldNum" sz="quarter" idx="4"/>
          </p:nvPr>
        </p:nvSpPr>
        <p:spPr>
          <a:xfrm>
            <a:off x="10569844" y="6356350"/>
            <a:ext cx="783956" cy="365125"/>
          </a:xfrm>
          <a:prstGeom prst="rect">
            <a:avLst/>
          </a:prstGeom>
        </p:spPr>
        <p:txBody>
          <a:bodyPr vert="horz" lIns="91440" tIns="45720" rIns="91440" bIns="45720" rtlCol="0" anchor="ctr"/>
          <a:lstStyle>
            <a:lvl1pPr algn="r">
              <a:defRPr sz="1200">
                <a:solidFill>
                  <a:srgbClr val="0432FF"/>
                </a:solidFill>
                <a:latin typeface="Segoe UI" charset="0"/>
                <a:ea typeface="Segoe UI" charset="0"/>
                <a:cs typeface="Segoe UI" charset="0"/>
              </a:defRPr>
            </a:lvl1pPr>
          </a:lstStyle>
          <a:p>
            <a:fld id="{683B8651-0143-4140-839E-3D36292080E8}" type="slidenum">
              <a:rPr lang="en-US" smtClean="0"/>
              <a:pPr/>
              <a:t>‹#›</a:t>
            </a:fld>
            <a:endParaRPr lang="en-US"/>
          </a:p>
        </p:txBody>
      </p:sp>
      <p:sp>
        <p:nvSpPr>
          <p:cNvPr id="11" name="Date Placeholder 3">
            <a:extLst>
              <a:ext uri="{FF2B5EF4-FFF2-40B4-BE49-F238E27FC236}">
                <a16:creationId xmlns:a16="http://schemas.microsoft.com/office/drawing/2014/main" id="{B6D2AFE7-0970-284B-A16E-9E917E946B1B}"/>
              </a:ext>
            </a:extLst>
          </p:cNvPr>
          <p:cNvSpPr>
            <a:spLocks noGrp="1"/>
          </p:cNvSpPr>
          <p:nvPr>
            <p:ph type="dt" sz="half" idx="10"/>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65707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2130606"/>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954517"/>
            <a:ext cx="5157787" cy="32351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2130606"/>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54517"/>
            <a:ext cx="5183188" cy="32351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1"/>
          <p:cNvSpPr>
            <a:spLocks noGrp="1"/>
          </p:cNvSpPr>
          <p:nvPr>
            <p:ph type="title"/>
          </p:nvPr>
        </p:nvSpPr>
        <p:spPr>
          <a:xfrm>
            <a:off x="838200" y="974360"/>
            <a:ext cx="10515600" cy="1031117"/>
          </a:xfrm>
        </p:spPr>
        <p:txBody>
          <a:bodyPr/>
          <a:lstStyle/>
          <a:p>
            <a:r>
              <a:rPr lang="en-US"/>
              <a:t>Click to edit Master title style</a:t>
            </a:r>
          </a:p>
        </p:txBody>
      </p:sp>
      <p:sp>
        <p:nvSpPr>
          <p:cNvPr id="11" name="Footer Placeholder 4"/>
          <p:cNvSpPr>
            <a:spLocks noGrp="1"/>
          </p:cNvSpPr>
          <p:nvPr>
            <p:ph type="ftr" sz="quarter" idx="10"/>
          </p:nvPr>
        </p:nvSpPr>
        <p:spPr>
          <a:xfrm>
            <a:off x="2012197" y="6356350"/>
            <a:ext cx="8167606" cy="365125"/>
          </a:xfrm>
          <a:prstGeom prst="rect">
            <a:avLst/>
          </a:prstGeom>
        </p:spPr>
        <p:txBody>
          <a:bodyPr vert="horz" lIns="91440" tIns="45720" rIns="91440" bIns="45720" rtlCol="0" anchor="ctr"/>
          <a:lstStyle>
            <a:lvl1pPr algn="ctr">
              <a:defRPr sz="1200">
                <a:solidFill>
                  <a:srgbClr val="0432FF"/>
                </a:solidFill>
                <a:latin typeface="Segoe UI" charset="0"/>
                <a:ea typeface="Segoe UI" charset="0"/>
                <a:cs typeface="Segoe UI" charset="0"/>
              </a:defRPr>
            </a:lvl1pPr>
          </a:lstStyle>
          <a:p>
            <a:r>
              <a:rPr lang="en-US"/>
              <a:t>CS21206 / FAIML | Perceptron and MLP (c) Abir Das, Ayan Chaudhury</a:t>
            </a:r>
            <a:endParaRPr lang="en-US" dirty="0"/>
          </a:p>
        </p:txBody>
      </p:sp>
      <p:sp>
        <p:nvSpPr>
          <p:cNvPr id="13" name="Slide Number Placeholder 5"/>
          <p:cNvSpPr>
            <a:spLocks noGrp="1"/>
          </p:cNvSpPr>
          <p:nvPr>
            <p:ph type="sldNum" sz="quarter" idx="12"/>
          </p:nvPr>
        </p:nvSpPr>
        <p:spPr>
          <a:xfrm>
            <a:off x="10569844" y="6356350"/>
            <a:ext cx="783956" cy="365125"/>
          </a:xfrm>
          <a:prstGeom prst="rect">
            <a:avLst/>
          </a:prstGeom>
        </p:spPr>
        <p:txBody>
          <a:bodyPr vert="horz" lIns="91440" tIns="45720" rIns="91440" bIns="45720" rtlCol="0" anchor="ctr"/>
          <a:lstStyle>
            <a:lvl1pPr algn="r">
              <a:defRPr sz="1200">
                <a:solidFill>
                  <a:srgbClr val="0432FF"/>
                </a:solidFill>
                <a:latin typeface="Segoe UI" charset="0"/>
                <a:ea typeface="Segoe UI" charset="0"/>
                <a:cs typeface="Segoe UI" charset="0"/>
              </a:defRPr>
            </a:lvl1pPr>
          </a:lstStyle>
          <a:p>
            <a:fld id="{683B8651-0143-4140-839E-3D36292080E8}" type="slidenum">
              <a:rPr lang="en-US" smtClean="0"/>
              <a:pPr/>
              <a:t>‹#›</a:t>
            </a:fld>
            <a:endParaRPr lang="en-US"/>
          </a:p>
        </p:txBody>
      </p:sp>
      <p:sp>
        <p:nvSpPr>
          <p:cNvPr id="14" name="Date Placeholder 3">
            <a:extLst>
              <a:ext uri="{FF2B5EF4-FFF2-40B4-BE49-F238E27FC236}">
                <a16:creationId xmlns:a16="http://schemas.microsoft.com/office/drawing/2014/main" id="{38438B93-DBD5-A847-9770-E834EC13DA5F}"/>
              </a:ext>
            </a:extLst>
          </p:cNvPr>
          <p:cNvSpPr>
            <a:spLocks noGrp="1"/>
          </p:cNvSpPr>
          <p:nvPr>
            <p:ph type="dt" sz="half" idx="13"/>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546265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Footer Placeholder 4"/>
          <p:cNvSpPr>
            <a:spLocks noGrp="1"/>
          </p:cNvSpPr>
          <p:nvPr>
            <p:ph type="ftr" sz="quarter" idx="3"/>
          </p:nvPr>
        </p:nvSpPr>
        <p:spPr>
          <a:xfrm>
            <a:off x="2012197" y="6356350"/>
            <a:ext cx="8167606" cy="365125"/>
          </a:xfrm>
          <a:prstGeom prst="rect">
            <a:avLst/>
          </a:prstGeom>
        </p:spPr>
        <p:txBody>
          <a:bodyPr vert="horz" lIns="91440" tIns="45720" rIns="91440" bIns="45720" rtlCol="0" anchor="ctr"/>
          <a:lstStyle>
            <a:lvl1pPr algn="ctr">
              <a:defRPr sz="1200">
                <a:solidFill>
                  <a:srgbClr val="0432FF"/>
                </a:solidFill>
                <a:latin typeface="Segoe UI" charset="0"/>
                <a:ea typeface="Segoe UI" charset="0"/>
                <a:cs typeface="Segoe UI" charset="0"/>
              </a:defRPr>
            </a:lvl1pPr>
          </a:lstStyle>
          <a:p>
            <a:r>
              <a:rPr lang="en-US"/>
              <a:t>CS21206 / FAIML | Perceptron and MLP (c) Abir Das, Ayan Chaudhury</a:t>
            </a:r>
            <a:endParaRPr lang="en-US" dirty="0"/>
          </a:p>
        </p:txBody>
      </p:sp>
      <p:sp>
        <p:nvSpPr>
          <p:cNvPr id="8" name="Slide Number Placeholder 5"/>
          <p:cNvSpPr>
            <a:spLocks noGrp="1"/>
          </p:cNvSpPr>
          <p:nvPr>
            <p:ph type="sldNum" sz="quarter" idx="4"/>
          </p:nvPr>
        </p:nvSpPr>
        <p:spPr>
          <a:xfrm>
            <a:off x="10569844" y="6356350"/>
            <a:ext cx="783956" cy="365125"/>
          </a:xfrm>
          <a:prstGeom prst="rect">
            <a:avLst/>
          </a:prstGeom>
        </p:spPr>
        <p:txBody>
          <a:bodyPr vert="horz" lIns="91440" tIns="45720" rIns="91440" bIns="45720" rtlCol="0" anchor="ctr"/>
          <a:lstStyle>
            <a:lvl1pPr algn="r">
              <a:defRPr sz="1200">
                <a:solidFill>
                  <a:srgbClr val="0432FF"/>
                </a:solidFill>
                <a:latin typeface="Segoe UI" charset="0"/>
                <a:ea typeface="Segoe UI" charset="0"/>
                <a:cs typeface="Segoe UI" charset="0"/>
              </a:defRPr>
            </a:lvl1pPr>
          </a:lstStyle>
          <a:p>
            <a:fld id="{683B8651-0143-4140-839E-3D36292080E8}" type="slidenum">
              <a:rPr lang="en-US" smtClean="0"/>
              <a:pPr/>
              <a:t>‹#›</a:t>
            </a:fld>
            <a:endParaRPr lang="en-US"/>
          </a:p>
        </p:txBody>
      </p:sp>
      <p:sp>
        <p:nvSpPr>
          <p:cNvPr id="9" name="Date Placeholder 3">
            <a:extLst>
              <a:ext uri="{FF2B5EF4-FFF2-40B4-BE49-F238E27FC236}">
                <a16:creationId xmlns:a16="http://schemas.microsoft.com/office/drawing/2014/main" id="{8AE85DC5-5EC7-BD41-9564-5312F0778D05}"/>
              </a:ext>
            </a:extLst>
          </p:cNvPr>
          <p:cNvSpPr>
            <a:spLocks noGrp="1"/>
          </p:cNvSpPr>
          <p:nvPr>
            <p:ph type="dt" sz="half" idx="2"/>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593667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2012197" y="6356350"/>
            <a:ext cx="8167606" cy="365125"/>
          </a:xfrm>
          <a:prstGeom prst="rect">
            <a:avLst/>
          </a:prstGeom>
        </p:spPr>
        <p:txBody>
          <a:bodyPr vert="horz" lIns="91440" tIns="45720" rIns="91440" bIns="45720" rtlCol="0" anchor="ctr"/>
          <a:lstStyle>
            <a:lvl1pPr algn="ctr">
              <a:defRPr sz="1200">
                <a:solidFill>
                  <a:srgbClr val="0432FF"/>
                </a:solidFill>
                <a:latin typeface="Segoe UI" charset="0"/>
                <a:ea typeface="Segoe UI" charset="0"/>
                <a:cs typeface="Segoe UI" charset="0"/>
              </a:defRPr>
            </a:lvl1pPr>
          </a:lstStyle>
          <a:p>
            <a:r>
              <a:rPr lang="en-US"/>
              <a:t>CS21206 / FAIML | Perceptron and MLP (c) Abir Das, Ayan Chaudhury</a:t>
            </a:r>
            <a:endParaRPr lang="en-US" dirty="0"/>
          </a:p>
        </p:txBody>
      </p:sp>
      <p:sp>
        <p:nvSpPr>
          <p:cNvPr id="7" name="Slide Number Placeholder 5"/>
          <p:cNvSpPr>
            <a:spLocks noGrp="1"/>
          </p:cNvSpPr>
          <p:nvPr>
            <p:ph type="sldNum" sz="quarter" idx="4"/>
          </p:nvPr>
        </p:nvSpPr>
        <p:spPr>
          <a:xfrm>
            <a:off x="10569844" y="6356350"/>
            <a:ext cx="783956" cy="365125"/>
          </a:xfrm>
          <a:prstGeom prst="rect">
            <a:avLst/>
          </a:prstGeom>
        </p:spPr>
        <p:txBody>
          <a:bodyPr vert="horz" lIns="91440" tIns="45720" rIns="91440" bIns="45720" rtlCol="0" anchor="ctr"/>
          <a:lstStyle>
            <a:lvl1pPr algn="r">
              <a:defRPr sz="1200">
                <a:solidFill>
                  <a:srgbClr val="0432FF"/>
                </a:solidFill>
                <a:latin typeface="Segoe UI" charset="0"/>
                <a:ea typeface="Segoe UI" charset="0"/>
                <a:cs typeface="Segoe UI" charset="0"/>
              </a:defRPr>
            </a:lvl1pPr>
          </a:lstStyle>
          <a:p>
            <a:fld id="{683B8651-0143-4140-839E-3D36292080E8}" type="slidenum">
              <a:rPr lang="en-US" smtClean="0"/>
              <a:pPr/>
              <a:t>‹#›</a:t>
            </a:fld>
            <a:endParaRPr lang="en-US"/>
          </a:p>
        </p:txBody>
      </p:sp>
      <p:sp>
        <p:nvSpPr>
          <p:cNvPr id="8" name="Date Placeholder 3">
            <a:extLst>
              <a:ext uri="{FF2B5EF4-FFF2-40B4-BE49-F238E27FC236}">
                <a16:creationId xmlns:a16="http://schemas.microsoft.com/office/drawing/2014/main" id="{CDA50C14-983A-304A-9903-55ACD560DFD4}"/>
              </a:ext>
            </a:extLst>
          </p:cNvPr>
          <p:cNvSpPr>
            <a:spLocks noGrp="1"/>
          </p:cNvSpPr>
          <p:nvPr>
            <p:ph type="dt" sz="half" idx="2"/>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562463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p:cNvSpPr>
            <a:spLocks noGrp="1"/>
          </p:cNvSpPr>
          <p:nvPr>
            <p:ph type="ftr" sz="quarter" idx="3"/>
          </p:nvPr>
        </p:nvSpPr>
        <p:spPr>
          <a:xfrm>
            <a:off x="2012197" y="6356350"/>
            <a:ext cx="8167606" cy="365125"/>
          </a:xfrm>
          <a:prstGeom prst="rect">
            <a:avLst/>
          </a:prstGeom>
        </p:spPr>
        <p:txBody>
          <a:bodyPr vert="horz" lIns="91440" tIns="45720" rIns="91440" bIns="45720" rtlCol="0" anchor="ctr"/>
          <a:lstStyle>
            <a:lvl1pPr algn="ctr">
              <a:defRPr sz="1200">
                <a:solidFill>
                  <a:srgbClr val="0432FF"/>
                </a:solidFill>
                <a:latin typeface="Segoe UI" charset="0"/>
                <a:ea typeface="Segoe UI" charset="0"/>
                <a:cs typeface="Segoe UI" charset="0"/>
              </a:defRPr>
            </a:lvl1pPr>
          </a:lstStyle>
          <a:p>
            <a:r>
              <a:rPr lang="en-US"/>
              <a:t>CS21206 / FAIML | Perceptron and MLP (c) Abir Das, Ayan Chaudhury</a:t>
            </a:r>
            <a:endParaRPr lang="en-US" dirty="0"/>
          </a:p>
        </p:txBody>
      </p:sp>
      <p:sp>
        <p:nvSpPr>
          <p:cNvPr id="10" name="Slide Number Placeholder 5"/>
          <p:cNvSpPr>
            <a:spLocks noGrp="1"/>
          </p:cNvSpPr>
          <p:nvPr>
            <p:ph type="sldNum" sz="quarter" idx="4"/>
          </p:nvPr>
        </p:nvSpPr>
        <p:spPr>
          <a:xfrm>
            <a:off x="10569844" y="6356350"/>
            <a:ext cx="783956" cy="365125"/>
          </a:xfrm>
          <a:prstGeom prst="rect">
            <a:avLst/>
          </a:prstGeom>
        </p:spPr>
        <p:txBody>
          <a:bodyPr vert="horz" lIns="91440" tIns="45720" rIns="91440" bIns="45720" rtlCol="0" anchor="ctr"/>
          <a:lstStyle>
            <a:lvl1pPr algn="r">
              <a:defRPr sz="1200">
                <a:solidFill>
                  <a:srgbClr val="0432FF"/>
                </a:solidFill>
                <a:latin typeface="Segoe UI" charset="0"/>
                <a:ea typeface="Segoe UI" charset="0"/>
                <a:cs typeface="Segoe UI" charset="0"/>
              </a:defRPr>
            </a:lvl1pPr>
          </a:lstStyle>
          <a:p>
            <a:fld id="{683B8651-0143-4140-839E-3D36292080E8}" type="slidenum">
              <a:rPr lang="en-US" smtClean="0"/>
              <a:pPr/>
              <a:t>‹#›</a:t>
            </a:fld>
            <a:endParaRPr lang="en-US"/>
          </a:p>
        </p:txBody>
      </p:sp>
      <p:sp>
        <p:nvSpPr>
          <p:cNvPr id="11" name="Date Placeholder 3">
            <a:extLst>
              <a:ext uri="{FF2B5EF4-FFF2-40B4-BE49-F238E27FC236}">
                <a16:creationId xmlns:a16="http://schemas.microsoft.com/office/drawing/2014/main" id="{525245D9-B6F6-6747-9D6C-4F494D327EEF}"/>
              </a:ext>
            </a:extLst>
          </p:cNvPr>
          <p:cNvSpPr>
            <a:spLocks noGrp="1"/>
          </p:cNvSpPr>
          <p:nvPr>
            <p:ph type="dt" sz="half" idx="10"/>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10429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p:cNvSpPr>
            <a:spLocks noGrp="1"/>
          </p:cNvSpPr>
          <p:nvPr>
            <p:ph type="ftr" sz="quarter" idx="3"/>
          </p:nvPr>
        </p:nvSpPr>
        <p:spPr>
          <a:xfrm>
            <a:off x="2012197" y="6356350"/>
            <a:ext cx="8167606" cy="365125"/>
          </a:xfrm>
          <a:prstGeom prst="rect">
            <a:avLst/>
          </a:prstGeom>
        </p:spPr>
        <p:txBody>
          <a:bodyPr vert="horz" lIns="91440" tIns="45720" rIns="91440" bIns="45720" rtlCol="0" anchor="ctr"/>
          <a:lstStyle>
            <a:lvl1pPr algn="ctr">
              <a:defRPr sz="1200">
                <a:solidFill>
                  <a:srgbClr val="0432FF"/>
                </a:solidFill>
                <a:latin typeface="Segoe UI" charset="0"/>
                <a:ea typeface="Segoe UI" charset="0"/>
                <a:cs typeface="Segoe UI" charset="0"/>
              </a:defRPr>
            </a:lvl1pPr>
          </a:lstStyle>
          <a:p>
            <a:r>
              <a:rPr lang="en-US"/>
              <a:t>CS21206 / FAIML | Perceptron and MLP (c) Abir Das, Ayan Chaudhury</a:t>
            </a:r>
            <a:endParaRPr lang="en-US" dirty="0"/>
          </a:p>
        </p:txBody>
      </p:sp>
      <p:sp>
        <p:nvSpPr>
          <p:cNvPr id="10" name="Slide Number Placeholder 5"/>
          <p:cNvSpPr>
            <a:spLocks noGrp="1"/>
          </p:cNvSpPr>
          <p:nvPr>
            <p:ph type="sldNum" sz="quarter" idx="4"/>
          </p:nvPr>
        </p:nvSpPr>
        <p:spPr>
          <a:xfrm>
            <a:off x="10569844" y="6356350"/>
            <a:ext cx="783956" cy="365125"/>
          </a:xfrm>
          <a:prstGeom prst="rect">
            <a:avLst/>
          </a:prstGeom>
        </p:spPr>
        <p:txBody>
          <a:bodyPr vert="horz" lIns="91440" tIns="45720" rIns="91440" bIns="45720" rtlCol="0" anchor="ctr"/>
          <a:lstStyle>
            <a:lvl1pPr algn="r">
              <a:defRPr sz="1200">
                <a:solidFill>
                  <a:srgbClr val="0432FF"/>
                </a:solidFill>
                <a:latin typeface="Segoe UI" charset="0"/>
                <a:ea typeface="Segoe UI" charset="0"/>
                <a:cs typeface="Segoe UI" charset="0"/>
              </a:defRPr>
            </a:lvl1pPr>
          </a:lstStyle>
          <a:p>
            <a:fld id="{683B8651-0143-4140-839E-3D36292080E8}" type="slidenum">
              <a:rPr lang="en-US" smtClean="0"/>
              <a:pPr/>
              <a:t>‹#›</a:t>
            </a:fld>
            <a:endParaRPr lang="en-US"/>
          </a:p>
        </p:txBody>
      </p:sp>
      <p:sp>
        <p:nvSpPr>
          <p:cNvPr id="11" name="Date Placeholder 3">
            <a:extLst>
              <a:ext uri="{FF2B5EF4-FFF2-40B4-BE49-F238E27FC236}">
                <a16:creationId xmlns:a16="http://schemas.microsoft.com/office/drawing/2014/main" id="{9B8F4BF2-3A7C-0646-B329-452EFD779D9C}"/>
              </a:ext>
            </a:extLst>
          </p:cNvPr>
          <p:cNvSpPr>
            <a:spLocks noGrp="1"/>
          </p:cNvSpPr>
          <p:nvPr>
            <p:ph type="dt" sz="half" idx="10"/>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471575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012197" y="6356350"/>
            <a:ext cx="8167606" cy="365125"/>
          </a:xfrm>
          <a:prstGeom prst="rect">
            <a:avLst/>
          </a:prstGeom>
        </p:spPr>
        <p:txBody>
          <a:bodyPr vert="horz" lIns="91440" tIns="45720" rIns="91440" bIns="45720" rtlCol="0" anchor="ctr"/>
          <a:lstStyle>
            <a:lvl1pPr algn="ctr">
              <a:defRPr sz="1200">
                <a:solidFill>
                  <a:srgbClr val="0432FF"/>
                </a:solidFill>
                <a:latin typeface="Segoe UI" charset="0"/>
                <a:ea typeface="Segoe UI" charset="0"/>
                <a:cs typeface="Segoe UI" charset="0"/>
              </a:defRPr>
            </a:lvl1pPr>
          </a:lstStyle>
          <a:p>
            <a:r>
              <a:rPr lang="en-US"/>
              <a:t>CS21206 / FAIML | Perceptron and MLP (c) Abir Das, Ayan Chaudhury</a:t>
            </a:r>
            <a:endParaRPr lang="en-US" dirty="0"/>
          </a:p>
        </p:txBody>
      </p:sp>
      <p:sp>
        <p:nvSpPr>
          <p:cNvPr id="9" name="Slide Number Placeholder 5"/>
          <p:cNvSpPr>
            <a:spLocks noGrp="1"/>
          </p:cNvSpPr>
          <p:nvPr>
            <p:ph type="sldNum" sz="quarter" idx="4"/>
          </p:nvPr>
        </p:nvSpPr>
        <p:spPr>
          <a:xfrm>
            <a:off x="10569844" y="6356350"/>
            <a:ext cx="783956" cy="365125"/>
          </a:xfrm>
          <a:prstGeom prst="rect">
            <a:avLst/>
          </a:prstGeom>
        </p:spPr>
        <p:txBody>
          <a:bodyPr vert="horz" lIns="91440" tIns="45720" rIns="91440" bIns="45720" rtlCol="0" anchor="ctr"/>
          <a:lstStyle>
            <a:lvl1pPr algn="r">
              <a:defRPr sz="1200">
                <a:solidFill>
                  <a:srgbClr val="0432FF"/>
                </a:solidFill>
                <a:latin typeface="Segoe UI" charset="0"/>
                <a:ea typeface="Segoe UI" charset="0"/>
                <a:cs typeface="Segoe UI" charset="0"/>
              </a:defRPr>
            </a:lvl1pPr>
          </a:lstStyle>
          <a:p>
            <a:fld id="{683B8651-0143-4140-839E-3D36292080E8}" type="slidenum">
              <a:rPr lang="en-US" smtClean="0"/>
              <a:pPr/>
              <a:t>‹#›</a:t>
            </a:fld>
            <a:endParaRPr lang="en-US"/>
          </a:p>
        </p:txBody>
      </p:sp>
      <p:sp>
        <p:nvSpPr>
          <p:cNvPr id="10" name="Date Placeholder 3">
            <a:extLst>
              <a:ext uri="{FF2B5EF4-FFF2-40B4-BE49-F238E27FC236}">
                <a16:creationId xmlns:a16="http://schemas.microsoft.com/office/drawing/2014/main" id="{46ADBE8E-61DF-0C40-8743-399CC7E25BED}"/>
              </a:ext>
            </a:extLst>
          </p:cNvPr>
          <p:cNvSpPr>
            <a:spLocks noGrp="1"/>
          </p:cNvSpPr>
          <p:nvPr>
            <p:ph type="dt" sz="half" idx="2"/>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1563107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012197" y="6356350"/>
            <a:ext cx="8167606" cy="365125"/>
          </a:xfrm>
          <a:prstGeom prst="rect">
            <a:avLst/>
          </a:prstGeom>
        </p:spPr>
        <p:txBody>
          <a:bodyPr vert="horz" lIns="91440" tIns="45720" rIns="91440" bIns="45720" rtlCol="0" anchor="ctr"/>
          <a:lstStyle>
            <a:lvl1pPr algn="ctr">
              <a:defRPr sz="1200">
                <a:solidFill>
                  <a:srgbClr val="0432FF"/>
                </a:solidFill>
                <a:latin typeface="Segoe UI" charset="0"/>
                <a:ea typeface="Segoe UI" charset="0"/>
                <a:cs typeface="Segoe UI" charset="0"/>
              </a:defRPr>
            </a:lvl1pPr>
          </a:lstStyle>
          <a:p>
            <a:r>
              <a:rPr lang="en-US"/>
              <a:t>CS21206 / FAIML | Perceptron and MLP (c) Abir Das, Ayan Chaudhury</a:t>
            </a:r>
            <a:endParaRPr lang="en-US" dirty="0"/>
          </a:p>
        </p:txBody>
      </p:sp>
      <p:sp>
        <p:nvSpPr>
          <p:cNvPr id="9" name="Slide Number Placeholder 5"/>
          <p:cNvSpPr>
            <a:spLocks noGrp="1"/>
          </p:cNvSpPr>
          <p:nvPr>
            <p:ph type="sldNum" sz="quarter" idx="4"/>
          </p:nvPr>
        </p:nvSpPr>
        <p:spPr>
          <a:xfrm>
            <a:off x="10569844" y="6356350"/>
            <a:ext cx="783956" cy="365125"/>
          </a:xfrm>
          <a:prstGeom prst="rect">
            <a:avLst/>
          </a:prstGeom>
        </p:spPr>
        <p:txBody>
          <a:bodyPr vert="horz" lIns="91440" tIns="45720" rIns="91440" bIns="45720" rtlCol="0" anchor="ctr"/>
          <a:lstStyle>
            <a:lvl1pPr algn="r">
              <a:defRPr sz="1200">
                <a:solidFill>
                  <a:srgbClr val="0432FF"/>
                </a:solidFill>
                <a:latin typeface="Segoe UI" charset="0"/>
                <a:ea typeface="Segoe UI" charset="0"/>
                <a:cs typeface="Segoe UI" charset="0"/>
              </a:defRPr>
            </a:lvl1pPr>
          </a:lstStyle>
          <a:p>
            <a:fld id="{683B8651-0143-4140-839E-3D36292080E8}" type="slidenum">
              <a:rPr lang="en-US" smtClean="0"/>
              <a:pPr/>
              <a:t>‹#›</a:t>
            </a:fld>
            <a:endParaRPr lang="en-US"/>
          </a:p>
        </p:txBody>
      </p:sp>
      <p:sp>
        <p:nvSpPr>
          <p:cNvPr id="10" name="Date Placeholder 3">
            <a:extLst>
              <a:ext uri="{FF2B5EF4-FFF2-40B4-BE49-F238E27FC236}">
                <a16:creationId xmlns:a16="http://schemas.microsoft.com/office/drawing/2014/main" id="{285B578A-9464-2946-B322-AEC044C33FCC}"/>
              </a:ext>
            </a:extLst>
          </p:cNvPr>
          <p:cNvSpPr>
            <a:spLocks noGrp="1"/>
          </p:cNvSpPr>
          <p:nvPr>
            <p:ph type="dt" sz="half" idx="2"/>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9776432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p:cNvSpPr>
            <a:spLocks noGrp="1"/>
          </p:cNvSpPr>
          <p:nvPr>
            <p:ph type="sldNum" sz="quarter" idx="12"/>
          </p:nvPr>
        </p:nvSpPr>
        <p:spPr/>
        <p:txBody>
          <a:bodyPr/>
          <a:lstStyle/>
          <a:p>
            <a:fld id="{683B8651-0143-4140-839E-3D36292080E8}" type="slidenum">
              <a:rPr lang="en-US" smtClean="0"/>
              <a:pPr/>
              <a:t>‹#›</a:t>
            </a:fld>
            <a:endParaRPr lang="en-US"/>
          </a:p>
        </p:txBody>
      </p:sp>
      <p:sp>
        <p:nvSpPr>
          <p:cNvPr id="7" name="Footer Placeholder 4"/>
          <p:cNvSpPr>
            <a:spLocks noGrp="1"/>
          </p:cNvSpPr>
          <p:nvPr>
            <p:ph type="ftr" sz="quarter" idx="11"/>
          </p:nvPr>
        </p:nvSpPr>
        <p:spPr>
          <a:xfrm>
            <a:off x="2012197" y="6356350"/>
            <a:ext cx="8167606" cy="365125"/>
          </a:xfrm>
        </p:spPr>
        <p:txBody>
          <a:bodyPr/>
          <a:lstStyle/>
          <a:p>
            <a:r>
              <a:rPr lang="en-US"/>
              <a:t>CS21206 / FAIML | Perceptron and MLP (c) Abir Das, Ayan Chaudhury</a:t>
            </a:r>
            <a:endParaRPr lang="en-US" dirty="0"/>
          </a:p>
        </p:txBody>
      </p:sp>
      <p:sp>
        <p:nvSpPr>
          <p:cNvPr id="8" name="Date Placeholder 3">
            <a:extLst>
              <a:ext uri="{FF2B5EF4-FFF2-40B4-BE49-F238E27FC236}">
                <a16:creationId xmlns:a16="http://schemas.microsoft.com/office/drawing/2014/main" id="{CA1380A0-DEC7-424E-B5A8-06AF199B771C}"/>
              </a:ext>
            </a:extLst>
          </p:cNvPr>
          <p:cNvSpPr>
            <a:spLocks noGrp="1"/>
          </p:cNvSpPr>
          <p:nvPr>
            <p:ph type="dt" sz="half" idx="2"/>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16905496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683B8651-0143-4140-839E-3D36292080E8}" type="slidenum">
              <a:rPr lang="en-US" smtClean="0"/>
              <a:pPr/>
              <a:t>‹#›</a:t>
            </a:fld>
            <a:endParaRPr lang="en-US"/>
          </a:p>
        </p:txBody>
      </p:sp>
      <p:sp>
        <p:nvSpPr>
          <p:cNvPr id="7" name="Footer Placeholder 4"/>
          <p:cNvSpPr>
            <a:spLocks noGrp="1"/>
          </p:cNvSpPr>
          <p:nvPr>
            <p:ph type="ftr" sz="quarter" idx="11"/>
          </p:nvPr>
        </p:nvSpPr>
        <p:spPr>
          <a:xfrm>
            <a:off x="2012197" y="6356350"/>
            <a:ext cx="8167606" cy="365125"/>
          </a:xfrm>
        </p:spPr>
        <p:txBody>
          <a:bodyPr/>
          <a:lstStyle/>
          <a:p>
            <a:r>
              <a:rPr lang="en-US"/>
              <a:t>CS21206 / FAIML | Perceptron and MLP (c) Abir Das, Ayan Chaudhury</a:t>
            </a:r>
            <a:endParaRPr lang="en-US" dirty="0"/>
          </a:p>
        </p:txBody>
      </p:sp>
      <p:sp>
        <p:nvSpPr>
          <p:cNvPr id="8" name="Date Placeholder 3">
            <a:extLst>
              <a:ext uri="{FF2B5EF4-FFF2-40B4-BE49-F238E27FC236}">
                <a16:creationId xmlns:a16="http://schemas.microsoft.com/office/drawing/2014/main" id="{7613AA7D-B0AC-7842-A5F5-B3FC33DD9709}"/>
              </a:ext>
            </a:extLst>
          </p:cNvPr>
          <p:cNvSpPr>
            <a:spLocks noGrp="1"/>
          </p:cNvSpPr>
          <p:nvPr>
            <p:ph type="dt" sz="half" idx="2"/>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6679241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lgn="l">
              <a:defRPr sz="5400" b="1" cap="small" baseline="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a:t>CS21206 / FAIML | Perceptron and MLP (c) Abir Das, Ayan Chaudhury</a:t>
            </a:r>
            <a:endParaRPr lang="en-US" dirty="0"/>
          </a:p>
        </p:txBody>
      </p:sp>
      <p:sp>
        <p:nvSpPr>
          <p:cNvPr id="6" name="Slide Number Placeholder 5"/>
          <p:cNvSpPr>
            <a:spLocks noGrp="1"/>
          </p:cNvSpPr>
          <p:nvPr>
            <p:ph type="sldNum" sz="quarter" idx="12"/>
          </p:nvPr>
        </p:nvSpPr>
        <p:spPr/>
        <p:txBody>
          <a:bodyPr/>
          <a:lstStyle/>
          <a:p>
            <a:fld id="{683B8651-0143-4140-839E-3D36292080E8}" type="slidenum">
              <a:rPr lang="en-US" smtClean="0"/>
              <a:pPr/>
              <a:t>‹#›</a:t>
            </a:fld>
            <a:endParaRPr lang="en-US"/>
          </a:p>
        </p:txBody>
      </p:sp>
      <p:sp>
        <p:nvSpPr>
          <p:cNvPr id="7" name="Date Placeholder 3">
            <a:extLst>
              <a:ext uri="{FF2B5EF4-FFF2-40B4-BE49-F238E27FC236}">
                <a16:creationId xmlns:a16="http://schemas.microsoft.com/office/drawing/2014/main" id="{F08BFD2F-3420-A943-B547-F12008197ABF}"/>
              </a:ext>
            </a:extLst>
          </p:cNvPr>
          <p:cNvSpPr>
            <a:spLocks noGrp="1"/>
          </p:cNvSpPr>
          <p:nvPr>
            <p:ph type="dt" sz="half" idx="2"/>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1039288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2184863"/>
            <a:ext cx="5181600" cy="3992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84863"/>
            <a:ext cx="5181600" cy="3992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p:txBody>
          <a:bodyPr/>
          <a:lstStyle/>
          <a:p>
            <a:fld id="{683B8651-0143-4140-839E-3D36292080E8}" type="slidenum">
              <a:rPr lang="en-US" smtClean="0"/>
              <a:pPr/>
              <a:t>‹#›</a:t>
            </a:fld>
            <a:endParaRPr lang="en-US"/>
          </a:p>
        </p:txBody>
      </p:sp>
      <p:sp>
        <p:nvSpPr>
          <p:cNvPr id="8" name="Footer Placeholder 4"/>
          <p:cNvSpPr>
            <a:spLocks noGrp="1"/>
          </p:cNvSpPr>
          <p:nvPr>
            <p:ph type="ftr" sz="quarter" idx="11"/>
          </p:nvPr>
        </p:nvSpPr>
        <p:spPr>
          <a:xfrm>
            <a:off x="2012197" y="6356350"/>
            <a:ext cx="8167606" cy="365125"/>
          </a:xfrm>
        </p:spPr>
        <p:txBody>
          <a:bodyPr/>
          <a:lstStyle/>
          <a:p>
            <a:r>
              <a:rPr lang="en-US"/>
              <a:t>CS21206 / FAIML | Perceptron and MLP (c) Abir Das, Ayan Chaudhury</a:t>
            </a:r>
            <a:endParaRPr lang="en-US" dirty="0"/>
          </a:p>
        </p:txBody>
      </p:sp>
      <p:sp>
        <p:nvSpPr>
          <p:cNvPr id="9" name="Date Placeholder 3">
            <a:extLst>
              <a:ext uri="{FF2B5EF4-FFF2-40B4-BE49-F238E27FC236}">
                <a16:creationId xmlns:a16="http://schemas.microsoft.com/office/drawing/2014/main" id="{CD4D831F-BE33-F94E-A1C3-B66629DA8F63}"/>
              </a:ext>
            </a:extLst>
          </p:cNvPr>
          <p:cNvSpPr>
            <a:spLocks noGrp="1"/>
          </p:cNvSpPr>
          <p:nvPr>
            <p:ph type="dt" sz="half" idx="13"/>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1019645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2130606"/>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954517"/>
            <a:ext cx="5157787" cy="32351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2130606"/>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54517"/>
            <a:ext cx="5183188" cy="32351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fld id="{683B8651-0143-4140-839E-3D36292080E8}" type="slidenum">
              <a:rPr lang="en-US" smtClean="0"/>
              <a:pPr/>
              <a:t>‹#›</a:t>
            </a:fld>
            <a:endParaRPr lang="en-US"/>
          </a:p>
        </p:txBody>
      </p:sp>
      <p:sp>
        <p:nvSpPr>
          <p:cNvPr id="10" name="Title 1"/>
          <p:cNvSpPr>
            <a:spLocks noGrp="1"/>
          </p:cNvSpPr>
          <p:nvPr>
            <p:ph type="title"/>
          </p:nvPr>
        </p:nvSpPr>
        <p:spPr>
          <a:xfrm>
            <a:off x="838200" y="974360"/>
            <a:ext cx="10515600" cy="1031117"/>
          </a:xfrm>
        </p:spPr>
        <p:txBody>
          <a:bodyPr/>
          <a:lstStyle/>
          <a:p>
            <a:r>
              <a:rPr lang="en-US"/>
              <a:t>Click to edit Master title style</a:t>
            </a:r>
          </a:p>
        </p:txBody>
      </p:sp>
      <p:sp>
        <p:nvSpPr>
          <p:cNvPr id="11" name="Footer Placeholder 4"/>
          <p:cNvSpPr>
            <a:spLocks noGrp="1"/>
          </p:cNvSpPr>
          <p:nvPr>
            <p:ph type="ftr" sz="quarter" idx="11"/>
          </p:nvPr>
        </p:nvSpPr>
        <p:spPr>
          <a:xfrm>
            <a:off x="2012197" y="6356350"/>
            <a:ext cx="8167606" cy="365125"/>
          </a:xfrm>
        </p:spPr>
        <p:txBody>
          <a:bodyPr/>
          <a:lstStyle/>
          <a:p>
            <a:r>
              <a:rPr lang="en-US"/>
              <a:t>CS21206 / FAIML | Perceptron and MLP (c) Abir Das, Ayan Chaudhury</a:t>
            </a:r>
            <a:endParaRPr lang="en-US" dirty="0"/>
          </a:p>
        </p:txBody>
      </p:sp>
      <p:sp>
        <p:nvSpPr>
          <p:cNvPr id="12" name="Date Placeholder 3">
            <a:extLst>
              <a:ext uri="{FF2B5EF4-FFF2-40B4-BE49-F238E27FC236}">
                <a16:creationId xmlns:a16="http://schemas.microsoft.com/office/drawing/2014/main" id="{82F3E026-F4BA-FF45-BCE6-35E7D86B52EA}"/>
              </a:ext>
            </a:extLst>
          </p:cNvPr>
          <p:cNvSpPr>
            <a:spLocks noGrp="1"/>
          </p:cNvSpPr>
          <p:nvPr>
            <p:ph type="dt" sz="half" idx="13"/>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5569515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a:xfrm>
            <a:off x="10569844" y="6492277"/>
            <a:ext cx="783956" cy="365125"/>
          </a:xfrm>
        </p:spPr>
        <p:txBody>
          <a:bodyPr/>
          <a:lstStyle/>
          <a:p>
            <a:fld id="{683B8651-0143-4140-839E-3D36292080E8}" type="slidenum">
              <a:rPr lang="en-US" smtClean="0"/>
              <a:pPr/>
              <a:t>‹#›</a:t>
            </a:fld>
            <a:endParaRPr lang="en-US"/>
          </a:p>
        </p:txBody>
      </p:sp>
      <p:sp>
        <p:nvSpPr>
          <p:cNvPr id="6" name="Footer Placeholder 4"/>
          <p:cNvSpPr>
            <a:spLocks noGrp="1"/>
          </p:cNvSpPr>
          <p:nvPr>
            <p:ph type="ftr" sz="quarter" idx="11"/>
          </p:nvPr>
        </p:nvSpPr>
        <p:spPr>
          <a:xfrm>
            <a:off x="2012197" y="6492277"/>
            <a:ext cx="8167606" cy="365125"/>
          </a:xfrm>
        </p:spPr>
        <p:txBody>
          <a:bodyPr/>
          <a:lstStyle/>
          <a:p>
            <a:r>
              <a:rPr lang="en-US"/>
              <a:t>CS21206 / FAIML | Perceptron and MLP (c) Abir Das, Ayan Chaudhury</a:t>
            </a:r>
            <a:endParaRPr lang="en-US" dirty="0"/>
          </a:p>
        </p:txBody>
      </p:sp>
      <p:sp>
        <p:nvSpPr>
          <p:cNvPr id="7" name="Date Placeholder 3">
            <a:extLst>
              <a:ext uri="{FF2B5EF4-FFF2-40B4-BE49-F238E27FC236}">
                <a16:creationId xmlns:a16="http://schemas.microsoft.com/office/drawing/2014/main" id="{B34D6B45-09FB-1C40-8850-18C3D935D7B3}"/>
              </a:ext>
            </a:extLst>
          </p:cNvPr>
          <p:cNvSpPr>
            <a:spLocks noGrp="1"/>
          </p:cNvSpPr>
          <p:nvPr>
            <p:ph type="dt" sz="half" idx="2"/>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17276590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83B8651-0143-4140-839E-3D36292080E8}" type="slidenum">
              <a:rPr lang="en-US" smtClean="0"/>
              <a:pPr/>
              <a:t>‹#›</a:t>
            </a:fld>
            <a:endParaRPr lang="en-US"/>
          </a:p>
        </p:txBody>
      </p:sp>
      <p:sp>
        <p:nvSpPr>
          <p:cNvPr id="5" name="Footer Placeholder 4"/>
          <p:cNvSpPr>
            <a:spLocks noGrp="1"/>
          </p:cNvSpPr>
          <p:nvPr>
            <p:ph type="ftr" sz="quarter" idx="11"/>
          </p:nvPr>
        </p:nvSpPr>
        <p:spPr>
          <a:xfrm>
            <a:off x="2012197" y="6356350"/>
            <a:ext cx="8167606" cy="365125"/>
          </a:xfrm>
        </p:spPr>
        <p:txBody>
          <a:bodyPr/>
          <a:lstStyle/>
          <a:p>
            <a:r>
              <a:rPr lang="en-US"/>
              <a:t>CS21206 / FAIML | Perceptron and MLP (c) Abir Das, Ayan Chaudhury</a:t>
            </a:r>
            <a:endParaRPr lang="en-US" dirty="0"/>
          </a:p>
        </p:txBody>
      </p:sp>
      <p:sp>
        <p:nvSpPr>
          <p:cNvPr id="6" name="Date Placeholder 3">
            <a:extLst>
              <a:ext uri="{FF2B5EF4-FFF2-40B4-BE49-F238E27FC236}">
                <a16:creationId xmlns:a16="http://schemas.microsoft.com/office/drawing/2014/main" id="{DAC46D19-DD50-604A-A98D-939A0B1907D9}"/>
              </a:ext>
            </a:extLst>
          </p:cNvPr>
          <p:cNvSpPr>
            <a:spLocks noGrp="1"/>
          </p:cNvSpPr>
          <p:nvPr>
            <p:ph type="dt" sz="half" idx="2"/>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3936839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683B8651-0143-4140-839E-3D36292080E8}" type="slidenum">
              <a:rPr lang="en-US" smtClean="0"/>
              <a:pPr/>
              <a:t>‹#›</a:t>
            </a:fld>
            <a:endParaRPr lang="en-US"/>
          </a:p>
        </p:txBody>
      </p:sp>
      <p:sp>
        <p:nvSpPr>
          <p:cNvPr id="8" name="Footer Placeholder 4"/>
          <p:cNvSpPr>
            <a:spLocks noGrp="1"/>
          </p:cNvSpPr>
          <p:nvPr>
            <p:ph type="ftr" sz="quarter" idx="11"/>
          </p:nvPr>
        </p:nvSpPr>
        <p:spPr>
          <a:xfrm>
            <a:off x="2012197" y="6356350"/>
            <a:ext cx="8167606" cy="365125"/>
          </a:xfrm>
        </p:spPr>
        <p:txBody>
          <a:bodyPr/>
          <a:lstStyle/>
          <a:p>
            <a:r>
              <a:rPr lang="en-US"/>
              <a:t>CS21206 / FAIML | Perceptron and MLP (c) Abir Das, Ayan Chaudhury</a:t>
            </a:r>
            <a:endParaRPr lang="en-US" dirty="0"/>
          </a:p>
        </p:txBody>
      </p:sp>
      <p:sp>
        <p:nvSpPr>
          <p:cNvPr id="9" name="Date Placeholder 3">
            <a:extLst>
              <a:ext uri="{FF2B5EF4-FFF2-40B4-BE49-F238E27FC236}">
                <a16:creationId xmlns:a16="http://schemas.microsoft.com/office/drawing/2014/main" id="{89B4F9B1-7478-C648-BBA7-ED68B36BD75C}"/>
              </a:ext>
            </a:extLst>
          </p:cNvPr>
          <p:cNvSpPr>
            <a:spLocks noGrp="1"/>
          </p:cNvSpPr>
          <p:nvPr>
            <p:ph type="dt" sz="half" idx="13"/>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12068538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683B8651-0143-4140-839E-3D36292080E8}" type="slidenum">
              <a:rPr lang="en-US" smtClean="0"/>
              <a:pPr/>
              <a:t>‹#›</a:t>
            </a:fld>
            <a:endParaRPr lang="en-US"/>
          </a:p>
        </p:txBody>
      </p:sp>
      <p:sp>
        <p:nvSpPr>
          <p:cNvPr id="8" name="Footer Placeholder 4"/>
          <p:cNvSpPr>
            <a:spLocks noGrp="1"/>
          </p:cNvSpPr>
          <p:nvPr>
            <p:ph type="ftr" sz="quarter" idx="11"/>
          </p:nvPr>
        </p:nvSpPr>
        <p:spPr>
          <a:xfrm>
            <a:off x="2012197" y="6356350"/>
            <a:ext cx="8167606" cy="365125"/>
          </a:xfrm>
        </p:spPr>
        <p:txBody>
          <a:bodyPr/>
          <a:lstStyle/>
          <a:p>
            <a:r>
              <a:rPr lang="en-US"/>
              <a:t>CS21206 / FAIML | Perceptron and MLP (c) Abir Das, Ayan Chaudhury</a:t>
            </a:r>
            <a:endParaRPr lang="en-US" dirty="0"/>
          </a:p>
        </p:txBody>
      </p:sp>
      <p:sp>
        <p:nvSpPr>
          <p:cNvPr id="9" name="Date Placeholder 3">
            <a:extLst>
              <a:ext uri="{FF2B5EF4-FFF2-40B4-BE49-F238E27FC236}">
                <a16:creationId xmlns:a16="http://schemas.microsoft.com/office/drawing/2014/main" id="{81E776B5-A6B8-2348-9AD0-2F395BE73893}"/>
              </a:ext>
            </a:extLst>
          </p:cNvPr>
          <p:cNvSpPr>
            <a:spLocks noGrp="1"/>
          </p:cNvSpPr>
          <p:nvPr>
            <p:ph type="dt" sz="half" idx="13"/>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21199919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683B8651-0143-4140-839E-3D36292080E8}" type="slidenum">
              <a:rPr lang="en-US" smtClean="0"/>
              <a:pPr/>
              <a:t>‹#›</a:t>
            </a:fld>
            <a:endParaRPr lang="en-US"/>
          </a:p>
        </p:txBody>
      </p:sp>
      <p:sp>
        <p:nvSpPr>
          <p:cNvPr id="7" name="Footer Placeholder 4"/>
          <p:cNvSpPr>
            <a:spLocks noGrp="1"/>
          </p:cNvSpPr>
          <p:nvPr>
            <p:ph type="ftr" sz="quarter" idx="11"/>
          </p:nvPr>
        </p:nvSpPr>
        <p:spPr>
          <a:xfrm>
            <a:off x="2012197" y="6356350"/>
            <a:ext cx="8167606" cy="365125"/>
          </a:xfrm>
        </p:spPr>
        <p:txBody>
          <a:bodyPr/>
          <a:lstStyle/>
          <a:p>
            <a:r>
              <a:rPr lang="en-US"/>
              <a:t>CS21206 / FAIML | Perceptron and MLP (c) Abir Das, Ayan Chaudhury</a:t>
            </a:r>
            <a:endParaRPr lang="en-US" dirty="0"/>
          </a:p>
        </p:txBody>
      </p:sp>
      <p:sp>
        <p:nvSpPr>
          <p:cNvPr id="8" name="Date Placeholder 3">
            <a:extLst>
              <a:ext uri="{FF2B5EF4-FFF2-40B4-BE49-F238E27FC236}">
                <a16:creationId xmlns:a16="http://schemas.microsoft.com/office/drawing/2014/main" id="{C10CD971-5492-264E-B5E5-D1DA8436D50F}"/>
              </a:ext>
            </a:extLst>
          </p:cNvPr>
          <p:cNvSpPr>
            <a:spLocks noGrp="1"/>
          </p:cNvSpPr>
          <p:nvPr>
            <p:ph type="dt" sz="half" idx="2"/>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5891119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683B8651-0143-4140-839E-3D36292080E8}" type="slidenum">
              <a:rPr lang="en-US" smtClean="0"/>
              <a:pPr/>
              <a:t>‹#›</a:t>
            </a:fld>
            <a:endParaRPr lang="en-US"/>
          </a:p>
        </p:txBody>
      </p:sp>
      <p:sp>
        <p:nvSpPr>
          <p:cNvPr id="7" name="Footer Placeholder 4"/>
          <p:cNvSpPr>
            <a:spLocks noGrp="1"/>
          </p:cNvSpPr>
          <p:nvPr>
            <p:ph type="ftr" sz="quarter" idx="11"/>
          </p:nvPr>
        </p:nvSpPr>
        <p:spPr>
          <a:xfrm>
            <a:off x="2012197" y="6356350"/>
            <a:ext cx="8167606" cy="365125"/>
          </a:xfrm>
        </p:spPr>
        <p:txBody>
          <a:bodyPr/>
          <a:lstStyle/>
          <a:p>
            <a:r>
              <a:rPr lang="en-US"/>
              <a:t>CS21206 / FAIML | Perceptron and MLP (c) Abir Das, Ayan Chaudhury</a:t>
            </a:r>
            <a:endParaRPr lang="en-US" dirty="0"/>
          </a:p>
        </p:txBody>
      </p:sp>
      <p:sp>
        <p:nvSpPr>
          <p:cNvPr id="8" name="Date Placeholder 3">
            <a:extLst>
              <a:ext uri="{FF2B5EF4-FFF2-40B4-BE49-F238E27FC236}">
                <a16:creationId xmlns:a16="http://schemas.microsoft.com/office/drawing/2014/main" id="{4169C6A8-1F71-9F4C-9122-ADE46B2A8C50}"/>
              </a:ext>
            </a:extLst>
          </p:cNvPr>
          <p:cNvSpPr>
            <a:spLocks noGrp="1"/>
          </p:cNvSpPr>
          <p:nvPr>
            <p:ph type="dt" sz="half" idx="2"/>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1249188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974360"/>
            <a:ext cx="10515600" cy="10311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2134482"/>
            <a:ext cx="10515600" cy="40783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p:cNvCxnSpPr/>
          <p:nvPr userDrawn="1"/>
        </p:nvCxnSpPr>
        <p:spPr>
          <a:xfrm>
            <a:off x="0" y="914398"/>
            <a:ext cx="12192000" cy="10758"/>
          </a:xfrm>
          <a:prstGeom prst="line">
            <a:avLst/>
          </a:prstGeom>
          <a:ln w="22225"/>
        </p:spPr>
        <p:style>
          <a:lnRef idx="1">
            <a:schemeClr val="accent5"/>
          </a:lnRef>
          <a:fillRef idx="0">
            <a:schemeClr val="accent5"/>
          </a:fillRef>
          <a:effectRef idx="0">
            <a:schemeClr val="accent5"/>
          </a:effectRef>
          <a:fontRef idx="minor">
            <a:schemeClr val="tx1"/>
          </a:fontRef>
        </p:style>
      </p:cxnSp>
      <p:pic>
        <p:nvPicPr>
          <p:cNvPr id="10" name="Picture 9"/>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4288" y="15871"/>
            <a:ext cx="781048" cy="875765"/>
          </a:xfrm>
          <a:prstGeom prst="rect">
            <a:avLst/>
          </a:prstGeom>
        </p:spPr>
      </p:pic>
      <p:sp>
        <p:nvSpPr>
          <p:cNvPr id="11" name="TextBox 10"/>
          <p:cNvSpPr txBox="1"/>
          <p:nvPr userDrawn="1"/>
        </p:nvSpPr>
        <p:spPr>
          <a:xfrm>
            <a:off x="4435479" y="272251"/>
            <a:ext cx="7428573" cy="646331"/>
          </a:xfrm>
          <a:prstGeom prst="rect">
            <a:avLst/>
          </a:prstGeom>
          <a:noFill/>
        </p:spPr>
        <p:txBody>
          <a:bodyPr wrap="none" rtlCol="0">
            <a:spAutoFit/>
          </a:bodyPr>
          <a:lstStyle/>
          <a:p>
            <a:pPr algn="r"/>
            <a:r>
              <a:rPr lang="en-US" b="1" dirty="0">
                <a:solidFill>
                  <a:srgbClr val="0432FF"/>
                </a:solidFill>
                <a:latin typeface="Segoe UI" charset="0"/>
                <a:ea typeface="Segoe UI" charset="0"/>
                <a:cs typeface="Segoe UI" charset="0"/>
              </a:rPr>
              <a:t>Computer Science and Engineering</a:t>
            </a:r>
            <a:r>
              <a:rPr lang="en-US" b="1" dirty="0">
                <a:solidFill>
                  <a:prstClr val="black"/>
                </a:solidFill>
                <a:latin typeface="Segoe UI" charset="0"/>
                <a:ea typeface="Segoe UI" charset="0"/>
                <a:cs typeface="Segoe UI" charset="0"/>
              </a:rPr>
              <a:t>| Indian Institute of Technology Kharagpur</a:t>
            </a:r>
          </a:p>
          <a:p>
            <a:pPr algn="r"/>
            <a:r>
              <a:rPr lang="en-US" i="1" dirty="0" err="1">
                <a:solidFill>
                  <a:prstClr val="black"/>
                </a:solidFill>
                <a:latin typeface="Segoe UI" charset="0"/>
                <a:ea typeface="Segoe UI" charset="0"/>
                <a:cs typeface="Segoe UI" charset="0"/>
              </a:rPr>
              <a:t>cse.iitkgp.ac.in</a:t>
            </a:r>
            <a:endParaRPr lang="en-US" i="1" dirty="0">
              <a:solidFill>
                <a:prstClr val="black"/>
              </a:solidFill>
              <a:latin typeface="Segoe UI" charset="0"/>
              <a:ea typeface="Segoe UI" charset="0"/>
              <a:cs typeface="Segoe UI" charset="0"/>
            </a:endParaRPr>
          </a:p>
        </p:txBody>
      </p:sp>
      <p:sp>
        <p:nvSpPr>
          <p:cNvPr id="12" name="Footer Placeholder 4"/>
          <p:cNvSpPr>
            <a:spLocks noGrp="1"/>
          </p:cNvSpPr>
          <p:nvPr>
            <p:ph type="ftr" sz="quarter" idx="3"/>
          </p:nvPr>
        </p:nvSpPr>
        <p:spPr>
          <a:xfrm>
            <a:off x="2012197" y="6356350"/>
            <a:ext cx="8167606" cy="365125"/>
          </a:xfrm>
          <a:prstGeom prst="rect">
            <a:avLst/>
          </a:prstGeom>
        </p:spPr>
        <p:txBody>
          <a:bodyPr vert="horz" lIns="91440" tIns="45720" rIns="91440" bIns="45720" rtlCol="0" anchor="ctr"/>
          <a:lstStyle>
            <a:lvl1pPr algn="ctr">
              <a:defRPr sz="1200">
                <a:solidFill>
                  <a:srgbClr val="0432FF"/>
                </a:solidFill>
                <a:latin typeface="Segoe UI" charset="0"/>
                <a:ea typeface="Segoe UI" charset="0"/>
                <a:cs typeface="Segoe UI" charset="0"/>
              </a:defRPr>
            </a:lvl1pPr>
          </a:lstStyle>
          <a:p>
            <a:r>
              <a:rPr lang="en-US"/>
              <a:t>CS21206 / FAIML | Perceptron and MLP (c) Abir Das, Ayan Chaudhury</a:t>
            </a:r>
            <a:endParaRPr lang="en-US" dirty="0"/>
          </a:p>
        </p:txBody>
      </p:sp>
      <p:sp>
        <p:nvSpPr>
          <p:cNvPr id="13" name="Date Placeholder 3"/>
          <p:cNvSpPr>
            <a:spLocks noGrp="1"/>
          </p:cNvSpPr>
          <p:nvPr>
            <p:ph type="dt" sz="half" idx="2"/>
          </p:nvPr>
        </p:nvSpPr>
        <p:spPr>
          <a:xfrm>
            <a:off x="316090" y="6392209"/>
            <a:ext cx="1696108"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
        <p:nvSpPr>
          <p:cNvPr id="14" name="Slide Number Placeholder 5"/>
          <p:cNvSpPr>
            <a:spLocks noGrp="1"/>
          </p:cNvSpPr>
          <p:nvPr>
            <p:ph type="sldNum" sz="quarter" idx="4"/>
          </p:nvPr>
        </p:nvSpPr>
        <p:spPr>
          <a:xfrm>
            <a:off x="10569844" y="6356350"/>
            <a:ext cx="783956" cy="365125"/>
          </a:xfrm>
          <a:prstGeom prst="rect">
            <a:avLst/>
          </a:prstGeom>
        </p:spPr>
        <p:txBody>
          <a:bodyPr vert="horz" lIns="91440" tIns="45720" rIns="91440" bIns="45720" rtlCol="0" anchor="ctr"/>
          <a:lstStyle>
            <a:lvl1pPr algn="r">
              <a:defRPr sz="1200">
                <a:solidFill>
                  <a:srgbClr val="0432FF"/>
                </a:solidFill>
                <a:latin typeface="Segoe UI" charset="0"/>
                <a:ea typeface="Segoe UI" charset="0"/>
                <a:cs typeface="Segoe UI" charset="0"/>
              </a:defRPr>
            </a:lvl1pPr>
          </a:lstStyle>
          <a:p>
            <a:fld id="{683B8651-0143-4140-839E-3D36292080E8}" type="slidenum">
              <a:rPr lang="en-US" smtClean="0"/>
              <a:pPr/>
              <a:t>‹#›</a:t>
            </a:fld>
            <a:endParaRPr lang="en-US"/>
          </a:p>
        </p:txBody>
      </p:sp>
    </p:spTree>
    <p:extLst>
      <p:ext uri="{BB962C8B-B14F-4D97-AF65-F5344CB8AC3E}">
        <p14:creationId xmlns:p14="http://schemas.microsoft.com/office/powerpoint/2010/main" val="2139599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lnSpc>
          <a:spcPct val="90000"/>
        </a:lnSpc>
        <a:spcBef>
          <a:spcPct val="0"/>
        </a:spcBef>
        <a:buNone/>
        <a:defRPr sz="4400" kern="1200">
          <a:solidFill>
            <a:schemeClr val="tx1"/>
          </a:solidFill>
          <a:latin typeface="Segoe UI" charset="0"/>
          <a:ea typeface="Segoe UI" charset="0"/>
          <a:cs typeface="Segoe U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Segoe UI" charset="0"/>
          <a:ea typeface="Segoe UI" charset="0"/>
          <a:cs typeface="Segoe U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Segoe UI" charset="0"/>
          <a:ea typeface="Segoe UI" charset="0"/>
          <a:cs typeface="Segoe UI"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Segoe UI" charset="0"/>
          <a:ea typeface="Segoe UI" charset="0"/>
          <a:cs typeface="Segoe UI"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Segoe UI" charset="0"/>
          <a:ea typeface="Segoe UI" charset="0"/>
          <a:cs typeface="Segoe UI"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Segoe UI" charset="0"/>
          <a:ea typeface="Segoe UI" charset="0"/>
          <a:cs typeface="Segoe U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974360"/>
            <a:ext cx="10515600" cy="10311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2098623"/>
            <a:ext cx="10515600" cy="40783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2012197" y="6356350"/>
            <a:ext cx="8167606" cy="365125"/>
          </a:xfrm>
          <a:prstGeom prst="rect">
            <a:avLst/>
          </a:prstGeom>
        </p:spPr>
        <p:txBody>
          <a:bodyPr vert="horz" lIns="91440" tIns="45720" rIns="91440" bIns="45720" rtlCol="0" anchor="ctr"/>
          <a:lstStyle>
            <a:lvl1pPr algn="ctr">
              <a:defRPr sz="1200">
                <a:solidFill>
                  <a:srgbClr val="0432FF"/>
                </a:solidFill>
                <a:latin typeface="Segoe UI" charset="0"/>
                <a:ea typeface="Segoe UI" charset="0"/>
                <a:cs typeface="Segoe UI" charset="0"/>
              </a:defRPr>
            </a:lvl1pPr>
          </a:lstStyle>
          <a:p>
            <a:r>
              <a:rPr lang="en-US"/>
              <a:t>CS21206 / FAIML | Perceptron and MLP (c) Abir Das, Ayan Chaudhury</a:t>
            </a:r>
            <a:endParaRPr lang="en-US" dirty="0"/>
          </a:p>
        </p:txBody>
      </p:sp>
      <p:sp>
        <p:nvSpPr>
          <p:cNvPr id="6" name="Slide Number Placeholder 5"/>
          <p:cNvSpPr>
            <a:spLocks noGrp="1"/>
          </p:cNvSpPr>
          <p:nvPr>
            <p:ph type="sldNum" sz="quarter" idx="4"/>
          </p:nvPr>
        </p:nvSpPr>
        <p:spPr>
          <a:xfrm>
            <a:off x="10569844" y="6356350"/>
            <a:ext cx="783956" cy="365125"/>
          </a:xfrm>
          <a:prstGeom prst="rect">
            <a:avLst/>
          </a:prstGeom>
        </p:spPr>
        <p:txBody>
          <a:bodyPr vert="horz" lIns="91440" tIns="45720" rIns="91440" bIns="45720" rtlCol="0" anchor="ctr"/>
          <a:lstStyle>
            <a:lvl1pPr algn="r">
              <a:defRPr sz="1200">
                <a:solidFill>
                  <a:srgbClr val="0432FF"/>
                </a:solidFill>
                <a:latin typeface="Segoe UI" charset="0"/>
                <a:ea typeface="Segoe UI" charset="0"/>
                <a:cs typeface="Segoe UI" charset="0"/>
              </a:defRPr>
            </a:lvl1pPr>
          </a:lstStyle>
          <a:p>
            <a:fld id="{683B8651-0143-4140-839E-3D36292080E8}" type="slidenum">
              <a:rPr lang="en-US" smtClean="0"/>
              <a:pPr/>
              <a:t>‹#›</a:t>
            </a:fld>
            <a:endParaRPr lang="en-US"/>
          </a:p>
        </p:txBody>
      </p:sp>
      <p:sp>
        <p:nvSpPr>
          <p:cNvPr id="8" name="TextBox 7"/>
          <p:cNvSpPr txBox="1"/>
          <p:nvPr userDrawn="1"/>
        </p:nvSpPr>
        <p:spPr>
          <a:xfrm>
            <a:off x="4435479" y="272251"/>
            <a:ext cx="7428573" cy="646331"/>
          </a:xfrm>
          <a:prstGeom prst="rect">
            <a:avLst/>
          </a:prstGeom>
          <a:noFill/>
        </p:spPr>
        <p:txBody>
          <a:bodyPr wrap="none" rtlCol="0">
            <a:spAutoFit/>
          </a:bodyPr>
          <a:lstStyle/>
          <a:p>
            <a:pPr algn="r"/>
            <a:r>
              <a:rPr lang="en-US" b="1" dirty="0">
                <a:solidFill>
                  <a:srgbClr val="0432FF"/>
                </a:solidFill>
                <a:latin typeface="Segoe UI" charset="0"/>
                <a:ea typeface="Segoe UI" charset="0"/>
                <a:cs typeface="Segoe UI" charset="0"/>
              </a:rPr>
              <a:t>Computer Science and Engineering</a:t>
            </a:r>
            <a:r>
              <a:rPr lang="en-US" b="1" dirty="0">
                <a:solidFill>
                  <a:prstClr val="black"/>
                </a:solidFill>
                <a:latin typeface="Segoe UI" charset="0"/>
                <a:ea typeface="Segoe UI" charset="0"/>
                <a:cs typeface="Segoe UI" charset="0"/>
              </a:rPr>
              <a:t>| Indian Institute of Technology Kharagpur</a:t>
            </a:r>
          </a:p>
          <a:p>
            <a:pPr algn="r"/>
            <a:r>
              <a:rPr lang="en-US" i="1" dirty="0" err="1">
                <a:solidFill>
                  <a:prstClr val="black"/>
                </a:solidFill>
                <a:latin typeface="Segoe UI" charset="0"/>
                <a:ea typeface="Segoe UI" charset="0"/>
                <a:cs typeface="Segoe UI" charset="0"/>
              </a:rPr>
              <a:t>cse.iitkgp.ac.in</a:t>
            </a:r>
            <a:endParaRPr lang="en-US" i="1" dirty="0">
              <a:solidFill>
                <a:prstClr val="black"/>
              </a:solidFill>
              <a:latin typeface="Segoe UI" charset="0"/>
              <a:ea typeface="Segoe UI" charset="0"/>
              <a:cs typeface="Segoe UI" charset="0"/>
            </a:endParaRPr>
          </a:p>
        </p:txBody>
      </p:sp>
      <p:cxnSp>
        <p:nvCxnSpPr>
          <p:cNvPr id="9" name="Straight Connector 8"/>
          <p:cNvCxnSpPr/>
          <p:nvPr userDrawn="1"/>
        </p:nvCxnSpPr>
        <p:spPr>
          <a:xfrm>
            <a:off x="0" y="914398"/>
            <a:ext cx="12192000" cy="10758"/>
          </a:xfrm>
          <a:prstGeom prst="line">
            <a:avLst/>
          </a:prstGeom>
          <a:ln w="22225"/>
        </p:spPr>
        <p:style>
          <a:lnRef idx="1">
            <a:schemeClr val="accent5"/>
          </a:lnRef>
          <a:fillRef idx="0">
            <a:schemeClr val="accent5"/>
          </a:fillRef>
          <a:effectRef idx="0">
            <a:schemeClr val="accent5"/>
          </a:effectRef>
          <a:fontRef idx="minor">
            <a:schemeClr val="tx1"/>
          </a:fontRef>
        </p:style>
      </p:cxnSp>
      <p:pic>
        <p:nvPicPr>
          <p:cNvPr id="10" name="Picture 9"/>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4288" y="15871"/>
            <a:ext cx="781048" cy="875765"/>
          </a:xfrm>
          <a:prstGeom prst="rect">
            <a:avLst/>
          </a:prstGeom>
        </p:spPr>
      </p:pic>
      <p:sp>
        <p:nvSpPr>
          <p:cNvPr id="11" name="Date Placeholder 3">
            <a:extLst>
              <a:ext uri="{FF2B5EF4-FFF2-40B4-BE49-F238E27FC236}">
                <a16:creationId xmlns:a16="http://schemas.microsoft.com/office/drawing/2014/main" id="{DA4F6C0F-C505-774B-9053-8B080E112EA0}"/>
              </a:ext>
            </a:extLst>
          </p:cNvPr>
          <p:cNvSpPr>
            <a:spLocks noGrp="1"/>
          </p:cNvSpPr>
          <p:nvPr>
            <p:ph type="dt" sz="half" idx="2"/>
          </p:nvPr>
        </p:nvSpPr>
        <p:spPr>
          <a:xfrm>
            <a:off x="259644" y="6392209"/>
            <a:ext cx="1752554" cy="365125"/>
          </a:xfrm>
          <a:prstGeom prst="rect">
            <a:avLst/>
          </a:prstGeom>
        </p:spPr>
        <p:txBody>
          <a:bodyPr vert="horz" lIns="91440" tIns="45720" rIns="91440" bIns="45720" rtlCol="0" anchor="ctr"/>
          <a:lstStyle>
            <a:lvl1pPr algn="l">
              <a:defRPr sz="1200">
                <a:solidFill>
                  <a:srgbClr val="0432FF"/>
                </a:solidFill>
                <a:latin typeface="Segoe UI" charset="0"/>
                <a:ea typeface="Segoe UI" charset="0"/>
                <a:cs typeface="Segoe UI" charset="0"/>
              </a:defRPr>
            </a:lvl1pPr>
          </a:lstStyle>
          <a:p>
            <a:r>
              <a:rPr lang="en-IN"/>
              <a:t>21, 27 Jan 2022</a:t>
            </a:r>
            <a:endParaRPr lang="en-US" dirty="0"/>
          </a:p>
        </p:txBody>
      </p:sp>
    </p:spTree>
    <p:extLst>
      <p:ext uri="{BB962C8B-B14F-4D97-AF65-F5344CB8AC3E}">
        <p14:creationId xmlns:p14="http://schemas.microsoft.com/office/powerpoint/2010/main" val="4670437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ctr" defTabSz="914400" rtl="0" eaLnBrk="1" latinLnBrk="0" hangingPunct="1">
        <a:lnSpc>
          <a:spcPct val="90000"/>
        </a:lnSpc>
        <a:spcBef>
          <a:spcPct val="0"/>
        </a:spcBef>
        <a:buNone/>
        <a:defRPr sz="4400" kern="1200">
          <a:solidFill>
            <a:schemeClr val="tx1"/>
          </a:solidFill>
          <a:latin typeface="Segoe UI" charset="0"/>
          <a:ea typeface="Segoe UI" charset="0"/>
          <a:cs typeface="Segoe U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Segoe UI" charset="0"/>
          <a:ea typeface="Segoe UI" charset="0"/>
          <a:cs typeface="Segoe U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Segoe UI" charset="0"/>
          <a:ea typeface="Segoe UI" charset="0"/>
          <a:cs typeface="Segoe UI"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Segoe UI" charset="0"/>
          <a:ea typeface="Segoe UI" charset="0"/>
          <a:cs typeface="Segoe UI"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Segoe UI" charset="0"/>
          <a:ea typeface="Segoe UI" charset="0"/>
          <a:cs typeface="Segoe UI"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Segoe UI" charset="0"/>
          <a:ea typeface="Segoe UI" charset="0"/>
          <a:cs typeface="Segoe U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4.emf"/><Relationship Id="rId17" Type="http://schemas.openxmlformats.org/officeDocument/2006/relationships/image" Target="../media/image18.png"/><Relationship Id="rId2" Type="http://schemas.openxmlformats.org/officeDocument/2006/relationships/notesSlide" Target="../notesSlides/notesSlide4.xml"/><Relationship Id="rId16" Type="http://schemas.openxmlformats.org/officeDocument/2006/relationships/image" Target="../media/image17.png"/><Relationship Id="rId1" Type="http://schemas.openxmlformats.org/officeDocument/2006/relationships/slideLayout" Target="../slideLayouts/slideLayout3.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19"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27.png"/><Relationship Id="rId3" Type="http://schemas.openxmlformats.org/officeDocument/2006/relationships/image" Target="../media/image4.png"/><Relationship Id="rId21" Type="http://schemas.openxmlformats.org/officeDocument/2006/relationships/image" Target="../media/image270.png"/><Relationship Id="rId7" Type="http://schemas.openxmlformats.org/officeDocument/2006/relationships/image" Target="../media/image8.png"/><Relationship Id="rId12" Type="http://schemas.openxmlformats.org/officeDocument/2006/relationships/image" Target="../media/image4.emf"/><Relationship Id="rId17" Type="http://schemas.openxmlformats.org/officeDocument/2006/relationships/image" Target="../media/image26.png"/><Relationship Id="rId2" Type="http://schemas.openxmlformats.org/officeDocument/2006/relationships/notesSlide" Target="../notesSlides/notesSlide6.xml"/><Relationship Id="rId16" Type="http://schemas.openxmlformats.org/officeDocument/2006/relationships/image" Target="../media/image25.png"/><Relationship Id="rId20" Type="http://schemas.openxmlformats.org/officeDocument/2006/relationships/image" Target="../media/image260.png"/><Relationship Id="rId1" Type="http://schemas.openxmlformats.org/officeDocument/2006/relationships/slideLayout" Target="../slideLayouts/slideLayout3.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24.png"/><Relationship Id="rId23" Type="http://schemas.openxmlformats.org/officeDocument/2006/relationships/image" Target="../media/image30.png"/><Relationship Id="rId10" Type="http://schemas.openxmlformats.org/officeDocument/2006/relationships/image" Target="../media/image11.png"/><Relationship Id="rId19" Type="http://schemas.openxmlformats.org/officeDocument/2006/relationships/image" Target="../media/image28.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9.png"/></Relationships>
</file>

<file path=ppt/slides/_rels/slide7.xml.rels><?xml version="1.0" encoding="UTF-8" standalone="yes"?>
<Relationships xmlns="http://schemas.openxmlformats.org/package/2006/relationships"><Relationship Id="rId18" Type="http://schemas.openxmlformats.org/officeDocument/2006/relationships/image" Target="../media/image33.png"/><Relationship Id="rId3" Type="http://schemas.openxmlformats.org/officeDocument/2006/relationships/image" Target="../media/image31.png"/><Relationship Id="rId17" Type="http://schemas.openxmlformats.org/officeDocument/2006/relationships/image" Target="../media/image44.png"/><Relationship Id="rId2" Type="http://schemas.openxmlformats.org/officeDocument/2006/relationships/notesSlide" Target="../notesSlides/notesSlide7.xml"/><Relationship Id="rId16" Type="http://schemas.openxmlformats.org/officeDocument/2006/relationships/image" Target="../media/image43.png"/><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18" Type="http://schemas.openxmlformats.org/officeDocument/2006/relationships/image" Target="../media/image57.png"/><Relationship Id="rId3" Type="http://schemas.openxmlformats.org/officeDocument/2006/relationships/image" Target="../media/image401.png"/><Relationship Id="rId21" Type="http://schemas.openxmlformats.org/officeDocument/2006/relationships/image" Target="../media/image60.png"/><Relationship Id="rId7" Type="http://schemas.openxmlformats.org/officeDocument/2006/relationships/image" Target="../media/image46.png"/><Relationship Id="rId12" Type="http://schemas.openxmlformats.org/officeDocument/2006/relationships/image" Target="../media/image51.png"/><Relationship Id="rId17" Type="http://schemas.openxmlformats.org/officeDocument/2006/relationships/image" Target="../media/image56.png"/><Relationship Id="rId2" Type="http://schemas.openxmlformats.org/officeDocument/2006/relationships/notesSlide" Target="../notesSlides/notesSlide9.xml"/><Relationship Id="rId16" Type="http://schemas.openxmlformats.org/officeDocument/2006/relationships/image" Target="../media/image55.png"/><Relationship Id="rId20"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20.png"/><Relationship Id="rId15" Type="http://schemas.openxmlformats.org/officeDocument/2006/relationships/image" Target="../media/image54.png"/><Relationship Id="rId23" Type="http://schemas.openxmlformats.org/officeDocument/2006/relationships/image" Target="../media/image62.png"/><Relationship Id="rId10" Type="http://schemas.openxmlformats.org/officeDocument/2006/relationships/image" Target="../media/image49.png"/><Relationship Id="rId19" Type="http://schemas.openxmlformats.org/officeDocument/2006/relationships/image" Target="../media/image58.png"/><Relationship Id="rId4" Type="http://schemas.openxmlformats.org/officeDocument/2006/relationships/image" Target="../media/image410.png"/><Relationship Id="rId9" Type="http://schemas.openxmlformats.org/officeDocument/2006/relationships/image" Target="../media/image48.png"/><Relationship Id="rId14" Type="http://schemas.openxmlformats.org/officeDocument/2006/relationships/image" Target="../media/image53.png"/><Relationship Id="rId22" Type="http://schemas.openxmlformats.org/officeDocument/2006/relationships/image" Target="../media/image61.png"/></Relationships>
</file>

<file path=ppt/slides/_rels/slide1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51.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671.png"/><Relationship Id="rId4" Type="http://schemas.openxmlformats.org/officeDocument/2006/relationships/image" Target="../media/image661.png"/></Relationships>
</file>

<file path=ppt/slides/_rels/slide13.xml.rels><?xml version="1.0" encoding="UTF-8" standalone="yes"?>
<Relationships xmlns="http://schemas.openxmlformats.org/package/2006/relationships"><Relationship Id="rId3" Type="http://schemas.openxmlformats.org/officeDocument/2006/relationships/image" Target="../media/image681.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701.png"/><Relationship Id="rId4" Type="http://schemas.openxmlformats.org/officeDocument/2006/relationships/image" Target="../media/image691.png"/></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2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42.png"/><Relationship Id="rId7" Type="http://schemas.openxmlformats.org/officeDocument/2006/relationships/image" Target="../media/image450.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65.png"/><Relationship Id="rId5" Type="http://schemas.openxmlformats.org/officeDocument/2006/relationships/image" Target="../media/image400.png"/><Relationship Id="rId10" Type="http://schemas.openxmlformats.org/officeDocument/2006/relationships/image" Target="../media/image662.png"/><Relationship Id="rId4" Type="http://schemas.openxmlformats.org/officeDocument/2006/relationships/image" Target="../media/image64.png"/><Relationship Id="rId9" Type="http://schemas.openxmlformats.org/officeDocument/2006/relationships/image" Target="../media/image471.png"/></Relationships>
</file>

<file path=ppt/slides/_rels/slide18.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80.png"/><Relationship Id="rId18" Type="http://schemas.openxmlformats.org/officeDocument/2006/relationships/image" Target="../media/image730.png"/><Relationship Id="rId3" Type="http://schemas.openxmlformats.org/officeDocument/2006/relationships/image" Target="../media/image590.png"/><Relationship Id="rId21" Type="http://schemas.openxmlformats.org/officeDocument/2006/relationships/image" Target="../media/image760.png"/><Relationship Id="rId7" Type="http://schemas.openxmlformats.org/officeDocument/2006/relationships/image" Target="../media/image630.png"/><Relationship Id="rId12" Type="http://schemas.openxmlformats.org/officeDocument/2006/relationships/image" Target="../media/image4.emf"/><Relationship Id="rId17" Type="http://schemas.openxmlformats.org/officeDocument/2006/relationships/image" Target="../media/image720.png"/><Relationship Id="rId25" Type="http://schemas.openxmlformats.org/officeDocument/2006/relationships/image" Target="../media/image800.png"/><Relationship Id="rId2" Type="http://schemas.openxmlformats.org/officeDocument/2006/relationships/notesSlide" Target="../notesSlides/notesSlide18.xml"/><Relationship Id="rId16" Type="http://schemas.openxmlformats.org/officeDocument/2006/relationships/image" Target="../media/image710.png"/><Relationship Id="rId20" Type="http://schemas.openxmlformats.org/officeDocument/2006/relationships/image" Target="../media/image750.png"/><Relationship Id="rId1" Type="http://schemas.openxmlformats.org/officeDocument/2006/relationships/slideLayout" Target="../slideLayouts/slideLayout3.xml"/><Relationship Id="rId6" Type="http://schemas.openxmlformats.org/officeDocument/2006/relationships/image" Target="../media/image620.png"/><Relationship Id="rId11" Type="http://schemas.openxmlformats.org/officeDocument/2006/relationships/image" Target="../media/image670.png"/><Relationship Id="rId24" Type="http://schemas.openxmlformats.org/officeDocument/2006/relationships/image" Target="../media/image790.png"/><Relationship Id="rId5" Type="http://schemas.openxmlformats.org/officeDocument/2006/relationships/image" Target="../media/image610.png"/><Relationship Id="rId15" Type="http://schemas.openxmlformats.org/officeDocument/2006/relationships/image" Target="../media/image67.png"/><Relationship Id="rId23" Type="http://schemas.openxmlformats.org/officeDocument/2006/relationships/image" Target="../media/image780.png"/><Relationship Id="rId10" Type="http://schemas.openxmlformats.org/officeDocument/2006/relationships/image" Target="../media/image660.png"/><Relationship Id="rId19" Type="http://schemas.openxmlformats.org/officeDocument/2006/relationships/image" Target="../media/image740.png"/><Relationship Id="rId4" Type="http://schemas.openxmlformats.org/officeDocument/2006/relationships/image" Target="../media/image600.png"/><Relationship Id="rId9" Type="http://schemas.openxmlformats.org/officeDocument/2006/relationships/image" Target="../media/image650.png"/><Relationship Id="rId14" Type="http://schemas.openxmlformats.org/officeDocument/2006/relationships/image" Target="../media/image690.png"/><Relationship Id="rId22" Type="http://schemas.openxmlformats.org/officeDocument/2006/relationships/image" Target="../media/image770.png"/></Relationships>
</file>

<file path=ppt/slides/_rels/slide19.xml.rels><?xml version="1.0" encoding="UTF-8" standalone="yes"?>
<Relationships xmlns="http://schemas.openxmlformats.org/package/2006/relationships"><Relationship Id="rId8" Type="http://schemas.openxmlformats.org/officeDocument/2006/relationships/image" Target="../media/image850.png"/><Relationship Id="rId13" Type="http://schemas.openxmlformats.org/officeDocument/2006/relationships/image" Target="../media/image470.png"/><Relationship Id="rId3" Type="http://schemas.openxmlformats.org/officeDocument/2006/relationships/image" Target="../media/image67.png"/><Relationship Id="rId7" Type="http://schemas.openxmlformats.org/officeDocument/2006/relationships/image" Target="../media/image840.png"/><Relationship Id="rId12" Type="http://schemas.openxmlformats.org/officeDocument/2006/relationships/image" Target="../media/image890.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830.png"/><Relationship Id="rId11" Type="http://schemas.openxmlformats.org/officeDocument/2006/relationships/image" Target="../media/image880.png"/><Relationship Id="rId5" Type="http://schemas.openxmlformats.org/officeDocument/2006/relationships/image" Target="../media/image820.png"/><Relationship Id="rId10" Type="http://schemas.openxmlformats.org/officeDocument/2006/relationships/image" Target="../media/image870.png"/><Relationship Id="rId4" Type="http://schemas.openxmlformats.org/officeDocument/2006/relationships/image" Target="../media/image810.png"/><Relationship Id="rId9" Type="http://schemas.openxmlformats.org/officeDocument/2006/relationships/image" Target="../media/image860.png"/><Relationship Id="rId14" Type="http://schemas.openxmlformats.org/officeDocument/2006/relationships/image" Target="../media/image910.png"/></Relationships>
</file>

<file path=ppt/slides/_rels/slide20.xml.rels><?xml version="1.0" encoding="UTF-8" standalone="yes"?>
<Relationships xmlns="http://schemas.openxmlformats.org/package/2006/relationships"><Relationship Id="rId8" Type="http://schemas.openxmlformats.org/officeDocument/2006/relationships/image" Target="../media/image920.png"/><Relationship Id="rId13" Type="http://schemas.openxmlformats.org/officeDocument/2006/relationships/image" Target="../media/image850.png"/><Relationship Id="rId3" Type="http://schemas.openxmlformats.org/officeDocument/2006/relationships/image" Target="../media/image67.png"/><Relationship Id="rId7" Type="http://schemas.openxmlformats.org/officeDocument/2006/relationships/image" Target="../media/image840.png"/><Relationship Id="rId12" Type="http://schemas.openxmlformats.org/officeDocument/2006/relationships/image" Target="../media/image960.png"/><Relationship Id="rId17" Type="http://schemas.openxmlformats.org/officeDocument/2006/relationships/image" Target="../media/image1000.png"/><Relationship Id="rId2" Type="http://schemas.openxmlformats.org/officeDocument/2006/relationships/notesSlide" Target="../notesSlides/notesSlide20.xml"/><Relationship Id="rId16" Type="http://schemas.openxmlformats.org/officeDocument/2006/relationships/image" Target="../media/image990.png"/><Relationship Id="rId1" Type="http://schemas.openxmlformats.org/officeDocument/2006/relationships/slideLayout" Target="../slideLayouts/slideLayout3.xml"/><Relationship Id="rId6" Type="http://schemas.openxmlformats.org/officeDocument/2006/relationships/image" Target="../media/image830.png"/><Relationship Id="rId11" Type="http://schemas.openxmlformats.org/officeDocument/2006/relationships/image" Target="../media/image950.png"/><Relationship Id="rId5" Type="http://schemas.openxmlformats.org/officeDocument/2006/relationships/image" Target="../media/image820.png"/><Relationship Id="rId15" Type="http://schemas.openxmlformats.org/officeDocument/2006/relationships/image" Target="../media/image980.png"/><Relationship Id="rId10" Type="http://schemas.openxmlformats.org/officeDocument/2006/relationships/image" Target="../media/image940.png"/><Relationship Id="rId4" Type="http://schemas.openxmlformats.org/officeDocument/2006/relationships/image" Target="../media/image810.png"/><Relationship Id="rId9" Type="http://schemas.openxmlformats.org/officeDocument/2006/relationships/image" Target="../media/image930.png"/><Relationship Id="rId14" Type="http://schemas.openxmlformats.org/officeDocument/2006/relationships/image" Target="../media/image970.png"/></Relationships>
</file>

<file path=ppt/slides/_rels/slide21.xml.rels><?xml version="1.0" encoding="UTF-8" standalone="yes"?>
<Relationships xmlns="http://schemas.openxmlformats.org/package/2006/relationships"><Relationship Id="rId8" Type="http://schemas.openxmlformats.org/officeDocument/2006/relationships/image" Target="../media/image1020.png"/><Relationship Id="rId13" Type="http://schemas.openxmlformats.org/officeDocument/2006/relationships/image" Target="../media/image1070.png"/><Relationship Id="rId18" Type="http://schemas.openxmlformats.org/officeDocument/2006/relationships/image" Target="../media/image860.png"/><Relationship Id="rId3" Type="http://schemas.openxmlformats.org/officeDocument/2006/relationships/image" Target="../media/image67.png"/><Relationship Id="rId21" Type="http://schemas.openxmlformats.org/officeDocument/2006/relationships/image" Target="../media/image970.png"/><Relationship Id="rId7" Type="http://schemas.openxmlformats.org/officeDocument/2006/relationships/image" Target="../media/image1010.png"/><Relationship Id="rId12" Type="http://schemas.openxmlformats.org/officeDocument/2006/relationships/image" Target="../media/image1060.png"/><Relationship Id="rId17" Type="http://schemas.openxmlformats.org/officeDocument/2006/relationships/image" Target="../media/image1110.png"/><Relationship Id="rId2" Type="http://schemas.openxmlformats.org/officeDocument/2006/relationships/notesSlide" Target="../notesSlides/notesSlide21.xml"/><Relationship Id="rId16" Type="http://schemas.openxmlformats.org/officeDocument/2006/relationships/image" Target="../media/image1100.png"/><Relationship Id="rId20" Type="http://schemas.openxmlformats.org/officeDocument/2006/relationships/image" Target="../media/image890.png"/><Relationship Id="rId1" Type="http://schemas.openxmlformats.org/officeDocument/2006/relationships/slideLayout" Target="../slideLayouts/slideLayout3.xml"/><Relationship Id="rId6" Type="http://schemas.openxmlformats.org/officeDocument/2006/relationships/image" Target="../media/image830.png"/><Relationship Id="rId11" Type="http://schemas.openxmlformats.org/officeDocument/2006/relationships/image" Target="../media/image1050.png"/><Relationship Id="rId24" Type="http://schemas.openxmlformats.org/officeDocument/2006/relationships/image" Target="../media/image1150.png"/><Relationship Id="rId5" Type="http://schemas.openxmlformats.org/officeDocument/2006/relationships/image" Target="../media/image820.png"/><Relationship Id="rId15" Type="http://schemas.openxmlformats.org/officeDocument/2006/relationships/image" Target="../media/image1090.png"/><Relationship Id="rId23" Type="http://schemas.openxmlformats.org/officeDocument/2006/relationships/image" Target="../media/image1140.png"/><Relationship Id="rId10" Type="http://schemas.openxmlformats.org/officeDocument/2006/relationships/image" Target="../media/image1040.png"/><Relationship Id="rId19" Type="http://schemas.openxmlformats.org/officeDocument/2006/relationships/image" Target="../media/image1120.png"/><Relationship Id="rId4" Type="http://schemas.openxmlformats.org/officeDocument/2006/relationships/image" Target="../media/image810.png"/><Relationship Id="rId9" Type="http://schemas.openxmlformats.org/officeDocument/2006/relationships/image" Target="../media/image1030.png"/><Relationship Id="rId14" Type="http://schemas.openxmlformats.org/officeDocument/2006/relationships/image" Target="../media/image1080.png"/><Relationship Id="rId22" Type="http://schemas.openxmlformats.org/officeDocument/2006/relationships/image" Target="../media/image1130.png"/></Relationships>
</file>

<file path=ppt/slides/_rels/slide22.xml.rels><?xml version="1.0" encoding="UTF-8" standalone="yes"?>
<Relationships xmlns="http://schemas.openxmlformats.org/package/2006/relationships"><Relationship Id="rId13" Type="http://schemas.openxmlformats.org/officeDocument/2006/relationships/image" Target="../media/image1070.png"/><Relationship Id="rId18" Type="http://schemas.openxmlformats.org/officeDocument/2006/relationships/image" Target="../media/image1200.png"/><Relationship Id="rId26" Type="http://schemas.openxmlformats.org/officeDocument/2006/relationships/image" Target="../media/image1270.png"/><Relationship Id="rId3" Type="http://schemas.openxmlformats.org/officeDocument/2006/relationships/image" Target="../media/image67.png"/><Relationship Id="rId21" Type="http://schemas.openxmlformats.org/officeDocument/2006/relationships/image" Target="../media/image1230.png"/><Relationship Id="rId7" Type="http://schemas.openxmlformats.org/officeDocument/2006/relationships/image" Target="../media/image1160.png"/><Relationship Id="rId12" Type="http://schemas.openxmlformats.org/officeDocument/2006/relationships/image" Target="../media/image1060.png"/><Relationship Id="rId17" Type="http://schemas.openxmlformats.org/officeDocument/2006/relationships/image" Target="../media/image1190.png"/><Relationship Id="rId25" Type="http://schemas.openxmlformats.org/officeDocument/2006/relationships/image" Target="../media/image1260.png"/><Relationship Id="rId33" Type="http://schemas.openxmlformats.org/officeDocument/2006/relationships/image" Target="../media/image1290.png"/><Relationship Id="rId2" Type="http://schemas.openxmlformats.org/officeDocument/2006/relationships/notesSlide" Target="../notesSlides/notesSlide22.xml"/><Relationship Id="rId16" Type="http://schemas.openxmlformats.org/officeDocument/2006/relationships/image" Target="../media/image1180.png"/><Relationship Id="rId20" Type="http://schemas.openxmlformats.org/officeDocument/2006/relationships/image" Target="../media/image1220.png"/><Relationship Id="rId29" Type="http://schemas.openxmlformats.org/officeDocument/2006/relationships/image" Target="../media/image1130.png"/><Relationship Id="rId1" Type="http://schemas.openxmlformats.org/officeDocument/2006/relationships/slideLayout" Target="../slideLayouts/slideLayout3.xml"/><Relationship Id="rId6" Type="http://schemas.openxmlformats.org/officeDocument/2006/relationships/image" Target="../media/image830.png"/><Relationship Id="rId11" Type="http://schemas.openxmlformats.org/officeDocument/2006/relationships/image" Target="../media/image1050.png"/><Relationship Id="rId24" Type="http://schemas.openxmlformats.org/officeDocument/2006/relationships/image" Target="../media/image1250.png"/><Relationship Id="rId32" Type="http://schemas.openxmlformats.org/officeDocument/2006/relationships/image" Target="../media/image1280.png"/><Relationship Id="rId5" Type="http://schemas.openxmlformats.org/officeDocument/2006/relationships/image" Target="../media/image820.png"/><Relationship Id="rId15" Type="http://schemas.openxmlformats.org/officeDocument/2006/relationships/image" Target="../media/image1170.png"/><Relationship Id="rId23" Type="http://schemas.openxmlformats.org/officeDocument/2006/relationships/image" Target="../media/image1240.png"/><Relationship Id="rId28" Type="http://schemas.openxmlformats.org/officeDocument/2006/relationships/image" Target="../media/image970.png"/><Relationship Id="rId10" Type="http://schemas.openxmlformats.org/officeDocument/2006/relationships/image" Target="../media/image1040.png"/><Relationship Id="rId19" Type="http://schemas.openxmlformats.org/officeDocument/2006/relationships/image" Target="../media/image1210.png"/><Relationship Id="rId31" Type="http://schemas.openxmlformats.org/officeDocument/2006/relationships/image" Target="../media/image1150.png"/><Relationship Id="rId4" Type="http://schemas.openxmlformats.org/officeDocument/2006/relationships/image" Target="../media/image810.png"/><Relationship Id="rId9" Type="http://schemas.openxmlformats.org/officeDocument/2006/relationships/image" Target="../media/image1030.png"/><Relationship Id="rId14" Type="http://schemas.openxmlformats.org/officeDocument/2006/relationships/image" Target="../media/image1080.png"/><Relationship Id="rId22" Type="http://schemas.openxmlformats.org/officeDocument/2006/relationships/image" Target="../media/image870.png"/><Relationship Id="rId27" Type="http://schemas.openxmlformats.org/officeDocument/2006/relationships/image" Target="../media/image880.png"/><Relationship Id="rId30" Type="http://schemas.openxmlformats.org/officeDocument/2006/relationships/image" Target="../media/image1140.png"/><Relationship Id="rId8" Type="http://schemas.openxmlformats.org/officeDocument/2006/relationships/image" Target="../media/image1020.png"/></Relationships>
</file>

<file path=ppt/slides/_rels/slide23.xml.rels><?xml version="1.0" encoding="UTF-8" standalone="yes"?>
<Relationships xmlns="http://schemas.openxmlformats.org/package/2006/relationships"><Relationship Id="rId8" Type="http://schemas.openxmlformats.org/officeDocument/2006/relationships/image" Target="../media/image920.png"/><Relationship Id="rId13" Type="http://schemas.openxmlformats.org/officeDocument/2006/relationships/image" Target="../media/image870.png"/><Relationship Id="rId18" Type="http://schemas.openxmlformats.org/officeDocument/2006/relationships/image" Target="../media/image1320.png"/><Relationship Id="rId3" Type="http://schemas.openxmlformats.org/officeDocument/2006/relationships/image" Target="../media/image67.png"/><Relationship Id="rId21" Type="http://schemas.openxmlformats.org/officeDocument/2006/relationships/image" Target="../media/image480.png"/><Relationship Id="rId7" Type="http://schemas.openxmlformats.org/officeDocument/2006/relationships/image" Target="../media/image1010.png"/><Relationship Id="rId12" Type="http://schemas.openxmlformats.org/officeDocument/2006/relationships/image" Target="../media/image1220.png"/><Relationship Id="rId17" Type="http://schemas.openxmlformats.org/officeDocument/2006/relationships/image" Target="../media/image1310.png"/><Relationship Id="rId2" Type="http://schemas.openxmlformats.org/officeDocument/2006/relationships/notesSlide" Target="../notesSlides/notesSlide23.xml"/><Relationship Id="rId16" Type="http://schemas.openxmlformats.org/officeDocument/2006/relationships/image" Target="../media/image1300.png"/><Relationship Id="rId20" Type="http://schemas.openxmlformats.org/officeDocument/2006/relationships/image" Target="../media/image1340.png"/><Relationship Id="rId1" Type="http://schemas.openxmlformats.org/officeDocument/2006/relationships/slideLayout" Target="../slideLayouts/slideLayout3.xml"/><Relationship Id="rId6" Type="http://schemas.openxmlformats.org/officeDocument/2006/relationships/image" Target="../media/image830.png"/><Relationship Id="rId11" Type="http://schemas.openxmlformats.org/officeDocument/2006/relationships/image" Target="../media/image860.png"/><Relationship Id="rId5" Type="http://schemas.openxmlformats.org/officeDocument/2006/relationships/image" Target="../media/image820.png"/><Relationship Id="rId15" Type="http://schemas.openxmlformats.org/officeDocument/2006/relationships/image" Target="../media/image890.png"/><Relationship Id="rId23" Type="http://schemas.openxmlformats.org/officeDocument/2006/relationships/image" Target="../media/image500.png"/><Relationship Id="rId10" Type="http://schemas.openxmlformats.org/officeDocument/2006/relationships/image" Target="../media/image850.png"/><Relationship Id="rId19" Type="http://schemas.openxmlformats.org/officeDocument/2006/relationships/image" Target="../media/image1330.png"/><Relationship Id="rId4" Type="http://schemas.openxmlformats.org/officeDocument/2006/relationships/image" Target="../media/image810.png"/><Relationship Id="rId9" Type="http://schemas.openxmlformats.org/officeDocument/2006/relationships/image" Target="../media/image840.png"/><Relationship Id="rId14" Type="http://schemas.openxmlformats.org/officeDocument/2006/relationships/image" Target="../media/image880.png"/><Relationship Id="rId22" Type="http://schemas.openxmlformats.org/officeDocument/2006/relationships/image" Target="../media/image490.png"/></Relationships>
</file>

<file path=ppt/slides/_rels/slide24.xml.rels><?xml version="1.0" encoding="UTF-8" standalone="yes"?>
<Relationships xmlns="http://schemas.openxmlformats.org/package/2006/relationships"><Relationship Id="rId8" Type="http://schemas.openxmlformats.org/officeDocument/2006/relationships/image" Target="../media/image1370.png"/><Relationship Id="rId13" Type="http://schemas.openxmlformats.org/officeDocument/2006/relationships/image" Target="../media/image870.png"/><Relationship Id="rId18" Type="http://schemas.openxmlformats.org/officeDocument/2006/relationships/image" Target="../media/image1400.png"/><Relationship Id="rId3" Type="http://schemas.openxmlformats.org/officeDocument/2006/relationships/image" Target="../media/image67.png"/><Relationship Id="rId21" Type="http://schemas.openxmlformats.org/officeDocument/2006/relationships/image" Target="../media/image520.png"/><Relationship Id="rId7" Type="http://schemas.openxmlformats.org/officeDocument/2006/relationships/image" Target="../media/image1360.png"/><Relationship Id="rId12" Type="http://schemas.openxmlformats.org/officeDocument/2006/relationships/image" Target="../media/image1380.png"/><Relationship Id="rId17" Type="http://schemas.openxmlformats.org/officeDocument/2006/relationships/image" Target="../media/image510.png"/><Relationship Id="rId2" Type="http://schemas.openxmlformats.org/officeDocument/2006/relationships/notesSlide" Target="../notesSlides/notesSlide24.xml"/><Relationship Id="rId16" Type="http://schemas.openxmlformats.org/officeDocument/2006/relationships/image" Target="../media/image470.png"/><Relationship Id="rId20" Type="http://schemas.openxmlformats.org/officeDocument/2006/relationships/image" Target="../media/image910.png"/><Relationship Id="rId1" Type="http://schemas.openxmlformats.org/officeDocument/2006/relationships/slideLayout" Target="../slideLayouts/slideLayout3.xml"/><Relationship Id="rId6" Type="http://schemas.openxmlformats.org/officeDocument/2006/relationships/image" Target="../media/image830.png"/><Relationship Id="rId11" Type="http://schemas.openxmlformats.org/officeDocument/2006/relationships/image" Target="../media/image860.png"/><Relationship Id="rId5" Type="http://schemas.openxmlformats.org/officeDocument/2006/relationships/image" Target="../media/image820.png"/><Relationship Id="rId15" Type="http://schemas.openxmlformats.org/officeDocument/2006/relationships/image" Target="../media/image890.png"/><Relationship Id="rId10" Type="http://schemas.openxmlformats.org/officeDocument/2006/relationships/image" Target="../media/image850.png"/><Relationship Id="rId19" Type="http://schemas.openxmlformats.org/officeDocument/2006/relationships/image" Target="../media/image1410.png"/><Relationship Id="rId4" Type="http://schemas.openxmlformats.org/officeDocument/2006/relationships/image" Target="../media/image810.png"/><Relationship Id="rId9" Type="http://schemas.openxmlformats.org/officeDocument/2006/relationships/image" Target="../media/image840.png"/><Relationship Id="rId14" Type="http://schemas.openxmlformats.org/officeDocument/2006/relationships/image" Target="../media/image880.png"/><Relationship Id="rId22" Type="http://schemas.openxmlformats.org/officeDocument/2006/relationships/image" Target="../media/image540.png"/></Relationships>
</file>

<file path=ppt/slides/_rels/slide25.xml.rels><?xml version="1.0" encoding="UTF-8" standalone="yes"?>
<Relationships xmlns="http://schemas.openxmlformats.org/package/2006/relationships"><Relationship Id="rId13" Type="http://schemas.openxmlformats.org/officeDocument/2006/relationships/image" Target="../media/image1450.png"/><Relationship Id="rId18" Type="http://schemas.openxmlformats.org/officeDocument/2006/relationships/image" Target="../media/image150.png"/><Relationship Id="rId21" Type="http://schemas.openxmlformats.org/officeDocument/2006/relationships/image" Target="../media/image153.png"/><Relationship Id="rId7" Type="http://schemas.openxmlformats.org/officeDocument/2006/relationships/image" Target="../media/image900.png"/><Relationship Id="rId17" Type="http://schemas.openxmlformats.org/officeDocument/2006/relationships/image" Target="../media/image149.png"/><Relationship Id="rId2" Type="http://schemas.openxmlformats.org/officeDocument/2006/relationships/notesSlide" Target="../notesSlides/notesSlide25.xml"/><Relationship Id="rId16" Type="http://schemas.openxmlformats.org/officeDocument/2006/relationships/image" Target="../media/image148.png"/><Relationship Id="rId20" Type="http://schemas.openxmlformats.org/officeDocument/2006/relationships/image" Target="../media/image152.png"/><Relationship Id="rId1" Type="http://schemas.openxmlformats.org/officeDocument/2006/relationships/slideLayout" Target="../slideLayouts/slideLayout3.xml"/><Relationship Id="rId6" Type="http://schemas.openxmlformats.org/officeDocument/2006/relationships/image" Target="../media/image700.png"/><Relationship Id="rId11" Type="http://schemas.openxmlformats.org/officeDocument/2006/relationships/image" Target="../media/image67.png"/><Relationship Id="rId5" Type="http://schemas.openxmlformats.org/officeDocument/2006/relationships/image" Target="../media/image570.png"/><Relationship Id="rId15" Type="http://schemas.openxmlformats.org/officeDocument/2006/relationships/image" Target="../media/image1470.png"/><Relationship Id="rId10" Type="http://schemas.openxmlformats.org/officeDocument/2006/relationships/image" Target="../media/image1420.png"/><Relationship Id="rId19" Type="http://schemas.openxmlformats.org/officeDocument/2006/relationships/image" Target="../media/image151.png"/><Relationship Id="rId4" Type="http://schemas.openxmlformats.org/officeDocument/2006/relationships/image" Target="../media/image560.png"/><Relationship Id="rId9" Type="http://schemas.openxmlformats.org/officeDocument/2006/relationships/image" Target="../media/image1390.png"/><Relationship Id="rId14" Type="http://schemas.openxmlformats.org/officeDocument/2006/relationships/image" Target="../media/image1460.png"/><Relationship Id="rId22" Type="http://schemas.openxmlformats.org/officeDocument/2006/relationships/image" Target="../media/image4.emf"/></Relationships>
</file>

<file path=ppt/slides/_rels/slide26.xml.rels><?xml version="1.0" encoding="UTF-8" standalone="yes"?>
<Relationships xmlns="http://schemas.openxmlformats.org/package/2006/relationships"><Relationship Id="rId8" Type="http://schemas.openxmlformats.org/officeDocument/2006/relationships/image" Target="../media/image1350.png"/><Relationship Id="rId13" Type="http://schemas.openxmlformats.org/officeDocument/2006/relationships/image" Target="../media/image1450.png"/><Relationship Id="rId18" Type="http://schemas.openxmlformats.org/officeDocument/2006/relationships/image" Target="../media/image156.png"/><Relationship Id="rId26" Type="http://schemas.openxmlformats.org/officeDocument/2006/relationships/image" Target="../media/image530.png"/><Relationship Id="rId3" Type="http://schemas.openxmlformats.org/officeDocument/2006/relationships/image" Target="../media/image67.png"/><Relationship Id="rId21" Type="http://schemas.openxmlformats.org/officeDocument/2006/relationships/image" Target="../media/image159.png"/><Relationship Id="rId7" Type="http://schemas.openxmlformats.org/officeDocument/2006/relationships/image" Target="../media/image900.png"/><Relationship Id="rId12" Type="http://schemas.openxmlformats.org/officeDocument/2006/relationships/image" Target="../media/image1440.png"/><Relationship Id="rId17" Type="http://schemas.openxmlformats.org/officeDocument/2006/relationships/image" Target="../media/image155.png"/><Relationship Id="rId25" Type="http://schemas.openxmlformats.org/officeDocument/2006/relationships/image" Target="../media/image163.png"/><Relationship Id="rId2" Type="http://schemas.openxmlformats.org/officeDocument/2006/relationships/notesSlide" Target="../notesSlides/notesSlide26.xml"/><Relationship Id="rId16" Type="http://schemas.openxmlformats.org/officeDocument/2006/relationships/image" Target="../media/image154.png"/><Relationship Id="rId20" Type="http://schemas.openxmlformats.org/officeDocument/2006/relationships/image" Target="../media/image158.png"/><Relationship Id="rId1" Type="http://schemas.openxmlformats.org/officeDocument/2006/relationships/slideLayout" Target="../slideLayouts/slideLayout3.xml"/><Relationship Id="rId6" Type="http://schemas.openxmlformats.org/officeDocument/2006/relationships/image" Target="../media/image700.png"/><Relationship Id="rId11" Type="http://schemas.openxmlformats.org/officeDocument/2006/relationships/image" Target="../media/image1430.png"/><Relationship Id="rId24" Type="http://schemas.openxmlformats.org/officeDocument/2006/relationships/image" Target="../media/image162.png"/><Relationship Id="rId5" Type="http://schemas.openxmlformats.org/officeDocument/2006/relationships/image" Target="../media/image570.png"/><Relationship Id="rId15" Type="http://schemas.openxmlformats.org/officeDocument/2006/relationships/image" Target="../media/image1470.png"/><Relationship Id="rId23" Type="http://schemas.openxmlformats.org/officeDocument/2006/relationships/image" Target="../media/image161.png"/><Relationship Id="rId10" Type="http://schemas.openxmlformats.org/officeDocument/2006/relationships/image" Target="../media/image1420.png"/><Relationship Id="rId19" Type="http://schemas.openxmlformats.org/officeDocument/2006/relationships/image" Target="../media/image157.png"/><Relationship Id="rId9" Type="http://schemas.openxmlformats.org/officeDocument/2006/relationships/image" Target="../media/image1390.png"/><Relationship Id="rId14" Type="http://schemas.openxmlformats.org/officeDocument/2006/relationships/image" Target="../media/image1460.png"/><Relationship Id="rId4" Type="http://schemas.openxmlformats.org/officeDocument/2006/relationships/image" Target="../media/image560.png"/><Relationship Id="rId22" Type="http://schemas.openxmlformats.org/officeDocument/2006/relationships/image" Target="../media/image160.png"/></Relationships>
</file>

<file path=ppt/slides/_rels/slide27.xml.rels><?xml version="1.0" encoding="UTF-8" standalone="yes"?>
<Relationships xmlns="http://schemas.openxmlformats.org/package/2006/relationships"><Relationship Id="rId8" Type="http://schemas.openxmlformats.org/officeDocument/2006/relationships/image" Target="../media/image1700.png"/><Relationship Id="rId13" Type="http://schemas.openxmlformats.org/officeDocument/2006/relationships/image" Target="../media/image1750.png"/><Relationship Id="rId18" Type="http://schemas.openxmlformats.org/officeDocument/2006/relationships/image" Target="../media/image1800.png"/><Relationship Id="rId3" Type="http://schemas.openxmlformats.org/officeDocument/2006/relationships/image" Target="../media/image1651.png"/><Relationship Id="rId7" Type="http://schemas.openxmlformats.org/officeDocument/2006/relationships/image" Target="../media/image1690.png"/><Relationship Id="rId12" Type="http://schemas.openxmlformats.org/officeDocument/2006/relationships/image" Target="../media/image1740.png"/><Relationship Id="rId17" Type="http://schemas.openxmlformats.org/officeDocument/2006/relationships/image" Target="../media/image1790.png"/><Relationship Id="rId2" Type="http://schemas.openxmlformats.org/officeDocument/2006/relationships/notesSlide" Target="../notesSlides/notesSlide27.xml"/><Relationship Id="rId16" Type="http://schemas.openxmlformats.org/officeDocument/2006/relationships/image" Target="../media/image1780.png"/><Relationship Id="rId1" Type="http://schemas.openxmlformats.org/officeDocument/2006/relationships/slideLayout" Target="../slideLayouts/slideLayout3.xml"/><Relationship Id="rId6" Type="http://schemas.openxmlformats.org/officeDocument/2006/relationships/image" Target="../media/image1680.png"/><Relationship Id="rId11" Type="http://schemas.openxmlformats.org/officeDocument/2006/relationships/image" Target="../media/image1730.png"/><Relationship Id="rId5" Type="http://schemas.openxmlformats.org/officeDocument/2006/relationships/image" Target="../media/image1671.png"/><Relationship Id="rId15" Type="http://schemas.openxmlformats.org/officeDocument/2006/relationships/image" Target="../media/image1770.png"/><Relationship Id="rId10" Type="http://schemas.openxmlformats.org/officeDocument/2006/relationships/image" Target="../media/image1720.png"/><Relationship Id="rId19" Type="http://schemas.openxmlformats.org/officeDocument/2006/relationships/image" Target="../media/image181.png"/><Relationship Id="rId4" Type="http://schemas.openxmlformats.org/officeDocument/2006/relationships/image" Target="../media/image1661.png"/><Relationship Id="rId9" Type="http://schemas.openxmlformats.org/officeDocument/2006/relationships/image" Target="../media/image1710.png"/><Relationship Id="rId14" Type="http://schemas.openxmlformats.org/officeDocument/2006/relationships/image" Target="../media/image1760.png"/></Relationships>
</file>

<file path=ppt/slides/_rels/slide28.xml.rels><?xml version="1.0" encoding="UTF-8" standalone="yes"?>
<Relationships xmlns="http://schemas.openxmlformats.org/package/2006/relationships"><Relationship Id="rId8" Type="http://schemas.openxmlformats.org/officeDocument/2006/relationships/image" Target="../media/image187.png"/><Relationship Id="rId13" Type="http://schemas.openxmlformats.org/officeDocument/2006/relationships/image" Target="../media/image192.png"/><Relationship Id="rId3" Type="http://schemas.openxmlformats.org/officeDocument/2006/relationships/image" Target="../media/image182.png"/><Relationship Id="rId7" Type="http://schemas.openxmlformats.org/officeDocument/2006/relationships/image" Target="../media/image186.png"/><Relationship Id="rId12" Type="http://schemas.openxmlformats.org/officeDocument/2006/relationships/image" Target="../media/image191.png"/><Relationship Id="rId17" Type="http://schemas.openxmlformats.org/officeDocument/2006/relationships/image" Target="../media/image180.png"/><Relationship Id="rId2" Type="http://schemas.openxmlformats.org/officeDocument/2006/relationships/notesSlide" Target="../notesSlides/notesSlide28.xml"/><Relationship Id="rId16" Type="http://schemas.openxmlformats.org/officeDocument/2006/relationships/image" Target="../media/image195.png"/><Relationship Id="rId1" Type="http://schemas.openxmlformats.org/officeDocument/2006/relationships/slideLayout" Target="../slideLayouts/slideLayout3.xml"/><Relationship Id="rId6" Type="http://schemas.openxmlformats.org/officeDocument/2006/relationships/image" Target="../media/image185.png"/><Relationship Id="rId11" Type="http://schemas.openxmlformats.org/officeDocument/2006/relationships/image" Target="../media/image190.png"/><Relationship Id="rId5" Type="http://schemas.openxmlformats.org/officeDocument/2006/relationships/image" Target="../media/image184.png"/><Relationship Id="rId15" Type="http://schemas.openxmlformats.org/officeDocument/2006/relationships/image" Target="../media/image194.png"/><Relationship Id="rId10" Type="http://schemas.openxmlformats.org/officeDocument/2006/relationships/image" Target="../media/image189.png"/><Relationship Id="rId4" Type="http://schemas.openxmlformats.org/officeDocument/2006/relationships/image" Target="../media/image183.png"/><Relationship Id="rId9" Type="http://schemas.openxmlformats.org/officeDocument/2006/relationships/image" Target="../media/image188.png"/><Relationship Id="rId14" Type="http://schemas.openxmlformats.org/officeDocument/2006/relationships/image" Target="../media/image193.png"/></Relationships>
</file>

<file path=ppt/slides/_rels/slide29.xml.rels><?xml version="1.0" encoding="UTF-8" standalone="yes"?>
<Relationships xmlns="http://schemas.openxmlformats.org/package/2006/relationships"><Relationship Id="rId8" Type="http://schemas.openxmlformats.org/officeDocument/2006/relationships/image" Target="../media/image187.png"/><Relationship Id="rId13" Type="http://schemas.openxmlformats.org/officeDocument/2006/relationships/image" Target="../media/image192.png"/><Relationship Id="rId18" Type="http://schemas.openxmlformats.org/officeDocument/2006/relationships/image" Target="../media/image198.png"/><Relationship Id="rId3" Type="http://schemas.openxmlformats.org/officeDocument/2006/relationships/image" Target="../media/image182.png"/><Relationship Id="rId21" Type="http://schemas.openxmlformats.org/officeDocument/2006/relationships/image" Target="../media/image201.png"/><Relationship Id="rId7" Type="http://schemas.openxmlformats.org/officeDocument/2006/relationships/image" Target="../media/image186.png"/><Relationship Id="rId12" Type="http://schemas.openxmlformats.org/officeDocument/2006/relationships/image" Target="../media/image191.png"/><Relationship Id="rId17" Type="http://schemas.openxmlformats.org/officeDocument/2006/relationships/image" Target="../media/image197.png"/><Relationship Id="rId2" Type="http://schemas.openxmlformats.org/officeDocument/2006/relationships/notesSlide" Target="../notesSlides/notesSlide29.xml"/><Relationship Id="rId16" Type="http://schemas.openxmlformats.org/officeDocument/2006/relationships/image" Target="../media/image195.png"/><Relationship Id="rId20" Type="http://schemas.openxmlformats.org/officeDocument/2006/relationships/image" Target="../media/image200.png"/><Relationship Id="rId1" Type="http://schemas.openxmlformats.org/officeDocument/2006/relationships/slideLayout" Target="../slideLayouts/slideLayout3.xml"/><Relationship Id="rId6" Type="http://schemas.openxmlformats.org/officeDocument/2006/relationships/image" Target="../media/image185.png"/><Relationship Id="rId11" Type="http://schemas.openxmlformats.org/officeDocument/2006/relationships/image" Target="../media/image190.png"/><Relationship Id="rId5" Type="http://schemas.openxmlformats.org/officeDocument/2006/relationships/image" Target="../media/image184.png"/><Relationship Id="rId15" Type="http://schemas.openxmlformats.org/officeDocument/2006/relationships/image" Target="../media/image194.png"/><Relationship Id="rId10" Type="http://schemas.openxmlformats.org/officeDocument/2006/relationships/image" Target="../media/image189.png"/><Relationship Id="rId19" Type="http://schemas.openxmlformats.org/officeDocument/2006/relationships/image" Target="../media/image199.png"/><Relationship Id="rId4" Type="http://schemas.openxmlformats.org/officeDocument/2006/relationships/image" Target="../media/image183.png"/><Relationship Id="rId9" Type="http://schemas.openxmlformats.org/officeDocument/2006/relationships/image" Target="../media/image188.png"/><Relationship Id="rId14" Type="http://schemas.openxmlformats.org/officeDocument/2006/relationships/image" Target="../media/image193.png"/><Relationship Id="rId22" Type="http://schemas.openxmlformats.org/officeDocument/2006/relationships/image" Target="../media/image202.png"/></Relationships>
</file>

<file path=ppt/slides/_rels/slide30.xml.rels><?xml version="1.0" encoding="UTF-8" standalone="yes"?>
<Relationships xmlns="http://schemas.openxmlformats.org/package/2006/relationships"><Relationship Id="rId8" Type="http://schemas.openxmlformats.org/officeDocument/2006/relationships/image" Target="../media/image187.png"/><Relationship Id="rId13" Type="http://schemas.openxmlformats.org/officeDocument/2006/relationships/image" Target="../media/image192.png"/><Relationship Id="rId18" Type="http://schemas.openxmlformats.org/officeDocument/2006/relationships/image" Target="../media/image204.png"/><Relationship Id="rId3" Type="http://schemas.openxmlformats.org/officeDocument/2006/relationships/image" Target="../media/image182.png"/><Relationship Id="rId7" Type="http://schemas.openxmlformats.org/officeDocument/2006/relationships/image" Target="../media/image186.png"/><Relationship Id="rId12" Type="http://schemas.openxmlformats.org/officeDocument/2006/relationships/image" Target="../media/image191.png"/><Relationship Id="rId17" Type="http://schemas.openxmlformats.org/officeDocument/2006/relationships/image" Target="../media/image203.png"/><Relationship Id="rId2" Type="http://schemas.openxmlformats.org/officeDocument/2006/relationships/notesSlide" Target="../notesSlides/notesSlide30.xml"/><Relationship Id="rId16" Type="http://schemas.openxmlformats.org/officeDocument/2006/relationships/image" Target="../media/image195.png"/><Relationship Id="rId1" Type="http://schemas.openxmlformats.org/officeDocument/2006/relationships/slideLayout" Target="../slideLayouts/slideLayout3.xml"/><Relationship Id="rId6" Type="http://schemas.openxmlformats.org/officeDocument/2006/relationships/image" Target="../media/image185.png"/><Relationship Id="rId11" Type="http://schemas.openxmlformats.org/officeDocument/2006/relationships/image" Target="../media/image190.png"/><Relationship Id="rId5" Type="http://schemas.openxmlformats.org/officeDocument/2006/relationships/image" Target="../media/image184.png"/><Relationship Id="rId15" Type="http://schemas.openxmlformats.org/officeDocument/2006/relationships/image" Target="../media/image194.png"/><Relationship Id="rId10" Type="http://schemas.openxmlformats.org/officeDocument/2006/relationships/image" Target="../media/image189.png"/><Relationship Id="rId19" Type="http://schemas.openxmlformats.org/officeDocument/2006/relationships/image" Target="../media/image205.png"/><Relationship Id="rId4" Type="http://schemas.openxmlformats.org/officeDocument/2006/relationships/image" Target="../media/image183.png"/><Relationship Id="rId9" Type="http://schemas.openxmlformats.org/officeDocument/2006/relationships/image" Target="../media/image188.png"/><Relationship Id="rId14" Type="http://schemas.openxmlformats.org/officeDocument/2006/relationships/image" Target="../media/image193.png"/></Relationships>
</file>

<file path=ppt/slides/_rels/slide31.xml.rels><?xml version="1.0" encoding="UTF-8" standalone="yes"?>
<Relationships xmlns="http://schemas.openxmlformats.org/package/2006/relationships"><Relationship Id="rId8" Type="http://schemas.openxmlformats.org/officeDocument/2006/relationships/image" Target="../media/image187.png"/><Relationship Id="rId13" Type="http://schemas.openxmlformats.org/officeDocument/2006/relationships/image" Target="../media/image192.png"/><Relationship Id="rId18" Type="http://schemas.openxmlformats.org/officeDocument/2006/relationships/image" Target="../media/image207.png"/><Relationship Id="rId3" Type="http://schemas.openxmlformats.org/officeDocument/2006/relationships/image" Target="../media/image182.png"/><Relationship Id="rId21" Type="http://schemas.openxmlformats.org/officeDocument/2006/relationships/image" Target="../media/image210.png"/><Relationship Id="rId7" Type="http://schemas.openxmlformats.org/officeDocument/2006/relationships/image" Target="../media/image186.png"/><Relationship Id="rId12" Type="http://schemas.openxmlformats.org/officeDocument/2006/relationships/image" Target="../media/image191.png"/><Relationship Id="rId17" Type="http://schemas.openxmlformats.org/officeDocument/2006/relationships/image" Target="../media/image206.png"/><Relationship Id="rId2" Type="http://schemas.openxmlformats.org/officeDocument/2006/relationships/notesSlide" Target="../notesSlides/notesSlide31.xml"/><Relationship Id="rId16" Type="http://schemas.openxmlformats.org/officeDocument/2006/relationships/image" Target="../media/image195.png"/><Relationship Id="rId20" Type="http://schemas.openxmlformats.org/officeDocument/2006/relationships/image" Target="../media/image209.png"/><Relationship Id="rId1" Type="http://schemas.openxmlformats.org/officeDocument/2006/relationships/slideLayout" Target="../slideLayouts/slideLayout3.xml"/><Relationship Id="rId6" Type="http://schemas.openxmlformats.org/officeDocument/2006/relationships/image" Target="../media/image185.png"/><Relationship Id="rId11" Type="http://schemas.openxmlformats.org/officeDocument/2006/relationships/image" Target="../media/image190.png"/><Relationship Id="rId5" Type="http://schemas.openxmlformats.org/officeDocument/2006/relationships/image" Target="../media/image184.png"/><Relationship Id="rId15" Type="http://schemas.openxmlformats.org/officeDocument/2006/relationships/image" Target="../media/image194.png"/><Relationship Id="rId10" Type="http://schemas.openxmlformats.org/officeDocument/2006/relationships/image" Target="../media/image189.png"/><Relationship Id="rId19" Type="http://schemas.openxmlformats.org/officeDocument/2006/relationships/image" Target="../media/image208.png"/><Relationship Id="rId4" Type="http://schemas.openxmlformats.org/officeDocument/2006/relationships/image" Target="../media/image183.png"/><Relationship Id="rId9" Type="http://schemas.openxmlformats.org/officeDocument/2006/relationships/image" Target="../media/image188.png"/><Relationship Id="rId14" Type="http://schemas.openxmlformats.org/officeDocument/2006/relationships/image" Target="../media/image193.png"/><Relationship Id="rId22" Type="http://schemas.openxmlformats.org/officeDocument/2006/relationships/image" Target="../media/image781.png"/></Relationships>
</file>

<file path=ppt/slides/_rels/slide32.xml.rels><?xml version="1.0" encoding="UTF-8" standalone="yes"?>
<Relationships xmlns="http://schemas.openxmlformats.org/package/2006/relationships"><Relationship Id="rId8" Type="http://schemas.openxmlformats.org/officeDocument/2006/relationships/image" Target="../media/image216.png"/><Relationship Id="rId13" Type="http://schemas.openxmlformats.org/officeDocument/2006/relationships/image" Target="../media/image221.png"/><Relationship Id="rId3" Type="http://schemas.openxmlformats.org/officeDocument/2006/relationships/image" Target="../media/image211.png"/><Relationship Id="rId7" Type="http://schemas.openxmlformats.org/officeDocument/2006/relationships/image" Target="../media/image215.png"/><Relationship Id="rId12" Type="http://schemas.openxmlformats.org/officeDocument/2006/relationships/image" Target="../media/image1641.png"/><Relationship Id="rId2" Type="http://schemas.openxmlformats.org/officeDocument/2006/relationships/notesSlide" Target="../notesSlides/notesSlide32.xml"/><Relationship Id="rId16" Type="http://schemas.openxmlformats.org/officeDocument/2006/relationships/image" Target="../media/image224.png"/><Relationship Id="rId1" Type="http://schemas.openxmlformats.org/officeDocument/2006/relationships/slideLayout" Target="../slideLayouts/slideLayout3.xml"/><Relationship Id="rId6" Type="http://schemas.openxmlformats.org/officeDocument/2006/relationships/image" Target="../media/image214.png"/><Relationship Id="rId11" Type="http://schemas.openxmlformats.org/officeDocument/2006/relationships/image" Target="../media/image219.png"/><Relationship Id="rId5" Type="http://schemas.openxmlformats.org/officeDocument/2006/relationships/image" Target="../media/image213.png"/><Relationship Id="rId15" Type="http://schemas.openxmlformats.org/officeDocument/2006/relationships/image" Target="../media/image223.png"/><Relationship Id="rId10" Type="http://schemas.openxmlformats.org/officeDocument/2006/relationships/image" Target="../media/image218.png"/><Relationship Id="rId4" Type="http://schemas.openxmlformats.org/officeDocument/2006/relationships/image" Target="../media/image212.png"/><Relationship Id="rId9" Type="http://schemas.openxmlformats.org/officeDocument/2006/relationships/image" Target="../media/image217.png"/><Relationship Id="rId14" Type="http://schemas.openxmlformats.org/officeDocument/2006/relationships/image" Target="../media/image222.png"/></Relationships>
</file>

<file path=ppt/slides/_rels/slide33.xml.rels><?xml version="1.0" encoding="UTF-8" standalone="yes"?>
<Relationships xmlns="http://schemas.openxmlformats.org/package/2006/relationships"><Relationship Id="rId8" Type="http://schemas.openxmlformats.org/officeDocument/2006/relationships/image" Target="../media/image216.png"/><Relationship Id="rId13" Type="http://schemas.openxmlformats.org/officeDocument/2006/relationships/image" Target="../media/image226.png"/><Relationship Id="rId18" Type="http://schemas.openxmlformats.org/officeDocument/2006/relationships/image" Target="../media/image224.png"/><Relationship Id="rId3" Type="http://schemas.openxmlformats.org/officeDocument/2006/relationships/image" Target="../media/image211.png"/><Relationship Id="rId7" Type="http://schemas.openxmlformats.org/officeDocument/2006/relationships/image" Target="../media/image215.png"/><Relationship Id="rId12" Type="http://schemas.openxmlformats.org/officeDocument/2006/relationships/image" Target="../media/image1640.png"/><Relationship Id="rId17" Type="http://schemas.openxmlformats.org/officeDocument/2006/relationships/image" Target="../media/image223.png"/><Relationship Id="rId2" Type="http://schemas.openxmlformats.org/officeDocument/2006/relationships/notesSlide" Target="../notesSlides/notesSlide33.xml"/><Relationship Id="rId16" Type="http://schemas.openxmlformats.org/officeDocument/2006/relationships/image" Target="../media/image222.png"/><Relationship Id="rId1" Type="http://schemas.openxmlformats.org/officeDocument/2006/relationships/slideLayout" Target="../slideLayouts/slideLayout3.xml"/><Relationship Id="rId6" Type="http://schemas.openxmlformats.org/officeDocument/2006/relationships/image" Target="../media/image214.png"/><Relationship Id="rId11" Type="http://schemas.openxmlformats.org/officeDocument/2006/relationships/image" Target="../media/image219.png"/><Relationship Id="rId5" Type="http://schemas.openxmlformats.org/officeDocument/2006/relationships/image" Target="../media/image213.png"/><Relationship Id="rId15" Type="http://schemas.openxmlformats.org/officeDocument/2006/relationships/image" Target="../media/image221.png"/><Relationship Id="rId10" Type="http://schemas.openxmlformats.org/officeDocument/2006/relationships/image" Target="../media/image218.png"/><Relationship Id="rId4" Type="http://schemas.openxmlformats.org/officeDocument/2006/relationships/image" Target="../media/image212.png"/><Relationship Id="rId9" Type="http://schemas.openxmlformats.org/officeDocument/2006/relationships/image" Target="../media/image217.png"/></Relationships>
</file>

<file path=ppt/slides/_rels/slide34.xml.rels><?xml version="1.0" encoding="UTF-8" standalone="yes"?>
<Relationships xmlns="http://schemas.openxmlformats.org/package/2006/relationships"><Relationship Id="rId8" Type="http://schemas.openxmlformats.org/officeDocument/2006/relationships/image" Target="../media/image215.png"/><Relationship Id="rId13" Type="http://schemas.openxmlformats.org/officeDocument/2006/relationships/image" Target="../media/image1640.png"/><Relationship Id="rId18" Type="http://schemas.openxmlformats.org/officeDocument/2006/relationships/image" Target="../media/image229.png"/><Relationship Id="rId3" Type="http://schemas.openxmlformats.org/officeDocument/2006/relationships/image" Target="../media/image224.png"/><Relationship Id="rId21" Type="http://schemas.openxmlformats.org/officeDocument/2006/relationships/image" Target="../media/image223.png"/><Relationship Id="rId7" Type="http://schemas.openxmlformats.org/officeDocument/2006/relationships/image" Target="../media/image214.png"/><Relationship Id="rId12" Type="http://schemas.openxmlformats.org/officeDocument/2006/relationships/image" Target="../media/image219.png"/><Relationship Id="rId2" Type="http://schemas.openxmlformats.org/officeDocument/2006/relationships/notesSlide" Target="../notesSlides/notesSlide34.xml"/><Relationship Id="rId16" Type="http://schemas.openxmlformats.org/officeDocument/2006/relationships/image" Target="../media/image228.png"/><Relationship Id="rId20" Type="http://schemas.openxmlformats.org/officeDocument/2006/relationships/image" Target="../media/image222.png"/><Relationship Id="rId1" Type="http://schemas.openxmlformats.org/officeDocument/2006/relationships/slideLayout" Target="../slideLayouts/slideLayout3.xml"/><Relationship Id="rId6" Type="http://schemas.openxmlformats.org/officeDocument/2006/relationships/image" Target="../media/image213.png"/><Relationship Id="rId11" Type="http://schemas.openxmlformats.org/officeDocument/2006/relationships/image" Target="../media/image218.png"/><Relationship Id="rId5" Type="http://schemas.openxmlformats.org/officeDocument/2006/relationships/image" Target="../media/image212.png"/><Relationship Id="rId15" Type="http://schemas.openxmlformats.org/officeDocument/2006/relationships/image" Target="../media/image227.png"/><Relationship Id="rId10" Type="http://schemas.openxmlformats.org/officeDocument/2006/relationships/image" Target="../media/image217.png"/><Relationship Id="rId19" Type="http://schemas.openxmlformats.org/officeDocument/2006/relationships/image" Target="../media/image221.png"/><Relationship Id="rId4" Type="http://schemas.openxmlformats.org/officeDocument/2006/relationships/image" Target="../media/image211.png"/><Relationship Id="rId9" Type="http://schemas.openxmlformats.org/officeDocument/2006/relationships/image" Target="../media/image216.png"/><Relationship Id="rId14" Type="http://schemas.openxmlformats.org/officeDocument/2006/relationships/image" Target="../media/image226.png"/></Relationships>
</file>

<file path=ppt/slides/_rels/slide35.xml.rels><?xml version="1.0" encoding="UTF-8" standalone="yes"?>
<Relationships xmlns="http://schemas.openxmlformats.org/package/2006/relationships"><Relationship Id="rId8" Type="http://schemas.openxmlformats.org/officeDocument/2006/relationships/image" Target="../media/image215.png"/><Relationship Id="rId13" Type="http://schemas.openxmlformats.org/officeDocument/2006/relationships/image" Target="../media/image1640.png"/><Relationship Id="rId18" Type="http://schemas.openxmlformats.org/officeDocument/2006/relationships/image" Target="../media/image229.png"/><Relationship Id="rId26" Type="http://schemas.openxmlformats.org/officeDocument/2006/relationships/image" Target="../media/image223.png"/><Relationship Id="rId3" Type="http://schemas.openxmlformats.org/officeDocument/2006/relationships/image" Target="../media/image224.png"/><Relationship Id="rId21" Type="http://schemas.openxmlformats.org/officeDocument/2006/relationships/image" Target="../media/image232.png"/><Relationship Id="rId7" Type="http://schemas.openxmlformats.org/officeDocument/2006/relationships/image" Target="../media/image214.png"/><Relationship Id="rId12" Type="http://schemas.openxmlformats.org/officeDocument/2006/relationships/image" Target="../media/image219.png"/><Relationship Id="rId25" Type="http://schemas.openxmlformats.org/officeDocument/2006/relationships/image" Target="../media/image222.png"/><Relationship Id="rId2" Type="http://schemas.openxmlformats.org/officeDocument/2006/relationships/notesSlide" Target="../notesSlides/notesSlide35.xml"/><Relationship Id="rId16" Type="http://schemas.openxmlformats.org/officeDocument/2006/relationships/image" Target="../media/image228.png"/><Relationship Id="rId20" Type="http://schemas.openxmlformats.org/officeDocument/2006/relationships/image" Target="../media/image231.png"/><Relationship Id="rId1" Type="http://schemas.openxmlformats.org/officeDocument/2006/relationships/slideLayout" Target="../slideLayouts/slideLayout3.xml"/><Relationship Id="rId6" Type="http://schemas.openxmlformats.org/officeDocument/2006/relationships/image" Target="../media/image213.png"/><Relationship Id="rId11" Type="http://schemas.openxmlformats.org/officeDocument/2006/relationships/image" Target="../media/image218.png"/><Relationship Id="rId24" Type="http://schemas.openxmlformats.org/officeDocument/2006/relationships/image" Target="../media/image221.png"/><Relationship Id="rId5" Type="http://schemas.openxmlformats.org/officeDocument/2006/relationships/image" Target="../media/image212.png"/><Relationship Id="rId15" Type="http://schemas.openxmlformats.org/officeDocument/2006/relationships/image" Target="../media/image227.png"/><Relationship Id="rId23" Type="http://schemas.openxmlformats.org/officeDocument/2006/relationships/image" Target="../media/image234.png"/><Relationship Id="rId10" Type="http://schemas.openxmlformats.org/officeDocument/2006/relationships/image" Target="../media/image217.png"/><Relationship Id="rId19" Type="http://schemas.openxmlformats.org/officeDocument/2006/relationships/image" Target="../media/image230.png"/><Relationship Id="rId4" Type="http://schemas.openxmlformats.org/officeDocument/2006/relationships/image" Target="../media/image211.png"/><Relationship Id="rId9" Type="http://schemas.openxmlformats.org/officeDocument/2006/relationships/image" Target="../media/image216.png"/><Relationship Id="rId14" Type="http://schemas.openxmlformats.org/officeDocument/2006/relationships/image" Target="../media/image226.png"/><Relationship Id="rId22" Type="http://schemas.openxmlformats.org/officeDocument/2006/relationships/image" Target="../media/image233.png"/></Relationships>
</file>

<file path=ppt/slides/_rels/slide3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image" Target="../media/image72.png"/><Relationship Id="rId5" Type="http://schemas.openxmlformats.org/officeDocument/2006/relationships/image" Target="../media/image71.png"/><Relationship Id="rId10" Type="http://schemas.openxmlformats.org/officeDocument/2006/relationships/image" Target="../media/image76.png"/><Relationship Id="rId4" Type="http://schemas.openxmlformats.org/officeDocument/2006/relationships/image" Target="../media/image70.png"/><Relationship Id="rId9" Type="http://schemas.openxmlformats.org/officeDocument/2006/relationships/image" Target="../media/image75.png"/></Relationships>
</file>

<file path=ppt/slides/_rels/slide38.xml.rels><?xml version="1.0" encoding="UTF-8" standalone="yes"?>
<Relationships xmlns="http://schemas.openxmlformats.org/package/2006/relationships"><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notesSlide" Target="../notesSlides/notesSlide38.xml"/><Relationship Id="rId1" Type="http://schemas.openxmlformats.org/officeDocument/2006/relationships/slideLayout" Target="../slideLayouts/slideLayout3.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1"/>
          <p:cNvSpPr txBox="1">
            <a:spLocks noGrp="1"/>
          </p:cNvSpPr>
          <p:nvPr>
            <p:ph type="ctrTitle"/>
          </p:nvPr>
        </p:nvSpPr>
        <p:spPr>
          <a:xfrm>
            <a:off x="1127448" y="1814964"/>
            <a:ext cx="9937104" cy="14700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600"/>
              <a:buFont typeface="Quattrocento Sans"/>
              <a:buNone/>
            </a:pPr>
            <a:r>
              <a:rPr lang="en-US" sz="3600" dirty="0"/>
              <a:t>Foundations of AI and ML</a:t>
            </a:r>
            <a:br>
              <a:rPr lang="en-US" sz="3600" dirty="0"/>
            </a:br>
            <a:r>
              <a:rPr lang="en-US" sz="3600" dirty="0"/>
              <a:t>CS21206</a:t>
            </a:r>
            <a:endParaRPr sz="3600" i="1" dirty="0"/>
          </a:p>
        </p:txBody>
      </p:sp>
      <p:sp>
        <p:nvSpPr>
          <p:cNvPr id="79" name="Google Shape;79;p11"/>
          <p:cNvSpPr txBox="1">
            <a:spLocks noGrp="1"/>
          </p:cNvSpPr>
          <p:nvPr>
            <p:ph type="subTitle" idx="1"/>
          </p:nvPr>
        </p:nvSpPr>
        <p:spPr>
          <a:xfrm>
            <a:off x="2895600" y="3645024"/>
            <a:ext cx="6400800" cy="1993776"/>
          </a:xfrm>
          <a:prstGeom prst="rect">
            <a:avLst/>
          </a:prstGeom>
          <a:noFill/>
          <a:ln>
            <a:noFill/>
          </a:ln>
        </p:spPr>
        <p:txBody>
          <a:bodyPr spcFirstLastPara="1" wrap="square" lIns="91425" tIns="45700" rIns="91425" bIns="45700" anchor="t" anchorCtr="0">
            <a:noAutofit/>
          </a:bodyPr>
          <a:lstStyle/>
          <a:p>
            <a:pPr marL="0" lvl="0" indent="0" algn="ctr" rtl="0">
              <a:lnSpc>
                <a:spcPct val="80000"/>
              </a:lnSpc>
              <a:spcBef>
                <a:spcPts val="0"/>
              </a:spcBef>
              <a:spcAft>
                <a:spcPts val="0"/>
              </a:spcAft>
              <a:buClr>
                <a:srgbClr val="000099"/>
              </a:buClr>
              <a:buSzPts val="2000"/>
              <a:buNone/>
            </a:pPr>
            <a:r>
              <a:rPr lang="en-US" sz="2000" b="1" dirty="0" err="1">
                <a:solidFill>
                  <a:srgbClr val="000099"/>
                </a:solidFill>
              </a:rPr>
              <a:t>Abir</a:t>
            </a:r>
            <a:r>
              <a:rPr lang="en-US" sz="2000" b="1" dirty="0">
                <a:solidFill>
                  <a:srgbClr val="000099"/>
                </a:solidFill>
              </a:rPr>
              <a:t> Das and Ayan Chaudhury</a:t>
            </a:r>
            <a:endParaRPr dirty="0"/>
          </a:p>
          <a:p>
            <a:pPr marL="0" lvl="0" indent="0" algn="ctr" rtl="0">
              <a:lnSpc>
                <a:spcPct val="80000"/>
              </a:lnSpc>
              <a:spcBef>
                <a:spcPts val="400"/>
              </a:spcBef>
              <a:spcAft>
                <a:spcPts val="0"/>
              </a:spcAft>
              <a:buClr>
                <a:srgbClr val="3F3F3F"/>
              </a:buClr>
              <a:buSzPts val="2000"/>
              <a:buNone/>
            </a:pPr>
            <a:r>
              <a:rPr lang="en-US" sz="2000" dirty="0">
                <a:solidFill>
                  <a:srgbClr val="3F3F3F"/>
                </a:solidFill>
              </a:rPr>
              <a:t>Computer Science and Engineering Department</a:t>
            </a:r>
            <a:endParaRPr dirty="0"/>
          </a:p>
          <a:p>
            <a:pPr marL="0" lvl="0" indent="0" algn="ctr" rtl="0">
              <a:lnSpc>
                <a:spcPct val="80000"/>
              </a:lnSpc>
              <a:spcBef>
                <a:spcPts val="400"/>
              </a:spcBef>
              <a:spcAft>
                <a:spcPts val="0"/>
              </a:spcAft>
              <a:buClr>
                <a:srgbClr val="3F3F3F"/>
              </a:buClr>
              <a:buSzPts val="2000"/>
              <a:buNone/>
            </a:pPr>
            <a:r>
              <a:rPr lang="en-US" sz="2000" dirty="0">
                <a:solidFill>
                  <a:srgbClr val="3F3F3F"/>
                </a:solidFill>
              </a:rPr>
              <a:t>Indian Institute of Technology Kharagpur</a:t>
            </a:r>
            <a:endParaRPr sz="2000" dirty="0">
              <a:solidFill>
                <a:srgbClr val="3F3F3F"/>
              </a:solidFill>
            </a:endParaRPr>
          </a:p>
          <a:p>
            <a:pPr marL="0" lvl="0" indent="0" algn="ctr" rtl="0">
              <a:lnSpc>
                <a:spcPct val="80000"/>
              </a:lnSpc>
              <a:spcBef>
                <a:spcPts val="400"/>
              </a:spcBef>
              <a:spcAft>
                <a:spcPts val="0"/>
              </a:spcAft>
              <a:buClr>
                <a:srgbClr val="888888"/>
              </a:buClr>
              <a:buSzPts val="2000"/>
              <a:buNone/>
            </a:pPr>
            <a:endParaRPr sz="2000" dirty="0">
              <a:solidFill>
                <a:srgbClr val="3F3F3F"/>
              </a:solidFill>
            </a:endParaRPr>
          </a:p>
        </p:txBody>
      </p:sp>
    </p:spTree>
    <p:extLst>
      <p:ext uri="{BB962C8B-B14F-4D97-AF65-F5344CB8AC3E}">
        <p14:creationId xmlns:p14="http://schemas.microsoft.com/office/powerpoint/2010/main" val="131332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2"/>
          <p:cNvPicPr preferRelativeResize="0"/>
          <p:nvPr/>
        </p:nvPicPr>
        <p:blipFill>
          <a:blip r:embed="rId3">
            <a:alphaModFix/>
          </a:blip>
          <a:stretch>
            <a:fillRect/>
          </a:stretch>
        </p:blipFill>
        <p:spPr>
          <a:xfrm>
            <a:off x="1624000" y="1698688"/>
            <a:ext cx="8943975" cy="4029075"/>
          </a:xfrm>
          <a:prstGeom prst="rect">
            <a:avLst/>
          </a:prstGeom>
          <a:noFill/>
          <a:ln>
            <a:noFill/>
          </a:ln>
        </p:spPr>
      </p:pic>
      <p:sp>
        <p:nvSpPr>
          <p:cNvPr id="87" name="Google Shape;87;p12"/>
          <p:cNvSpPr txBox="1"/>
          <p:nvPr/>
        </p:nvSpPr>
        <p:spPr>
          <a:xfrm>
            <a:off x="2491800" y="938575"/>
            <a:ext cx="7208400" cy="84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000">
                <a:solidFill>
                  <a:srgbClr val="434343"/>
                </a:solidFill>
              </a:rPr>
              <a:t>Biological Neural Network</a:t>
            </a:r>
            <a:endParaRPr sz="3000">
              <a:solidFill>
                <a:srgbClr val="434343"/>
              </a:solidFill>
            </a:endParaRPr>
          </a:p>
        </p:txBody>
      </p:sp>
      <p:sp>
        <p:nvSpPr>
          <p:cNvPr id="88" name="Google Shape;88;p12"/>
          <p:cNvSpPr txBox="1"/>
          <p:nvPr/>
        </p:nvSpPr>
        <p:spPr>
          <a:xfrm>
            <a:off x="7248900" y="5881875"/>
            <a:ext cx="49431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rgbClr val="999999"/>
                </a:solidFill>
              </a:rPr>
              <a:t>Image courtesy: F. </a:t>
            </a:r>
            <a:r>
              <a:rPr lang="en-US" sz="1000" dirty="0">
                <a:solidFill>
                  <a:srgbClr val="999999"/>
                </a:solidFill>
              </a:rPr>
              <a:t>A. </a:t>
            </a:r>
            <a:r>
              <a:rPr lang="en-US" sz="1000" dirty="0" err="1">
                <a:solidFill>
                  <a:srgbClr val="999999"/>
                </a:solidFill>
              </a:rPr>
              <a:t>Makinde</a:t>
            </a:r>
            <a:r>
              <a:rPr lang="en-US" sz="1000" dirty="0">
                <a:solidFill>
                  <a:srgbClr val="999999"/>
                </a:solidFill>
              </a:rPr>
              <a:t> et. al., “Prediction of crude oil viscosity using feed-forward back-propagation neural network (FFBPNN)”." Petroleum &amp; Coal 2012</a:t>
            </a:r>
            <a:endParaRPr sz="1000" dirty="0">
              <a:solidFill>
                <a:srgbClr val="999999"/>
              </a:solidFill>
            </a:endParaRPr>
          </a:p>
        </p:txBody>
      </p:sp>
      <p:sp>
        <p:nvSpPr>
          <p:cNvPr id="4" name="Slide Number Placeholder 3"/>
          <p:cNvSpPr>
            <a:spLocks noGrp="1"/>
          </p:cNvSpPr>
          <p:nvPr>
            <p:ph type="sldNum" sz="quarter" idx="4"/>
          </p:nvPr>
        </p:nvSpPr>
        <p:spPr>
          <a:xfrm>
            <a:off x="10569844" y="6356350"/>
            <a:ext cx="783956" cy="365125"/>
          </a:xfrm>
        </p:spPr>
        <p:txBody>
          <a:bodyPr/>
          <a:lstStyle/>
          <a:p>
            <a:fld id="{683B8651-0143-4140-839E-3D36292080E8}" type="slidenum">
              <a:rPr lang="en-US" smtClean="0"/>
              <a:t>2</a:t>
            </a:fld>
            <a:endParaRPr lang="en-US"/>
          </a:p>
        </p:txBody>
      </p:sp>
      <p:sp>
        <p:nvSpPr>
          <p:cNvPr id="5" name="Footer Placeholder 4"/>
          <p:cNvSpPr>
            <a:spLocks noGrp="1"/>
          </p:cNvSpPr>
          <p:nvPr>
            <p:ph type="ftr" sz="quarter" idx="3"/>
          </p:nvPr>
        </p:nvSpPr>
        <p:spPr/>
        <p:txBody>
          <a:bodyPr/>
          <a:lstStyle/>
          <a:p>
            <a:r>
              <a:rPr lang="en-US"/>
              <a:t>CS21206 / FAIML | Perceptron and MLP (c) Abir Das, Ayan Chaudhury</a:t>
            </a:r>
            <a:endParaRPr lang="en-US" dirty="0"/>
          </a:p>
        </p:txBody>
      </p:sp>
    </p:spTree>
    <p:extLst>
      <p:ext uri="{BB962C8B-B14F-4D97-AF65-F5344CB8AC3E}">
        <p14:creationId xmlns:p14="http://schemas.microsoft.com/office/powerpoint/2010/main" val="38857330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3"/>
          <p:cNvPicPr preferRelativeResize="0"/>
          <p:nvPr/>
        </p:nvPicPr>
        <p:blipFill rotWithShape="1">
          <a:blip r:embed="rId3">
            <a:alphaModFix/>
          </a:blip>
          <a:srcRect l="-4942" t="-23050" b="-19237"/>
          <a:stretch/>
        </p:blipFill>
        <p:spPr>
          <a:xfrm>
            <a:off x="-172975" y="228600"/>
            <a:ext cx="11650132" cy="6553199"/>
          </a:xfrm>
          <a:prstGeom prst="rect">
            <a:avLst/>
          </a:prstGeom>
          <a:noFill/>
          <a:ln>
            <a:noFill/>
          </a:ln>
        </p:spPr>
      </p:pic>
      <p:sp>
        <p:nvSpPr>
          <p:cNvPr id="2" name="Footer Placeholder 1"/>
          <p:cNvSpPr>
            <a:spLocks noGrp="1"/>
          </p:cNvSpPr>
          <p:nvPr>
            <p:ph type="ftr" sz="quarter" idx="3"/>
          </p:nvPr>
        </p:nvSpPr>
        <p:spPr>
          <a:xfrm>
            <a:off x="2012197" y="6356350"/>
            <a:ext cx="8167606" cy="365125"/>
          </a:xfrm>
        </p:spPr>
        <p:txBody>
          <a:bodyPr/>
          <a:lstStyle/>
          <a:p>
            <a:r>
              <a:rPr lang="en-US"/>
              <a:t>CS21206 / FAIML | Perceptron and MLP (c) Abir Das, Ayan Chaudhury</a:t>
            </a:r>
            <a:endParaRPr lang="en-US" dirty="0"/>
          </a:p>
        </p:txBody>
      </p:sp>
      <p:sp>
        <p:nvSpPr>
          <p:cNvPr id="4" name="Slide Number Placeholder 3"/>
          <p:cNvSpPr>
            <a:spLocks noGrp="1"/>
          </p:cNvSpPr>
          <p:nvPr>
            <p:ph type="sldNum" sz="quarter" idx="4"/>
          </p:nvPr>
        </p:nvSpPr>
        <p:spPr>
          <a:xfrm>
            <a:off x="10569844" y="6356350"/>
            <a:ext cx="783956" cy="365125"/>
          </a:xfrm>
        </p:spPr>
        <p:txBody>
          <a:bodyPr/>
          <a:lstStyle/>
          <a:p>
            <a:fld id="{683B8651-0143-4140-839E-3D36292080E8}" type="slidenum">
              <a:rPr lang="en-US" smtClean="0"/>
              <a:t>3</a:t>
            </a:fld>
            <a:endParaRPr lang="en-US"/>
          </a:p>
        </p:txBody>
      </p:sp>
    </p:spTree>
    <p:extLst>
      <p:ext uri="{BB962C8B-B14F-4D97-AF65-F5344CB8AC3E}">
        <p14:creationId xmlns:p14="http://schemas.microsoft.com/office/powerpoint/2010/main" val="1514111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2501680" y="832857"/>
            <a:ext cx="7208400" cy="84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200" dirty="0">
                <a:solidFill>
                  <a:srgbClr val="434343"/>
                </a:solidFill>
              </a:rPr>
              <a:t>Artificial Neuron</a:t>
            </a:r>
            <a:endParaRPr sz="3200" dirty="0">
              <a:solidFill>
                <a:srgbClr val="434343"/>
              </a:solidFill>
            </a:endParaRPr>
          </a:p>
        </p:txBody>
      </p:sp>
      <p:sp>
        <p:nvSpPr>
          <p:cNvPr id="119" name="Google Shape;119;p14"/>
          <p:cNvSpPr/>
          <p:nvPr/>
        </p:nvSpPr>
        <p:spPr>
          <a:xfrm>
            <a:off x="591661" y="2472466"/>
            <a:ext cx="167400" cy="332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Narrow"/>
              <a:ea typeface="Arial Narrow"/>
              <a:cs typeface="Arial Narrow"/>
              <a:sym typeface="Arial Narrow"/>
            </a:endParaRPr>
          </a:p>
        </p:txBody>
      </p:sp>
      <p:cxnSp>
        <p:nvCxnSpPr>
          <p:cNvPr id="23" name="Straight Arrow Connector 22"/>
          <p:cNvCxnSpPr>
            <a:endCxn id="22" idx="1"/>
          </p:cNvCxnSpPr>
          <p:nvPr/>
        </p:nvCxnSpPr>
        <p:spPr>
          <a:xfrm>
            <a:off x="981142" y="2549195"/>
            <a:ext cx="1113565" cy="556303"/>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endCxn id="22" idx="2"/>
          </p:cNvCxnSpPr>
          <p:nvPr/>
        </p:nvCxnSpPr>
        <p:spPr>
          <a:xfrm>
            <a:off x="981142" y="3360085"/>
            <a:ext cx="1008112" cy="0"/>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endCxn id="22" idx="3"/>
          </p:cNvCxnSpPr>
          <p:nvPr/>
        </p:nvCxnSpPr>
        <p:spPr>
          <a:xfrm flipV="1">
            <a:off x="1048234" y="3614672"/>
            <a:ext cx="1046473" cy="1249612"/>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22" idx="4"/>
          </p:cNvCxnSpPr>
          <p:nvPr/>
        </p:nvCxnSpPr>
        <p:spPr>
          <a:xfrm flipV="1">
            <a:off x="2349294" y="3720125"/>
            <a:ext cx="0" cy="1080120"/>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22" idx="6"/>
          </p:cNvCxnSpPr>
          <p:nvPr/>
        </p:nvCxnSpPr>
        <p:spPr>
          <a:xfrm flipV="1">
            <a:off x="2709334" y="3357596"/>
            <a:ext cx="1081771" cy="2489"/>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1457400" y="3771088"/>
            <a:ext cx="36000" cy="340800"/>
            <a:chOff x="2731586" y="4043627"/>
            <a:chExt cx="36000" cy="340800"/>
          </a:xfrm>
        </p:grpSpPr>
        <p:sp>
          <p:nvSpPr>
            <p:cNvPr id="5" name="Oval 4"/>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Oval 43"/>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Oval 44"/>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7" name="TextBox 6"/>
              <p:cNvSpPr txBox="1"/>
              <p:nvPr/>
            </p:nvSpPr>
            <p:spPr>
              <a:xfrm>
                <a:off x="504792" y="2219053"/>
                <a:ext cx="50853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1</m:t>
                          </m:r>
                        </m:sub>
                      </m:sSub>
                    </m:oMath>
                  </m:oMathPara>
                </a14:m>
                <a:endParaRPr lang="en-US" sz="3200" b="0" dirty="0"/>
              </a:p>
            </p:txBody>
          </p:sp>
        </mc:Choice>
        <mc:Fallback xmlns="">
          <p:sp>
            <p:nvSpPr>
              <p:cNvPr id="7" name="TextBox 6"/>
              <p:cNvSpPr txBox="1">
                <a:spLocks noRot="1" noChangeAspect="1" noMove="1" noResize="1" noEditPoints="1" noAdjustHandles="1" noChangeArrowheads="1" noChangeShapeType="1" noTextEdit="1"/>
              </p:cNvSpPr>
              <p:nvPr/>
            </p:nvSpPr>
            <p:spPr>
              <a:xfrm>
                <a:off x="504792" y="2219053"/>
                <a:ext cx="508537" cy="492443"/>
              </a:xfrm>
              <a:prstGeom prst="rect">
                <a:avLst/>
              </a:prstGeom>
              <a:blipFill rotWithShape="0">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504792" y="3027827"/>
                <a:ext cx="51802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2</m:t>
                          </m:r>
                        </m:sub>
                      </m:sSub>
                    </m:oMath>
                  </m:oMathPara>
                </a14:m>
                <a:endParaRPr lang="en-US" sz="3200" b="0" dirty="0"/>
              </a:p>
            </p:txBody>
          </p:sp>
        </mc:Choice>
        <mc:Fallback xmlns="">
          <p:sp>
            <p:nvSpPr>
              <p:cNvPr id="48" name="TextBox 47"/>
              <p:cNvSpPr txBox="1">
                <a:spLocks noRot="1" noChangeAspect="1" noMove="1" noResize="1" noEditPoints="1" noAdjustHandles="1" noChangeArrowheads="1" noChangeShapeType="1" noTextEdit="1"/>
              </p:cNvSpPr>
              <p:nvPr/>
            </p:nvSpPr>
            <p:spPr>
              <a:xfrm>
                <a:off x="504792" y="3027827"/>
                <a:ext cx="518027" cy="492443"/>
              </a:xfrm>
              <a:prstGeom prst="rect">
                <a:avLst/>
              </a:prstGeom>
              <a:blipFill rotWithShape="0">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p:cNvSpPr txBox="1"/>
              <p:nvPr/>
            </p:nvSpPr>
            <p:spPr>
              <a:xfrm>
                <a:off x="504792" y="4485232"/>
                <a:ext cx="54514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𝑑</m:t>
                          </m:r>
                        </m:sub>
                      </m:sSub>
                    </m:oMath>
                  </m:oMathPara>
                </a14:m>
                <a:endParaRPr lang="en-US" sz="3200" b="0" dirty="0"/>
              </a:p>
            </p:txBody>
          </p:sp>
        </mc:Choice>
        <mc:Fallback xmlns="">
          <p:sp>
            <p:nvSpPr>
              <p:cNvPr id="49" name="TextBox 48"/>
              <p:cNvSpPr txBox="1">
                <a:spLocks noRot="1" noChangeAspect="1" noMove="1" noResize="1" noEditPoints="1" noAdjustHandles="1" noChangeArrowheads="1" noChangeShapeType="1" noTextEdit="1"/>
              </p:cNvSpPr>
              <p:nvPr/>
            </p:nvSpPr>
            <p:spPr>
              <a:xfrm>
                <a:off x="504792" y="4485232"/>
                <a:ext cx="545149" cy="492443"/>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1261360" y="2274971"/>
                <a:ext cx="583878"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1</m:t>
                          </m:r>
                        </m:sub>
                      </m:sSub>
                    </m:oMath>
                  </m:oMathPara>
                </a14:m>
                <a:endParaRPr lang="en-US" sz="3200" b="0" dirty="0"/>
              </a:p>
            </p:txBody>
          </p:sp>
        </mc:Choice>
        <mc:Fallback xmlns="">
          <p:sp>
            <p:nvSpPr>
              <p:cNvPr id="50" name="TextBox 49"/>
              <p:cNvSpPr txBox="1">
                <a:spLocks noRot="1" noChangeAspect="1" noMove="1" noResize="1" noEditPoints="1" noAdjustHandles="1" noChangeArrowheads="1" noChangeShapeType="1" noTextEdit="1"/>
              </p:cNvSpPr>
              <p:nvPr/>
            </p:nvSpPr>
            <p:spPr>
              <a:xfrm>
                <a:off x="1261360" y="2274971"/>
                <a:ext cx="583878" cy="492443"/>
              </a:xfrm>
              <a:prstGeom prst="rect">
                <a:avLst/>
              </a:prstGeom>
              <a:blipFill rotWithShape="0">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1261360" y="2834376"/>
                <a:ext cx="593368"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2</m:t>
                          </m:r>
                        </m:sub>
                      </m:sSub>
                    </m:oMath>
                  </m:oMathPara>
                </a14:m>
                <a:endParaRPr lang="en-US" sz="3200" b="0" dirty="0"/>
              </a:p>
            </p:txBody>
          </p:sp>
        </mc:Choice>
        <mc:Fallback xmlns="">
          <p:sp>
            <p:nvSpPr>
              <p:cNvPr id="51" name="TextBox 50"/>
              <p:cNvSpPr txBox="1">
                <a:spLocks noRot="1" noChangeAspect="1" noMove="1" noResize="1" noEditPoints="1" noAdjustHandles="1" noChangeArrowheads="1" noChangeShapeType="1" noTextEdit="1"/>
              </p:cNvSpPr>
              <p:nvPr/>
            </p:nvSpPr>
            <p:spPr>
              <a:xfrm>
                <a:off x="1261360" y="2834376"/>
                <a:ext cx="593368" cy="492443"/>
              </a:xfrm>
              <a:prstGeom prst="rect">
                <a:avLst/>
              </a:prstGeom>
              <a:blipFill rotWithShape="0">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1261360" y="4456082"/>
                <a:ext cx="620491"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𝑑</m:t>
                          </m:r>
                        </m:sub>
                      </m:sSub>
                    </m:oMath>
                  </m:oMathPara>
                </a14:m>
                <a:endParaRPr lang="en-US" sz="3200" b="0" dirty="0"/>
              </a:p>
            </p:txBody>
          </p:sp>
        </mc:Choice>
        <mc:Fallback xmlns="">
          <p:sp>
            <p:nvSpPr>
              <p:cNvPr id="52" name="TextBox 51"/>
              <p:cNvSpPr txBox="1">
                <a:spLocks noRot="1" noChangeAspect="1" noMove="1" noResize="1" noEditPoints="1" noAdjustHandles="1" noChangeArrowheads="1" noChangeShapeType="1" noTextEdit="1"/>
              </p:cNvSpPr>
              <p:nvPr/>
            </p:nvSpPr>
            <p:spPr>
              <a:xfrm>
                <a:off x="1261360" y="4456082"/>
                <a:ext cx="620491" cy="492443"/>
              </a:xfrm>
              <a:prstGeom prst="rect">
                <a:avLst/>
              </a:prstGeom>
              <a:blipFill rotWithShape="0">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203521" y="4870443"/>
                <a:ext cx="29815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1</m:t>
                      </m:r>
                    </m:oMath>
                  </m:oMathPara>
                </a14:m>
                <a:endParaRPr lang="en-IN"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2203521" y="4870443"/>
                <a:ext cx="298159" cy="430887"/>
              </a:xfrm>
              <a:prstGeom prst="rect">
                <a:avLst/>
              </a:prstGeom>
              <a:blipFill rotWithShape="0">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456475" y="4024034"/>
                <a:ext cx="122937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𝑊</m:t>
                          </m:r>
                        </m:e>
                        <m:sub>
                          <m:r>
                            <a:rPr lang="en-US" sz="2800" b="0" i="1" smtClean="0">
                              <a:latin typeface="Cambria Math" panose="02040503050406030204" pitchFamily="18" charset="0"/>
                            </a:rPr>
                            <m:t>0</m:t>
                          </m:r>
                        </m:sub>
                      </m:sSub>
                      <m:r>
                        <a:rPr lang="en-US" sz="2800" b="0" i="1" smtClean="0">
                          <a:latin typeface="Cambria Math" panose="02040503050406030204" pitchFamily="18" charset="0"/>
                        </a:rPr>
                        <m:t>=</m:t>
                      </m:r>
                      <m:r>
                        <a:rPr lang="en-US" sz="2800" b="0" i="1" smtClean="0">
                          <a:latin typeface="Cambria Math" panose="02040503050406030204" pitchFamily="18" charset="0"/>
                        </a:rPr>
                        <m:t>𝑏</m:t>
                      </m:r>
                    </m:oMath>
                  </m:oMathPara>
                </a14:m>
                <a:endParaRPr lang="en-IN" sz="2800" dirty="0"/>
              </a:p>
            </p:txBody>
          </p:sp>
        </mc:Choice>
        <mc:Fallback xmlns="">
          <p:sp>
            <p:nvSpPr>
              <p:cNvPr id="9" name="TextBox 8"/>
              <p:cNvSpPr txBox="1">
                <a:spLocks noRot="1" noChangeAspect="1" noMove="1" noResize="1" noEditPoints="1" noAdjustHandles="1" noChangeArrowheads="1" noChangeShapeType="1" noTextEdit="1"/>
              </p:cNvSpPr>
              <p:nvPr/>
            </p:nvSpPr>
            <p:spPr>
              <a:xfrm>
                <a:off x="2456475" y="4024034"/>
                <a:ext cx="1229376" cy="430887"/>
              </a:xfrm>
              <a:prstGeom prst="rect">
                <a:avLst/>
              </a:prstGeom>
              <a:blipFill rotWithShape="0">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736172" y="2865153"/>
                <a:ext cx="92333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𝑎</m:t>
                      </m:r>
                      <m:r>
                        <a:rPr lang="en-US" sz="3200" b="0" i="1" smtClean="0">
                          <a:latin typeface="Cambria Math" panose="02040503050406030204" pitchFamily="18" charset="0"/>
                        </a:rPr>
                        <m:t>(</m:t>
                      </m:r>
                      <m:r>
                        <a:rPr lang="en-US" sz="3200" b="1" i="1" smtClean="0">
                          <a:latin typeface="Cambria Math" panose="02040503050406030204" pitchFamily="18" charset="0"/>
                        </a:rPr>
                        <m:t>𝒙</m:t>
                      </m:r>
                      <m:r>
                        <a:rPr lang="en-US" sz="3200" b="0" i="1" smtClean="0">
                          <a:latin typeface="Cambria Math" panose="02040503050406030204" pitchFamily="18" charset="0"/>
                        </a:rPr>
                        <m:t>)</m:t>
                      </m:r>
                    </m:oMath>
                  </m:oMathPara>
                </a14:m>
                <a:endParaRPr lang="en-IN" sz="3200" dirty="0"/>
              </a:p>
            </p:txBody>
          </p:sp>
        </mc:Choice>
        <mc:Fallback xmlns="">
          <p:sp>
            <p:nvSpPr>
              <p:cNvPr id="10" name="TextBox 9"/>
              <p:cNvSpPr txBox="1">
                <a:spLocks noRot="1" noChangeAspect="1" noMove="1" noResize="1" noEditPoints="1" noAdjustHandles="1" noChangeArrowheads="1" noChangeShapeType="1" noTextEdit="1"/>
              </p:cNvSpPr>
              <p:nvPr/>
            </p:nvSpPr>
            <p:spPr>
              <a:xfrm>
                <a:off x="2736172" y="2865153"/>
                <a:ext cx="923330" cy="492443"/>
              </a:xfrm>
              <a:prstGeom prst="rect">
                <a:avLst/>
              </a:prstGeom>
              <a:blipFill rotWithShape="0">
                <a:blip r:embed="rId11"/>
                <a:stretch>
                  <a:fillRect/>
                </a:stretch>
              </a:blipFill>
            </p:spPr>
            <p:txBody>
              <a:bodyPr/>
              <a:lstStyle/>
              <a:p>
                <a:r>
                  <a:rPr lang="en-IN">
                    <a:noFill/>
                  </a:rPr>
                  <a:t> </a:t>
                </a:r>
              </a:p>
            </p:txBody>
          </p:sp>
        </mc:Fallback>
      </mc:AlternateContent>
      <p:grpSp>
        <p:nvGrpSpPr>
          <p:cNvPr id="16" name="Group 15"/>
          <p:cNvGrpSpPr/>
          <p:nvPr/>
        </p:nvGrpSpPr>
        <p:grpSpPr>
          <a:xfrm>
            <a:off x="1989254" y="3000045"/>
            <a:ext cx="860767" cy="720080"/>
            <a:chOff x="3359696" y="3429000"/>
            <a:chExt cx="860767" cy="720080"/>
          </a:xfrm>
        </p:grpSpPr>
        <p:sp>
          <p:nvSpPr>
            <p:cNvPr id="22" name="Oval 21"/>
            <p:cNvSpPr/>
            <p:nvPr/>
          </p:nvSpPr>
          <p:spPr>
            <a:xfrm>
              <a:off x="3359696" y="3429000"/>
              <a:ext cx="720080" cy="7200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pic>
          <p:nvPicPr>
            <p:cNvPr id="13" name="Picture 12"/>
            <p:cNvPicPr>
              <a:picLocks noChangeAspect="1"/>
            </p:cNvPicPr>
            <p:nvPr/>
          </p:nvPicPr>
          <p:blipFill>
            <a:blip r:embed="rId12"/>
            <a:stretch>
              <a:fillRect/>
            </a:stretch>
          </p:blipFill>
          <p:spPr>
            <a:xfrm>
              <a:off x="3426091" y="3443712"/>
              <a:ext cx="794372" cy="690906"/>
            </a:xfrm>
            <a:prstGeom prst="rect">
              <a:avLst/>
            </a:prstGeom>
          </p:spPr>
        </p:pic>
      </p:grpSp>
      <p:grpSp>
        <p:nvGrpSpPr>
          <p:cNvPr id="15" name="Group 14"/>
          <p:cNvGrpSpPr/>
          <p:nvPr/>
        </p:nvGrpSpPr>
        <p:grpSpPr>
          <a:xfrm>
            <a:off x="3807710" y="2997556"/>
            <a:ext cx="772071" cy="720080"/>
            <a:chOff x="6644172" y="4270432"/>
            <a:chExt cx="772071" cy="720080"/>
          </a:xfrm>
        </p:grpSpPr>
        <p:sp>
          <p:nvSpPr>
            <p:cNvPr id="61" name="Oval 60"/>
            <p:cNvSpPr/>
            <p:nvPr/>
          </p:nvSpPr>
          <p:spPr>
            <a:xfrm>
              <a:off x="6644172" y="4270432"/>
              <a:ext cx="720080" cy="7200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4" name="TextBox 13"/>
                <p:cNvSpPr txBox="1"/>
                <p:nvPr/>
              </p:nvSpPr>
              <p:spPr>
                <a:xfrm>
                  <a:off x="6644172" y="4383657"/>
                  <a:ext cx="772071" cy="4001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600" b="0" i="1" smtClean="0">
                            <a:latin typeface="Cambria Math" panose="02040503050406030204" pitchFamily="18" charset="0"/>
                            <a:ea typeface="Cambria Math" panose="02040503050406030204" pitchFamily="18" charset="0"/>
                          </a:rPr>
                          <m:t>𝑔</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𝑎</m:t>
                        </m:r>
                        <m:r>
                          <a:rPr lang="en-US" sz="2600" b="0" i="1" smtClean="0">
                            <a:latin typeface="Cambria Math" panose="02040503050406030204" pitchFamily="18" charset="0"/>
                            <a:ea typeface="Cambria Math" panose="02040503050406030204" pitchFamily="18" charset="0"/>
                          </a:rPr>
                          <m:t>)</m:t>
                        </m:r>
                      </m:oMath>
                    </m:oMathPara>
                  </a14:m>
                  <a:endParaRPr lang="en-IN" sz="2600" dirty="0"/>
                </a:p>
              </p:txBody>
            </p:sp>
          </mc:Choice>
          <mc:Fallback xmlns="">
            <p:sp>
              <p:nvSpPr>
                <p:cNvPr id="14" name="TextBox 13"/>
                <p:cNvSpPr txBox="1">
                  <a:spLocks noRot="1" noChangeAspect="1" noMove="1" noResize="1" noEditPoints="1" noAdjustHandles="1" noChangeArrowheads="1" noChangeShapeType="1" noTextEdit="1"/>
                </p:cNvSpPr>
                <p:nvPr/>
              </p:nvSpPr>
              <p:spPr>
                <a:xfrm>
                  <a:off x="6644172" y="4383657"/>
                  <a:ext cx="772071" cy="400110"/>
                </a:xfrm>
                <a:prstGeom prst="rect">
                  <a:avLst/>
                </a:prstGeom>
                <a:blipFill rotWithShape="0">
                  <a:blip r:embed="rId13"/>
                  <a:stretch>
                    <a:fillRect/>
                  </a:stretch>
                </a:blipFill>
              </p:spPr>
              <p:txBody>
                <a:bodyPr/>
                <a:lstStyle/>
                <a:p>
                  <a:r>
                    <a:rPr lang="en-IN">
                      <a:noFill/>
                    </a:rPr>
                    <a:t> </a:t>
                  </a:r>
                </a:p>
              </p:txBody>
            </p:sp>
          </mc:Fallback>
        </mc:AlternateContent>
      </p:grpSp>
      <p:cxnSp>
        <p:nvCxnSpPr>
          <p:cNvPr id="65" name="Straight Arrow Connector 64"/>
          <p:cNvCxnSpPr/>
          <p:nvPr/>
        </p:nvCxnSpPr>
        <p:spPr>
          <a:xfrm>
            <a:off x="4527790" y="3355107"/>
            <a:ext cx="622884" cy="2489"/>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p:cNvSpPr txBox="1"/>
              <p:nvPr/>
            </p:nvSpPr>
            <p:spPr>
              <a:xfrm>
                <a:off x="5118716" y="3041582"/>
                <a:ext cx="350032"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𝑦</m:t>
                      </m:r>
                    </m:oMath>
                  </m:oMathPara>
                </a14:m>
                <a:endParaRPr lang="en-IN" sz="3200" dirty="0"/>
              </a:p>
            </p:txBody>
          </p:sp>
        </mc:Choice>
        <mc:Fallback xmlns="">
          <p:sp>
            <p:nvSpPr>
              <p:cNvPr id="19" name="TextBox 18"/>
              <p:cNvSpPr txBox="1">
                <a:spLocks noRot="1" noChangeAspect="1" noMove="1" noResize="1" noEditPoints="1" noAdjustHandles="1" noChangeArrowheads="1" noChangeShapeType="1" noTextEdit="1"/>
              </p:cNvSpPr>
              <p:nvPr/>
            </p:nvSpPr>
            <p:spPr>
              <a:xfrm>
                <a:off x="5118716" y="3041582"/>
                <a:ext cx="350032" cy="492443"/>
              </a:xfrm>
              <a:prstGeom prst="rect">
                <a:avLst/>
              </a:prstGeom>
              <a:blipFill rotWithShape="0">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a:off x="6076266" y="2127531"/>
                <a:ext cx="4449487" cy="10459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𝑎</m:t>
                      </m:r>
                      <m:d>
                        <m:dPr>
                          <m:ctrlPr>
                            <a:rPr lang="en-US" sz="2400" b="0" i="1" smtClean="0">
                              <a:latin typeface="Cambria Math" panose="02040503050406030204" pitchFamily="18" charset="0"/>
                            </a:rPr>
                          </m:ctrlPr>
                        </m:dPr>
                        <m:e>
                          <m:r>
                            <a:rPr lang="en-US" sz="2400" b="1" i="1" smtClean="0">
                              <a:latin typeface="Cambria Math" panose="02040503050406030204" pitchFamily="18" charset="0"/>
                            </a:rPr>
                            <m:t>𝒙</m:t>
                          </m:r>
                        </m:e>
                      </m:d>
                      <m:r>
                        <a:rPr lang="en-US" sz="2400" b="0" i="1" smtClean="0">
                          <a:latin typeface="Cambria Math" panose="02040503050406030204" pitchFamily="18" charset="0"/>
                        </a:rPr>
                        <m:t>=</m:t>
                      </m:r>
                      <m:r>
                        <a:rPr lang="en-US" sz="2400" b="0" i="1" smtClean="0">
                          <a:latin typeface="Cambria Math" panose="02040503050406030204" pitchFamily="18" charset="0"/>
                        </a:rPr>
                        <m:t>𝑏</m:t>
                      </m:r>
                      <m:r>
                        <a:rPr lang="en-US" sz="2400" b="0" i="1" smtClean="0">
                          <a:latin typeface="Cambria Math" panose="02040503050406030204" pitchFamily="18" charset="0"/>
                        </a:rPr>
                        <m:t>+ </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𝑑</m:t>
                          </m:r>
                        </m:sup>
                        <m:e>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𝑖</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𝑖</m:t>
                              </m:r>
                            </m:sub>
                          </m:sSub>
                        </m:e>
                      </m:nary>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sSup>
                            <m:sSupPr>
                              <m:ctrlPr>
                                <a:rPr lang="en-US" sz="2400" b="1" i="1" smtClean="0">
                                  <a:latin typeface="Cambria Math" panose="02040503050406030204" pitchFamily="18" charset="0"/>
                                </a:rPr>
                              </m:ctrlPr>
                            </m:sSupPr>
                            <m:e>
                              <m:r>
                                <a:rPr lang="en-US" sz="2400" b="1" i="1" smtClean="0">
                                  <a:latin typeface="Cambria Math" panose="02040503050406030204" pitchFamily="18" charset="0"/>
                                </a:rPr>
                                <m:t>𝒘</m:t>
                              </m:r>
                            </m:e>
                            <m:sup>
                              <m:r>
                                <a:rPr lang="en-US" sz="2400" b="0" i="1" smtClean="0">
                                  <a:latin typeface="Cambria Math" panose="02040503050406030204" pitchFamily="18" charset="0"/>
                                </a:rPr>
                                <m:t>𝑇</m:t>
                              </m:r>
                            </m:sup>
                          </m:sSup>
                          <m:r>
                            <a:rPr lang="en-US" sz="2400" b="0" i="1" smtClean="0">
                              <a:latin typeface="Cambria Math" panose="02040503050406030204" pitchFamily="18" charset="0"/>
                            </a:rPr>
                            <m:t>𝑏</m:t>
                          </m:r>
                        </m:e>
                      </m:d>
                      <m:d>
                        <m:dPr>
                          <m:begChr m:val="["/>
                          <m:endChr m:val="]"/>
                          <m:ctrlPr>
                            <a:rPr lang="en-US" sz="2400" b="0" i="1" smtClean="0">
                              <a:latin typeface="Cambria Math" panose="02040503050406030204" pitchFamily="18" charset="0"/>
                            </a:rPr>
                          </m:ctrlPr>
                        </m:dPr>
                        <m:e>
                          <m:m>
                            <m:mPr>
                              <m:mcs>
                                <m:mc>
                                  <m:mcPr>
                                    <m:count m:val="1"/>
                                    <m:mcJc m:val="center"/>
                                  </m:mcPr>
                                </m:mc>
                              </m:mcs>
                              <m:ctrlPr>
                                <a:rPr lang="en-US" sz="2400" b="0" i="1" smtClean="0">
                                  <a:latin typeface="Cambria Math" panose="02040503050406030204" pitchFamily="18" charset="0"/>
                                </a:rPr>
                              </m:ctrlPr>
                            </m:mPr>
                            <m:mr>
                              <m:e>
                                <m:r>
                                  <m:rPr>
                                    <m:brk m:alnAt="7"/>
                                  </m:rPr>
                                  <a:rPr lang="en-US" sz="2400" b="1" i="1" smtClean="0">
                                    <a:latin typeface="Cambria Math" panose="02040503050406030204" pitchFamily="18" charset="0"/>
                                  </a:rPr>
                                  <m:t>𝒙</m:t>
                                </m:r>
                              </m:e>
                            </m:mr>
                            <m:mr>
                              <m:e>
                                <m:r>
                                  <a:rPr lang="en-US" sz="2400" b="0" i="1" smtClean="0">
                                    <a:latin typeface="Cambria Math" panose="02040503050406030204" pitchFamily="18" charset="0"/>
                                  </a:rPr>
                                  <m:t>1</m:t>
                                </m:r>
                              </m:e>
                            </m:mr>
                          </m:m>
                        </m:e>
                      </m:d>
                    </m:oMath>
                  </m:oMathPara>
                </a14:m>
                <a:endParaRPr lang="en-IN" sz="2400" dirty="0"/>
              </a:p>
            </p:txBody>
          </p:sp>
        </mc:Choice>
        <mc:Fallback xmlns="">
          <p:sp>
            <p:nvSpPr>
              <p:cNvPr id="69" name="TextBox 68"/>
              <p:cNvSpPr txBox="1">
                <a:spLocks noRot="1" noChangeAspect="1" noMove="1" noResize="1" noEditPoints="1" noAdjustHandles="1" noChangeArrowheads="1" noChangeShapeType="1" noTextEdit="1"/>
              </p:cNvSpPr>
              <p:nvPr/>
            </p:nvSpPr>
            <p:spPr>
              <a:xfrm>
                <a:off x="6076266" y="2127531"/>
                <a:ext cx="4449487" cy="1045927"/>
              </a:xfrm>
              <a:prstGeom prst="rect">
                <a:avLst/>
              </a:prstGeom>
              <a:blipFill rotWithShape="0">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6076266" y="1674790"/>
                <a:ext cx="259532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𝒘</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𝑑</m:t>
                                  </m:r>
                                </m:sub>
                              </m:sSub>
                            </m:e>
                          </m:d>
                        </m:e>
                        <m:sup>
                          <m:r>
                            <a:rPr lang="en-US" sz="2400" b="0" i="1" smtClean="0">
                              <a:latin typeface="Cambria Math" panose="02040503050406030204" pitchFamily="18" charset="0"/>
                            </a:rPr>
                            <m:t>𝑇</m:t>
                          </m:r>
                        </m:sup>
                      </m:sSup>
                    </m:oMath>
                  </m:oMathPara>
                </a14:m>
                <a:endParaRPr lang="en-IN" sz="2400" dirty="0"/>
              </a:p>
            </p:txBody>
          </p:sp>
        </mc:Choice>
        <mc:Fallback xmlns="">
          <p:sp>
            <p:nvSpPr>
              <p:cNvPr id="21" name="TextBox 20"/>
              <p:cNvSpPr txBox="1">
                <a:spLocks noRot="1" noChangeAspect="1" noMove="1" noResize="1" noEditPoints="1" noAdjustHandles="1" noChangeArrowheads="1" noChangeShapeType="1" noTextEdit="1"/>
              </p:cNvSpPr>
              <p:nvPr/>
            </p:nvSpPr>
            <p:spPr>
              <a:xfrm>
                <a:off x="6076266" y="1674790"/>
                <a:ext cx="2595326" cy="369332"/>
              </a:xfrm>
              <a:prstGeom prst="rect">
                <a:avLst/>
              </a:prstGeom>
              <a:blipFill rotWithShape="0">
                <a:blip r:embed="rId16"/>
                <a:stretch>
                  <a:fillRect l="-939" t="-1667" b="-1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9253638" y="1673590"/>
                <a:ext cx="236039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𝒙</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𝑑</m:t>
                                  </m:r>
                                </m:sub>
                              </m:sSub>
                            </m:e>
                          </m:d>
                        </m:e>
                        <m:sup>
                          <m:r>
                            <a:rPr lang="en-US" sz="2400" b="0" i="1" smtClean="0">
                              <a:latin typeface="Cambria Math" panose="02040503050406030204" pitchFamily="18" charset="0"/>
                            </a:rPr>
                            <m:t>𝑇</m:t>
                          </m:r>
                        </m:sup>
                      </m:sSup>
                    </m:oMath>
                  </m:oMathPara>
                </a14:m>
                <a:endParaRPr lang="en-IN" sz="2400" dirty="0"/>
              </a:p>
            </p:txBody>
          </p:sp>
        </mc:Choice>
        <mc:Fallback xmlns="">
          <p:sp>
            <p:nvSpPr>
              <p:cNvPr id="72" name="TextBox 71"/>
              <p:cNvSpPr txBox="1">
                <a:spLocks noRot="1" noChangeAspect="1" noMove="1" noResize="1" noEditPoints="1" noAdjustHandles="1" noChangeArrowheads="1" noChangeShapeType="1" noTextEdit="1"/>
              </p:cNvSpPr>
              <p:nvPr/>
            </p:nvSpPr>
            <p:spPr>
              <a:xfrm>
                <a:off x="9253638" y="1673590"/>
                <a:ext cx="2360390" cy="369332"/>
              </a:xfrm>
              <a:prstGeom prst="rect">
                <a:avLst/>
              </a:prstGeom>
              <a:blipFill rotWithShape="0">
                <a:blip r:embed="rId17"/>
                <a:stretch>
                  <a:fillRect l="-1034" t="-1667" r="-258" b="-16667"/>
                </a:stretch>
              </a:blipFill>
            </p:spPr>
            <p:txBody>
              <a:bodyPr/>
              <a:lstStyle/>
              <a:p>
                <a:r>
                  <a:rPr lang="en-IN">
                    <a:noFill/>
                  </a:rPr>
                  <a:t> </a:t>
                </a:r>
              </a:p>
            </p:txBody>
          </p:sp>
        </mc:Fallback>
      </mc:AlternateContent>
      <p:sp>
        <p:nvSpPr>
          <p:cNvPr id="39" name="TextBox 38"/>
          <p:cNvSpPr txBox="1"/>
          <p:nvPr/>
        </p:nvSpPr>
        <p:spPr>
          <a:xfrm>
            <a:off x="8721203" y="1761902"/>
            <a:ext cx="482824" cy="307777"/>
          </a:xfrm>
          <a:prstGeom prst="rect">
            <a:avLst/>
          </a:prstGeom>
          <a:noFill/>
        </p:spPr>
        <p:txBody>
          <a:bodyPr wrap="none" rtlCol="0">
            <a:spAutoFit/>
          </a:bodyPr>
          <a:lstStyle/>
          <a:p>
            <a:r>
              <a:rPr lang="en-US" dirty="0"/>
              <a:t>and</a:t>
            </a:r>
            <a:endParaRPr lang="en-IN" dirty="0"/>
          </a:p>
        </p:txBody>
      </p:sp>
      <mc:AlternateContent xmlns:mc="http://schemas.openxmlformats.org/markup-compatibility/2006" xmlns:a14="http://schemas.microsoft.com/office/drawing/2010/main">
        <mc:Choice Requires="a14">
          <p:sp>
            <p:nvSpPr>
              <p:cNvPr id="41" name="TextBox 40"/>
              <p:cNvSpPr txBox="1"/>
              <p:nvPr/>
            </p:nvSpPr>
            <p:spPr>
              <a:xfrm>
                <a:off x="6076266" y="3279752"/>
                <a:ext cx="172361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r>
                        <a:rPr lang="en-US" sz="2400" b="0" i="1" smtClean="0">
                          <a:latin typeface="Cambria Math" panose="02040503050406030204" pitchFamily="18" charset="0"/>
                        </a:rPr>
                        <m:t>𝑔</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𝑎</m:t>
                      </m:r>
                      <m:d>
                        <m:dPr>
                          <m:ctrlPr>
                            <a:rPr lang="en-US" sz="2400" b="0" i="1" smtClean="0">
                              <a:latin typeface="Cambria Math" panose="02040503050406030204" pitchFamily="18" charset="0"/>
                              <a:ea typeface="Cambria Math" panose="02040503050406030204" pitchFamily="18" charset="0"/>
                            </a:rPr>
                          </m:ctrlPr>
                        </m:dPr>
                        <m:e>
                          <m:r>
                            <a:rPr lang="en-US" sz="2400" b="1" i="1" smtClean="0">
                              <a:latin typeface="Cambria Math" panose="02040503050406030204" pitchFamily="18" charset="0"/>
                              <a:ea typeface="Cambria Math" panose="02040503050406030204" pitchFamily="18" charset="0"/>
                            </a:rPr>
                            <m:t>𝒙</m:t>
                          </m:r>
                        </m:e>
                      </m:d>
                      <m:r>
                        <a:rPr lang="en-US" sz="2400" b="0" i="1" smtClean="0">
                          <a:latin typeface="Cambria Math" panose="02040503050406030204" pitchFamily="18" charset="0"/>
                          <a:ea typeface="Cambria Math" panose="02040503050406030204" pitchFamily="18" charset="0"/>
                        </a:rPr>
                        <m:t>)</m:t>
                      </m:r>
                    </m:oMath>
                  </m:oMathPara>
                </a14:m>
                <a:endParaRPr lang="en-IN" sz="2400" dirty="0"/>
              </a:p>
            </p:txBody>
          </p:sp>
        </mc:Choice>
        <mc:Fallback xmlns="">
          <p:sp>
            <p:nvSpPr>
              <p:cNvPr id="41" name="TextBox 40"/>
              <p:cNvSpPr txBox="1">
                <a:spLocks noRot="1" noChangeAspect="1" noMove="1" noResize="1" noEditPoints="1" noAdjustHandles="1" noChangeArrowheads="1" noChangeShapeType="1" noTextEdit="1"/>
              </p:cNvSpPr>
              <p:nvPr/>
            </p:nvSpPr>
            <p:spPr>
              <a:xfrm>
                <a:off x="6076266" y="3279752"/>
                <a:ext cx="1723613" cy="369332"/>
              </a:xfrm>
              <a:prstGeom prst="rect">
                <a:avLst/>
              </a:prstGeom>
              <a:blipFill rotWithShape="0">
                <a:blip r:embed="rId18"/>
                <a:stretch>
                  <a:fillRect l="-3534" r="-5300" b="-3442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6076266" y="4349413"/>
                <a:ext cx="3763338" cy="1661993"/>
              </a:xfrm>
              <a:prstGeom prst="rect">
                <a:avLst/>
              </a:prstGeom>
              <a:noFill/>
            </p:spPr>
            <p:txBody>
              <a:bodyPr wrap="none" rtlCol="0">
                <a:spAutoFit/>
              </a:bodyPr>
              <a:lstStyle/>
              <a:p>
                <a:r>
                  <a:rPr lang="en-US" sz="2200" u="sng" dirty="0"/>
                  <a:t>Terminologies</a:t>
                </a:r>
                <a:r>
                  <a:rPr lang="en-US" sz="2200" dirty="0"/>
                  <a:t>:-</a:t>
                </a:r>
              </a:p>
              <a:p>
                <a14:m>
                  <m:oMath xmlns:m="http://schemas.openxmlformats.org/officeDocument/2006/math">
                    <m:r>
                      <a:rPr lang="en-US" sz="2000" b="1" i="1" smtClean="0">
                        <a:latin typeface="Cambria Math" panose="02040503050406030204" pitchFamily="18" charset="0"/>
                      </a:rPr>
                      <m:t>𝒙</m:t>
                    </m:r>
                  </m:oMath>
                </a14:m>
                <a:r>
                  <a:rPr lang="en-IN" sz="2000" b="1" dirty="0"/>
                  <a:t>:</a:t>
                </a:r>
                <a:r>
                  <a:rPr lang="en-IN" sz="2000" dirty="0"/>
                  <a:t> input, </a:t>
                </a:r>
                <a14:m>
                  <m:oMath xmlns:m="http://schemas.openxmlformats.org/officeDocument/2006/math">
                    <m:r>
                      <a:rPr lang="en-US" sz="2000" b="1" i="1" smtClean="0">
                        <a:latin typeface="Cambria Math" panose="02040503050406030204" pitchFamily="18" charset="0"/>
                      </a:rPr>
                      <m:t>𝒘</m:t>
                    </m:r>
                  </m:oMath>
                </a14:m>
                <a:r>
                  <a:rPr lang="en-IN" sz="2000" b="1" dirty="0"/>
                  <a:t>:</a:t>
                </a:r>
                <a:r>
                  <a:rPr lang="en-IN" sz="2000" dirty="0"/>
                  <a:t> weights, </a:t>
                </a:r>
                <a14:m>
                  <m:oMath xmlns:m="http://schemas.openxmlformats.org/officeDocument/2006/math">
                    <m:r>
                      <a:rPr lang="en-US" sz="2000" b="1" i="1" smtClean="0">
                        <a:latin typeface="Cambria Math" panose="02040503050406030204" pitchFamily="18" charset="0"/>
                      </a:rPr>
                      <m:t>𝒃</m:t>
                    </m:r>
                  </m:oMath>
                </a14:m>
                <a:r>
                  <a:rPr lang="en-IN" sz="2000" b="1" dirty="0"/>
                  <a:t>:</a:t>
                </a:r>
                <a:r>
                  <a:rPr lang="en-IN" sz="2000" dirty="0"/>
                  <a:t> bias</a:t>
                </a:r>
              </a:p>
              <a:p>
                <a14:m>
                  <m:oMath xmlns:m="http://schemas.openxmlformats.org/officeDocument/2006/math">
                    <m:r>
                      <a:rPr lang="en-US" sz="2000" b="0" i="1" smtClean="0">
                        <a:latin typeface="Cambria Math" panose="02040503050406030204" pitchFamily="18" charset="0"/>
                      </a:rPr>
                      <m:t>𝑎</m:t>
                    </m:r>
                  </m:oMath>
                </a14:m>
                <a:r>
                  <a:rPr lang="en-IN" sz="2000" dirty="0"/>
                  <a:t>: pre-activation (input activation)</a:t>
                </a:r>
              </a:p>
              <a:p>
                <a14:m>
                  <m:oMath xmlns:m="http://schemas.openxmlformats.org/officeDocument/2006/math">
                    <m:r>
                      <a:rPr lang="en-US" sz="2000" b="0" i="1" smtClean="0">
                        <a:latin typeface="Cambria Math" panose="02040503050406030204" pitchFamily="18" charset="0"/>
                      </a:rPr>
                      <m:t>𝑔</m:t>
                    </m:r>
                  </m:oMath>
                </a14:m>
                <a:r>
                  <a:rPr lang="en-IN" sz="2000" dirty="0"/>
                  <a:t>: activation function</a:t>
                </a:r>
              </a:p>
              <a:p>
                <a14:m>
                  <m:oMath xmlns:m="http://schemas.openxmlformats.org/officeDocument/2006/math">
                    <m:r>
                      <a:rPr lang="en-US" sz="2000" b="0" i="1" smtClean="0">
                        <a:latin typeface="Cambria Math" panose="02040503050406030204" pitchFamily="18" charset="0"/>
                      </a:rPr>
                      <m:t>𝑦</m:t>
                    </m:r>
                  </m:oMath>
                </a14:m>
                <a:r>
                  <a:rPr lang="en-IN" sz="2000" dirty="0"/>
                  <a:t>: activation (output activation)</a:t>
                </a:r>
              </a:p>
            </p:txBody>
          </p:sp>
        </mc:Choice>
        <mc:Fallback xmlns="">
          <p:sp>
            <p:nvSpPr>
              <p:cNvPr id="42" name="TextBox 41"/>
              <p:cNvSpPr txBox="1">
                <a:spLocks noRot="1" noChangeAspect="1" noMove="1" noResize="1" noEditPoints="1" noAdjustHandles="1" noChangeArrowheads="1" noChangeShapeType="1" noTextEdit="1"/>
              </p:cNvSpPr>
              <p:nvPr/>
            </p:nvSpPr>
            <p:spPr>
              <a:xfrm>
                <a:off x="6076266" y="4349413"/>
                <a:ext cx="3763338" cy="1661993"/>
              </a:xfrm>
              <a:prstGeom prst="rect">
                <a:avLst/>
              </a:prstGeom>
              <a:blipFill rotWithShape="0">
                <a:blip r:embed="rId19"/>
                <a:stretch>
                  <a:fillRect l="-2107" t="-2198" r="-972" b="-5495"/>
                </a:stretch>
              </a:blipFill>
            </p:spPr>
            <p:txBody>
              <a:bodyPr/>
              <a:lstStyle/>
              <a:p>
                <a:r>
                  <a:rPr lang="en-US">
                    <a:noFill/>
                  </a:rPr>
                  <a:t> </a:t>
                </a:r>
              </a:p>
            </p:txBody>
          </p:sp>
        </mc:Fallback>
      </mc:AlternateContent>
      <p:sp>
        <p:nvSpPr>
          <p:cNvPr id="2" name="Footer Placeholder 1"/>
          <p:cNvSpPr>
            <a:spLocks noGrp="1"/>
          </p:cNvSpPr>
          <p:nvPr>
            <p:ph type="ftr" sz="quarter" idx="3"/>
          </p:nvPr>
        </p:nvSpPr>
        <p:spPr>
          <a:xfrm>
            <a:off x="2012197" y="6356350"/>
            <a:ext cx="8167606" cy="365125"/>
          </a:xfrm>
        </p:spPr>
        <p:txBody>
          <a:bodyPr/>
          <a:lstStyle/>
          <a:p>
            <a:r>
              <a:rPr lang="en-US"/>
              <a:t>CS21206 / FAIML | Perceptron and MLP (c) Abir Das, Ayan Chaudhury</a:t>
            </a:r>
            <a:endParaRPr lang="en-US" dirty="0"/>
          </a:p>
        </p:txBody>
      </p:sp>
      <p:sp>
        <p:nvSpPr>
          <p:cNvPr id="4" name="Slide Number Placeholder 3"/>
          <p:cNvSpPr>
            <a:spLocks noGrp="1"/>
          </p:cNvSpPr>
          <p:nvPr>
            <p:ph type="sldNum" sz="quarter" idx="4"/>
          </p:nvPr>
        </p:nvSpPr>
        <p:spPr>
          <a:xfrm>
            <a:off x="10569844" y="6356350"/>
            <a:ext cx="783956" cy="365125"/>
          </a:xfrm>
        </p:spPr>
        <p:txBody>
          <a:bodyPr/>
          <a:lstStyle/>
          <a:p>
            <a:fld id="{683B8651-0143-4140-839E-3D36292080E8}" type="slidenum">
              <a:rPr lang="en-US" smtClean="0"/>
              <a:t>4</a:t>
            </a:fld>
            <a:endParaRPr lang="en-US"/>
          </a:p>
        </p:txBody>
      </p:sp>
    </p:spTree>
    <p:extLst>
      <p:ext uri="{BB962C8B-B14F-4D97-AF65-F5344CB8AC3E}">
        <p14:creationId xmlns:p14="http://schemas.microsoft.com/office/powerpoint/2010/main" val="4063638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29" name="Picture 2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704" y="1303060"/>
            <a:ext cx="5772254" cy="2358314"/>
          </a:xfrm>
          <a:prstGeom prst="rect">
            <a:avLst/>
          </a:prstGeom>
        </p:spPr>
      </p:pic>
      <p:sp>
        <p:nvSpPr>
          <p:cNvPr id="100" name="Google Shape;100;p14"/>
          <p:cNvSpPr txBox="1"/>
          <p:nvPr/>
        </p:nvSpPr>
        <p:spPr>
          <a:xfrm>
            <a:off x="2501680" y="832857"/>
            <a:ext cx="7208400" cy="84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200" dirty="0">
                <a:solidFill>
                  <a:srgbClr val="434343"/>
                </a:solidFill>
              </a:rPr>
              <a:t>Perceptron</a:t>
            </a:r>
            <a:endParaRPr sz="3200" dirty="0">
              <a:solidFill>
                <a:srgbClr val="434343"/>
              </a:solidFill>
            </a:endParaRPr>
          </a:p>
        </p:txBody>
      </p:sp>
      <p:sp>
        <p:nvSpPr>
          <p:cNvPr id="3" name="Footer Placeholder 2"/>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21" name="Slide Number Placeholder 20"/>
          <p:cNvSpPr>
            <a:spLocks noGrp="1"/>
          </p:cNvSpPr>
          <p:nvPr>
            <p:ph type="sldNum" sz="quarter" idx="4"/>
          </p:nvPr>
        </p:nvSpPr>
        <p:spPr>
          <a:xfrm>
            <a:off x="10569844" y="6356350"/>
            <a:ext cx="783956" cy="365125"/>
          </a:xfrm>
        </p:spPr>
        <p:txBody>
          <a:bodyPr/>
          <a:lstStyle/>
          <a:p>
            <a:fld id="{683B8651-0143-4140-839E-3D36292080E8}" type="slidenum">
              <a:rPr lang="en-US" smtClean="0"/>
              <a:t>5</a:t>
            </a:fld>
            <a:endParaRPr lang="en-US"/>
          </a:p>
        </p:txBody>
      </p:sp>
      <p:pic>
        <p:nvPicPr>
          <p:cNvPr id="30" name="Picture 2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279" y="3560542"/>
            <a:ext cx="4747103" cy="2896640"/>
          </a:xfrm>
          <a:prstGeom prst="rect">
            <a:avLst/>
          </a:prstGeom>
        </p:spPr>
      </p:pic>
      <p:pic>
        <p:nvPicPr>
          <p:cNvPr id="1026" name="Picture 2" descr="http://www.rutherfordjournal.org/images/TAHC_rosenblatt-sepia.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05165" y="2993024"/>
            <a:ext cx="2481239" cy="275141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ww.rutherfordjournal.org/images/TAHC_perceptron.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72680" y="2993024"/>
            <a:ext cx="3059360" cy="2751418"/>
          </a:xfrm>
          <a:prstGeom prst="rect">
            <a:avLst/>
          </a:prstGeom>
          <a:noFill/>
          <a:extLst>
            <a:ext uri="{909E8E84-426E-40DD-AFC4-6F175D3DCCD1}">
              <a14:hiddenFill xmlns:a14="http://schemas.microsoft.com/office/drawing/2010/main">
                <a:solidFill>
                  <a:srgbClr val="FFFFFF"/>
                </a:solidFill>
              </a14:hiddenFill>
            </a:ext>
          </a:extLst>
        </p:spPr>
      </p:pic>
      <p:sp>
        <p:nvSpPr>
          <p:cNvPr id="55" name="Google Shape;88;p12"/>
          <p:cNvSpPr txBox="1"/>
          <p:nvPr/>
        </p:nvSpPr>
        <p:spPr>
          <a:xfrm>
            <a:off x="7248900" y="5880850"/>
            <a:ext cx="4943100" cy="475500"/>
          </a:xfrm>
          <a:prstGeom prst="rect">
            <a:avLst/>
          </a:prstGeom>
          <a:noFill/>
          <a:ln>
            <a:noFill/>
          </a:ln>
        </p:spPr>
        <p:txBody>
          <a:bodyPr spcFirstLastPara="1" wrap="square" lIns="91425" tIns="91425" rIns="91425" bIns="91425" anchor="t" anchorCtr="0">
            <a:noAutofit/>
          </a:bodyPr>
          <a:lstStyle/>
          <a:p>
            <a:pPr lvl="0"/>
            <a:r>
              <a:rPr lang="en-US" sz="1000" dirty="0">
                <a:solidFill>
                  <a:srgbClr val="999999"/>
                </a:solidFill>
              </a:rPr>
              <a:t>Image courtesy: https://</a:t>
            </a:r>
            <a:r>
              <a:rPr lang="en-US" sz="1000" dirty="0" err="1">
                <a:solidFill>
                  <a:srgbClr val="999999"/>
                </a:solidFill>
              </a:rPr>
              <a:t>blogs.umass.edu</a:t>
            </a:r>
            <a:r>
              <a:rPr lang="en-US" sz="1000" dirty="0">
                <a:solidFill>
                  <a:srgbClr val="999999"/>
                </a:solidFill>
              </a:rPr>
              <a:t>/</a:t>
            </a:r>
            <a:r>
              <a:rPr lang="en-US" sz="1000" dirty="0" err="1">
                <a:solidFill>
                  <a:srgbClr val="999999"/>
                </a:solidFill>
              </a:rPr>
              <a:t>comphon</a:t>
            </a:r>
            <a:r>
              <a:rPr lang="en-US" sz="1000" dirty="0">
                <a:solidFill>
                  <a:srgbClr val="999999"/>
                </a:solidFill>
              </a:rPr>
              <a:t>/2017/06/15/did-frank-rosenblatt-invent-deep-learning-in-1962/</a:t>
            </a:r>
          </a:p>
        </p:txBody>
      </p:sp>
    </p:spTree>
    <p:extLst>
      <p:ext uri="{BB962C8B-B14F-4D97-AF65-F5344CB8AC3E}">
        <p14:creationId xmlns:p14="http://schemas.microsoft.com/office/powerpoint/2010/main" val="2015522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2501680" y="832857"/>
            <a:ext cx="7208400" cy="84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200" dirty="0">
                <a:solidFill>
                  <a:srgbClr val="434343"/>
                </a:solidFill>
              </a:rPr>
              <a:t>Perceptron</a:t>
            </a:r>
            <a:endParaRPr sz="3200" dirty="0">
              <a:solidFill>
                <a:srgbClr val="434343"/>
              </a:solidFill>
            </a:endParaRPr>
          </a:p>
        </p:txBody>
      </p:sp>
      <p:sp>
        <p:nvSpPr>
          <p:cNvPr id="119" name="Google Shape;119;p14"/>
          <p:cNvSpPr/>
          <p:nvPr/>
        </p:nvSpPr>
        <p:spPr>
          <a:xfrm>
            <a:off x="591661" y="2472466"/>
            <a:ext cx="167400" cy="332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Narrow"/>
              <a:ea typeface="Arial Narrow"/>
              <a:cs typeface="Arial Narrow"/>
              <a:sym typeface="Arial Narrow"/>
            </a:endParaRPr>
          </a:p>
        </p:txBody>
      </p:sp>
      <p:cxnSp>
        <p:nvCxnSpPr>
          <p:cNvPr id="23" name="Straight Arrow Connector 22"/>
          <p:cNvCxnSpPr>
            <a:endCxn id="22" idx="1"/>
          </p:cNvCxnSpPr>
          <p:nvPr/>
        </p:nvCxnSpPr>
        <p:spPr>
          <a:xfrm>
            <a:off x="981142" y="2549195"/>
            <a:ext cx="1113565" cy="556303"/>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endCxn id="22" idx="2"/>
          </p:cNvCxnSpPr>
          <p:nvPr/>
        </p:nvCxnSpPr>
        <p:spPr>
          <a:xfrm>
            <a:off x="981142" y="3360085"/>
            <a:ext cx="1008112" cy="0"/>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endCxn id="22" idx="3"/>
          </p:cNvCxnSpPr>
          <p:nvPr/>
        </p:nvCxnSpPr>
        <p:spPr>
          <a:xfrm flipV="1">
            <a:off x="1048234" y="3614672"/>
            <a:ext cx="1046473" cy="1249612"/>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22" idx="4"/>
          </p:cNvCxnSpPr>
          <p:nvPr/>
        </p:nvCxnSpPr>
        <p:spPr>
          <a:xfrm flipV="1">
            <a:off x="2349294" y="3720125"/>
            <a:ext cx="0" cy="1080120"/>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22" idx="6"/>
          </p:cNvCxnSpPr>
          <p:nvPr/>
        </p:nvCxnSpPr>
        <p:spPr>
          <a:xfrm flipV="1">
            <a:off x="2709334" y="3357596"/>
            <a:ext cx="1081771" cy="2489"/>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1457400" y="3771088"/>
            <a:ext cx="36000" cy="340800"/>
            <a:chOff x="2731586" y="4043627"/>
            <a:chExt cx="36000" cy="340800"/>
          </a:xfrm>
        </p:grpSpPr>
        <p:sp>
          <p:nvSpPr>
            <p:cNvPr id="5" name="Oval 4"/>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Oval 43"/>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Oval 44"/>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7" name="TextBox 6"/>
              <p:cNvSpPr txBox="1"/>
              <p:nvPr/>
            </p:nvSpPr>
            <p:spPr>
              <a:xfrm>
                <a:off x="504792" y="2219053"/>
                <a:ext cx="50853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1</m:t>
                          </m:r>
                        </m:sub>
                      </m:sSub>
                    </m:oMath>
                  </m:oMathPara>
                </a14:m>
                <a:endParaRPr lang="en-US" sz="3200" b="0" dirty="0"/>
              </a:p>
            </p:txBody>
          </p:sp>
        </mc:Choice>
        <mc:Fallback xmlns="">
          <p:sp>
            <p:nvSpPr>
              <p:cNvPr id="7" name="TextBox 6"/>
              <p:cNvSpPr txBox="1">
                <a:spLocks noRot="1" noChangeAspect="1" noMove="1" noResize="1" noEditPoints="1" noAdjustHandles="1" noChangeArrowheads="1" noChangeShapeType="1" noTextEdit="1"/>
              </p:cNvSpPr>
              <p:nvPr/>
            </p:nvSpPr>
            <p:spPr>
              <a:xfrm>
                <a:off x="504792" y="2219053"/>
                <a:ext cx="508537" cy="492443"/>
              </a:xfrm>
              <a:prstGeom prst="rect">
                <a:avLst/>
              </a:prstGeom>
              <a:blipFill rotWithShape="0">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504792" y="3027827"/>
                <a:ext cx="51802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2</m:t>
                          </m:r>
                        </m:sub>
                      </m:sSub>
                    </m:oMath>
                  </m:oMathPara>
                </a14:m>
                <a:endParaRPr lang="en-US" sz="3200" b="0" dirty="0"/>
              </a:p>
            </p:txBody>
          </p:sp>
        </mc:Choice>
        <mc:Fallback xmlns="">
          <p:sp>
            <p:nvSpPr>
              <p:cNvPr id="48" name="TextBox 47"/>
              <p:cNvSpPr txBox="1">
                <a:spLocks noRot="1" noChangeAspect="1" noMove="1" noResize="1" noEditPoints="1" noAdjustHandles="1" noChangeArrowheads="1" noChangeShapeType="1" noTextEdit="1"/>
              </p:cNvSpPr>
              <p:nvPr/>
            </p:nvSpPr>
            <p:spPr>
              <a:xfrm>
                <a:off x="504792" y="3027827"/>
                <a:ext cx="518027" cy="492443"/>
              </a:xfrm>
              <a:prstGeom prst="rect">
                <a:avLst/>
              </a:prstGeom>
              <a:blipFill rotWithShape="0">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p:cNvSpPr txBox="1"/>
              <p:nvPr/>
            </p:nvSpPr>
            <p:spPr>
              <a:xfrm>
                <a:off x="504792" y="4485232"/>
                <a:ext cx="54514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𝑑</m:t>
                          </m:r>
                        </m:sub>
                      </m:sSub>
                    </m:oMath>
                  </m:oMathPara>
                </a14:m>
                <a:endParaRPr lang="en-US" sz="3200" b="0" dirty="0"/>
              </a:p>
            </p:txBody>
          </p:sp>
        </mc:Choice>
        <mc:Fallback xmlns="">
          <p:sp>
            <p:nvSpPr>
              <p:cNvPr id="49" name="TextBox 48"/>
              <p:cNvSpPr txBox="1">
                <a:spLocks noRot="1" noChangeAspect="1" noMove="1" noResize="1" noEditPoints="1" noAdjustHandles="1" noChangeArrowheads="1" noChangeShapeType="1" noTextEdit="1"/>
              </p:cNvSpPr>
              <p:nvPr/>
            </p:nvSpPr>
            <p:spPr>
              <a:xfrm>
                <a:off x="504792" y="4485232"/>
                <a:ext cx="545149" cy="492443"/>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1261360" y="2274971"/>
                <a:ext cx="583878"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1</m:t>
                          </m:r>
                        </m:sub>
                      </m:sSub>
                    </m:oMath>
                  </m:oMathPara>
                </a14:m>
                <a:endParaRPr lang="en-US" sz="3200" b="0" dirty="0"/>
              </a:p>
            </p:txBody>
          </p:sp>
        </mc:Choice>
        <mc:Fallback xmlns="">
          <p:sp>
            <p:nvSpPr>
              <p:cNvPr id="50" name="TextBox 49"/>
              <p:cNvSpPr txBox="1">
                <a:spLocks noRot="1" noChangeAspect="1" noMove="1" noResize="1" noEditPoints="1" noAdjustHandles="1" noChangeArrowheads="1" noChangeShapeType="1" noTextEdit="1"/>
              </p:cNvSpPr>
              <p:nvPr/>
            </p:nvSpPr>
            <p:spPr>
              <a:xfrm>
                <a:off x="1261360" y="2274971"/>
                <a:ext cx="583878" cy="492443"/>
              </a:xfrm>
              <a:prstGeom prst="rect">
                <a:avLst/>
              </a:prstGeom>
              <a:blipFill rotWithShape="0">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1261360" y="2834376"/>
                <a:ext cx="593368"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2</m:t>
                          </m:r>
                        </m:sub>
                      </m:sSub>
                    </m:oMath>
                  </m:oMathPara>
                </a14:m>
                <a:endParaRPr lang="en-US" sz="3200" b="0" dirty="0"/>
              </a:p>
            </p:txBody>
          </p:sp>
        </mc:Choice>
        <mc:Fallback xmlns="">
          <p:sp>
            <p:nvSpPr>
              <p:cNvPr id="51" name="TextBox 50"/>
              <p:cNvSpPr txBox="1">
                <a:spLocks noRot="1" noChangeAspect="1" noMove="1" noResize="1" noEditPoints="1" noAdjustHandles="1" noChangeArrowheads="1" noChangeShapeType="1" noTextEdit="1"/>
              </p:cNvSpPr>
              <p:nvPr/>
            </p:nvSpPr>
            <p:spPr>
              <a:xfrm>
                <a:off x="1261360" y="2834376"/>
                <a:ext cx="593368" cy="492443"/>
              </a:xfrm>
              <a:prstGeom prst="rect">
                <a:avLst/>
              </a:prstGeom>
              <a:blipFill rotWithShape="0">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1261360" y="4456082"/>
                <a:ext cx="620491"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𝑑</m:t>
                          </m:r>
                        </m:sub>
                      </m:sSub>
                    </m:oMath>
                  </m:oMathPara>
                </a14:m>
                <a:endParaRPr lang="en-US" sz="3200" b="0" dirty="0"/>
              </a:p>
            </p:txBody>
          </p:sp>
        </mc:Choice>
        <mc:Fallback xmlns="">
          <p:sp>
            <p:nvSpPr>
              <p:cNvPr id="52" name="TextBox 51"/>
              <p:cNvSpPr txBox="1">
                <a:spLocks noRot="1" noChangeAspect="1" noMove="1" noResize="1" noEditPoints="1" noAdjustHandles="1" noChangeArrowheads="1" noChangeShapeType="1" noTextEdit="1"/>
              </p:cNvSpPr>
              <p:nvPr/>
            </p:nvSpPr>
            <p:spPr>
              <a:xfrm>
                <a:off x="1261360" y="4456082"/>
                <a:ext cx="620491" cy="492443"/>
              </a:xfrm>
              <a:prstGeom prst="rect">
                <a:avLst/>
              </a:prstGeom>
              <a:blipFill rotWithShape="0">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203521" y="4870443"/>
                <a:ext cx="29815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1</m:t>
                      </m:r>
                    </m:oMath>
                  </m:oMathPara>
                </a14:m>
                <a:endParaRPr lang="en-IN"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2203521" y="4870443"/>
                <a:ext cx="298159" cy="430887"/>
              </a:xfrm>
              <a:prstGeom prst="rect">
                <a:avLst/>
              </a:prstGeom>
              <a:blipFill rotWithShape="0">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456475" y="4024034"/>
                <a:ext cx="122937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𝑊</m:t>
                          </m:r>
                        </m:e>
                        <m:sub>
                          <m:r>
                            <a:rPr lang="en-US" sz="2800" b="0" i="1" smtClean="0">
                              <a:latin typeface="Cambria Math" panose="02040503050406030204" pitchFamily="18" charset="0"/>
                            </a:rPr>
                            <m:t>0</m:t>
                          </m:r>
                        </m:sub>
                      </m:sSub>
                      <m:r>
                        <a:rPr lang="en-US" sz="2800" b="0" i="1" smtClean="0">
                          <a:latin typeface="Cambria Math" panose="02040503050406030204" pitchFamily="18" charset="0"/>
                        </a:rPr>
                        <m:t>=</m:t>
                      </m:r>
                      <m:r>
                        <a:rPr lang="en-US" sz="2800" b="0" i="1" smtClean="0">
                          <a:latin typeface="Cambria Math" panose="02040503050406030204" pitchFamily="18" charset="0"/>
                        </a:rPr>
                        <m:t>𝑏</m:t>
                      </m:r>
                    </m:oMath>
                  </m:oMathPara>
                </a14:m>
                <a:endParaRPr lang="en-IN" sz="2800" dirty="0"/>
              </a:p>
            </p:txBody>
          </p:sp>
        </mc:Choice>
        <mc:Fallback xmlns="">
          <p:sp>
            <p:nvSpPr>
              <p:cNvPr id="9" name="TextBox 8"/>
              <p:cNvSpPr txBox="1">
                <a:spLocks noRot="1" noChangeAspect="1" noMove="1" noResize="1" noEditPoints="1" noAdjustHandles="1" noChangeArrowheads="1" noChangeShapeType="1" noTextEdit="1"/>
              </p:cNvSpPr>
              <p:nvPr/>
            </p:nvSpPr>
            <p:spPr>
              <a:xfrm>
                <a:off x="2456475" y="4024034"/>
                <a:ext cx="1229376" cy="430887"/>
              </a:xfrm>
              <a:prstGeom prst="rect">
                <a:avLst/>
              </a:prstGeom>
              <a:blipFill rotWithShape="0">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736172" y="2865153"/>
                <a:ext cx="92333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𝑎</m:t>
                      </m:r>
                      <m:r>
                        <a:rPr lang="en-US" sz="3200" b="0" i="1" smtClean="0">
                          <a:latin typeface="Cambria Math" panose="02040503050406030204" pitchFamily="18" charset="0"/>
                        </a:rPr>
                        <m:t>(</m:t>
                      </m:r>
                      <m:r>
                        <a:rPr lang="en-US" sz="3200" b="1" i="1" smtClean="0">
                          <a:latin typeface="Cambria Math" panose="02040503050406030204" pitchFamily="18" charset="0"/>
                        </a:rPr>
                        <m:t>𝒙</m:t>
                      </m:r>
                      <m:r>
                        <a:rPr lang="en-US" sz="3200" b="0" i="1" smtClean="0">
                          <a:latin typeface="Cambria Math" panose="02040503050406030204" pitchFamily="18" charset="0"/>
                        </a:rPr>
                        <m:t>)</m:t>
                      </m:r>
                    </m:oMath>
                  </m:oMathPara>
                </a14:m>
                <a:endParaRPr lang="en-IN" sz="3200" dirty="0"/>
              </a:p>
            </p:txBody>
          </p:sp>
        </mc:Choice>
        <mc:Fallback xmlns="">
          <p:sp>
            <p:nvSpPr>
              <p:cNvPr id="10" name="TextBox 9"/>
              <p:cNvSpPr txBox="1">
                <a:spLocks noRot="1" noChangeAspect="1" noMove="1" noResize="1" noEditPoints="1" noAdjustHandles="1" noChangeArrowheads="1" noChangeShapeType="1" noTextEdit="1"/>
              </p:cNvSpPr>
              <p:nvPr/>
            </p:nvSpPr>
            <p:spPr>
              <a:xfrm>
                <a:off x="2736172" y="2865153"/>
                <a:ext cx="923330" cy="492443"/>
              </a:xfrm>
              <a:prstGeom prst="rect">
                <a:avLst/>
              </a:prstGeom>
              <a:blipFill rotWithShape="0">
                <a:blip r:embed="rId11"/>
                <a:stretch>
                  <a:fillRect/>
                </a:stretch>
              </a:blipFill>
            </p:spPr>
            <p:txBody>
              <a:bodyPr/>
              <a:lstStyle/>
              <a:p>
                <a:r>
                  <a:rPr lang="en-IN">
                    <a:noFill/>
                  </a:rPr>
                  <a:t> </a:t>
                </a:r>
              </a:p>
            </p:txBody>
          </p:sp>
        </mc:Fallback>
      </mc:AlternateContent>
      <p:grpSp>
        <p:nvGrpSpPr>
          <p:cNvPr id="16" name="Group 15"/>
          <p:cNvGrpSpPr/>
          <p:nvPr/>
        </p:nvGrpSpPr>
        <p:grpSpPr>
          <a:xfrm>
            <a:off x="1989254" y="3000045"/>
            <a:ext cx="860767" cy="720080"/>
            <a:chOff x="3359696" y="3429000"/>
            <a:chExt cx="860767" cy="720080"/>
          </a:xfrm>
        </p:grpSpPr>
        <p:sp>
          <p:nvSpPr>
            <p:cNvPr id="22" name="Oval 21"/>
            <p:cNvSpPr/>
            <p:nvPr/>
          </p:nvSpPr>
          <p:spPr>
            <a:xfrm>
              <a:off x="3359696" y="3429000"/>
              <a:ext cx="720080" cy="7200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pic>
          <p:nvPicPr>
            <p:cNvPr id="13" name="Picture 12"/>
            <p:cNvPicPr>
              <a:picLocks noChangeAspect="1"/>
            </p:cNvPicPr>
            <p:nvPr/>
          </p:nvPicPr>
          <p:blipFill>
            <a:blip r:embed="rId12"/>
            <a:stretch>
              <a:fillRect/>
            </a:stretch>
          </p:blipFill>
          <p:spPr>
            <a:xfrm>
              <a:off x="3426091" y="3443712"/>
              <a:ext cx="794372" cy="690906"/>
            </a:xfrm>
            <a:prstGeom prst="rect">
              <a:avLst/>
            </a:prstGeom>
          </p:spPr>
        </p:pic>
      </p:grpSp>
      <p:grpSp>
        <p:nvGrpSpPr>
          <p:cNvPr id="15" name="Group 14"/>
          <p:cNvGrpSpPr/>
          <p:nvPr/>
        </p:nvGrpSpPr>
        <p:grpSpPr>
          <a:xfrm>
            <a:off x="3807710" y="2997556"/>
            <a:ext cx="772071" cy="720080"/>
            <a:chOff x="6644172" y="4270432"/>
            <a:chExt cx="772071" cy="720080"/>
          </a:xfrm>
        </p:grpSpPr>
        <p:sp>
          <p:nvSpPr>
            <p:cNvPr id="61" name="Oval 60"/>
            <p:cNvSpPr/>
            <p:nvPr/>
          </p:nvSpPr>
          <p:spPr>
            <a:xfrm>
              <a:off x="6644172" y="4270432"/>
              <a:ext cx="720080" cy="7200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4" name="TextBox 13"/>
                <p:cNvSpPr txBox="1"/>
                <p:nvPr/>
              </p:nvSpPr>
              <p:spPr>
                <a:xfrm>
                  <a:off x="6644172" y="4383657"/>
                  <a:ext cx="772071" cy="4001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600" b="0" i="1" smtClean="0">
                            <a:latin typeface="Cambria Math" panose="02040503050406030204" pitchFamily="18" charset="0"/>
                            <a:ea typeface="Cambria Math" panose="02040503050406030204" pitchFamily="18" charset="0"/>
                          </a:rPr>
                          <m:t>𝑔</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𝑎</m:t>
                        </m:r>
                        <m:r>
                          <a:rPr lang="en-US" sz="2600" b="0" i="1" smtClean="0">
                            <a:latin typeface="Cambria Math" panose="02040503050406030204" pitchFamily="18" charset="0"/>
                            <a:ea typeface="Cambria Math" panose="02040503050406030204" pitchFamily="18" charset="0"/>
                          </a:rPr>
                          <m:t>)</m:t>
                        </m:r>
                      </m:oMath>
                    </m:oMathPara>
                  </a14:m>
                  <a:endParaRPr lang="en-IN" sz="2600" dirty="0"/>
                </a:p>
              </p:txBody>
            </p:sp>
          </mc:Choice>
          <mc:Fallback xmlns="">
            <p:sp>
              <p:nvSpPr>
                <p:cNvPr id="14" name="TextBox 13"/>
                <p:cNvSpPr txBox="1">
                  <a:spLocks noRot="1" noChangeAspect="1" noMove="1" noResize="1" noEditPoints="1" noAdjustHandles="1" noChangeArrowheads="1" noChangeShapeType="1" noTextEdit="1"/>
                </p:cNvSpPr>
                <p:nvPr/>
              </p:nvSpPr>
              <p:spPr>
                <a:xfrm>
                  <a:off x="6644172" y="4383657"/>
                  <a:ext cx="772071" cy="400110"/>
                </a:xfrm>
                <a:prstGeom prst="rect">
                  <a:avLst/>
                </a:prstGeom>
                <a:blipFill rotWithShape="0">
                  <a:blip r:embed="rId13"/>
                  <a:stretch>
                    <a:fillRect/>
                  </a:stretch>
                </a:blipFill>
              </p:spPr>
              <p:txBody>
                <a:bodyPr/>
                <a:lstStyle/>
                <a:p>
                  <a:r>
                    <a:rPr lang="en-IN">
                      <a:noFill/>
                    </a:rPr>
                    <a:t> </a:t>
                  </a:r>
                </a:p>
              </p:txBody>
            </p:sp>
          </mc:Fallback>
        </mc:AlternateContent>
      </p:grpSp>
      <p:cxnSp>
        <p:nvCxnSpPr>
          <p:cNvPr id="65" name="Straight Arrow Connector 64"/>
          <p:cNvCxnSpPr/>
          <p:nvPr/>
        </p:nvCxnSpPr>
        <p:spPr>
          <a:xfrm>
            <a:off x="4527790" y="3355107"/>
            <a:ext cx="622884" cy="2489"/>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p:cNvSpPr txBox="1"/>
              <p:nvPr/>
            </p:nvSpPr>
            <p:spPr>
              <a:xfrm>
                <a:off x="5118716" y="3041582"/>
                <a:ext cx="350032"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𝑦</m:t>
                      </m:r>
                    </m:oMath>
                  </m:oMathPara>
                </a14:m>
                <a:endParaRPr lang="en-IN" sz="3200" dirty="0"/>
              </a:p>
            </p:txBody>
          </p:sp>
        </mc:Choice>
        <mc:Fallback xmlns="">
          <p:sp>
            <p:nvSpPr>
              <p:cNvPr id="19" name="TextBox 18"/>
              <p:cNvSpPr txBox="1">
                <a:spLocks noRot="1" noChangeAspect="1" noMove="1" noResize="1" noEditPoints="1" noAdjustHandles="1" noChangeArrowheads="1" noChangeShapeType="1" noTextEdit="1"/>
              </p:cNvSpPr>
              <p:nvPr/>
            </p:nvSpPr>
            <p:spPr>
              <a:xfrm>
                <a:off x="5118716" y="3041582"/>
                <a:ext cx="350032" cy="492443"/>
              </a:xfrm>
              <a:prstGeom prst="rect">
                <a:avLst/>
              </a:prstGeom>
              <a:blipFill rotWithShape="0">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5816541" y="1411672"/>
                <a:ext cx="4738348" cy="405624"/>
              </a:xfrm>
              <a:prstGeom prst="rect">
                <a:avLst/>
              </a:prstGeom>
              <a:noFill/>
            </p:spPr>
            <p:txBody>
              <a:bodyPr wrap="none" rtlCol="0">
                <a:spAutoFit/>
              </a:bodyPr>
              <a:lstStyle/>
              <a:p>
                <a14:m>
                  <m:oMath xmlns:m="http://schemas.openxmlformats.org/officeDocument/2006/math">
                    <m:r>
                      <a:rPr lang="en-US" sz="2000" b="1" i="1" smtClean="0">
                        <a:latin typeface="Cambria Math" panose="02040503050406030204" pitchFamily="18" charset="0"/>
                      </a:rPr>
                      <m:t>𝒙</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ℝ</m:t>
                        </m:r>
                      </m:e>
                      <m:sup>
                        <m:r>
                          <a:rPr lang="en-US" sz="2000" b="0" i="1" smtClean="0">
                            <a:latin typeface="Cambria Math" panose="02040503050406030204" pitchFamily="18" charset="0"/>
                          </a:rPr>
                          <m:t>𝑑</m:t>
                        </m:r>
                      </m:sup>
                    </m:sSup>
                  </m:oMath>
                </a14:m>
                <a:r>
                  <a:rPr lang="en-IN" sz="1800" dirty="0"/>
                  <a:t> and </a:t>
                </a:r>
                <a14:m>
                  <m:oMath xmlns:m="http://schemas.openxmlformats.org/officeDocument/2006/math">
                    <m:r>
                      <a:rPr lang="en-US" sz="1800" b="0" i="1" smtClean="0">
                        <a:latin typeface="Cambria Math" panose="02040503050406030204" pitchFamily="18" charset="0"/>
                      </a:rPr>
                      <m:t>𝑦</m:t>
                    </m:r>
                    <m:r>
                      <a:rPr lang="en-US" sz="1800" b="0" i="1" smtClean="0">
                        <a:latin typeface="Cambria Math" panose="02040503050406030204" pitchFamily="18" charset="0"/>
                      </a:rPr>
                      <m:t>∈{0, 1}</m:t>
                    </m:r>
                  </m:oMath>
                </a14:m>
                <a:r>
                  <a:rPr lang="en-IN" sz="1800" dirty="0"/>
                  <a:t> – Binary Classification</a:t>
                </a:r>
              </a:p>
            </p:txBody>
          </p:sp>
        </mc:Choice>
        <mc:Fallback xmlns="">
          <p:sp>
            <p:nvSpPr>
              <p:cNvPr id="2" name="TextBox 1"/>
              <p:cNvSpPr txBox="1">
                <a:spLocks noRot="1" noChangeAspect="1" noMove="1" noResize="1" noEditPoints="1" noAdjustHandles="1" noChangeArrowheads="1" noChangeShapeType="1" noTextEdit="1"/>
              </p:cNvSpPr>
              <p:nvPr/>
            </p:nvSpPr>
            <p:spPr>
              <a:xfrm>
                <a:off x="5816541" y="1411672"/>
                <a:ext cx="4738348" cy="405624"/>
              </a:xfrm>
              <a:prstGeom prst="rect">
                <a:avLst/>
              </a:prstGeom>
              <a:blipFill rotWithShape="0">
                <a:blip r:embed="rId15"/>
                <a:stretch>
                  <a:fillRect b="-242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5961639" y="1889514"/>
                <a:ext cx="2390077" cy="6865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𝑔</m:t>
                      </m:r>
                      <m:r>
                        <a:rPr lang="en-US" sz="2000" b="0" i="1" smtClean="0">
                          <a:latin typeface="Cambria Math" panose="02040503050406030204" pitchFamily="18" charset="0"/>
                        </a:rPr>
                        <m:t>(</m:t>
                      </m:r>
                      <m:r>
                        <a:rPr lang="en-US" sz="2000" b="0" i="1" smtClean="0">
                          <a:latin typeface="Cambria Math" panose="02040503050406030204" pitchFamily="18" charset="0"/>
                        </a:rPr>
                        <m:t>𝑎</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r>
                                <a:rPr lang="en-US" sz="2000" b="0" i="1" smtClean="0">
                                  <a:latin typeface="Cambria Math" panose="02040503050406030204" pitchFamily="18" charset="0"/>
                                </a:rPr>
                                <m:t>1,  </m:t>
                              </m:r>
                              <m:r>
                                <a:rPr lang="en-US" sz="2000" b="0" i="1" smtClean="0">
                                  <a:latin typeface="Cambria Math" panose="02040503050406030204" pitchFamily="18" charset="0"/>
                                </a:rPr>
                                <m:t>𝑎</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0</m:t>
                              </m:r>
                            </m:e>
                            <m:e>
                              <m:r>
                                <a:rPr lang="en-US" sz="2000" b="0" i="1" smtClean="0">
                                  <a:latin typeface="Cambria Math" panose="02040503050406030204" pitchFamily="18" charset="0"/>
                                </a:rPr>
                                <m:t>&amp;0,  </m:t>
                              </m:r>
                              <m:r>
                                <a:rPr lang="en-US" sz="2000" b="0" i="1" smtClean="0">
                                  <a:latin typeface="Cambria Math" panose="02040503050406030204" pitchFamily="18" charset="0"/>
                                </a:rPr>
                                <m:t>𝑎</m:t>
                              </m:r>
                              <m:r>
                                <a:rPr lang="en-US" sz="2000" b="0" i="1" smtClean="0">
                                  <a:latin typeface="Cambria Math" panose="02040503050406030204" pitchFamily="18" charset="0"/>
                                </a:rPr>
                                <m:t>&lt;0</m:t>
                              </m:r>
                            </m:e>
                          </m:eqArr>
                        </m:e>
                      </m:d>
                    </m:oMath>
                  </m:oMathPara>
                </a14:m>
                <a:endParaRPr lang="en-IN" sz="2000" dirty="0"/>
              </a:p>
            </p:txBody>
          </p:sp>
        </mc:Choice>
        <mc:Fallback xmlns="">
          <p:sp>
            <p:nvSpPr>
              <p:cNvPr id="11" name="TextBox 10"/>
              <p:cNvSpPr txBox="1">
                <a:spLocks noRot="1" noChangeAspect="1" noMove="1" noResize="1" noEditPoints="1" noAdjustHandles="1" noChangeArrowheads="1" noChangeShapeType="1" noTextEdit="1"/>
              </p:cNvSpPr>
              <p:nvPr/>
            </p:nvSpPr>
            <p:spPr>
              <a:xfrm>
                <a:off x="5961639" y="1889514"/>
                <a:ext cx="2390077" cy="686535"/>
              </a:xfrm>
              <a:prstGeom prst="rect">
                <a:avLst/>
              </a:prstGeom>
              <a:blipFill rotWithShape="0">
                <a:blip r:embed="rId16"/>
                <a:stretch>
                  <a:fillRect/>
                </a:stretch>
              </a:blipFill>
            </p:spPr>
            <p:txBody>
              <a:bodyPr/>
              <a:lstStyle/>
              <a:p>
                <a:r>
                  <a:rPr lang="en-US">
                    <a:noFill/>
                  </a:rPr>
                  <a:t> </a:t>
                </a:r>
              </a:p>
            </p:txBody>
          </p:sp>
        </mc:Fallback>
      </mc:AlternateContent>
      <p:sp>
        <p:nvSpPr>
          <p:cNvPr id="12" name="TextBox 11"/>
          <p:cNvSpPr txBox="1"/>
          <p:nvPr/>
        </p:nvSpPr>
        <p:spPr>
          <a:xfrm>
            <a:off x="8807109" y="2053310"/>
            <a:ext cx="1656223" cy="307777"/>
          </a:xfrm>
          <a:prstGeom prst="rect">
            <a:avLst/>
          </a:prstGeom>
          <a:noFill/>
        </p:spPr>
        <p:txBody>
          <a:bodyPr wrap="none" rtlCol="0">
            <a:spAutoFit/>
          </a:bodyPr>
          <a:lstStyle/>
          <a:p>
            <a:r>
              <a:rPr lang="en-US" dirty="0"/>
              <a:t>(Rosenblatt, 1957)</a:t>
            </a:r>
            <a:endParaRPr lang="en-IN" dirty="0"/>
          </a:p>
        </p:txBody>
      </p:sp>
      <mc:AlternateContent xmlns:mc="http://schemas.openxmlformats.org/markup-compatibility/2006" xmlns:a14="http://schemas.microsoft.com/office/drawing/2010/main">
        <mc:Choice Requires="a14">
          <p:sp>
            <p:nvSpPr>
              <p:cNvPr id="43" name="TextBox 42"/>
              <p:cNvSpPr txBox="1"/>
              <p:nvPr/>
            </p:nvSpPr>
            <p:spPr>
              <a:xfrm>
                <a:off x="5626166" y="2716228"/>
                <a:ext cx="6429132" cy="369332"/>
              </a:xfrm>
              <a:prstGeom prst="rect">
                <a:avLst/>
              </a:prstGeom>
              <a:noFill/>
            </p:spPr>
            <p:txBody>
              <a:bodyPr wrap="none" rtlCol="0">
                <a:spAutoFit/>
              </a:bodyPr>
              <a:lstStyle/>
              <a:p>
                <a:r>
                  <a:rPr lang="en-IN" sz="1800" dirty="0"/>
                  <a:t>To make things simpler, the response is taken as </a:t>
                </a:r>
                <a14:m>
                  <m:oMath xmlns:m="http://schemas.openxmlformats.org/officeDocument/2006/math">
                    <m:r>
                      <a:rPr lang="en-US" sz="1800" i="1">
                        <a:latin typeface="Cambria Math" panose="02040503050406030204" pitchFamily="18" charset="0"/>
                      </a:rPr>
                      <m:t>𝑦</m:t>
                    </m:r>
                    <m:r>
                      <a:rPr lang="en-US" sz="1800" i="1">
                        <a:latin typeface="Cambria Math" panose="02040503050406030204" pitchFamily="18" charset="0"/>
                      </a:rPr>
                      <m:t>∈{−1, 1}</m:t>
                    </m:r>
                  </m:oMath>
                </a14:m>
                <a:r>
                  <a:rPr lang="en-IN" sz="1800" dirty="0"/>
                  <a:t> </a:t>
                </a:r>
              </a:p>
            </p:txBody>
          </p:sp>
        </mc:Choice>
        <mc:Fallback xmlns="">
          <p:sp>
            <p:nvSpPr>
              <p:cNvPr id="43" name="TextBox 42"/>
              <p:cNvSpPr txBox="1">
                <a:spLocks noRot="1" noChangeAspect="1" noMove="1" noResize="1" noEditPoints="1" noAdjustHandles="1" noChangeArrowheads="1" noChangeShapeType="1" noTextEdit="1"/>
              </p:cNvSpPr>
              <p:nvPr/>
            </p:nvSpPr>
            <p:spPr>
              <a:xfrm>
                <a:off x="5626166" y="2716228"/>
                <a:ext cx="6429132" cy="369332"/>
              </a:xfrm>
              <a:prstGeom prst="rect">
                <a:avLst/>
              </a:prstGeom>
              <a:blipFill rotWithShape="0">
                <a:blip r:embed="rId17"/>
                <a:stretch>
                  <a:fillRect l="-853"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5961639" y="3260843"/>
                <a:ext cx="2582438" cy="6865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𝑔</m:t>
                      </m:r>
                      <m:r>
                        <a:rPr lang="en-US" sz="2000" b="0" i="1" smtClean="0">
                          <a:latin typeface="Cambria Math" panose="02040503050406030204" pitchFamily="18" charset="0"/>
                        </a:rPr>
                        <m:t>(</m:t>
                      </m:r>
                      <m:r>
                        <a:rPr lang="en-US" sz="2000" b="0" i="1" smtClean="0">
                          <a:latin typeface="Cambria Math" panose="02040503050406030204" pitchFamily="18" charset="0"/>
                        </a:rPr>
                        <m:t>𝑎</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r>
                                <a:rPr lang="en-US" sz="2000" b="0" i="1" smtClean="0">
                                  <a:latin typeface="Cambria Math" panose="02040503050406030204" pitchFamily="18" charset="0"/>
                                </a:rPr>
                                <m:t>   1,  </m:t>
                              </m:r>
                              <m:r>
                                <a:rPr lang="en-US" sz="2000" b="0" i="1" smtClean="0">
                                  <a:latin typeface="Cambria Math" panose="02040503050406030204" pitchFamily="18" charset="0"/>
                                </a:rPr>
                                <m:t>𝑎</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0</m:t>
                              </m:r>
                            </m:e>
                            <m:e>
                              <m:r>
                                <a:rPr lang="en-US" sz="2000" b="0" i="1" smtClean="0">
                                  <a:latin typeface="Cambria Math" panose="02040503050406030204" pitchFamily="18" charset="0"/>
                                </a:rPr>
                                <m:t>&amp;−1,  </m:t>
                              </m:r>
                              <m:r>
                                <a:rPr lang="en-US" sz="2000" b="0" i="1" smtClean="0">
                                  <a:latin typeface="Cambria Math" panose="02040503050406030204" pitchFamily="18" charset="0"/>
                                </a:rPr>
                                <m:t>𝑎</m:t>
                              </m:r>
                              <m:r>
                                <a:rPr lang="en-US" sz="2000" b="0" i="1" smtClean="0">
                                  <a:latin typeface="Cambria Math" panose="02040503050406030204" pitchFamily="18" charset="0"/>
                                </a:rPr>
                                <m:t>&lt;0</m:t>
                              </m:r>
                            </m:e>
                          </m:eqArr>
                        </m:e>
                      </m:d>
                    </m:oMath>
                  </m:oMathPara>
                </a14:m>
                <a:endParaRPr lang="en-IN" sz="2000" dirty="0"/>
              </a:p>
            </p:txBody>
          </p:sp>
        </mc:Choice>
        <mc:Fallback xmlns="">
          <p:sp>
            <p:nvSpPr>
              <p:cNvPr id="46" name="TextBox 45"/>
              <p:cNvSpPr txBox="1">
                <a:spLocks noRot="1" noChangeAspect="1" noMove="1" noResize="1" noEditPoints="1" noAdjustHandles="1" noChangeArrowheads="1" noChangeShapeType="1" noTextEdit="1"/>
              </p:cNvSpPr>
              <p:nvPr/>
            </p:nvSpPr>
            <p:spPr>
              <a:xfrm>
                <a:off x="5961639" y="3260843"/>
                <a:ext cx="2582438" cy="686535"/>
              </a:xfrm>
              <a:prstGeom prst="rect">
                <a:avLst/>
              </a:prstGeom>
              <a:blipFill rotWithShape="0">
                <a:blip r:embed="rId18"/>
                <a:stretch>
                  <a:fillRect/>
                </a:stretch>
              </a:blipFill>
            </p:spPr>
            <p:txBody>
              <a:bodyPr/>
              <a:lstStyle/>
              <a:p>
                <a:r>
                  <a:rPr lang="en-US">
                    <a:noFill/>
                  </a:rPr>
                  <a:t> </a:t>
                </a:r>
              </a:p>
            </p:txBody>
          </p:sp>
        </mc:Fallback>
      </mc:AlternateContent>
      <p:grpSp>
        <p:nvGrpSpPr>
          <p:cNvPr id="20" name="Group 19"/>
          <p:cNvGrpSpPr/>
          <p:nvPr/>
        </p:nvGrpSpPr>
        <p:grpSpPr>
          <a:xfrm>
            <a:off x="8887211" y="3179962"/>
            <a:ext cx="3269210" cy="1330973"/>
            <a:chOff x="5866934" y="4680706"/>
            <a:chExt cx="4139055" cy="1660078"/>
          </a:xfrm>
        </p:grpSpPr>
        <p:pic>
          <p:nvPicPr>
            <p:cNvPr id="17" name="Picture 16"/>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513618" y="4680706"/>
              <a:ext cx="3492371" cy="1285578"/>
            </a:xfrm>
            <a:prstGeom prst="rect">
              <a:avLst/>
            </a:prstGeom>
          </p:spPr>
        </p:pic>
        <mc:AlternateContent xmlns:mc="http://schemas.openxmlformats.org/markup-compatibility/2006" xmlns:a14="http://schemas.microsoft.com/office/drawing/2010/main">
          <mc:Choice Requires="a14">
            <p:sp>
              <p:nvSpPr>
                <p:cNvPr id="47" name="TextBox 46"/>
                <p:cNvSpPr txBox="1"/>
                <p:nvPr/>
              </p:nvSpPr>
              <p:spPr>
                <a:xfrm>
                  <a:off x="5866934" y="5095093"/>
                  <a:ext cx="677859" cy="3454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ea typeface="Cambria Math" panose="02040503050406030204" pitchFamily="18" charset="0"/>
                          </a:rPr>
                          <m:t>𝑔</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𝑎</m:t>
                        </m:r>
                        <m:r>
                          <a:rPr lang="en-US" sz="1800" b="0" i="1" smtClean="0">
                            <a:latin typeface="Cambria Math" panose="02040503050406030204" pitchFamily="18" charset="0"/>
                            <a:ea typeface="Cambria Math" panose="02040503050406030204" pitchFamily="18" charset="0"/>
                          </a:rPr>
                          <m:t>)</m:t>
                        </m:r>
                      </m:oMath>
                    </m:oMathPara>
                  </a14:m>
                  <a:endParaRPr lang="en-IN" sz="1800" dirty="0"/>
                </a:p>
              </p:txBody>
            </p:sp>
          </mc:Choice>
          <mc:Fallback xmlns="">
            <p:sp>
              <p:nvSpPr>
                <p:cNvPr id="47" name="TextBox 46"/>
                <p:cNvSpPr txBox="1">
                  <a:spLocks noRot="1" noChangeAspect="1" noMove="1" noResize="1" noEditPoints="1" noAdjustHandles="1" noChangeArrowheads="1" noChangeShapeType="1" noTextEdit="1"/>
                </p:cNvSpPr>
                <p:nvPr/>
              </p:nvSpPr>
              <p:spPr>
                <a:xfrm>
                  <a:off x="5866934" y="5095093"/>
                  <a:ext cx="677859" cy="345492"/>
                </a:xfrm>
                <a:prstGeom prst="rect">
                  <a:avLst/>
                </a:prstGeom>
                <a:blipFill rotWithShape="0">
                  <a:blip r:embed="rId20"/>
                  <a:stretch>
                    <a:fillRect l="-9091" t="-2174" r="-14773" b="-326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8167477" y="5880128"/>
                  <a:ext cx="484486" cy="4606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rPr>
                          <m:t>𝑎</m:t>
                        </m:r>
                      </m:oMath>
                    </m:oMathPara>
                  </a14:m>
                  <a:endParaRPr lang="en-IN" sz="1800" dirty="0"/>
                </a:p>
              </p:txBody>
            </p:sp>
          </mc:Choice>
          <mc:Fallback xmlns="">
            <p:sp>
              <p:nvSpPr>
                <p:cNvPr id="18" name="Rectangle 17"/>
                <p:cNvSpPr>
                  <a:spLocks noRot="1" noChangeAspect="1" noMove="1" noResize="1" noEditPoints="1" noAdjustHandles="1" noChangeArrowheads="1" noChangeShapeType="1" noTextEdit="1"/>
                </p:cNvSpPr>
                <p:nvPr/>
              </p:nvSpPr>
              <p:spPr>
                <a:xfrm>
                  <a:off x="8167477" y="5880128"/>
                  <a:ext cx="484486" cy="460656"/>
                </a:xfrm>
                <a:prstGeom prst="rect">
                  <a:avLst/>
                </a:prstGeom>
                <a:blipFill rotWithShape="0">
                  <a:blip r:embed="rId21"/>
                  <a:stretch>
                    <a:fillRect/>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53" name="TextBox 52"/>
              <p:cNvSpPr txBox="1"/>
              <p:nvPr/>
            </p:nvSpPr>
            <p:spPr>
              <a:xfrm>
                <a:off x="5961639" y="4976237"/>
                <a:ext cx="2967094" cy="6865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𝑦</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r>
                                <a:rPr lang="en-US" sz="2000" b="0" i="1" smtClean="0">
                                  <a:latin typeface="Cambria Math" panose="02040503050406030204" pitchFamily="18" charset="0"/>
                                </a:rPr>
                                <m:t>   1,  </m:t>
                              </m:r>
                              <m:sSup>
                                <m:sSupPr>
                                  <m:ctrlPr>
                                    <a:rPr lang="en-US" sz="2000" b="0" i="1" smtClean="0">
                                      <a:latin typeface="Cambria Math" panose="02040503050406030204" pitchFamily="18" charset="0"/>
                                    </a:rPr>
                                  </m:ctrlPr>
                                </m:sSupPr>
                                <m:e>
                                  <m:r>
                                    <a:rPr lang="en-US" sz="2000" b="1" i="1" smtClean="0">
                                      <a:latin typeface="Cambria Math" panose="02040503050406030204" pitchFamily="18" charset="0"/>
                                    </a:rPr>
                                    <m:t>𝒘</m:t>
                                  </m:r>
                                </m:e>
                                <m:sup>
                                  <m:r>
                                    <a:rPr lang="en-US" sz="2000" b="0" i="1" smtClean="0">
                                      <a:latin typeface="Cambria Math" panose="02040503050406030204" pitchFamily="18" charset="0"/>
                                    </a:rPr>
                                    <m:t>𝑇</m:t>
                                  </m:r>
                                </m:sup>
                              </m:sSup>
                              <m:r>
                                <a:rPr lang="en-US" sz="2000" b="1" i="1" smtClean="0">
                                  <a:latin typeface="Cambria Math" panose="02040503050406030204" pitchFamily="18" charset="0"/>
                                </a:rPr>
                                <m:t>𝒙</m:t>
                              </m:r>
                              <m:r>
                                <a:rPr lang="en-US" sz="2000" b="0" i="1" smtClean="0">
                                  <a:latin typeface="Cambria Math" panose="02040503050406030204" pitchFamily="18" charset="0"/>
                                </a:rPr>
                                <m:t>+</m:t>
                              </m:r>
                              <m:r>
                                <a:rPr lang="en-US" sz="2000" b="0" i="1" smtClean="0">
                                  <a:latin typeface="Cambria Math" panose="02040503050406030204" pitchFamily="18" charset="0"/>
                                </a:rPr>
                                <m:t>𝑏</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0</m:t>
                              </m:r>
                            </m:e>
                            <m:e>
                              <m:r>
                                <a:rPr lang="en-US" sz="2000" b="0" i="1" smtClean="0">
                                  <a:latin typeface="Cambria Math" panose="02040503050406030204" pitchFamily="18" charset="0"/>
                                </a:rPr>
                                <m:t>&amp;−1,  </m:t>
                              </m:r>
                              <m:sSup>
                                <m:sSupPr>
                                  <m:ctrlPr>
                                    <a:rPr lang="en-US" sz="2000" b="0" i="1" smtClean="0">
                                      <a:latin typeface="Cambria Math" panose="02040503050406030204" pitchFamily="18" charset="0"/>
                                    </a:rPr>
                                  </m:ctrlPr>
                                </m:sSupPr>
                                <m:e>
                                  <m:r>
                                    <a:rPr lang="en-US" sz="2000" b="1" i="1" smtClean="0">
                                      <a:latin typeface="Cambria Math" panose="02040503050406030204" pitchFamily="18" charset="0"/>
                                    </a:rPr>
                                    <m:t>𝒘</m:t>
                                  </m:r>
                                </m:e>
                                <m:sup>
                                  <m:r>
                                    <a:rPr lang="en-US" sz="2000" b="0" i="1" smtClean="0">
                                      <a:latin typeface="Cambria Math" panose="02040503050406030204" pitchFamily="18" charset="0"/>
                                    </a:rPr>
                                    <m:t>𝑇</m:t>
                                  </m:r>
                                </m:sup>
                              </m:sSup>
                              <m:r>
                                <a:rPr lang="en-US" sz="2000" b="1" i="1" smtClean="0">
                                  <a:latin typeface="Cambria Math" panose="02040503050406030204" pitchFamily="18" charset="0"/>
                                </a:rPr>
                                <m:t>𝒙</m:t>
                              </m:r>
                              <m:r>
                                <a:rPr lang="en-US" sz="2000" b="0" i="1" smtClean="0">
                                  <a:latin typeface="Cambria Math" panose="02040503050406030204" pitchFamily="18" charset="0"/>
                                </a:rPr>
                                <m:t>+</m:t>
                              </m:r>
                              <m:r>
                                <a:rPr lang="en-US" sz="2000" b="0" i="1" smtClean="0">
                                  <a:latin typeface="Cambria Math" panose="02040503050406030204" pitchFamily="18" charset="0"/>
                                </a:rPr>
                                <m:t>𝑏</m:t>
                              </m:r>
                              <m:r>
                                <a:rPr lang="en-US" sz="2000" b="0" i="1" smtClean="0">
                                  <a:latin typeface="Cambria Math" panose="02040503050406030204" pitchFamily="18" charset="0"/>
                                </a:rPr>
                                <m:t>&lt;0</m:t>
                              </m:r>
                            </m:e>
                          </m:eqArr>
                        </m:e>
                      </m:d>
                    </m:oMath>
                  </m:oMathPara>
                </a14:m>
                <a:endParaRPr lang="en-IN" sz="2000" dirty="0"/>
              </a:p>
            </p:txBody>
          </p:sp>
        </mc:Choice>
        <mc:Fallback xmlns="">
          <p:sp>
            <p:nvSpPr>
              <p:cNvPr id="53" name="TextBox 52"/>
              <p:cNvSpPr txBox="1">
                <a:spLocks noRot="1" noChangeAspect="1" noMove="1" noResize="1" noEditPoints="1" noAdjustHandles="1" noChangeArrowheads="1" noChangeShapeType="1" noTextEdit="1"/>
              </p:cNvSpPr>
              <p:nvPr/>
            </p:nvSpPr>
            <p:spPr>
              <a:xfrm>
                <a:off x="5961639" y="4976237"/>
                <a:ext cx="2967094" cy="686535"/>
              </a:xfrm>
              <a:prstGeom prst="rect">
                <a:avLst/>
              </a:prstGeom>
              <a:blipFill rotWithShape="0">
                <a:blip r:embed="rId22"/>
                <a:stretch>
                  <a:fillRect/>
                </a:stretch>
              </a:blipFill>
            </p:spPr>
            <p:txBody>
              <a:bodyPr/>
              <a:lstStyle/>
              <a:p>
                <a:r>
                  <a:rPr lang="en-US">
                    <a:noFill/>
                  </a:rPr>
                  <a:t> </a:t>
                </a:r>
              </a:p>
            </p:txBody>
          </p:sp>
        </mc:Fallback>
      </mc:AlternateContent>
      <p:sp>
        <p:nvSpPr>
          <p:cNvPr id="54" name="TextBox 53"/>
          <p:cNvSpPr txBox="1"/>
          <p:nvPr/>
        </p:nvSpPr>
        <p:spPr>
          <a:xfrm>
            <a:off x="5679105" y="4555074"/>
            <a:ext cx="5519460" cy="369332"/>
          </a:xfrm>
          <a:prstGeom prst="rect">
            <a:avLst/>
          </a:prstGeom>
          <a:noFill/>
        </p:spPr>
        <p:txBody>
          <a:bodyPr wrap="none" rtlCol="0">
            <a:spAutoFit/>
          </a:bodyPr>
          <a:lstStyle/>
          <a:p>
            <a:r>
              <a:rPr lang="en-US" sz="1800" dirty="0"/>
              <a:t>The perceptron classification rule, thus, translates to</a:t>
            </a:r>
            <a:endParaRPr lang="en-IN" sz="1800" dirty="0"/>
          </a:p>
        </p:txBody>
      </p:sp>
      <mc:AlternateContent xmlns:mc="http://schemas.openxmlformats.org/markup-compatibility/2006" xmlns:a14="http://schemas.microsoft.com/office/drawing/2010/main">
        <mc:Choice Requires="a14">
          <p:sp>
            <p:nvSpPr>
              <p:cNvPr id="28" name="TextBox 27"/>
              <p:cNvSpPr txBox="1"/>
              <p:nvPr/>
            </p:nvSpPr>
            <p:spPr>
              <a:xfrm>
                <a:off x="8965672" y="5052054"/>
                <a:ext cx="3190232" cy="553421"/>
              </a:xfrm>
              <a:prstGeom prst="rect">
                <a:avLst/>
              </a:prstGeom>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none" rtlCol="0">
                <a:spAutoFit/>
              </a:bodyPr>
              <a:lstStyle/>
              <a:p>
                <a:pPr algn="ctr"/>
                <a:r>
                  <a:rPr lang="en-US" dirty="0"/>
                  <a:t>Remember: </a:t>
                </a:r>
                <a14:m>
                  <m:oMath xmlns:m="http://schemas.openxmlformats.org/officeDocument/2006/math">
                    <m:sSup>
                      <m:sSupPr>
                        <m:ctrlPr>
                          <a:rPr lang="en-US" sz="1600" i="1">
                            <a:latin typeface="Cambria Math" panose="02040503050406030204" pitchFamily="18" charset="0"/>
                          </a:rPr>
                        </m:ctrlPr>
                      </m:sSupPr>
                      <m:e>
                        <m:r>
                          <a:rPr lang="en-US" sz="1600" b="1" i="1">
                            <a:latin typeface="Cambria Math" panose="02040503050406030204" pitchFamily="18" charset="0"/>
                          </a:rPr>
                          <m:t>𝒘</m:t>
                        </m:r>
                      </m:e>
                      <m:sup>
                        <m:r>
                          <a:rPr lang="en-US" sz="1600" i="1">
                            <a:latin typeface="Cambria Math" panose="02040503050406030204" pitchFamily="18" charset="0"/>
                          </a:rPr>
                          <m:t>𝑇</m:t>
                        </m:r>
                      </m:sup>
                    </m:sSup>
                    <m:r>
                      <a:rPr lang="en-US" sz="1600" b="1" i="1">
                        <a:latin typeface="Cambria Math" panose="02040503050406030204" pitchFamily="18" charset="0"/>
                      </a:rPr>
                      <m:t>𝒙</m:t>
                    </m:r>
                    <m:r>
                      <a:rPr lang="en-US" sz="1600" i="1">
                        <a:latin typeface="Cambria Math" panose="02040503050406030204" pitchFamily="18" charset="0"/>
                      </a:rPr>
                      <m:t>+</m:t>
                    </m:r>
                    <m:r>
                      <a:rPr lang="en-US" sz="1600" i="1">
                        <a:latin typeface="Cambria Math" panose="02040503050406030204" pitchFamily="18" charset="0"/>
                      </a:rPr>
                      <m:t>𝑏</m:t>
                    </m:r>
                    <m:r>
                      <a:rPr lang="en-US" sz="1600" b="0" i="1" smtClean="0">
                        <a:latin typeface="Cambria Math" panose="02040503050406030204" pitchFamily="18" charset="0"/>
                      </a:rPr>
                      <m:t>=</m:t>
                    </m:r>
                    <m:r>
                      <a:rPr lang="en-US" sz="1600" i="1">
                        <a:latin typeface="Cambria Math" panose="02040503050406030204" pitchFamily="18" charset="0"/>
                      </a:rPr>
                      <m:t>0</m:t>
                    </m:r>
                  </m:oMath>
                </a14:m>
                <a:r>
                  <a:rPr lang="en-IN" dirty="0"/>
                  <a:t> represents</a:t>
                </a:r>
              </a:p>
              <a:p>
                <a:pPr algn="ctr"/>
                <a:r>
                  <a:rPr lang="en-US" dirty="0"/>
                  <a:t>a </a:t>
                </a:r>
                <a:r>
                  <a:rPr lang="en-US" dirty="0" err="1"/>
                  <a:t>hyperplane</a:t>
                </a:r>
                <a:r>
                  <a:rPr lang="en-US" dirty="0"/>
                  <a:t>.</a:t>
                </a:r>
                <a:endParaRPr lang="en-IN" dirty="0"/>
              </a:p>
            </p:txBody>
          </p:sp>
        </mc:Choice>
        <mc:Fallback xmlns="">
          <p:sp>
            <p:nvSpPr>
              <p:cNvPr id="28" name="TextBox 27"/>
              <p:cNvSpPr txBox="1">
                <a:spLocks noRot="1" noChangeAspect="1" noMove="1" noResize="1" noEditPoints="1" noAdjustHandles="1" noChangeArrowheads="1" noChangeShapeType="1" noTextEdit="1"/>
              </p:cNvSpPr>
              <p:nvPr/>
            </p:nvSpPr>
            <p:spPr>
              <a:xfrm>
                <a:off x="8965672" y="5052054"/>
                <a:ext cx="3190232" cy="553421"/>
              </a:xfrm>
              <a:prstGeom prst="rect">
                <a:avLst/>
              </a:prstGeom>
              <a:blipFill rotWithShape="0">
                <a:blip r:embed="rId23"/>
                <a:stretch>
                  <a:fillRect/>
                </a:stretch>
              </a:blipFill>
              <a:effectLst>
                <a:outerShdw blurRad="50800" dist="38100" dir="2700000" algn="tl" rotWithShape="0">
                  <a:prstClr val="black">
                    <a:alpha val="40000"/>
                  </a:prstClr>
                </a:outerShdw>
              </a:effectLst>
            </p:spPr>
            <p:txBody>
              <a:bodyPr/>
              <a:lstStyle/>
              <a:p>
                <a:r>
                  <a:rPr lang="en-US">
                    <a:noFill/>
                  </a:rPr>
                  <a:t> </a:t>
                </a:r>
              </a:p>
            </p:txBody>
          </p:sp>
        </mc:Fallback>
      </mc:AlternateContent>
      <p:sp>
        <p:nvSpPr>
          <p:cNvPr id="3" name="Footer Placeholder 2"/>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21" name="Slide Number Placeholder 20"/>
          <p:cNvSpPr>
            <a:spLocks noGrp="1"/>
          </p:cNvSpPr>
          <p:nvPr>
            <p:ph type="sldNum" sz="quarter" idx="4"/>
          </p:nvPr>
        </p:nvSpPr>
        <p:spPr>
          <a:xfrm>
            <a:off x="10569844" y="6356350"/>
            <a:ext cx="783956" cy="365125"/>
          </a:xfrm>
        </p:spPr>
        <p:txBody>
          <a:bodyPr/>
          <a:lstStyle/>
          <a:p>
            <a:fld id="{683B8651-0143-4140-839E-3D36292080E8}" type="slidenum">
              <a:rPr lang="en-US" smtClean="0"/>
              <a:t>6</a:t>
            </a:fld>
            <a:endParaRPr lang="en-US"/>
          </a:p>
        </p:txBody>
      </p:sp>
    </p:spTree>
    <p:extLst>
      <p:ext uri="{BB962C8B-B14F-4D97-AF65-F5344CB8AC3E}">
        <p14:creationId xmlns:p14="http://schemas.microsoft.com/office/powerpoint/2010/main" val="4093025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6" grpId="0"/>
      <p:bldP spid="53" grpId="0"/>
      <p:bldP spid="54" grpId="0"/>
      <p:bldP spid="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2501680" y="832857"/>
            <a:ext cx="7208400" cy="84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200" dirty="0">
                <a:solidFill>
                  <a:srgbClr val="434343"/>
                </a:solidFill>
              </a:rPr>
              <a:t>Perceptron Learning Algorithm</a:t>
            </a:r>
            <a:endParaRPr sz="3200" dirty="0">
              <a:solidFill>
                <a:srgbClr val="434343"/>
              </a:solidFill>
            </a:endParaRPr>
          </a:p>
        </p:txBody>
      </p:sp>
      <mc:AlternateContent xmlns:mc="http://schemas.openxmlformats.org/markup-compatibility/2006" xmlns:a14="http://schemas.microsoft.com/office/drawing/2010/main">
        <mc:Choice Requires="a14">
          <p:sp>
            <p:nvSpPr>
              <p:cNvPr id="33" name="TextBox 32"/>
              <p:cNvSpPr txBox="1"/>
              <p:nvPr/>
            </p:nvSpPr>
            <p:spPr>
              <a:xfrm>
                <a:off x="300789" y="4848726"/>
                <a:ext cx="6567112" cy="1138260"/>
              </a:xfrm>
              <a:prstGeom prst="rect">
                <a:avLst/>
              </a:prstGeom>
              <a:noFill/>
            </p:spPr>
            <p:txBody>
              <a:bodyPr wrap="square" rtlCol="0">
                <a:spAutoFit/>
              </a:bodyPr>
              <a:lstStyle/>
              <a:p>
                <a:r>
                  <a:rPr lang="en-US" sz="1700" u="sng" dirty="0"/>
                  <a:t>Convergence Theorem</a:t>
                </a:r>
                <a:r>
                  <a:rPr lang="en-US" sz="1700" dirty="0"/>
                  <a:t>:-</a:t>
                </a:r>
              </a:p>
              <a:p>
                <a:r>
                  <a:rPr lang="en-US" sz="1500" dirty="0"/>
                  <a:t>For a finite and linearly separable set of data, the perceptron learning algorithm will find a linear separator in at most </a:t>
                </a:r>
                <a14:m>
                  <m:oMath xmlns:m="http://schemas.openxmlformats.org/officeDocument/2006/math">
                    <m:box>
                      <m:boxPr>
                        <m:ctrlPr>
                          <a:rPr lang="en-US" sz="1500" i="1" smtClean="0">
                            <a:latin typeface="Cambria Math" panose="02040503050406030204" pitchFamily="18" charset="0"/>
                          </a:rPr>
                        </m:ctrlPr>
                      </m:boxPr>
                      <m:e>
                        <m:argPr>
                          <m:argSz m:val="-1"/>
                        </m:argPr>
                        <m:f>
                          <m:fPr>
                            <m:ctrlPr>
                              <a:rPr lang="en-US" sz="1500" i="1" smtClean="0">
                                <a:latin typeface="Cambria Math" panose="02040503050406030204" pitchFamily="18" charset="0"/>
                              </a:rPr>
                            </m:ctrlPr>
                          </m:fPr>
                          <m:num>
                            <m:sSup>
                              <m:sSupPr>
                                <m:ctrlPr>
                                  <a:rPr lang="en-US" sz="1500" b="0" i="1" smtClean="0">
                                    <a:latin typeface="Cambria Math" panose="02040503050406030204" pitchFamily="18" charset="0"/>
                                  </a:rPr>
                                </m:ctrlPr>
                              </m:sSupPr>
                              <m:e>
                                <m:r>
                                  <a:rPr lang="en-US" sz="1500" b="0" i="1" smtClean="0">
                                    <a:latin typeface="Cambria Math" panose="02040503050406030204" pitchFamily="18" charset="0"/>
                                  </a:rPr>
                                  <m:t>𝛽</m:t>
                                </m:r>
                              </m:e>
                              <m:sup>
                                <m:r>
                                  <a:rPr lang="en-US" sz="1500" b="0" i="1" smtClean="0">
                                    <a:latin typeface="Cambria Math" panose="02040503050406030204" pitchFamily="18" charset="0"/>
                                  </a:rPr>
                                  <m:t>2</m:t>
                                </m:r>
                              </m:sup>
                            </m:sSup>
                          </m:num>
                          <m:den>
                            <m:sSup>
                              <m:sSupPr>
                                <m:ctrlPr>
                                  <a:rPr lang="en-US" sz="1500" b="0" i="1" smtClean="0">
                                    <a:latin typeface="Cambria Math" panose="02040503050406030204" pitchFamily="18" charset="0"/>
                                  </a:rPr>
                                </m:ctrlPr>
                              </m:sSupPr>
                              <m:e>
                                <m:r>
                                  <a:rPr lang="en-US" sz="1500" b="0" i="1" smtClean="0">
                                    <a:latin typeface="Cambria Math" panose="02040503050406030204" pitchFamily="18" charset="0"/>
                                  </a:rPr>
                                  <m:t>𝛾</m:t>
                                </m:r>
                              </m:e>
                              <m:sup>
                                <m:r>
                                  <a:rPr lang="en-US" sz="1500" b="0" i="1" smtClean="0">
                                    <a:latin typeface="Cambria Math" panose="02040503050406030204" pitchFamily="18" charset="0"/>
                                  </a:rPr>
                                  <m:t>2</m:t>
                                </m:r>
                              </m:sup>
                            </m:sSup>
                          </m:den>
                        </m:f>
                      </m:e>
                    </m:box>
                  </m:oMath>
                </a14:m>
                <a:r>
                  <a:rPr lang="en-US" sz="1500" dirty="0"/>
                  <a:t> iterations where the maximum length of any data point is </a:t>
                </a:r>
                <a14:m>
                  <m:oMath xmlns:m="http://schemas.openxmlformats.org/officeDocument/2006/math">
                    <m:r>
                      <a:rPr lang="en-US" sz="1500" b="0" i="1" smtClean="0">
                        <a:latin typeface="Cambria Math" panose="02040503050406030204" pitchFamily="18" charset="0"/>
                      </a:rPr>
                      <m:t>𝛽</m:t>
                    </m:r>
                  </m:oMath>
                </a14:m>
                <a:r>
                  <a:rPr lang="en-US" sz="1500" dirty="0"/>
                  <a:t> and </a:t>
                </a:r>
                <a14:m>
                  <m:oMath xmlns:m="http://schemas.openxmlformats.org/officeDocument/2006/math">
                    <m:r>
                      <a:rPr lang="en-US" sz="1500" b="0" i="1" smtClean="0">
                        <a:latin typeface="Cambria Math" panose="02040503050406030204" pitchFamily="18" charset="0"/>
                      </a:rPr>
                      <m:t>𝛾</m:t>
                    </m:r>
                  </m:oMath>
                </a14:m>
                <a:r>
                  <a:rPr lang="en-US" sz="1500" dirty="0"/>
                  <a:t> is the maximum margin of the linear separators.</a:t>
                </a:r>
                <a:endParaRPr lang="en-IN" sz="1500" dirty="0"/>
              </a:p>
            </p:txBody>
          </p:sp>
        </mc:Choice>
        <mc:Fallback xmlns="">
          <p:sp>
            <p:nvSpPr>
              <p:cNvPr id="33" name="TextBox 32"/>
              <p:cNvSpPr txBox="1">
                <a:spLocks noRot="1" noChangeAspect="1" noMove="1" noResize="1" noEditPoints="1" noAdjustHandles="1" noChangeArrowheads="1" noChangeShapeType="1" noTextEdit="1"/>
              </p:cNvSpPr>
              <p:nvPr/>
            </p:nvSpPr>
            <p:spPr>
              <a:xfrm>
                <a:off x="300789" y="4848726"/>
                <a:ext cx="6567112" cy="1138260"/>
              </a:xfrm>
              <a:prstGeom prst="rect">
                <a:avLst/>
              </a:prstGeom>
              <a:blipFill rotWithShape="0">
                <a:blip r:embed="rId3"/>
                <a:stretch>
                  <a:fillRect l="-557" t="-1604" b="-5348"/>
                </a:stretch>
              </a:blipFill>
            </p:spPr>
            <p:txBody>
              <a:bodyPr/>
              <a:lstStyle/>
              <a:p>
                <a:r>
                  <a:rPr lang="en-US">
                    <a:noFill/>
                  </a:rPr>
                  <a:t> </a:t>
                </a:r>
              </a:p>
            </p:txBody>
          </p:sp>
        </mc:Fallback>
      </mc:AlternateContent>
      <p:grpSp>
        <p:nvGrpSpPr>
          <p:cNvPr id="74" name="Group 73"/>
          <p:cNvGrpSpPr/>
          <p:nvPr/>
        </p:nvGrpSpPr>
        <p:grpSpPr>
          <a:xfrm>
            <a:off x="7357277" y="1942767"/>
            <a:ext cx="4493827" cy="4386510"/>
            <a:chOff x="7357277" y="1942767"/>
            <a:chExt cx="4493827" cy="4386510"/>
          </a:xfrm>
        </p:grpSpPr>
        <p:pic>
          <p:nvPicPr>
            <p:cNvPr id="32" name="Picture 31"/>
            <p:cNvPicPr>
              <a:picLocks noChangeAspect="1"/>
            </p:cNvPicPr>
            <p:nvPr/>
          </p:nvPicPr>
          <p:blipFill rotWithShape="1">
            <a:blip r:embed="rId4">
              <a:extLst>
                <a:ext uri="{28A0092B-C50C-407E-A947-70E740481C1C}">
                  <a14:useLocalDpi xmlns:a14="http://schemas.microsoft.com/office/drawing/2010/main" val="0"/>
                </a:ext>
              </a:extLst>
            </a:blip>
            <a:srcRect l="7710" t="11416" r="10249" b="8502"/>
            <a:stretch/>
          </p:blipFill>
          <p:spPr>
            <a:xfrm>
              <a:off x="7357277" y="1942767"/>
              <a:ext cx="4493827" cy="4386510"/>
            </a:xfrm>
            <a:prstGeom prst="rect">
              <a:avLst/>
            </a:prstGeom>
          </p:spPr>
        </p:pic>
        <p:cxnSp>
          <p:nvCxnSpPr>
            <p:cNvPr id="35" name="Straight Arrow Connector 34"/>
            <p:cNvCxnSpPr/>
            <p:nvPr/>
          </p:nvCxnSpPr>
          <p:spPr>
            <a:xfrm flipH="1">
              <a:off x="8536844" y="2297137"/>
              <a:ext cx="190831" cy="20520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70" name="Straight Arrow Connector 69"/>
            <p:cNvCxnSpPr/>
            <p:nvPr/>
          </p:nvCxnSpPr>
          <p:spPr>
            <a:xfrm rot="10800000" flipH="1">
              <a:off x="8172409" y="2696027"/>
              <a:ext cx="190831" cy="20520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6" name="TextBox 35"/>
                <p:cNvSpPr txBox="1"/>
                <p:nvPr/>
              </p:nvSpPr>
              <p:spPr>
                <a:xfrm>
                  <a:off x="8392594" y="2471431"/>
                  <a:ext cx="15869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𝜸</m:t>
                        </m:r>
                      </m:oMath>
                    </m:oMathPara>
                  </a14:m>
                  <a:endParaRPr lang="en-IN" b="1" dirty="0"/>
                </a:p>
              </p:txBody>
            </p:sp>
          </mc:Choice>
          <mc:Fallback xmlns="">
            <p:sp>
              <p:nvSpPr>
                <p:cNvPr id="36" name="TextBox 35"/>
                <p:cNvSpPr txBox="1">
                  <a:spLocks noRot="1" noChangeAspect="1" noMove="1" noResize="1" noEditPoints="1" noAdjustHandles="1" noChangeArrowheads="1" noChangeShapeType="1" noTextEdit="1"/>
                </p:cNvSpPr>
                <p:nvPr/>
              </p:nvSpPr>
              <p:spPr>
                <a:xfrm>
                  <a:off x="8392594" y="2471431"/>
                  <a:ext cx="158698" cy="215444"/>
                </a:xfrm>
                <a:prstGeom prst="rect">
                  <a:avLst/>
                </a:prstGeom>
                <a:blipFill rotWithShape="0">
                  <a:blip r:embed="rId16"/>
                  <a:stretch>
                    <a:fillRect l="-46154" r="-46154" b="-55556"/>
                  </a:stretch>
                </a:blipFill>
              </p:spPr>
              <p:txBody>
                <a:bodyPr/>
                <a:lstStyle/>
                <a:p>
                  <a:r>
                    <a:rPr lang="en-IN">
                      <a:noFill/>
                    </a:rPr>
                    <a:t> </a:t>
                  </a:r>
                </a:p>
              </p:txBody>
            </p:sp>
          </mc:Fallback>
        </mc:AlternateContent>
        <p:cxnSp>
          <p:nvCxnSpPr>
            <p:cNvPr id="42" name="Straight Arrow Connector 41"/>
            <p:cNvCxnSpPr/>
            <p:nvPr/>
          </p:nvCxnSpPr>
          <p:spPr>
            <a:xfrm flipH="1" flipV="1">
              <a:off x="8030819" y="3172572"/>
              <a:ext cx="1725431" cy="882593"/>
            </a:xfrm>
            <a:prstGeom prst="straightConnector1">
              <a:avLst/>
            </a:prstGeom>
            <a:ln w="19050">
              <a:solidFill>
                <a:srgbClr val="0070C0"/>
              </a:solidFill>
              <a:tailEnd type="triangle" w="lg" len="lg"/>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6" name="TextBox 75"/>
                <p:cNvSpPr txBox="1"/>
                <p:nvPr/>
              </p:nvSpPr>
              <p:spPr>
                <a:xfrm>
                  <a:off x="8727675" y="3594051"/>
                  <a:ext cx="17152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𝜷</m:t>
                        </m:r>
                      </m:oMath>
                    </m:oMathPara>
                  </a14:m>
                  <a:endParaRPr lang="en-IN" b="1" dirty="0"/>
                </a:p>
              </p:txBody>
            </p:sp>
          </mc:Choice>
          <mc:Fallback xmlns="">
            <p:sp>
              <p:nvSpPr>
                <p:cNvPr id="76" name="TextBox 75"/>
                <p:cNvSpPr txBox="1">
                  <a:spLocks noRot="1" noChangeAspect="1" noMove="1" noResize="1" noEditPoints="1" noAdjustHandles="1" noChangeArrowheads="1" noChangeShapeType="1" noTextEdit="1"/>
                </p:cNvSpPr>
                <p:nvPr/>
              </p:nvSpPr>
              <p:spPr>
                <a:xfrm>
                  <a:off x="8727675" y="3594051"/>
                  <a:ext cx="171522" cy="215444"/>
                </a:xfrm>
                <a:prstGeom prst="rect">
                  <a:avLst/>
                </a:prstGeom>
                <a:blipFill rotWithShape="0">
                  <a:blip r:embed="rId17"/>
                  <a:stretch>
                    <a:fillRect l="-60714" t="-5714" r="-60714" b="-74286"/>
                  </a:stretch>
                </a:blipFill>
              </p:spPr>
              <p:txBody>
                <a:bodyPr/>
                <a:lstStyle/>
                <a:p>
                  <a:r>
                    <a:rPr lang="en-IN">
                      <a:noFill/>
                    </a:rPr>
                    <a:t> </a:t>
                  </a:r>
                </a:p>
              </p:txBody>
            </p:sp>
          </mc:Fallback>
        </mc:AlternateContent>
      </p:grpSp>
      <p:sp>
        <p:nvSpPr>
          <p:cNvPr id="2" name="Footer Placeholder 1"/>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6" name="Slide Number Placeholder 5"/>
          <p:cNvSpPr>
            <a:spLocks noGrp="1"/>
          </p:cNvSpPr>
          <p:nvPr>
            <p:ph type="sldNum" sz="quarter" idx="4"/>
          </p:nvPr>
        </p:nvSpPr>
        <p:spPr>
          <a:xfrm>
            <a:off x="10569844" y="6356350"/>
            <a:ext cx="783956" cy="365125"/>
          </a:xfrm>
        </p:spPr>
        <p:txBody>
          <a:bodyPr/>
          <a:lstStyle/>
          <a:p>
            <a:fld id="{683B8651-0143-4140-839E-3D36292080E8}" type="slidenum">
              <a:rPr lang="en-US" smtClean="0"/>
              <a:t>7</a:t>
            </a:fld>
            <a:endParaRPr lang="en-US"/>
          </a:p>
        </p:txBody>
      </p:sp>
      <p:pic>
        <p:nvPicPr>
          <p:cNvPr id="8" name="Picture 7"/>
          <p:cNvPicPr>
            <a:picLocks noChangeAspect="1"/>
          </p:cNvPicPr>
          <p:nvPr/>
        </p:nvPicPr>
        <p:blipFill>
          <a:blip r:embed="rId18"/>
          <a:stretch>
            <a:fillRect/>
          </a:stretch>
        </p:blipFill>
        <p:spPr>
          <a:xfrm>
            <a:off x="86064" y="1728104"/>
            <a:ext cx="7096359" cy="2255716"/>
          </a:xfrm>
          <a:prstGeom prst="rect">
            <a:avLst/>
          </a:prstGeom>
        </p:spPr>
      </p:pic>
    </p:spTree>
    <p:extLst>
      <p:ext uri="{BB962C8B-B14F-4D97-AF65-F5344CB8AC3E}">
        <p14:creationId xmlns:p14="http://schemas.microsoft.com/office/powerpoint/2010/main" val="2202168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993" y="1021885"/>
            <a:ext cx="2470491" cy="2470491"/>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89101" y="1021885"/>
            <a:ext cx="2468885" cy="2468885"/>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95604" y="1021885"/>
            <a:ext cx="2468885" cy="2468885"/>
          </a:xfrm>
          <a:prstGeom prst="rect">
            <a:avLst/>
          </a:prstGeom>
        </p:spPr>
      </p:pic>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2599" y="3814005"/>
            <a:ext cx="2468885" cy="2468885"/>
          </a:xfrm>
          <a:prstGeom prst="rect">
            <a:avLst/>
          </a:prstGeom>
        </p:spPr>
      </p:pic>
      <p:pic>
        <p:nvPicPr>
          <p:cNvPr id="13" name="Picture 1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89100" y="3814004"/>
            <a:ext cx="2468885" cy="2468885"/>
          </a:xfrm>
          <a:prstGeom prst="rect">
            <a:avLst/>
          </a:prstGeom>
        </p:spPr>
      </p:pic>
      <p:pic>
        <p:nvPicPr>
          <p:cNvPr id="14" name="Picture 1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995601" y="3814004"/>
            <a:ext cx="2468885" cy="2468885"/>
          </a:xfrm>
          <a:prstGeom prst="rect">
            <a:avLst/>
          </a:prstGeom>
        </p:spPr>
      </p:pic>
      <p:sp>
        <p:nvSpPr>
          <p:cNvPr id="3" name="Footer Placeholder 2"/>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5" name="Slide Number Placeholder 4"/>
          <p:cNvSpPr>
            <a:spLocks noGrp="1"/>
          </p:cNvSpPr>
          <p:nvPr>
            <p:ph type="sldNum" sz="quarter" idx="4"/>
          </p:nvPr>
        </p:nvSpPr>
        <p:spPr>
          <a:xfrm>
            <a:off x="10569844" y="6356350"/>
            <a:ext cx="783956" cy="365125"/>
          </a:xfrm>
        </p:spPr>
        <p:txBody>
          <a:bodyPr/>
          <a:lstStyle/>
          <a:p>
            <a:fld id="{683B8651-0143-4140-839E-3D36292080E8}" type="slidenum">
              <a:rPr lang="en-US" smtClean="0"/>
              <a:t>8</a:t>
            </a:fld>
            <a:endParaRPr lang="en-US"/>
          </a:p>
        </p:txBody>
      </p:sp>
      <p:sp>
        <p:nvSpPr>
          <p:cNvPr id="6" name="Oval 5"/>
          <p:cNvSpPr/>
          <p:nvPr/>
        </p:nvSpPr>
        <p:spPr>
          <a:xfrm>
            <a:off x="774192" y="1860017"/>
            <a:ext cx="64008" cy="64008"/>
          </a:xfrm>
          <a:prstGeom prst="ellipse">
            <a:avLst/>
          </a:prstGeom>
          <a:solidFill>
            <a:srgbClr val="FF4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7934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cxnSp>
        <p:nvCxnSpPr>
          <p:cNvPr id="9" name="Straight Connector 8"/>
          <p:cNvCxnSpPr/>
          <p:nvPr/>
        </p:nvCxnSpPr>
        <p:spPr>
          <a:xfrm flipV="1">
            <a:off x="1184969" y="2204304"/>
            <a:ext cx="45720" cy="1874520"/>
          </a:xfrm>
          <a:prstGeom prst="line">
            <a:avLst/>
          </a:prstGeom>
          <a:ln>
            <a:prstDash val="lgDash"/>
          </a:ln>
        </p:spPr>
        <p:style>
          <a:lnRef idx="2">
            <a:schemeClr val="accent6"/>
          </a:lnRef>
          <a:fillRef idx="0">
            <a:schemeClr val="accent6"/>
          </a:fillRef>
          <a:effectRef idx="1">
            <a:schemeClr val="accent6"/>
          </a:effectRef>
          <a:fontRef idx="minor">
            <a:schemeClr val="tx1"/>
          </a:fontRef>
        </p:style>
      </p:cxnSp>
      <p:cxnSp>
        <p:nvCxnSpPr>
          <p:cNvPr id="14" name="Straight Connector 13"/>
          <p:cNvCxnSpPr/>
          <p:nvPr/>
        </p:nvCxnSpPr>
        <p:spPr>
          <a:xfrm flipV="1">
            <a:off x="1184223" y="2356704"/>
            <a:ext cx="198120" cy="1812057"/>
          </a:xfrm>
          <a:prstGeom prst="line">
            <a:avLst/>
          </a:prstGeom>
          <a:ln>
            <a:prstDash val="lgDash"/>
          </a:ln>
        </p:spPr>
        <p:style>
          <a:lnRef idx="2">
            <a:schemeClr val="accent6"/>
          </a:lnRef>
          <a:fillRef idx="0">
            <a:schemeClr val="accent6"/>
          </a:fillRef>
          <a:effectRef idx="1">
            <a:schemeClr val="accent6"/>
          </a:effectRef>
          <a:fontRef idx="minor">
            <a:schemeClr val="tx1"/>
          </a:fontRef>
        </p:style>
      </p:cxnSp>
      <p:cxnSp>
        <p:nvCxnSpPr>
          <p:cNvPr id="16" name="Straight Connector 15"/>
          <p:cNvCxnSpPr>
            <a:stCxn id="7" idx="7"/>
          </p:cNvCxnSpPr>
          <p:nvPr/>
        </p:nvCxnSpPr>
        <p:spPr>
          <a:xfrm flipV="1">
            <a:off x="1217298" y="2509105"/>
            <a:ext cx="317445" cy="1581607"/>
          </a:xfrm>
          <a:prstGeom prst="line">
            <a:avLst/>
          </a:prstGeom>
          <a:ln>
            <a:prstDash val="lgDash"/>
          </a:ln>
        </p:spPr>
        <p:style>
          <a:lnRef idx="2">
            <a:schemeClr val="accent6"/>
          </a:lnRef>
          <a:fillRef idx="0">
            <a:schemeClr val="accent6"/>
          </a:fillRef>
          <a:effectRef idx="1">
            <a:schemeClr val="accent6"/>
          </a:effectRef>
          <a:fontRef idx="minor">
            <a:schemeClr val="tx1"/>
          </a:fontRef>
        </p:style>
      </p:cxnSp>
      <p:cxnSp>
        <p:nvCxnSpPr>
          <p:cNvPr id="18" name="Straight Connector 17"/>
          <p:cNvCxnSpPr/>
          <p:nvPr/>
        </p:nvCxnSpPr>
        <p:spPr>
          <a:xfrm flipV="1">
            <a:off x="1217298" y="3781082"/>
            <a:ext cx="1617342" cy="356000"/>
          </a:xfrm>
          <a:prstGeom prst="line">
            <a:avLst/>
          </a:prstGeom>
          <a:ln>
            <a:prstDash val="lgDash"/>
          </a:ln>
        </p:spPr>
        <p:style>
          <a:lnRef idx="2">
            <a:schemeClr val="accent6"/>
          </a:lnRef>
          <a:fillRef idx="0">
            <a:schemeClr val="accent6"/>
          </a:fillRef>
          <a:effectRef idx="1">
            <a:schemeClr val="accent6"/>
          </a:effectRef>
          <a:fontRef idx="minor">
            <a:schemeClr val="tx1"/>
          </a:fontRef>
        </p:style>
      </p:cxnSp>
      <p:cxnSp>
        <p:nvCxnSpPr>
          <p:cNvPr id="22" name="Straight Connector 21"/>
          <p:cNvCxnSpPr/>
          <p:nvPr/>
        </p:nvCxnSpPr>
        <p:spPr>
          <a:xfrm flipV="1">
            <a:off x="1226442" y="3619701"/>
            <a:ext cx="1391415" cy="517381"/>
          </a:xfrm>
          <a:prstGeom prst="line">
            <a:avLst/>
          </a:prstGeom>
          <a:ln>
            <a:prstDash val="lgDash"/>
          </a:ln>
        </p:spPr>
        <p:style>
          <a:lnRef idx="2">
            <a:schemeClr val="accent6"/>
          </a:lnRef>
          <a:fillRef idx="0">
            <a:schemeClr val="accent6"/>
          </a:fillRef>
          <a:effectRef idx="1">
            <a:schemeClr val="accent6"/>
          </a:effectRef>
          <a:fontRef idx="minor">
            <a:schemeClr val="tx1"/>
          </a:fontRef>
        </p:style>
      </p:cxnSp>
      <p:sp>
        <p:nvSpPr>
          <p:cNvPr id="100" name="Google Shape;100;p14"/>
          <p:cNvSpPr txBox="1"/>
          <p:nvPr/>
        </p:nvSpPr>
        <p:spPr>
          <a:xfrm>
            <a:off x="674557" y="832857"/>
            <a:ext cx="10088381" cy="84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200" dirty="0">
                <a:solidFill>
                  <a:srgbClr val="434343"/>
                </a:solidFill>
              </a:rPr>
              <a:t>Perceptron Learning Algorithm </a:t>
            </a:r>
            <a:r>
              <a:rPr lang="mr-IN" sz="3200" dirty="0">
                <a:solidFill>
                  <a:srgbClr val="434343"/>
                </a:solidFill>
              </a:rPr>
              <a:t>–</a:t>
            </a:r>
            <a:r>
              <a:rPr lang="en-US" sz="3200" dirty="0">
                <a:solidFill>
                  <a:srgbClr val="434343"/>
                </a:solidFill>
              </a:rPr>
              <a:t> Convergence Proof</a:t>
            </a:r>
            <a:endParaRPr sz="3200" dirty="0">
              <a:solidFill>
                <a:srgbClr val="434343"/>
              </a:solidFill>
            </a:endParaRPr>
          </a:p>
        </p:txBody>
      </p:sp>
      <p:sp>
        <p:nvSpPr>
          <p:cNvPr id="33" name="TextBox 32"/>
          <p:cNvSpPr txBox="1"/>
          <p:nvPr/>
        </p:nvSpPr>
        <p:spPr>
          <a:xfrm>
            <a:off x="180868" y="1415979"/>
            <a:ext cx="3599649" cy="353943"/>
          </a:xfrm>
          <a:prstGeom prst="rect">
            <a:avLst/>
          </a:prstGeom>
          <a:noFill/>
        </p:spPr>
        <p:txBody>
          <a:bodyPr wrap="square" rtlCol="0">
            <a:spAutoFit/>
          </a:bodyPr>
          <a:lstStyle/>
          <a:p>
            <a:r>
              <a:rPr lang="en-US" sz="1700" u="sng" dirty="0"/>
              <a:t>Some Important Brush-ups</a:t>
            </a:r>
            <a:r>
              <a:rPr lang="en-US" sz="1700" dirty="0"/>
              <a:t>:-</a:t>
            </a:r>
          </a:p>
        </p:txBody>
      </p:sp>
      <p:sp>
        <p:nvSpPr>
          <p:cNvPr id="2" name="Footer Placeholder 1"/>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6" name="Slide Number Placeholder 5"/>
          <p:cNvSpPr>
            <a:spLocks noGrp="1"/>
          </p:cNvSpPr>
          <p:nvPr>
            <p:ph type="sldNum" sz="quarter" idx="4"/>
          </p:nvPr>
        </p:nvSpPr>
        <p:spPr>
          <a:xfrm>
            <a:off x="10569844" y="6356350"/>
            <a:ext cx="783956" cy="365125"/>
          </a:xfrm>
        </p:spPr>
        <p:txBody>
          <a:bodyPr/>
          <a:lstStyle/>
          <a:p>
            <a:fld id="{683B8651-0143-4140-839E-3D36292080E8}" type="slidenum">
              <a:rPr lang="en-US" smtClean="0"/>
              <a:t>9</a:t>
            </a:fld>
            <a:endParaRPr lang="en-US"/>
          </a:p>
        </p:txBody>
      </p:sp>
      <p:cxnSp>
        <p:nvCxnSpPr>
          <p:cNvPr id="4" name="Straight Connector 3"/>
          <p:cNvCxnSpPr/>
          <p:nvPr/>
        </p:nvCxnSpPr>
        <p:spPr>
          <a:xfrm>
            <a:off x="1184223" y="2158584"/>
            <a:ext cx="2233534" cy="2233534"/>
          </a:xfrm>
          <a:prstGeom prst="line">
            <a:avLst/>
          </a:prstGeom>
          <a:ln w="19050"/>
        </p:spPr>
        <p:style>
          <a:lnRef idx="1">
            <a:schemeClr val="dk1"/>
          </a:lnRef>
          <a:fillRef idx="0">
            <a:schemeClr val="dk1"/>
          </a:fillRef>
          <a:effectRef idx="0">
            <a:schemeClr val="dk1"/>
          </a:effectRef>
          <a:fontRef idx="minor">
            <a:schemeClr val="tx1"/>
          </a:fontRef>
        </p:style>
      </p:cxnSp>
      <p:sp>
        <p:nvSpPr>
          <p:cNvPr id="7" name="Oval 6"/>
          <p:cNvSpPr/>
          <p:nvPr/>
        </p:nvSpPr>
        <p:spPr>
          <a:xfrm>
            <a:off x="1139249" y="4077321"/>
            <a:ext cx="91440" cy="914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Oval 24"/>
          <p:cNvSpPr/>
          <p:nvPr/>
        </p:nvSpPr>
        <p:spPr>
          <a:xfrm>
            <a:off x="1693985" y="3169017"/>
            <a:ext cx="54864" cy="54864"/>
          </a:xfrm>
          <a:prstGeom prst="ellipse">
            <a:avLst/>
          </a:prstGeom>
          <a:solidFill>
            <a:schemeClr val="accent6">
              <a:lumMod val="60000"/>
              <a:lumOff val="40000"/>
            </a:schemeClr>
          </a:solidFill>
          <a:ln>
            <a:solidFill>
              <a:schemeClr val="accent6">
                <a:lumMod val="60000"/>
                <a:lumOff val="4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Oval 25"/>
          <p:cNvSpPr/>
          <p:nvPr/>
        </p:nvSpPr>
        <p:spPr>
          <a:xfrm>
            <a:off x="1846385" y="3321417"/>
            <a:ext cx="54864" cy="54864"/>
          </a:xfrm>
          <a:prstGeom prst="ellipse">
            <a:avLst/>
          </a:prstGeom>
          <a:solidFill>
            <a:schemeClr val="accent6">
              <a:lumMod val="60000"/>
              <a:lumOff val="40000"/>
            </a:schemeClr>
          </a:solidFill>
          <a:ln>
            <a:solidFill>
              <a:schemeClr val="accent6">
                <a:lumMod val="60000"/>
                <a:lumOff val="4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Oval 26"/>
          <p:cNvSpPr/>
          <p:nvPr/>
        </p:nvSpPr>
        <p:spPr>
          <a:xfrm>
            <a:off x="1998785" y="3473817"/>
            <a:ext cx="54864" cy="54864"/>
          </a:xfrm>
          <a:prstGeom prst="ellipse">
            <a:avLst/>
          </a:prstGeom>
          <a:solidFill>
            <a:schemeClr val="accent6">
              <a:lumMod val="60000"/>
              <a:lumOff val="40000"/>
            </a:schemeClr>
          </a:solidFill>
          <a:ln>
            <a:solidFill>
              <a:schemeClr val="accent6">
                <a:lumMod val="60000"/>
                <a:lumOff val="4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Rectangle 22"/>
              <p:cNvSpPr/>
              <p:nvPr/>
            </p:nvSpPr>
            <p:spPr>
              <a:xfrm>
                <a:off x="812200" y="2304802"/>
                <a:ext cx="473206" cy="2846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200" i="1" smtClean="0">
                              <a:solidFill>
                                <a:prstClr val="black"/>
                              </a:solidFill>
                              <a:latin typeface="Cambria Math" panose="02040503050406030204" pitchFamily="18" charset="0"/>
                            </a:rPr>
                          </m:ctrlPr>
                        </m:sSupPr>
                        <m:e>
                          <m:r>
                            <a:rPr lang="en-US" sz="1200" b="1" i="1">
                              <a:solidFill>
                                <a:prstClr val="black"/>
                              </a:solidFill>
                              <a:latin typeface="Cambria Math" charset="0"/>
                            </a:rPr>
                            <m:t>𝒙</m:t>
                          </m:r>
                        </m:e>
                        <m:sup>
                          <m:r>
                            <a:rPr lang="en-US" sz="1200" i="1">
                              <a:solidFill>
                                <a:prstClr val="black"/>
                              </a:solidFill>
                              <a:latin typeface="Cambria Math" charset="0"/>
                            </a:rPr>
                            <m:t>(</m:t>
                          </m:r>
                          <m:r>
                            <a:rPr lang="en-US" sz="1200" b="0" i="1" smtClean="0">
                              <a:solidFill>
                                <a:prstClr val="black"/>
                              </a:solidFill>
                              <a:latin typeface="Cambria Math" charset="0"/>
                            </a:rPr>
                            <m:t>1</m:t>
                          </m:r>
                          <m:r>
                            <a:rPr lang="en-US" sz="1200" i="1">
                              <a:solidFill>
                                <a:prstClr val="black"/>
                              </a:solidFill>
                              <a:latin typeface="Cambria Math" charset="0"/>
                            </a:rPr>
                            <m:t>)</m:t>
                          </m:r>
                        </m:sup>
                      </m:sSup>
                    </m:oMath>
                  </m:oMathPara>
                </a14:m>
                <a:endParaRPr lang="en-US" sz="1200" dirty="0"/>
              </a:p>
            </p:txBody>
          </p:sp>
        </mc:Choice>
        <mc:Fallback xmlns="">
          <p:sp>
            <p:nvSpPr>
              <p:cNvPr id="23" name="Rectangle 22"/>
              <p:cNvSpPr>
                <a:spLocks noRot="1" noChangeAspect="1" noMove="1" noResize="1" noEditPoints="1" noAdjustHandles="1" noChangeArrowheads="1" noChangeShapeType="1" noTextEdit="1"/>
              </p:cNvSpPr>
              <p:nvPr/>
            </p:nvSpPr>
            <p:spPr>
              <a:xfrm>
                <a:off x="812200" y="2304802"/>
                <a:ext cx="473206" cy="28469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1061537" y="2466890"/>
                <a:ext cx="473206" cy="2846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200" i="1" smtClean="0">
                              <a:solidFill>
                                <a:prstClr val="black"/>
                              </a:solidFill>
                              <a:latin typeface="Cambria Math" panose="02040503050406030204" pitchFamily="18" charset="0"/>
                            </a:rPr>
                          </m:ctrlPr>
                        </m:sSupPr>
                        <m:e>
                          <m:r>
                            <a:rPr lang="en-US" sz="1200" b="1" i="1">
                              <a:solidFill>
                                <a:prstClr val="black"/>
                              </a:solidFill>
                              <a:latin typeface="Cambria Math" charset="0"/>
                            </a:rPr>
                            <m:t>𝒙</m:t>
                          </m:r>
                        </m:e>
                        <m:sup>
                          <m:r>
                            <a:rPr lang="en-US" sz="1200" i="1">
                              <a:solidFill>
                                <a:prstClr val="black"/>
                              </a:solidFill>
                              <a:latin typeface="Cambria Math" charset="0"/>
                            </a:rPr>
                            <m:t>(</m:t>
                          </m:r>
                          <m:r>
                            <a:rPr lang="en-US" sz="1200" b="0" i="1" smtClean="0">
                              <a:solidFill>
                                <a:prstClr val="black"/>
                              </a:solidFill>
                              <a:latin typeface="Cambria Math" charset="0"/>
                            </a:rPr>
                            <m:t>2</m:t>
                          </m:r>
                          <m:r>
                            <a:rPr lang="en-US" sz="1200" i="1">
                              <a:solidFill>
                                <a:prstClr val="black"/>
                              </a:solidFill>
                              <a:latin typeface="Cambria Math" charset="0"/>
                            </a:rPr>
                            <m:t>)</m:t>
                          </m:r>
                        </m:sup>
                      </m:sSup>
                    </m:oMath>
                  </m:oMathPara>
                </a14:m>
                <a:endParaRPr lang="en-US" sz="1200" dirty="0"/>
              </a:p>
            </p:txBody>
          </p:sp>
        </mc:Choice>
        <mc:Fallback xmlns="">
          <p:sp>
            <p:nvSpPr>
              <p:cNvPr id="29" name="Rectangle 28"/>
              <p:cNvSpPr>
                <a:spLocks noRot="1" noChangeAspect="1" noMove="1" noResize="1" noEditPoints="1" noAdjustHandles="1" noChangeArrowheads="1" noChangeShapeType="1" noTextEdit="1"/>
              </p:cNvSpPr>
              <p:nvPr/>
            </p:nvSpPr>
            <p:spPr>
              <a:xfrm>
                <a:off x="1061537" y="2466890"/>
                <a:ext cx="473206" cy="284693"/>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1226442" y="2620182"/>
                <a:ext cx="473206" cy="2846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200" i="1" smtClean="0">
                              <a:solidFill>
                                <a:prstClr val="black"/>
                              </a:solidFill>
                              <a:latin typeface="Cambria Math" panose="02040503050406030204" pitchFamily="18" charset="0"/>
                            </a:rPr>
                          </m:ctrlPr>
                        </m:sSupPr>
                        <m:e>
                          <m:r>
                            <a:rPr lang="en-US" sz="1200" b="1" i="1">
                              <a:solidFill>
                                <a:prstClr val="black"/>
                              </a:solidFill>
                              <a:latin typeface="Cambria Math" charset="0"/>
                            </a:rPr>
                            <m:t>𝒙</m:t>
                          </m:r>
                        </m:e>
                        <m:sup>
                          <m:r>
                            <a:rPr lang="en-US" sz="1200" i="1">
                              <a:solidFill>
                                <a:prstClr val="black"/>
                              </a:solidFill>
                              <a:latin typeface="Cambria Math" charset="0"/>
                            </a:rPr>
                            <m:t>(</m:t>
                          </m:r>
                          <m:r>
                            <a:rPr lang="en-US" sz="1200" b="0" i="1" smtClean="0">
                              <a:solidFill>
                                <a:prstClr val="black"/>
                              </a:solidFill>
                              <a:latin typeface="Cambria Math" charset="0"/>
                            </a:rPr>
                            <m:t>3</m:t>
                          </m:r>
                          <m:r>
                            <a:rPr lang="en-US" sz="1200" i="1">
                              <a:solidFill>
                                <a:prstClr val="black"/>
                              </a:solidFill>
                              <a:latin typeface="Cambria Math" charset="0"/>
                            </a:rPr>
                            <m:t>)</m:t>
                          </m:r>
                        </m:sup>
                      </m:sSup>
                    </m:oMath>
                  </m:oMathPara>
                </a14:m>
                <a:endParaRPr lang="en-US" sz="1200" dirty="0"/>
              </a:p>
            </p:txBody>
          </p:sp>
        </mc:Choice>
        <mc:Fallback xmlns="">
          <p:sp>
            <p:nvSpPr>
              <p:cNvPr id="30" name="Rectangle 29"/>
              <p:cNvSpPr>
                <a:spLocks noRot="1" noChangeAspect="1" noMove="1" noResize="1" noEditPoints="1" noAdjustHandles="1" noChangeArrowheads="1" noChangeShapeType="1" noTextEdit="1"/>
              </p:cNvSpPr>
              <p:nvPr/>
            </p:nvSpPr>
            <p:spPr>
              <a:xfrm>
                <a:off x="1226442" y="2620182"/>
                <a:ext cx="473206" cy="284693"/>
              </a:xfrm>
              <a:prstGeom prst="rect">
                <a:avLst/>
              </a:prstGeom>
              <a:blipFill rotWithShape="0">
                <a:blip r:embed="rId5"/>
                <a:stretch>
                  <a:fillRect/>
                </a:stretch>
              </a:blipFill>
            </p:spPr>
            <p:txBody>
              <a:bodyPr/>
              <a:lstStyle/>
              <a:p>
                <a:r>
                  <a:rPr lang="en-US">
                    <a:noFill/>
                  </a:rPr>
                  <a:t> </a:t>
                </a:r>
              </a:p>
            </p:txBody>
          </p:sp>
        </mc:Fallback>
      </mc:AlternateContent>
      <p:cxnSp>
        <p:nvCxnSpPr>
          <p:cNvPr id="28" name="Straight Connector 27"/>
          <p:cNvCxnSpPr/>
          <p:nvPr/>
        </p:nvCxnSpPr>
        <p:spPr>
          <a:xfrm flipV="1">
            <a:off x="2216139" y="2806501"/>
            <a:ext cx="381994" cy="371708"/>
          </a:xfrm>
          <a:prstGeom prst="line">
            <a:avLst/>
          </a:prstGeom>
          <a:ln w="12700">
            <a:tailEnd type="stealth" w="lg" len="lg"/>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2" name="TextBox 31"/>
              <p:cNvSpPr txBox="1"/>
              <p:nvPr/>
            </p:nvSpPr>
            <p:spPr>
              <a:xfrm>
                <a:off x="972626" y="4214331"/>
                <a:ext cx="42319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charset="0"/>
                        </a:rPr>
                        <m:t>(0,0)</m:t>
                      </m:r>
                    </m:oMath>
                  </m:oMathPara>
                </a14:m>
                <a:endParaRPr lang="en-US" sz="1400" dirty="0"/>
              </a:p>
            </p:txBody>
          </p:sp>
        </mc:Choice>
        <mc:Fallback xmlns="">
          <p:sp>
            <p:nvSpPr>
              <p:cNvPr id="32" name="TextBox 31"/>
              <p:cNvSpPr txBox="1">
                <a:spLocks noRot="1" noChangeAspect="1" noMove="1" noResize="1" noEditPoints="1" noAdjustHandles="1" noChangeArrowheads="1" noChangeShapeType="1" noTextEdit="1"/>
              </p:cNvSpPr>
              <p:nvPr/>
            </p:nvSpPr>
            <p:spPr>
              <a:xfrm>
                <a:off x="972626" y="4214331"/>
                <a:ext cx="423193" cy="215444"/>
              </a:xfrm>
              <a:prstGeom prst="rect">
                <a:avLst/>
              </a:prstGeom>
              <a:blipFill rotWithShape="0">
                <a:blip r:embed="rId6"/>
                <a:stretch>
                  <a:fillRect l="-14493" r="-15942"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2472227" y="2554335"/>
                <a:ext cx="341760"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b="1" i="1" smtClean="0">
                          <a:solidFill>
                            <a:prstClr val="black"/>
                          </a:solidFill>
                          <a:latin typeface="Cambria Math" charset="0"/>
                        </a:rPr>
                        <m:t>𝒘</m:t>
                      </m:r>
                    </m:oMath>
                  </m:oMathPara>
                </a14:m>
                <a:endParaRPr lang="en-US" sz="1200" b="1" dirty="0"/>
              </a:p>
            </p:txBody>
          </p:sp>
        </mc:Choice>
        <mc:Fallback xmlns="">
          <p:sp>
            <p:nvSpPr>
              <p:cNvPr id="35" name="Rectangle 34"/>
              <p:cNvSpPr>
                <a:spLocks noRot="1" noChangeAspect="1" noMove="1" noResize="1" noEditPoints="1" noAdjustHandles="1" noChangeArrowheads="1" noChangeShapeType="1" noTextEdit="1"/>
              </p:cNvSpPr>
              <p:nvPr/>
            </p:nvSpPr>
            <p:spPr>
              <a:xfrm>
                <a:off x="2472227" y="2554335"/>
                <a:ext cx="341760" cy="276999"/>
              </a:xfrm>
              <a:prstGeom prst="rect">
                <a:avLst/>
              </a:prstGeom>
              <a:blipFill rotWithShape="0">
                <a:blip r:embed="rId7"/>
                <a:stretch>
                  <a:fillRect/>
                </a:stretch>
              </a:blipFill>
            </p:spPr>
            <p:txBody>
              <a:bodyPr/>
              <a:lstStyle/>
              <a:p>
                <a:r>
                  <a:rPr lang="en-US">
                    <a:noFill/>
                  </a:rPr>
                  <a:t> </a:t>
                </a:r>
              </a:p>
            </p:txBody>
          </p:sp>
        </mc:Fallback>
      </mc:AlternateContent>
      <p:cxnSp>
        <p:nvCxnSpPr>
          <p:cNvPr id="36" name="Straight Connector 35"/>
          <p:cNvCxnSpPr/>
          <p:nvPr/>
        </p:nvCxnSpPr>
        <p:spPr>
          <a:xfrm flipV="1">
            <a:off x="1217298" y="3173061"/>
            <a:ext cx="999668" cy="935939"/>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8" name="Left Brace 37"/>
          <p:cNvSpPr/>
          <p:nvPr/>
        </p:nvSpPr>
        <p:spPr>
          <a:xfrm rot="2842594">
            <a:off x="1456879" y="2849609"/>
            <a:ext cx="253205" cy="1369621"/>
          </a:xfrm>
          <a:prstGeom prst="leftBrace">
            <a:avLst>
              <a:gd name="adj1" fmla="val 8333"/>
              <a:gd name="adj2" fmla="val 50662"/>
            </a:avLst>
          </a:prstGeom>
          <a:ln>
            <a:solidFill>
              <a:srgbClr val="FF0000"/>
            </a:solidFill>
          </a:ln>
          <a:scene3d>
            <a:camera prst="orthographicFront">
              <a:rot lat="0" lon="0" rev="0"/>
            </a:camera>
            <a:lightRig rig="threePt" dir="t"/>
          </a:scene3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9" name="TextBox 38"/>
              <p:cNvSpPr txBox="1"/>
              <p:nvPr/>
            </p:nvSpPr>
            <p:spPr>
              <a:xfrm>
                <a:off x="2956124" y="4429775"/>
                <a:ext cx="81817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600" b="1" i="1" smtClean="0">
                              <a:latin typeface="Cambria Math" panose="02040503050406030204" pitchFamily="18" charset="0"/>
                            </a:rPr>
                          </m:ctrlPr>
                        </m:sSupPr>
                        <m:e>
                          <m:r>
                            <a:rPr lang="en-US" sz="1600" b="1" i="1" smtClean="0">
                              <a:latin typeface="Cambria Math" charset="0"/>
                            </a:rPr>
                            <m:t>𝒘</m:t>
                          </m:r>
                        </m:e>
                        <m:sup>
                          <m:r>
                            <a:rPr lang="en-US" sz="1600" b="0" i="1" smtClean="0">
                              <a:latin typeface="Cambria Math" charset="0"/>
                            </a:rPr>
                            <m:t>𝑇</m:t>
                          </m:r>
                        </m:sup>
                      </m:sSup>
                      <m:r>
                        <a:rPr lang="en-US" sz="1600" b="1" i="1" smtClean="0">
                          <a:latin typeface="Cambria Math" charset="0"/>
                        </a:rPr>
                        <m:t>𝒙</m:t>
                      </m:r>
                      <m:r>
                        <a:rPr lang="en-US" sz="1600" b="1" i="1" smtClean="0">
                          <a:latin typeface="Cambria Math" charset="0"/>
                        </a:rPr>
                        <m:t>=</m:t>
                      </m:r>
                      <m:r>
                        <a:rPr lang="en-US" sz="1600" b="0" i="1" smtClean="0">
                          <a:latin typeface="Cambria Math" charset="0"/>
                        </a:rPr>
                        <m:t>𝑎</m:t>
                      </m:r>
                    </m:oMath>
                  </m:oMathPara>
                </a14:m>
                <a:endParaRPr lang="en-US" sz="1600" dirty="0"/>
              </a:p>
            </p:txBody>
          </p:sp>
        </mc:Choice>
        <mc:Fallback xmlns="">
          <p:sp>
            <p:nvSpPr>
              <p:cNvPr id="39" name="TextBox 38"/>
              <p:cNvSpPr txBox="1">
                <a:spLocks noRot="1" noChangeAspect="1" noMove="1" noResize="1" noEditPoints="1" noAdjustHandles="1" noChangeArrowheads="1" noChangeShapeType="1" noTextEdit="1"/>
              </p:cNvSpPr>
              <p:nvPr/>
            </p:nvSpPr>
            <p:spPr>
              <a:xfrm>
                <a:off x="2956124" y="4429775"/>
                <a:ext cx="818173" cy="246221"/>
              </a:xfrm>
              <a:prstGeom prst="rect">
                <a:avLst/>
              </a:prstGeom>
              <a:blipFill rotWithShape="0">
                <a:blip r:embed="rId8"/>
                <a:stretch>
                  <a:fillRect l="-3731" t="-2500" r="-1493" b="-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1304884" y="3202905"/>
                <a:ext cx="340029" cy="323165"/>
              </a:xfrm>
              <a:prstGeom prst="rect">
                <a:avLst/>
              </a:prstGeom>
            </p:spPr>
            <p:txBody>
              <a:bodyPr wrap="none">
                <a:spAutoFit/>
              </a:bodyPr>
              <a:lstStyle/>
              <a:p>
                <a:pPr lvl="0"/>
                <a14:m>
                  <m:oMathPara xmlns:m="http://schemas.openxmlformats.org/officeDocument/2006/math">
                    <m:oMathParaPr>
                      <m:jc m:val="centerGroup"/>
                    </m:oMathParaPr>
                    <m:oMath xmlns:m="http://schemas.openxmlformats.org/officeDocument/2006/math">
                      <m:r>
                        <a:rPr lang="en-US" sz="1500" b="0" i="1" smtClean="0">
                          <a:solidFill>
                            <a:prstClr val="black"/>
                          </a:solidFill>
                          <a:latin typeface="Cambria Math" charset="0"/>
                        </a:rPr>
                        <m:t>𝑎</m:t>
                      </m:r>
                    </m:oMath>
                  </m:oMathPara>
                </a14:m>
                <a:endParaRPr lang="en-US" sz="1500" dirty="0">
                  <a:solidFill>
                    <a:prstClr val="black"/>
                  </a:solidFill>
                </a:endParaRPr>
              </a:p>
            </p:txBody>
          </p:sp>
        </mc:Choice>
        <mc:Fallback xmlns="">
          <p:sp>
            <p:nvSpPr>
              <p:cNvPr id="40" name="Rectangle 39"/>
              <p:cNvSpPr>
                <a:spLocks noRot="1" noChangeAspect="1" noMove="1" noResize="1" noEditPoints="1" noAdjustHandles="1" noChangeArrowheads="1" noChangeShapeType="1" noTextEdit="1"/>
              </p:cNvSpPr>
              <p:nvPr/>
            </p:nvSpPr>
            <p:spPr>
              <a:xfrm>
                <a:off x="1304884" y="3202905"/>
                <a:ext cx="340029" cy="323165"/>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219757" y="4949077"/>
                <a:ext cx="4047346" cy="1138773"/>
              </a:xfrm>
              <a:prstGeom prst="rect">
                <a:avLst/>
              </a:prstGeom>
              <a:noFill/>
            </p:spPr>
            <p:txBody>
              <a:bodyPr wrap="square" rtlCol="0">
                <a:spAutoFit/>
              </a:bodyPr>
              <a:lstStyle/>
              <a:p>
                <a:r>
                  <a:rPr lang="en-US" sz="1700" dirty="0"/>
                  <a:t>For a hyperplane </a:t>
                </a:r>
                <a14:m>
                  <m:oMath xmlns:m="http://schemas.openxmlformats.org/officeDocument/2006/math">
                    <m:sSup>
                      <m:sSupPr>
                        <m:ctrlPr>
                          <a:rPr lang="en-US" sz="1700" b="0" i="1" smtClean="0">
                            <a:latin typeface="Cambria Math" panose="02040503050406030204" pitchFamily="18" charset="0"/>
                          </a:rPr>
                        </m:ctrlPr>
                      </m:sSupPr>
                      <m:e>
                        <m:r>
                          <a:rPr lang="en-US" sz="1700" b="1" i="1" smtClean="0">
                            <a:latin typeface="Cambria Math" charset="0"/>
                          </a:rPr>
                          <m:t>𝒘</m:t>
                        </m:r>
                      </m:e>
                      <m:sup>
                        <m:r>
                          <a:rPr lang="en-US" sz="1700" b="0" i="1" smtClean="0">
                            <a:latin typeface="Cambria Math" charset="0"/>
                          </a:rPr>
                          <m:t>𝑇</m:t>
                        </m:r>
                      </m:sup>
                    </m:sSup>
                    <m:r>
                      <a:rPr lang="en-US" sz="1700" b="1" i="1" smtClean="0">
                        <a:latin typeface="Cambria Math" charset="0"/>
                      </a:rPr>
                      <m:t>𝒙</m:t>
                    </m:r>
                    <m:r>
                      <a:rPr lang="en-US" sz="1700" b="0" i="1" smtClean="0">
                        <a:latin typeface="Cambria Math" charset="0"/>
                      </a:rPr>
                      <m:t>=</m:t>
                    </m:r>
                    <m:r>
                      <a:rPr lang="en-US" sz="1700" b="0" i="1" smtClean="0">
                        <a:latin typeface="Cambria Math" charset="0"/>
                      </a:rPr>
                      <m:t>𝑎</m:t>
                    </m:r>
                  </m:oMath>
                </a14:m>
                <a:r>
                  <a:rPr lang="en-US" sz="1700" dirty="0"/>
                  <a:t>, </a:t>
                </a:r>
                <a14:m>
                  <m:oMath xmlns:m="http://schemas.openxmlformats.org/officeDocument/2006/math">
                    <m:r>
                      <a:rPr lang="en-US" sz="1700" b="1" i="1">
                        <a:latin typeface="Cambria Math" charset="0"/>
                      </a:rPr>
                      <m:t>𝒘</m:t>
                    </m:r>
                  </m:oMath>
                </a14:m>
                <a:r>
                  <a:rPr lang="en-US" sz="1700" dirty="0"/>
                  <a:t> is the normal vector (often assumed to be unit normal vector) to the hyperplane and </a:t>
                </a:r>
                <a14:m>
                  <m:oMath xmlns:m="http://schemas.openxmlformats.org/officeDocument/2006/math">
                    <m:r>
                      <a:rPr lang="en-US" sz="1700" b="0" i="1" smtClean="0">
                        <a:latin typeface="Cambria Math" charset="0"/>
                      </a:rPr>
                      <m:t>𝑎</m:t>
                    </m:r>
                  </m:oMath>
                </a14:m>
                <a:r>
                  <a:rPr lang="en-US" sz="1700" dirty="0"/>
                  <a:t> is the distance from the origin.</a:t>
                </a:r>
              </a:p>
            </p:txBody>
          </p:sp>
        </mc:Choice>
        <mc:Fallback xmlns="">
          <p:sp>
            <p:nvSpPr>
              <p:cNvPr id="42" name="TextBox 41"/>
              <p:cNvSpPr txBox="1">
                <a:spLocks noRot="1" noChangeAspect="1" noMove="1" noResize="1" noEditPoints="1" noAdjustHandles="1" noChangeArrowheads="1" noChangeShapeType="1" noTextEdit="1"/>
              </p:cNvSpPr>
              <p:nvPr/>
            </p:nvSpPr>
            <p:spPr>
              <a:xfrm>
                <a:off x="219757" y="4949077"/>
                <a:ext cx="4047346" cy="1138773"/>
              </a:xfrm>
              <a:prstGeom prst="rect">
                <a:avLst/>
              </a:prstGeom>
              <a:blipFill rotWithShape="0">
                <a:blip r:embed="rId10"/>
                <a:stretch>
                  <a:fillRect l="-904" t="-2139" r="-904" b="-6417"/>
                </a:stretch>
              </a:blipFill>
            </p:spPr>
            <p:txBody>
              <a:bodyPr/>
              <a:lstStyle/>
              <a:p>
                <a:r>
                  <a:rPr lang="en-US">
                    <a:noFill/>
                  </a:rPr>
                  <a:t> </a:t>
                </a:r>
              </a:p>
            </p:txBody>
          </p:sp>
        </mc:Fallback>
      </mc:AlternateContent>
      <p:grpSp>
        <p:nvGrpSpPr>
          <p:cNvPr id="102" name="Group 101"/>
          <p:cNvGrpSpPr/>
          <p:nvPr/>
        </p:nvGrpSpPr>
        <p:grpSpPr>
          <a:xfrm>
            <a:off x="5302677" y="2034714"/>
            <a:ext cx="2962097" cy="2517412"/>
            <a:chOff x="5302677" y="2034714"/>
            <a:chExt cx="2962097" cy="2517412"/>
          </a:xfrm>
        </p:grpSpPr>
        <p:cxnSp>
          <p:nvCxnSpPr>
            <p:cNvPr id="43" name="Straight Connector 42"/>
            <p:cNvCxnSpPr/>
            <p:nvPr/>
          </p:nvCxnSpPr>
          <p:spPr>
            <a:xfrm flipV="1">
              <a:off x="5675446" y="2080434"/>
              <a:ext cx="45720" cy="1874520"/>
            </a:xfrm>
            <a:prstGeom prst="line">
              <a:avLst/>
            </a:prstGeom>
            <a:ln>
              <a:prstDash val="lgDash"/>
            </a:ln>
          </p:spPr>
          <p:style>
            <a:lnRef idx="2">
              <a:schemeClr val="accent6"/>
            </a:lnRef>
            <a:fillRef idx="0">
              <a:schemeClr val="accent6"/>
            </a:fillRef>
            <a:effectRef idx="1">
              <a:schemeClr val="accent6"/>
            </a:effectRef>
            <a:fontRef idx="minor">
              <a:schemeClr val="tx1"/>
            </a:fontRef>
          </p:style>
        </p:cxnSp>
        <p:cxnSp>
          <p:nvCxnSpPr>
            <p:cNvPr id="44" name="Straight Connector 43"/>
            <p:cNvCxnSpPr/>
            <p:nvPr/>
          </p:nvCxnSpPr>
          <p:spPr>
            <a:xfrm flipV="1">
              <a:off x="5674700" y="2232834"/>
              <a:ext cx="198120" cy="1812057"/>
            </a:xfrm>
            <a:prstGeom prst="line">
              <a:avLst/>
            </a:prstGeom>
            <a:ln>
              <a:prstDash val="lgDash"/>
            </a:ln>
          </p:spPr>
          <p:style>
            <a:lnRef idx="2">
              <a:schemeClr val="accent6"/>
            </a:lnRef>
            <a:fillRef idx="0">
              <a:schemeClr val="accent6"/>
            </a:fillRef>
            <a:effectRef idx="1">
              <a:schemeClr val="accent6"/>
            </a:effectRef>
            <a:fontRef idx="minor">
              <a:schemeClr val="tx1"/>
            </a:fontRef>
          </p:style>
        </p:cxnSp>
        <p:cxnSp>
          <p:nvCxnSpPr>
            <p:cNvPr id="45" name="Straight Connector 44"/>
            <p:cNvCxnSpPr>
              <a:stCxn id="48" idx="7"/>
            </p:cNvCxnSpPr>
            <p:nvPr/>
          </p:nvCxnSpPr>
          <p:spPr>
            <a:xfrm flipV="1">
              <a:off x="5707775" y="2385235"/>
              <a:ext cx="317445" cy="1581607"/>
            </a:xfrm>
            <a:prstGeom prst="line">
              <a:avLst/>
            </a:prstGeom>
            <a:ln>
              <a:prstDash val="lgDash"/>
            </a:ln>
          </p:spPr>
          <p:style>
            <a:lnRef idx="2">
              <a:schemeClr val="accent6"/>
            </a:lnRef>
            <a:fillRef idx="0">
              <a:schemeClr val="accent6"/>
            </a:fillRef>
            <a:effectRef idx="1">
              <a:schemeClr val="accent6"/>
            </a:effectRef>
            <a:fontRef idx="minor">
              <a:schemeClr val="tx1"/>
            </a:fontRef>
          </p:style>
        </p:cxnSp>
        <p:cxnSp>
          <p:nvCxnSpPr>
            <p:cNvPr id="46" name="Straight Connector 45"/>
            <p:cNvCxnSpPr/>
            <p:nvPr/>
          </p:nvCxnSpPr>
          <p:spPr>
            <a:xfrm flipV="1">
              <a:off x="5707775" y="3657212"/>
              <a:ext cx="1617342" cy="356000"/>
            </a:xfrm>
            <a:prstGeom prst="line">
              <a:avLst/>
            </a:prstGeom>
            <a:ln>
              <a:prstDash val="lgDash"/>
            </a:ln>
          </p:spPr>
          <p:style>
            <a:lnRef idx="2">
              <a:schemeClr val="accent6"/>
            </a:lnRef>
            <a:fillRef idx="0">
              <a:schemeClr val="accent6"/>
            </a:fillRef>
            <a:effectRef idx="1">
              <a:schemeClr val="accent6"/>
            </a:effectRef>
            <a:fontRef idx="minor">
              <a:schemeClr val="tx1"/>
            </a:fontRef>
          </p:style>
        </p:cxnSp>
        <p:cxnSp>
          <p:nvCxnSpPr>
            <p:cNvPr id="47" name="Straight Connector 46"/>
            <p:cNvCxnSpPr/>
            <p:nvPr/>
          </p:nvCxnSpPr>
          <p:spPr>
            <a:xfrm flipV="1">
              <a:off x="5716918" y="3402200"/>
              <a:ext cx="1608199" cy="611014"/>
            </a:xfrm>
            <a:prstGeom prst="line">
              <a:avLst/>
            </a:prstGeom>
            <a:ln>
              <a:solidFill>
                <a:srgbClr val="FF0000"/>
              </a:solidFill>
              <a:prstDash val="lgDash"/>
            </a:ln>
          </p:spPr>
          <p:style>
            <a:lnRef idx="2">
              <a:schemeClr val="accent6"/>
            </a:lnRef>
            <a:fillRef idx="0">
              <a:schemeClr val="accent6"/>
            </a:fillRef>
            <a:effectRef idx="1">
              <a:schemeClr val="accent6"/>
            </a:effectRef>
            <a:fontRef idx="minor">
              <a:schemeClr val="tx1"/>
            </a:fontRef>
          </p:style>
        </p:cxnSp>
        <p:cxnSp>
          <p:nvCxnSpPr>
            <p:cNvPr id="48" name="Straight Connector 47"/>
            <p:cNvCxnSpPr/>
            <p:nvPr/>
          </p:nvCxnSpPr>
          <p:spPr>
            <a:xfrm>
              <a:off x="5674700" y="2034714"/>
              <a:ext cx="2233534" cy="2233534"/>
            </a:xfrm>
            <a:prstGeom prst="line">
              <a:avLst/>
            </a:prstGeom>
            <a:ln w="19050"/>
          </p:spPr>
          <p:style>
            <a:lnRef idx="1">
              <a:schemeClr val="dk1"/>
            </a:lnRef>
            <a:fillRef idx="0">
              <a:schemeClr val="dk1"/>
            </a:fillRef>
            <a:effectRef idx="0">
              <a:schemeClr val="dk1"/>
            </a:effectRef>
            <a:fontRef idx="minor">
              <a:schemeClr val="tx1"/>
            </a:fontRef>
          </p:style>
        </p:cxnSp>
        <p:sp>
          <p:nvSpPr>
            <p:cNvPr id="49" name="Oval 48"/>
            <p:cNvSpPr/>
            <p:nvPr/>
          </p:nvSpPr>
          <p:spPr>
            <a:xfrm>
              <a:off x="5629726" y="3953451"/>
              <a:ext cx="91440" cy="914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0" name="Oval 49"/>
            <p:cNvSpPr/>
            <p:nvPr/>
          </p:nvSpPr>
          <p:spPr>
            <a:xfrm>
              <a:off x="6184462" y="3045147"/>
              <a:ext cx="54864" cy="54864"/>
            </a:xfrm>
            <a:prstGeom prst="ellipse">
              <a:avLst/>
            </a:prstGeom>
            <a:solidFill>
              <a:schemeClr val="accent6">
                <a:lumMod val="60000"/>
                <a:lumOff val="40000"/>
              </a:schemeClr>
            </a:solidFill>
            <a:ln>
              <a:solidFill>
                <a:schemeClr val="accent6">
                  <a:lumMod val="60000"/>
                  <a:lumOff val="4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1" name="Oval 50"/>
            <p:cNvSpPr/>
            <p:nvPr/>
          </p:nvSpPr>
          <p:spPr>
            <a:xfrm>
              <a:off x="6336862" y="3197547"/>
              <a:ext cx="54864" cy="54864"/>
            </a:xfrm>
            <a:prstGeom prst="ellipse">
              <a:avLst/>
            </a:prstGeom>
            <a:solidFill>
              <a:schemeClr val="accent6">
                <a:lumMod val="60000"/>
                <a:lumOff val="40000"/>
              </a:schemeClr>
            </a:solidFill>
            <a:ln>
              <a:solidFill>
                <a:schemeClr val="accent6">
                  <a:lumMod val="60000"/>
                  <a:lumOff val="4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2" name="Oval 51"/>
            <p:cNvSpPr/>
            <p:nvPr/>
          </p:nvSpPr>
          <p:spPr>
            <a:xfrm>
              <a:off x="6489262" y="3349947"/>
              <a:ext cx="54864" cy="54864"/>
            </a:xfrm>
            <a:prstGeom prst="ellipse">
              <a:avLst/>
            </a:prstGeom>
            <a:solidFill>
              <a:schemeClr val="accent6">
                <a:lumMod val="60000"/>
                <a:lumOff val="40000"/>
              </a:schemeClr>
            </a:solidFill>
            <a:ln>
              <a:solidFill>
                <a:schemeClr val="accent6">
                  <a:lumMod val="60000"/>
                  <a:lumOff val="4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3" name="Rectangle 52"/>
                <p:cNvSpPr/>
                <p:nvPr/>
              </p:nvSpPr>
              <p:spPr>
                <a:xfrm>
                  <a:off x="5302677" y="2180932"/>
                  <a:ext cx="473206" cy="2846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200" i="1" smtClean="0">
                                <a:solidFill>
                                  <a:prstClr val="black"/>
                                </a:solidFill>
                                <a:latin typeface="Cambria Math" panose="02040503050406030204" pitchFamily="18" charset="0"/>
                              </a:rPr>
                            </m:ctrlPr>
                          </m:sSupPr>
                          <m:e>
                            <m:r>
                              <a:rPr lang="en-US" sz="1200" b="1" i="1">
                                <a:solidFill>
                                  <a:prstClr val="black"/>
                                </a:solidFill>
                                <a:latin typeface="Cambria Math" charset="0"/>
                              </a:rPr>
                              <m:t>𝒙</m:t>
                            </m:r>
                          </m:e>
                          <m:sup>
                            <m:r>
                              <a:rPr lang="en-US" sz="1200" i="1">
                                <a:solidFill>
                                  <a:prstClr val="black"/>
                                </a:solidFill>
                                <a:latin typeface="Cambria Math" charset="0"/>
                              </a:rPr>
                              <m:t>(</m:t>
                            </m:r>
                            <m:r>
                              <a:rPr lang="en-US" sz="1200" b="0" i="1" smtClean="0">
                                <a:solidFill>
                                  <a:prstClr val="black"/>
                                </a:solidFill>
                                <a:latin typeface="Cambria Math" charset="0"/>
                              </a:rPr>
                              <m:t>1</m:t>
                            </m:r>
                            <m:r>
                              <a:rPr lang="en-US" sz="1200" i="1">
                                <a:solidFill>
                                  <a:prstClr val="black"/>
                                </a:solidFill>
                                <a:latin typeface="Cambria Math" charset="0"/>
                              </a:rPr>
                              <m:t>)</m:t>
                            </m:r>
                          </m:sup>
                        </m:sSup>
                      </m:oMath>
                    </m:oMathPara>
                  </a14:m>
                  <a:endParaRPr lang="en-US" sz="1200" dirty="0"/>
                </a:p>
              </p:txBody>
            </p:sp>
          </mc:Choice>
          <mc:Fallback xmlns="">
            <p:sp>
              <p:nvSpPr>
                <p:cNvPr id="53" name="Rectangle 52"/>
                <p:cNvSpPr>
                  <a:spLocks noRot="1" noChangeAspect="1" noMove="1" noResize="1" noEditPoints="1" noAdjustHandles="1" noChangeArrowheads="1" noChangeShapeType="1" noTextEdit="1"/>
                </p:cNvSpPr>
                <p:nvPr/>
              </p:nvSpPr>
              <p:spPr>
                <a:xfrm>
                  <a:off x="5302677" y="2180932"/>
                  <a:ext cx="473206" cy="284693"/>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Rectangle 53"/>
                <p:cNvSpPr/>
                <p:nvPr/>
              </p:nvSpPr>
              <p:spPr>
                <a:xfrm>
                  <a:off x="5552014" y="2343020"/>
                  <a:ext cx="473206" cy="2846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200" i="1" smtClean="0">
                                <a:solidFill>
                                  <a:prstClr val="black"/>
                                </a:solidFill>
                                <a:latin typeface="Cambria Math" panose="02040503050406030204" pitchFamily="18" charset="0"/>
                              </a:rPr>
                            </m:ctrlPr>
                          </m:sSupPr>
                          <m:e>
                            <m:r>
                              <a:rPr lang="en-US" sz="1200" b="1" i="1">
                                <a:solidFill>
                                  <a:prstClr val="black"/>
                                </a:solidFill>
                                <a:latin typeface="Cambria Math" charset="0"/>
                              </a:rPr>
                              <m:t>𝒙</m:t>
                            </m:r>
                          </m:e>
                          <m:sup>
                            <m:r>
                              <a:rPr lang="en-US" sz="1200" i="1">
                                <a:solidFill>
                                  <a:prstClr val="black"/>
                                </a:solidFill>
                                <a:latin typeface="Cambria Math" charset="0"/>
                              </a:rPr>
                              <m:t>(</m:t>
                            </m:r>
                            <m:r>
                              <a:rPr lang="en-US" sz="1200" b="0" i="1" smtClean="0">
                                <a:solidFill>
                                  <a:prstClr val="black"/>
                                </a:solidFill>
                                <a:latin typeface="Cambria Math" charset="0"/>
                              </a:rPr>
                              <m:t>2</m:t>
                            </m:r>
                            <m:r>
                              <a:rPr lang="en-US" sz="1200" i="1">
                                <a:solidFill>
                                  <a:prstClr val="black"/>
                                </a:solidFill>
                                <a:latin typeface="Cambria Math" charset="0"/>
                              </a:rPr>
                              <m:t>)</m:t>
                            </m:r>
                          </m:sup>
                        </m:sSup>
                      </m:oMath>
                    </m:oMathPara>
                  </a14:m>
                  <a:endParaRPr lang="en-US" sz="1200" dirty="0"/>
                </a:p>
              </p:txBody>
            </p:sp>
          </mc:Choice>
          <mc:Fallback xmlns="">
            <p:sp>
              <p:nvSpPr>
                <p:cNvPr id="54" name="Rectangle 53"/>
                <p:cNvSpPr>
                  <a:spLocks noRot="1" noChangeAspect="1" noMove="1" noResize="1" noEditPoints="1" noAdjustHandles="1" noChangeArrowheads="1" noChangeShapeType="1" noTextEdit="1"/>
                </p:cNvSpPr>
                <p:nvPr/>
              </p:nvSpPr>
              <p:spPr>
                <a:xfrm>
                  <a:off x="5552014" y="2343020"/>
                  <a:ext cx="473206" cy="284693"/>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Rectangle 54"/>
                <p:cNvSpPr/>
                <p:nvPr/>
              </p:nvSpPr>
              <p:spPr>
                <a:xfrm>
                  <a:off x="5716919" y="2496312"/>
                  <a:ext cx="473206" cy="2846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200" i="1" smtClean="0">
                                <a:solidFill>
                                  <a:prstClr val="black"/>
                                </a:solidFill>
                                <a:latin typeface="Cambria Math" panose="02040503050406030204" pitchFamily="18" charset="0"/>
                              </a:rPr>
                            </m:ctrlPr>
                          </m:sSupPr>
                          <m:e>
                            <m:r>
                              <a:rPr lang="en-US" sz="1200" b="1" i="1">
                                <a:solidFill>
                                  <a:prstClr val="black"/>
                                </a:solidFill>
                                <a:latin typeface="Cambria Math" charset="0"/>
                              </a:rPr>
                              <m:t>𝒙</m:t>
                            </m:r>
                          </m:e>
                          <m:sup>
                            <m:r>
                              <a:rPr lang="en-US" sz="1200" i="1">
                                <a:solidFill>
                                  <a:prstClr val="black"/>
                                </a:solidFill>
                                <a:latin typeface="Cambria Math" charset="0"/>
                              </a:rPr>
                              <m:t>(</m:t>
                            </m:r>
                            <m:r>
                              <a:rPr lang="en-US" sz="1200" b="0" i="1" smtClean="0">
                                <a:solidFill>
                                  <a:prstClr val="black"/>
                                </a:solidFill>
                                <a:latin typeface="Cambria Math" charset="0"/>
                              </a:rPr>
                              <m:t>3</m:t>
                            </m:r>
                            <m:r>
                              <a:rPr lang="en-US" sz="1200" i="1">
                                <a:solidFill>
                                  <a:prstClr val="black"/>
                                </a:solidFill>
                                <a:latin typeface="Cambria Math" charset="0"/>
                              </a:rPr>
                              <m:t>)</m:t>
                            </m:r>
                          </m:sup>
                        </m:sSup>
                      </m:oMath>
                    </m:oMathPara>
                  </a14:m>
                  <a:endParaRPr lang="en-US" sz="1200" dirty="0"/>
                </a:p>
              </p:txBody>
            </p:sp>
          </mc:Choice>
          <mc:Fallback xmlns="">
            <p:sp>
              <p:nvSpPr>
                <p:cNvPr id="55" name="Rectangle 54"/>
                <p:cNvSpPr>
                  <a:spLocks noRot="1" noChangeAspect="1" noMove="1" noResize="1" noEditPoints="1" noAdjustHandles="1" noChangeArrowheads="1" noChangeShapeType="1" noTextEdit="1"/>
                </p:cNvSpPr>
                <p:nvPr/>
              </p:nvSpPr>
              <p:spPr>
                <a:xfrm>
                  <a:off x="5716919" y="2496312"/>
                  <a:ext cx="473206" cy="284693"/>
                </a:xfrm>
                <a:prstGeom prst="rect">
                  <a:avLst/>
                </a:prstGeom>
                <a:blipFill rotWithShape="0">
                  <a:blip r:embed="rId13"/>
                  <a:stretch>
                    <a:fillRect/>
                  </a:stretch>
                </a:blipFill>
              </p:spPr>
              <p:txBody>
                <a:bodyPr/>
                <a:lstStyle/>
                <a:p>
                  <a:r>
                    <a:rPr lang="en-US">
                      <a:noFill/>
                    </a:rPr>
                    <a:t> </a:t>
                  </a:r>
                </a:p>
              </p:txBody>
            </p:sp>
          </mc:Fallback>
        </mc:AlternateContent>
        <p:cxnSp>
          <p:nvCxnSpPr>
            <p:cNvPr id="56" name="Straight Connector 55"/>
            <p:cNvCxnSpPr/>
            <p:nvPr/>
          </p:nvCxnSpPr>
          <p:spPr>
            <a:xfrm flipV="1">
              <a:off x="6706616" y="2682631"/>
              <a:ext cx="381994" cy="371708"/>
            </a:xfrm>
            <a:prstGeom prst="line">
              <a:avLst/>
            </a:prstGeom>
            <a:ln w="12700">
              <a:tailEnd type="stealth" w="lg" len="lg"/>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7" name="TextBox 56"/>
                <p:cNvSpPr txBox="1"/>
                <p:nvPr/>
              </p:nvSpPr>
              <p:spPr>
                <a:xfrm>
                  <a:off x="5463103" y="4090461"/>
                  <a:ext cx="42319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charset="0"/>
                          </a:rPr>
                          <m:t>(0,0)</m:t>
                        </m:r>
                      </m:oMath>
                    </m:oMathPara>
                  </a14:m>
                  <a:endParaRPr lang="en-US" sz="1400" dirty="0"/>
                </a:p>
              </p:txBody>
            </p:sp>
          </mc:Choice>
          <mc:Fallback xmlns="">
            <p:sp>
              <p:nvSpPr>
                <p:cNvPr id="57" name="TextBox 56"/>
                <p:cNvSpPr txBox="1">
                  <a:spLocks noRot="1" noChangeAspect="1" noMove="1" noResize="1" noEditPoints="1" noAdjustHandles="1" noChangeArrowheads="1" noChangeShapeType="1" noTextEdit="1"/>
                </p:cNvSpPr>
                <p:nvPr/>
              </p:nvSpPr>
              <p:spPr>
                <a:xfrm>
                  <a:off x="5463103" y="4090461"/>
                  <a:ext cx="423193" cy="215444"/>
                </a:xfrm>
                <a:prstGeom prst="rect">
                  <a:avLst/>
                </a:prstGeom>
                <a:blipFill rotWithShape="0">
                  <a:blip r:embed="rId14"/>
                  <a:stretch>
                    <a:fillRect l="-14286" r="-14286" b="-3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Rectangle 57"/>
                <p:cNvSpPr/>
                <p:nvPr/>
              </p:nvSpPr>
              <p:spPr>
                <a:xfrm>
                  <a:off x="6962704" y="2430465"/>
                  <a:ext cx="341760"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b="1" i="1" smtClean="0">
                            <a:solidFill>
                              <a:prstClr val="black"/>
                            </a:solidFill>
                            <a:latin typeface="Cambria Math" charset="0"/>
                          </a:rPr>
                          <m:t>𝒘</m:t>
                        </m:r>
                      </m:oMath>
                    </m:oMathPara>
                  </a14:m>
                  <a:endParaRPr lang="en-US" sz="1200" b="1" dirty="0"/>
                </a:p>
              </p:txBody>
            </p:sp>
          </mc:Choice>
          <mc:Fallback xmlns="">
            <p:sp>
              <p:nvSpPr>
                <p:cNvPr id="58" name="Rectangle 57"/>
                <p:cNvSpPr>
                  <a:spLocks noRot="1" noChangeAspect="1" noMove="1" noResize="1" noEditPoints="1" noAdjustHandles="1" noChangeArrowheads="1" noChangeShapeType="1" noTextEdit="1"/>
                </p:cNvSpPr>
                <p:nvPr/>
              </p:nvSpPr>
              <p:spPr>
                <a:xfrm>
                  <a:off x="6962704" y="2430465"/>
                  <a:ext cx="341760" cy="276999"/>
                </a:xfrm>
                <a:prstGeom prst="rect">
                  <a:avLst/>
                </a:prstGeom>
                <a:blipFill rotWithShape="0">
                  <a:blip r:embed="rId15"/>
                  <a:stretch>
                    <a:fillRect/>
                  </a:stretch>
                </a:blipFill>
              </p:spPr>
              <p:txBody>
                <a:bodyPr/>
                <a:lstStyle/>
                <a:p>
                  <a:r>
                    <a:rPr lang="en-US">
                      <a:noFill/>
                    </a:rPr>
                    <a:t> </a:t>
                  </a:r>
                </a:p>
              </p:txBody>
            </p:sp>
          </mc:Fallback>
        </mc:AlternateContent>
        <p:cxnSp>
          <p:nvCxnSpPr>
            <p:cNvPr id="59" name="Straight Connector 58"/>
            <p:cNvCxnSpPr/>
            <p:nvPr/>
          </p:nvCxnSpPr>
          <p:spPr>
            <a:xfrm flipV="1">
              <a:off x="5707775" y="3049191"/>
              <a:ext cx="999668" cy="935939"/>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60" name="Left Brace 59"/>
            <p:cNvSpPr/>
            <p:nvPr/>
          </p:nvSpPr>
          <p:spPr>
            <a:xfrm rot="2842594">
              <a:off x="6031437" y="2534087"/>
              <a:ext cx="268820" cy="1605013"/>
            </a:xfrm>
            <a:prstGeom prst="leftBrace">
              <a:avLst>
                <a:gd name="adj1" fmla="val 8333"/>
                <a:gd name="adj2" fmla="val 50662"/>
              </a:avLst>
            </a:prstGeom>
            <a:ln>
              <a:solidFill>
                <a:srgbClr val="FF0000"/>
              </a:solidFill>
            </a:ln>
            <a:scene3d>
              <a:camera prst="orthographicFront">
                <a:rot lat="0" lon="0" rev="0"/>
              </a:camera>
              <a:lightRig rig="threePt" dir="t"/>
            </a:scene3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61" name="TextBox 60"/>
                <p:cNvSpPr txBox="1"/>
                <p:nvPr/>
              </p:nvSpPr>
              <p:spPr>
                <a:xfrm>
                  <a:off x="7446601" y="4305905"/>
                  <a:ext cx="81817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600" b="1" i="1" smtClean="0">
                                <a:latin typeface="Cambria Math" panose="02040503050406030204" pitchFamily="18" charset="0"/>
                              </a:rPr>
                            </m:ctrlPr>
                          </m:sSupPr>
                          <m:e>
                            <m:r>
                              <a:rPr lang="en-US" sz="1600" b="1" i="1" smtClean="0">
                                <a:latin typeface="Cambria Math" charset="0"/>
                              </a:rPr>
                              <m:t>𝒘</m:t>
                            </m:r>
                          </m:e>
                          <m:sup>
                            <m:r>
                              <a:rPr lang="en-US" sz="1600" b="0" i="1" smtClean="0">
                                <a:latin typeface="Cambria Math" charset="0"/>
                              </a:rPr>
                              <m:t>𝑇</m:t>
                            </m:r>
                          </m:sup>
                        </m:sSup>
                        <m:r>
                          <a:rPr lang="en-US" sz="1600" b="1" i="1" smtClean="0">
                            <a:latin typeface="Cambria Math" charset="0"/>
                          </a:rPr>
                          <m:t>𝒙</m:t>
                        </m:r>
                        <m:r>
                          <a:rPr lang="en-US" sz="1600" b="1" i="1" smtClean="0">
                            <a:latin typeface="Cambria Math" charset="0"/>
                          </a:rPr>
                          <m:t>=</m:t>
                        </m:r>
                        <m:r>
                          <a:rPr lang="en-US" sz="1600" b="0" i="1" smtClean="0">
                            <a:latin typeface="Cambria Math" charset="0"/>
                          </a:rPr>
                          <m:t>𝑎</m:t>
                        </m:r>
                      </m:oMath>
                    </m:oMathPara>
                  </a14:m>
                  <a:endParaRPr lang="en-US" sz="1600" dirty="0"/>
                </a:p>
              </p:txBody>
            </p:sp>
          </mc:Choice>
          <mc:Fallback xmlns="">
            <p:sp>
              <p:nvSpPr>
                <p:cNvPr id="61" name="TextBox 60"/>
                <p:cNvSpPr txBox="1">
                  <a:spLocks noRot="1" noChangeAspect="1" noMove="1" noResize="1" noEditPoints="1" noAdjustHandles="1" noChangeArrowheads="1" noChangeShapeType="1" noTextEdit="1"/>
                </p:cNvSpPr>
                <p:nvPr/>
              </p:nvSpPr>
              <p:spPr>
                <a:xfrm>
                  <a:off x="7446601" y="4305905"/>
                  <a:ext cx="818173" cy="246221"/>
                </a:xfrm>
                <a:prstGeom prst="rect">
                  <a:avLst/>
                </a:prstGeom>
                <a:blipFill rotWithShape="0">
                  <a:blip r:embed="rId16"/>
                  <a:stretch>
                    <a:fillRect l="-3731" r="-14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Rectangle 61"/>
                <p:cNvSpPr/>
                <p:nvPr/>
              </p:nvSpPr>
              <p:spPr>
                <a:xfrm>
                  <a:off x="5828154" y="3013079"/>
                  <a:ext cx="537711" cy="323165"/>
                </a:xfrm>
                <a:prstGeom prst="rect">
                  <a:avLst/>
                </a:prstGeom>
              </p:spPr>
              <p:txBody>
                <a:bodyPr wrap="none">
                  <a:spAutoFit/>
                </a:bodyPr>
                <a:lstStyle/>
                <a:p>
                  <a:pPr lvl="0"/>
                  <a14:m>
                    <m:oMathPara xmlns:m="http://schemas.openxmlformats.org/officeDocument/2006/math">
                      <m:oMathParaPr>
                        <m:jc m:val="centerGroup"/>
                      </m:oMathParaPr>
                      <m:oMath xmlns:m="http://schemas.openxmlformats.org/officeDocument/2006/math">
                        <m:r>
                          <a:rPr lang="en-US" sz="1500" b="0" i="1" smtClean="0">
                            <a:solidFill>
                              <a:srgbClr val="FF0000"/>
                            </a:solidFill>
                            <a:latin typeface="Cambria Math" charset="0"/>
                          </a:rPr>
                          <m:t>&gt;</m:t>
                        </m:r>
                        <m:r>
                          <a:rPr lang="en-US" sz="1500" b="0" i="1" smtClean="0">
                            <a:solidFill>
                              <a:srgbClr val="FF0000"/>
                            </a:solidFill>
                            <a:latin typeface="Cambria Math" charset="0"/>
                          </a:rPr>
                          <m:t>𝑎</m:t>
                        </m:r>
                      </m:oMath>
                    </m:oMathPara>
                  </a14:m>
                  <a:endParaRPr lang="en-US" sz="1500" dirty="0">
                    <a:solidFill>
                      <a:srgbClr val="FF0000"/>
                    </a:solidFill>
                  </a:endParaRPr>
                </a:p>
              </p:txBody>
            </p:sp>
          </mc:Choice>
          <mc:Fallback xmlns="">
            <p:sp>
              <p:nvSpPr>
                <p:cNvPr id="62" name="Rectangle 61"/>
                <p:cNvSpPr>
                  <a:spLocks noRot="1" noChangeAspect="1" noMove="1" noResize="1" noEditPoints="1" noAdjustHandles="1" noChangeArrowheads="1" noChangeShapeType="1" noTextEdit="1"/>
                </p:cNvSpPr>
                <p:nvPr/>
              </p:nvSpPr>
              <p:spPr>
                <a:xfrm>
                  <a:off x="5828154" y="3013079"/>
                  <a:ext cx="537711" cy="323165"/>
                </a:xfrm>
                <a:prstGeom prst="rect">
                  <a:avLst/>
                </a:prstGeom>
                <a:blipFill rotWithShape="0">
                  <a:blip r:embed="rId17"/>
                  <a:stretch>
                    <a:fillRect/>
                  </a:stretch>
                </a:blipFill>
              </p:spPr>
              <p:txBody>
                <a:bodyPr/>
                <a:lstStyle/>
                <a:p>
                  <a:r>
                    <a:rPr lang="en-US">
                      <a:noFill/>
                    </a:rPr>
                    <a:t> </a:t>
                  </a:r>
                </a:p>
              </p:txBody>
            </p:sp>
          </mc:Fallback>
        </mc:AlternateContent>
        <p:cxnSp>
          <p:nvCxnSpPr>
            <p:cNvPr id="66" name="Straight Connector 65"/>
            <p:cNvCxnSpPr/>
            <p:nvPr/>
          </p:nvCxnSpPr>
          <p:spPr>
            <a:xfrm>
              <a:off x="6853961" y="2904875"/>
              <a:ext cx="503485" cy="497325"/>
            </a:xfrm>
            <a:prstGeom prst="line">
              <a:avLst/>
            </a:prstGeom>
            <a:ln w="12700">
              <a:solidFill>
                <a:srgbClr val="FF0000"/>
              </a:solidFill>
            </a:ln>
          </p:spPr>
          <p:style>
            <a:lnRef idx="1">
              <a:schemeClr val="dk1"/>
            </a:lnRef>
            <a:fillRef idx="0">
              <a:schemeClr val="dk1"/>
            </a:fillRef>
            <a:effectRef idx="0">
              <a:schemeClr val="dk1"/>
            </a:effectRef>
            <a:fontRef idx="minor">
              <a:schemeClr val="tx1"/>
            </a:fontRef>
          </p:style>
        </p:cxnSp>
      </p:grpSp>
      <p:grpSp>
        <p:nvGrpSpPr>
          <p:cNvPr id="103" name="Group 102"/>
          <p:cNvGrpSpPr/>
          <p:nvPr/>
        </p:nvGrpSpPr>
        <p:grpSpPr>
          <a:xfrm>
            <a:off x="9189384" y="1997057"/>
            <a:ext cx="2962097" cy="2517412"/>
            <a:chOff x="9189384" y="1997057"/>
            <a:chExt cx="2962097" cy="2517412"/>
          </a:xfrm>
        </p:grpSpPr>
        <p:cxnSp>
          <p:nvCxnSpPr>
            <p:cNvPr id="69" name="Straight Connector 68"/>
            <p:cNvCxnSpPr/>
            <p:nvPr/>
          </p:nvCxnSpPr>
          <p:spPr>
            <a:xfrm flipV="1">
              <a:off x="9562153" y="2042777"/>
              <a:ext cx="45720" cy="1874520"/>
            </a:xfrm>
            <a:prstGeom prst="line">
              <a:avLst/>
            </a:prstGeom>
            <a:ln>
              <a:prstDash val="lgDash"/>
            </a:ln>
          </p:spPr>
          <p:style>
            <a:lnRef idx="2">
              <a:schemeClr val="accent6"/>
            </a:lnRef>
            <a:fillRef idx="0">
              <a:schemeClr val="accent6"/>
            </a:fillRef>
            <a:effectRef idx="1">
              <a:schemeClr val="accent6"/>
            </a:effectRef>
            <a:fontRef idx="minor">
              <a:schemeClr val="tx1"/>
            </a:fontRef>
          </p:style>
        </p:cxnSp>
        <p:cxnSp>
          <p:nvCxnSpPr>
            <p:cNvPr id="70" name="Straight Connector 69"/>
            <p:cNvCxnSpPr/>
            <p:nvPr/>
          </p:nvCxnSpPr>
          <p:spPr>
            <a:xfrm flipV="1">
              <a:off x="9561407" y="2195177"/>
              <a:ext cx="198120" cy="1812057"/>
            </a:xfrm>
            <a:prstGeom prst="line">
              <a:avLst/>
            </a:prstGeom>
            <a:ln>
              <a:prstDash val="lgDash"/>
            </a:ln>
          </p:spPr>
          <p:style>
            <a:lnRef idx="2">
              <a:schemeClr val="accent6"/>
            </a:lnRef>
            <a:fillRef idx="0">
              <a:schemeClr val="accent6"/>
            </a:fillRef>
            <a:effectRef idx="1">
              <a:schemeClr val="accent6"/>
            </a:effectRef>
            <a:fontRef idx="minor">
              <a:schemeClr val="tx1"/>
            </a:fontRef>
          </p:style>
        </p:cxnSp>
        <p:cxnSp>
          <p:nvCxnSpPr>
            <p:cNvPr id="71" name="Straight Connector 70"/>
            <p:cNvCxnSpPr/>
            <p:nvPr/>
          </p:nvCxnSpPr>
          <p:spPr>
            <a:xfrm flipV="1">
              <a:off x="9594482" y="2347578"/>
              <a:ext cx="317445" cy="1581607"/>
            </a:xfrm>
            <a:prstGeom prst="line">
              <a:avLst/>
            </a:prstGeom>
            <a:ln>
              <a:prstDash val="lgDash"/>
            </a:ln>
          </p:spPr>
          <p:style>
            <a:lnRef idx="2">
              <a:schemeClr val="accent6"/>
            </a:lnRef>
            <a:fillRef idx="0">
              <a:schemeClr val="accent6"/>
            </a:fillRef>
            <a:effectRef idx="1">
              <a:schemeClr val="accent6"/>
            </a:effectRef>
            <a:fontRef idx="minor">
              <a:schemeClr val="tx1"/>
            </a:fontRef>
          </p:style>
        </p:cxnSp>
        <p:cxnSp>
          <p:nvCxnSpPr>
            <p:cNvPr id="72" name="Straight Connector 71"/>
            <p:cNvCxnSpPr/>
            <p:nvPr/>
          </p:nvCxnSpPr>
          <p:spPr>
            <a:xfrm flipV="1">
              <a:off x="9594482" y="3619555"/>
              <a:ext cx="1617342" cy="356000"/>
            </a:xfrm>
            <a:prstGeom prst="line">
              <a:avLst/>
            </a:prstGeom>
            <a:ln>
              <a:prstDash val="lgDash"/>
            </a:ln>
          </p:spPr>
          <p:style>
            <a:lnRef idx="2">
              <a:schemeClr val="accent6"/>
            </a:lnRef>
            <a:fillRef idx="0">
              <a:schemeClr val="accent6"/>
            </a:fillRef>
            <a:effectRef idx="1">
              <a:schemeClr val="accent6"/>
            </a:effectRef>
            <a:fontRef idx="minor">
              <a:schemeClr val="tx1"/>
            </a:fontRef>
          </p:style>
        </p:cxnSp>
        <p:cxnSp>
          <p:nvCxnSpPr>
            <p:cNvPr id="73" name="Straight Connector 72"/>
            <p:cNvCxnSpPr/>
            <p:nvPr/>
          </p:nvCxnSpPr>
          <p:spPr>
            <a:xfrm flipV="1">
              <a:off x="9603625" y="3637719"/>
              <a:ext cx="743661" cy="337838"/>
            </a:xfrm>
            <a:prstGeom prst="line">
              <a:avLst/>
            </a:prstGeom>
            <a:ln>
              <a:solidFill>
                <a:srgbClr val="0432FF"/>
              </a:solidFill>
              <a:prstDash val="lgDash"/>
            </a:ln>
          </p:spPr>
          <p:style>
            <a:lnRef idx="2">
              <a:schemeClr val="accent6"/>
            </a:lnRef>
            <a:fillRef idx="0">
              <a:schemeClr val="accent6"/>
            </a:fillRef>
            <a:effectRef idx="1">
              <a:schemeClr val="accent6"/>
            </a:effectRef>
            <a:fontRef idx="minor">
              <a:schemeClr val="tx1"/>
            </a:fontRef>
          </p:style>
        </p:cxnSp>
        <p:cxnSp>
          <p:nvCxnSpPr>
            <p:cNvPr id="74" name="Straight Connector 73"/>
            <p:cNvCxnSpPr/>
            <p:nvPr/>
          </p:nvCxnSpPr>
          <p:spPr>
            <a:xfrm>
              <a:off x="9561407" y="1997057"/>
              <a:ext cx="2233534" cy="2233534"/>
            </a:xfrm>
            <a:prstGeom prst="line">
              <a:avLst/>
            </a:prstGeom>
            <a:ln w="19050"/>
          </p:spPr>
          <p:style>
            <a:lnRef idx="1">
              <a:schemeClr val="dk1"/>
            </a:lnRef>
            <a:fillRef idx="0">
              <a:schemeClr val="dk1"/>
            </a:fillRef>
            <a:effectRef idx="0">
              <a:schemeClr val="dk1"/>
            </a:effectRef>
            <a:fontRef idx="minor">
              <a:schemeClr val="tx1"/>
            </a:fontRef>
          </p:style>
        </p:cxnSp>
        <p:sp>
          <p:nvSpPr>
            <p:cNvPr id="75" name="Oval 74"/>
            <p:cNvSpPr/>
            <p:nvPr/>
          </p:nvSpPr>
          <p:spPr>
            <a:xfrm>
              <a:off x="9516433" y="3915794"/>
              <a:ext cx="91440" cy="914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6" name="Oval 75"/>
            <p:cNvSpPr/>
            <p:nvPr/>
          </p:nvSpPr>
          <p:spPr>
            <a:xfrm>
              <a:off x="10071169" y="3007490"/>
              <a:ext cx="54864" cy="54864"/>
            </a:xfrm>
            <a:prstGeom prst="ellipse">
              <a:avLst/>
            </a:prstGeom>
            <a:solidFill>
              <a:schemeClr val="accent6">
                <a:lumMod val="60000"/>
                <a:lumOff val="40000"/>
              </a:schemeClr>
            </a:solidFill>
            <a:ln>
              <a:solidFill>
                <a:schemeClr val="accent6">
                  <a:lumMod val="60000"/>
                  <a:lumOff val="4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7" name="Oval 76"/>
            <p:cNvSpPr/>
            <p:nvPr/>
          </p:nvSpPr>
          <p:spPr>
            <a:xfrm>
              <a:off x="10223569" y="3159890"/>
              <a:ext cx="54864" cy="54864"/>
            </a:xfrm>
            <a:prstGeom prst="ellipse">
              <a:avLst/>
            </a:prstGeom>
            <a:solidFill>
              <a:schemeClr val="accent6">
                <a:lumMod val="60000"/>
                <a:lumOff val="40000"/>
              </a:schemeClr>
            </a:solidFill>
            <a:ln>
              <a:solidFill>
                <a:schemeClr val="accent6">
                  <a:lumMod val="60000"/>
                  <a:lumOff val="4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8" name="Oval 77"/>
            <p:cNvSpPr/>
            <p:nvPr/>
          </p:nvSpPr>
          <p:spPr>
            <a:xfrm>
              <a:off x="10375969" y="3312290"/>
              <a:ext cx="54864" cy="54864"/>
            </a:xfrm>
            <a:prstGeom prst="ellipse">
              <a:avLst/>
            </a:prstGeom>
            <a:solidFill>
              <a:schemeClr val="accent6">
                <a:lumMod val="60000"/>
                <a:lumOff val="40000"/>
              </a:schemeClr>
            </a:solidFill>
            <a:ln>
              <a:solidFill>
                <a:schemeClr val="accent6">
                  <a:lumMod val="60000"/>
                  <a:lumOff val="4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9" name="Rectangle 78"/>
                <p:cNvSpPr/>
                <p:nvPr/>
              </p:nvSpPr>
              <p:spPr>
                <a:xfrm>
                  <a:off x="9189384" y="2143275"/>
                  <a:ext cx="473206" cy="2846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200" i="1" smtClean="0">
                                <a:solidFill>
                                  <a:prstClr val="black"/>
                                </a:solidFill>
                                <a:latin typeface="Cambria Math" panose="02040503050406030204" pitchFamily="18" charset="0"/>
                              </a:rPr>
                            </m:ctrlPr>
                          </m:sSupPr>
                          <m:e>
                            <m:r>
                              <a:rPr lang="en-US" sz="1200" b="1" i="1">
                                <a:solidFill>
                                  <a:prstClr val="black"/>
                                </a:solidFill>
                                <a:latin typeface="Cambria Math" charset="0"/>
                              </a:rPr>
                              <m:t>𝒙</m:t>
                            </m:r>
                          </m:e>
                          <m:sup>
                            <m:r>
                              <a:rPr lang="en-US" sz="1200" i="1">
                                <a:solidFill>
                                  <a:prstClr val="black"/>
                                </a:solidFill>
                                <a:latin typeface="Cambria Math" charset="0"/>
                              </a:rPr>
                              <m:t>(</m:t>
                            </m:r>
                            <m:r>
                              <a:rPr lang="en-US" sz="1200" b="0" i="1" smtClean="0">
                                <a:solidFill>
                                  <a:prstClr val="black"/>
                                </a:solidFill>
                                <a:latin typeface="Cambria Math" charset="0"/>
                              </a:rPr>
                              <m:t>1</m:t>
                            </m:r>
                            <m:r>
                              <a:rPr lang="en-US" sz="1200" i="1">
                                <a:solidFill>
                                  <a:prstClr val="black"/>
                                </a:solidFill>
                                <a:latin typeface="Cambria Math" charset="0"/>
                              </a:rPr>
                              <m:t>)</m:t>
                            </m:r>
                          </m:sup>
                        </m:sSup>
                      </m:oMath>
                    </m:oMathPara>
                  </a14:m>
                  <a:endParaRPr lang="en-US" sz="1200" dirty="0"/>
                </a:p>
              </p:txBody>
            </p:sp>
          </mc:Choice>
          <mc:Fallback xmlns="">
            <p:sp>
              <p:nvSpPr>
                <p:cNvPr id="79" name="Rectangle 78"/>
                <p:cNvSpPr>
                  <a:spLocks noRot="1" noChangeAspect="1" noMove="1" noResize="1" noEditPoints="1" noAdjustHandles="1" noChangeArrowheads="1" noChangeShapeType="1" noTextEdit="1"/>
                </p:cNvSpPr>
                <p:nvPr/>
              </p:nvSpPr>
              <p:spPr>
                <a:xfrm>
                  <a:off x="9189384" y="2143275"/>
                  <a:ext cx="473206" cy="284693"/>
                </a:xfrm>
                <a:prstGeom prst="rect">
                  <a:avLst/>
                </a:prstGeom>
                <a:blipFill rotWithShape="0">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Rectangle 79"/>
                <p:cNvSpPr/>
                <p:nvPr/>
              </p:nvSpPr>
              <p:spPr>
                <a:xfrm>
                  <a:off x="9438721" y="2305363"/>
                  <a:ext cx="473206" cy="2846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200" i="1" smtClean="0">
                                <a:solidFill>
                                  <a:prstClr val="black"/>
                                </a:solidFill>
                                <a:latin typeface="Cambria Math" panose="02040503050406030204" pitchFamily="18" charset="0"/>
                              </a:rPr>
                            </m:ctrlPr>
                          </m:sSupPr>
                          <m:e>
                            <m:r>
                              <a:rPr lang="en-US" sz="1200" b="1" i="1">
                                <a:solidFill>
                                  <a:prstClr val="black"/>
                                </a:solidFill>
                                <a:latin typeface="Cambria Math" charset="0"/>
                              </a:rPr>
                              <m:t>𝒙</m:t>
                            </m:r>
                          </m:e>
                          <m:sup>
                            <m:r>
                              <a:rPr lang="en-US" sz="1200" i="1">
                                <a:solidFill>
                                  <a:prstClr val="black"/>
                                </a:solidFill>
                                <a:latin typeface="Cambria Math" charset="0"/>
                              </a:rPr>
                              <m:t>(</m:t>
                            </m:r>
                            <m:r>
                              <a:rPr lang="en-US" sz="1200" b="0" i="1" smtClean="0">
                                <a:solidFill>
                                  <a:prstClr val="black"/>
                                </a:solidFill>
                                <a:latin typeface="Cambria Math" charset="0"/>
                              </a:rPr>
                              <m:t>2</m:t>
                            </m:r>
                            <m:r>
                              <a:rPr lang="en-US" sz="1200" i="1">
                                <a:solidFill>
                                  <a:prstClr val="black"/>
                                </a:solidFill>
                                <a:latin typeface="Cambria Math" charset="0"/>
                              </a:rPr>
                              <m:t>)</m:t>
                            </m:r>
                          </m:sup>
                        </m:sSup>
                      </m:oMath>
                    </m:oMathPara>
                  </a14:m>
                  <a:endParaRPr lang="en-US" sz="1200" dirty="0"/>
                </a:p>
              </p:txBody>
            </p:sp>
          </mc:Choice>
          <mc:Fallback xmlns="">
            <p:sp>
              <p:nvSpPr>
                <p:cNvPr id="80" name="Rectangle 79"/>
                <p:cNvSpPr>
                  <a:spLocks noRot="1" noChangeAspect="1" noMove="1" noResize="1" noEditPoints="1" noAdjustHandles="1" noChangeArrowheads="1" noChangeShapeType="1" noTextEdit="1"/>
                </p:cNvSpPr>
                <p:nvPr/>
              </p:nvSpPr>
              <p:spPr>
                <a:xfrm>
                  <a:off x="9438721" y="2305363"/>
                  <a:ext cx="473206" cy="284693"/>
                </a:xfrm>
                <a:prstGeom prst="rect">
                  <a:avLst/>
                </a:prstGeom>
                <a:blipFill rotWithShape="0">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Rectangle 80"/>
                <p:cNvSpPr/>
                <p:nvPr/>
              </p:nvSpPr>
              <p:spPr>
                <a:xfrm>
                  <a:off x="9603626" y="2458655"/>
                  <a:ext cx="473206" cy="2846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200" i="1" smtClean="0">
                                <a:solidFill>
                                  <a:prstClr val="black"/>
                                </a:solidFill>
                                <a:latin typeface="Cambria Math" panose="02040503050406030204" pitchFamily="18" charset="0"/>
                              </a:rPr>
                            </m:ctrlPr>
                          </m:sSupPr>
                          <m:e>
                            <m:r>
                              <a:rPr lang="en-US" sz="1200" b="1" i="1">
                                <a:solidFill>
                                  <a:prstClr val="black"/>
                                </a:solidFill>
                                <a:latin typeface="Cambria Math" charset="0"/>
                              </a:rPr>
                              <m:t>𝒙</m:t>
                            </m:r>
                          </m:e>
                          <m:sup>
                            <m:r>
                              <a:rPr lang="en-US" sz="1200" i="1">
                                <a:solidFill>
                                  <a:prstClr val="black"/>
                                </a:solidFill>
                                <a:latin typeface="Cambria Math" charset="0"/>
                              </a:rPr>
                              <m:t>(</m:t>
                            </m:r>
                            <m:r>
                              <a:rPr lang="en-US" sz="1200" b="0" i="1" smtClean="0">
                                <a:solidFill>
                                  <a:prstClr val="black"/>
                                </a:solidFill>
                                <a:latin typeface="Cambria Math" charset="0"/>
                              </a:rPr>
                              <m:t>3</m:t>
                            </m:r>
                            <m:r>
                              <a:rPr lang="en-US" sz="1200" i="1">
                                <a:solidFill>
                                  <a:prstClr val="black"/>
                                </a:solidFill>
                                <a:latin typeface="Cambria Math" charset="0"/>
                              </a:rPr>
                              <m:t>)</m:t>
                            </m:r>
                          </m:sup>
                        </m:sSup>
                      </m:oMath>
                    </m:oMathPara>
                  </a14:m>
                  <a:endParaRPr lang="en-US" sz="1200" dirty="0"/>
                </a:p>
              </p:txBody>
            </p:sp>
          </mc:Choice>
          <mc:Fallback xmlns="">
            <p:sp>
              <p:nvSpPr>
                <p:cNvPr id="81" name="Rectangle 80"/>
                <p:cNvSpPr>
                  <a:spLocks noRot="1" noChangeAspect="1" noMove="1" noResize="1" noEditPoints="1" noAdjustHandles="1" noChangeArrowheads="1" noChangeShapeType="1" noTextEdit="1"/>
                </p:cNvSpPr>
                <p:nvPr/>
              </p:nvSpPr>
              <p:spPr>
                <a:xfrm>
                  <a:off x="9603626" y="2458655"/>
                  <a:ext cx="473206" cy="284693"/>
                </a:xfrm>
                <a:prstGeom prst="rect">
                  <a:avLst/>
                </a:prstGeom>
                <a:blipFill rotWithShape="0">
                  <a:blip r:embed="rId5"/>
                  <a:stretch>
                    <a:fillRect/>
                  </a:stretch>
                </a:blipFill>
              </p:spPr>
              <p:txBody>
                <a:bodyPr/>
                <a:lstStyle/>
                <a:p>
                  <a:r>
                    <a:rPr lang="en-US">
                      <a:noFill/>
                    </a:rPr>
                    <a:t> </a:t>
                  </a:r>
                </a:p>
              </p:txBody>
            </p:sp>
          </mc:Fallback>
        </mc:AlternateContent>
        <p:cxnSp>
          <p:nvCxnSpPr>
            <p:cNvPr id="82" name="Straight Connector 81"/>
            <p:cNvCxnSpPr/>
            <p:nvPr/>
          </p:nvCxnSpPr>
          <p:spPr>
            <a:xfrm flipV="1">
              <a:off x="10593323" y="2644974"/>
              <a:ext cx="381994" cy="371708"/>
            </a:xfrm>
            <a:prstGeom prst="line">
              <a:avLst/>
            </a:prstGeom>
            <a:ln w="12700">
              <a:tailEnd type="stealth" w="lg" len="lg"/>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3" name="TextBox 82"/>
                <p:cNvSpPr txBox="1"/>
                <p:nvPr/>
              </p:nvSpPr>
              <p:spPr>
                <a:xfrm>
                  <a:off x="9349810" y="4052804"/>
                  <a:ext cx="42319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charset="0"/>
                          </a:rPr>
                          <m:t>(0,0)</m:t>
                        </m:r>
                      </m:oMath>
                    </m:oMathPara>
                  </a14:m>
                  <a:endParaRPr lang="en-US" sz="1400" dirty="0"/>
                </a:p>
              </p:txBody>
            </p:sp>
          </mc:Choice>
          <mc:Fallback xmlns="">
            <p:sp>
              <p:nvSpPr>
                <p:cNvPr id="83" name="TextBox 82"/>
                <p:cNvSpPr txBox="1">
                  <a:spLocks noRot="1" noChangeAspect="1" noMove="1" noResize="1" noEditPoints="1" noAdjustHandles="1" noChangeArrowheads="1" noChangeShapeType="1" noTextEdit="1"/>
                </p:cNvSpPr>
                <p:nvPr/>
              </p:nvSpPr>
              <p:spPr>
                <a:xfrm>
                  <a:off x="9349810" y="4052804"/>
                  <a:ext cx="423193" cy="215444"/>
                </a:xfrm>
                <a:prstGeom prst="rect">
                  <a:avLst/>
                </a:prstGeom>
                <a:blipFill rotWithShape="0">
                  <a:blip r:embed="rId20"/>
                  <a:stretch>
                    <a:fillRect l="-14493" r="-15942" b="-3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Rectangle 83"/>
                <p:cNvSpPr/>
                <p:nvPr/>
              </p:nvSpPr>
              <p:spPr>
                <a:xfrm>
                  <a:off x="10849411" y="2392808"/>
                  <a:ext cx="341760"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b="1" i="1" smtClean="0">
                            <a:solidFill>
                              <a:prstClr val="black"/>
                            </a:solidFill>
                            <a:latin typeface="Cambria Math" charset="0"/>
                          </a:rPr>
                          <m:t>𝒘</m:t>
                        </m:r>
                      </m:oMath>
                    </m:oMathPara>
                  </a14:m>
                  <a:endParaRPr lang="en-US" sz="1200" b="1" dirty="0"/>
                </a:p>
              </p:txBody>
            </p:sp>
          </mc:Choice>
          <mc:Fallback xmlns="">
            <p:sp>
              <p:nvSpPr>
                <p:cNvPr id="84" name="Rectangle 83"/>
                <p:cNvSpPr>
                  <a:spLocks noRot="1" noChangeAspect="1" noMove="1" noResize="1" noEditPoints="1" noAdjustHandles="1" noChangeArrowheads="1" noChangeShapeType="1" noTextEdit="1"/>
                </p:cNvSpPr>
                <p:nvPr/>
              </p:nvSpPr>
              <p:spPr>
                <a:xfrm>
                  <a:off x="10849411" y="2392808"/>
                  <a:ext cx="341760" cy="276999"/>
                </a:xfrm>
                <a:prstGeom prst="rect">
                  <a:avLst/>
                </a:prstGeom>
                <a:blipFill rotWithShape="0">
                  <a:blip r:embed="rId7"/>
                  <a:stretch>
                    <a:fillRect/>
                  </a:stretch>
                </a:blipFill>
              </p:spPr>
              <p:txBody>
                <a:bodyPr/>
                <a:lstStyle/>
                <a:p>
                  <a:r>
                    <a:rPr lang="en-US">
                      <a:noFill/>
                    </a:rPr>
                    <a:t> </a:t>
                  </a:r>
                </a:p>
              </p:txBody>
            </p:sp>
          </mc:Fallback>
        </mc:AlternateContent>
        <p:cxnSp>
          <p:nvCxnSpPr>
            <p:cNvPr id="85" name="Straight Connector 84"/>
            <p:cNvCxnSpPr/>
            <p:nvPr/>
          </p:nvCxnSpPr>
          <p:spPr>
            <a:xfrm flipV="1">
              <a:off x="9594482" y="3011534"/>
              <a:ext cx="999668" cy="935939"/>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86" name="Left Brace 85"/>
            <p:cNvSpPr/>
            <p:nvPr/>
          </p:nvSpPr>
          <p:spPr>
            <a:xfrm rot="2842594">
              <a:off x="9606920" y="3205812"/>
              <a:ext cx="272637" cy="760764"/>
            </a:xfrm>
            <a:prstGeom prst="leftBrace">
              <a:avLst>
                <a:gd name="adj1" fmla="val 8333"/>
                <a:gd name="adj2" fmla="val 50662"/>
              </a:avLst>
            </a:prstGeom>
            <a:ln>
              <a:solidFill>
                <a:srgbClr val="0432FF"/>
              </a:solidFill>
            </a:ln>
            <a:scene3d>
              <a:camera prst="orthographicFront">
                <a:rot lat="0" lon="0" rev="0"/>
              </a:camera>
              <a:lightRig rig="threePt" dir="t"/>
            </a:scene3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87" name="TextBox 86"/>
                <p:cNvSpPr txBox="1"/>
                <p:nvPr/>
              </p:nvSpPr>
              <p:spPr>
                <a:xfrm>
                  <a:off x="11333308" y="4268248"/>
                  <a:ext cx="81817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600" b="1" i="1" smtClean="0">
                                <a:latin typeface="Cambria Math" panose="02040503050406030204" pitchFamily="18" charset="0"/>
                              </a:rPr>
                            </m:ctrlPr>
                          </m:sSupPr>
                          <m:e>
                            <m:r>
                              <a:rPr lang="en-US" sz="1600" b="1" i="1" smtClean="0">
                                <a:latin typeface="Cambria Math" charset="0"/>
                              </a:rPr>
                              <m:t>𝒘</m:t>
                            </m:r>
                          </m:e>
                          <m:sup>
                            <m:r>
                              <a:rPr lang="en-US" sz="1600" b="0" i="1" smtClean="0">
                                <a:latin typeface="Cambria Math" charset="0"/>
                              </a:rPr>
                              <m:t>𝑇</m:t>
                            </m:r>
                          </m:sup>
                        </m:sSup>
                        <m:r>
                          <a:rPr lang="en-US" sz="1600" b="1" i="1" smtClean="0">
                            <a:latin typeface="Cambria Math" charset="0"/>
                          </a:rPr>
                          <m:t>𝒙</m:t>
                        </m:r>
                        <m:r>
                          <a:rPr lang="en-US" sz="1600" b="1" i="1" smtClean="0">
                            <a:latin typeface="Cambria Math" charset="0"/>
                          </a:rPr>
                          <m:t>=</m:t>
                        </m:r>
                        <m:r>
                          <a:rPr lang="en-US" sz="1600" b="0" i="1" smtClean="0">
                            <a:latin typeface="Cambria Math" charset="0"/>
                          </a:rPr>
                          <m:t>𝑎</m:t>
                        </m:r>
                      </m:oMath>
                    </m:oMathPara>
                  </a14:m>
                  <a:endParaRPr lang="en-US" sz="1600" dirty="0"/>
                </a:p>
              </p:txBody>
            </p:sp>
          </mc:Choice>
          <mc:Fallback xmlns="">
            <p:sp>
              <p:nvSpPr>
                <p:cNvPr id="87" name="TextBox 86"/>
                <p:cNvSpPr txBox="1">
                  <a:spLocks noRot="1" noChangeAspect="1" noMove="1" noResize="1" noEditPoints="1" noAdjustHandles="1" noChangeArrowheads="1" noChangeShapeType="1" noTextEdit="1"/>
                </p:cNvSpPr>
                <p:nvPr/>
              </p:nvSpPr>
              <p:spPr>
                <a:xfrm>
                  <a:off x="11333308" y="4268248"/>
                  <a:ext cx="818173" cy="246221"/>
                </a:xfrm>
                <a:prstGeom prst="rect">
                  <a:avLst/>
                </a:prstGeom>
                <a:blipFill rotWithShape="0">
                  <a:blip r:embed="rId21"/>
                  <a:stretch>
                    <a:fillRect l="-2985" r="-22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Rectangle 87"/>
                <p:cNvSpPr/>
                <p:nvPr/>
              </p:nvSpPr>
              <p:spPr>
                <a:xfrm>
                  <a:off x="9363969" y="3231816"/>
                  <a:ext cx="537711" cy="323165"/>
                </a:xfrm>
                <a:prstGeom prst="rect">
                  <a:avLst/>
                </a:prstGeom>
              </p:spPr>
              <p:txBody>
                <a:bodyPr wrap="none">
                  <a:spAutoFit/>
                </a:bodyPr>
                <a:lstStyle/>
                <a:p>
                  <a:pPr lvl="0"/>
                  <a14:m>
                    <m:oMathPara xmlns:m="http://schemas.openxmlformats.org/officeDocument/2006/math">
                      <m:oMathParaPr>
                        <m:jc m:val="centerGroup"/>
                      </m:oMathParaPr>
                      <m:oMath xmlns:m="http://schemas.openxmlformats.org/officeDocument/2006/math">
                        <m:r>
                          <a:rPr lang="en-US" sz="1500" i="1" smtClean="0">
                            <a:solidFill>
                              <a:srgbClr val="0432FF"/>
                            </a:solidFill>
                            <a:latin typeface="Cambria Math" charset="0"/>
                          </a:rPr>
                          <m:t>&lt;</m:t>
                        </m:r>
                        <m:r>
                          <a:rPr lang="en-US" sz="1500" b="0" i="1" smtClean="0">
                            <a:solidFill>
                              <a:srgbClr val="0432FF"/>
                            </a:solidFill>
                            <a:latin typeface="Cambria Math" charset="0"/>
                          </a:rPr>
                          <m:t>𝑎</m:t>
                        </m:r>
                      </m:oMath>
                    </m:oMathPara>
                  </a14:m>
                  <a:endParaRPr lang="en-US" sz="1500" dirty="0">
                    <a:solidFill>
                      <a:srgbClr val="0432FF"/>
                    </a:solidFill>
                  </a:endParaRPr>
                </a:p>
              </p:txBody>
            </p:sp>
          </mc:Choice>
          <mc:Fallback xmlns="">
            <p:sp>
              <p:nvSpPr>
                <p:cNvPr id="88" name="Rectangle 87"/>
                <p:cNvSpPr>
                  <a:spLocks noRot="1" noChangeAspect="1" noMove="1" noResize="1" noEditPoints="1" noAdjustHandles="1" noChangeArrowheads="1" noChangeShapeType="1" noTextEdit="1"/>
                </p:cNvSpPr>
                <p:nvPr/>
              </p:nvSpPr>
              <p:spPr>
                <a:xfrm>
                  <a:off x="9363969" y="3231816"/>
                  <a:ext cx="537711" cy="323165"/>
                </a:xfrm>
                <a:prstGeom prst="rect">
                  <a:avLst/>
                </a:prstGeom>
                <a:blipFill rotWithShape="0">
                  <a:blip r:embed="rId22"/>
                  <a:stretch>
                    <a:fillRect/>
                  </a:stretch>
                </a:blipFill>
              </p:spPr>
              <p:txBody>
                <a:bodyPr/>
                <a:lstStyle/>
                <a:p>
                  <a:r>
                    <a:rPr lang="en-US">
                      <a:noFill/>
                    </a:rPr>
                    <a:t> </a:t>
                  </a:r>
                </a:p>
              </p:txBody>
            </p:sp>
          </mc:Fallback>
        </mc:AlternateContent>
        <p:cxnSp>
          <p:nvCxnSpPr>
            <p:cNvPr id="89" name="Straight Connector 88"/>
            <p:cNvCxnSpPr/>
            <p:nvPr/>
          </p:nvCxnSpPr>
          <p:spPr>
            <a:xfrm>
              <a:off x="10115443" y="3442493"/>
              <a:ext cx="208343" cy="211473"/>
            </a:xfrm>
            <a:prstGeom prst="line">
              <a:avLst/>
            </a:prstGeom>
            <a:ln w="12700">
              <a:solidFill>
                <a:srgbClr val="0432FF"/>
              </a:solidFill>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92" name="TextBox 91"/>
              <p:cNvSpPr txBox="1"/>
              <p:nvPr/>
            </p:nvSpPr>
            <p:spPr>
              <a:xfrm>
                <a:off x="5773760" y="5125900"/>
                <a:ext cx="5910380" cy="877163"/>
              </a:xfrm>
              <a:prstGeom prst="rect">
                <a:avLst/>
              </a:prstGeom>
              <a:noFill/>
            </p:spPr>
            <p:txBody>
              <a:bodyPr wrap="square" rtlCol="0">
                <a:spAutoFit/>
              </a:bodyPr>
              <a:lstStyle/>
              <a:p>
                <a:r>
                  <a:rPr lang="en-US" sz="1700" dirty="0"/>
                  <a:t>Thus a hyperplane with normal vector </a:t>
                </a:r>
                <a14:m>
                  <m:oMath xmlns:m="http://schemas.openxmlformats.org/officeDocument/2006/math">
                    <m:r>
                      <a:rPr lang="en-US" sz="1700" b="1" i="0" smtClean="0">
                        <a:latin typeface="Cambria Math" charset="0"/>
                      </a:rPr>
                      <m:t>𝐰</m:t>
                    </m:r>
                  </m:oMath>
                </a14:m>
                <a:r>
                  <a:rPr lang="en-US" sz="1700" dirty="0"/>
                  <a:t>, can separate two sets of points by examining if </a:t>
                </a:r>
                <a14:m>
                  <m:oMath xmlns:m="http://schemas.openxmlformats.org/officeDocument/2006/math">
                    <m:sSup>
                      <m:sSupPr>
                        <m:ctrlPr>
                          <a:rPr lang="en-US" sz="1700" i="1">
                            <a:latin typeface="Cambria Math" panose="02040503050406030204" pitchFamily="18" charset="0"/>
                          </a:rPr>
                        </m:ctrlPr>
                      </m:sSupPr>
                      <m:e>
                        <m:r>
                          <a:rPr lang="en-US" sz="1700" b="1" i="1">
                            <a:latin typeface="Cambria Math" charset="0"/>
                          </a:rPr>
                          <m:t>𝒘</m:t>
                        </m:r>
                      </m:e>
                      <m:sup>
                        <m:r>
                          <a:rPr lang="en-US" sz="1700" i="1">
                            <a:latin typeface="Cambria Math" charset="0"/>
                          </a:rPr>
                          <m:t>𝑇</m:t>
                        </m:r>
                      </m:sup>
                    </m:sSup>
                    <m:r>
                      <a:rPr lang="en-US" sz="1700" b="1" i="1">
                        <a:latin typeface="Cambria Math" charset="0"/>
                      </a:rPr>
                      <m:t>𝒙</m:t>
                    </m:r>
                    <m:r>
                      <a:rPr lang="en-US" sz="1700" b="0" i="1" smtClean="0">
                        <a:latin typeface="Cambria Math" charset="0"/>
                      </a:rPr>
                      <m:t>−</m:t>
                    </m:r>
                    <m:r>
                      <a:rPr lang="en-US" sz="1700" b="0" i="1" smtClean="0">
                        <a:latin typeface="Cambria Math" charset="0"/>
                      </a:rPr>
                      <m:t>𝑎</m:t>
                    </m:r>
                  </m:oMath>
                </a14:m>
                <a:r>
                  <a:rPr lang="en-US" sz="1700" dirty="0"/>
                  <a:t> is &gt; 0 or &lt; 0. (Remember our notation says </a:t>
                </a:r>
                <a:r>
                  <a:rPr lang="mr-IN" sz="1700" dirty="0"/>
                  <a:t>–</a:t>
                </a:r>
                <a:r>
                  <a:rPr lang="en-US" sz="1700" dirty="0"/>
                  <a:t>a is nothing but b).</a:t>
                </a:r>
              </a:p>
            </p:txBody>
          </p:sp>
        </mc:Choice>
        <mc:Fallback xmlns="">
          <p:sp>
            <p:nvSpPr>
              <p:cNvPr id="92" name="TextBox 91"/>
              <p:cNvSpPr txBox="1">
                <a:spLocks noRot="1" noChangeAspect="1" noMove="1" noResize="1" noEditPoints="1" noAdjustHandles="1" noChangeArrowheads="1" noChangeShapeType="1" noTextEdit="1"/>
              </p:cNvSpPr>
              <p:nvPr/>
            </p:nvSpPr>
            <p:spPr>
              <a:xfrm>
                <a:off x="5773760" y="5125900"/>
                <a:ext cx="5910380" cy="877163"/>
              </a:xfrm>
              <a:prstGeom prst="rect">
                <a:avLst/>
              </a:prstGeom>
              <a:blipFill rotWithShape="0">
                <a:blip r:embed="rId23"/>
                <a:stretch>
                  <a:fillRect l="-619" t="-2778" b="-8333"/>
                </a:stretch>
              </a:blipFill>
            </p:spPr>
            <p:txBody>
              <a:bodyPr/>
              <a:lstStyle/>
              <a:p>
                <a:r>
                  <a:rPr lang="en-US">
                    <a:noFill/>
                  </a:rPr>
                  <a:t> </a:t>
                </a:r>
              </a:p>
            </p:txBody>
          </p:sp>
        </mc:Fallback>
      </mc:AlternateContent>
    </p:spTree>
    <p:extLst>
      <p:ext uri="{BB962C8B-B14F-4D97-AF65-F5344CB8AC3E}">
        <p14:creationId xmlns:p14="http://schemas.microsoft.com/office/powerpoint/2010/main" val="1618222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674557" y="832857"/>
            <a:ext cx="10088381" cy="84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200" dirty="0">
                <a:solidFill>
                  <a:srgbClr val="434343"/>
                </a:solidFill>
              </a:rPr>
              <a:t>Perceptron Learning Algorithm </a:t>
            </a:r>
            <a:r>
              <a:rPr lang="mr-IN" sz="3200" dirty="0">
                <a:solidFill>
                  <a:srgbClr val="434343"/>
                </a:solidFill>
              </a:rPr>
              <a:t>–</a:t>
            </a:r>
            <a:r>
              <a:rPr lang="en-US" sz="3200" dirty="0">
                <a:solidFill>
                  <a:srgbClr val="434343"/>
                </a:solidFill>
              </a:rPr>
              <a:t> Convergence Proof</a:t>
            </a:r>
            <a:endParaRPr sz="3200" dirty="0">
              <a:solidFill>
                <a:srgbClr val="434343"/>
              </a:solidFill>
            </a:endParaRPr>
          </a:p>
        </p:txBody>
      </p:sp>
      <p:sp>
        <p:nvSpPr>
          <p:cNvPr id="2" name="Footer Placeholder 1"/>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6" name="Slide Number Placeholder 5"/>
          <p:cNvSpPr>
            <a:spLocks noGrp="1"/>
          </p:cNvSpPr>
          <p:nvPr>
            <p:ph type="sldNum" sz="quarter" idx="4"/>
          </p:nvPr>
        </p:nvSpPr>
        <p:spPr>
          <a:xfrm>
            <a:off x="10569844" y="6356350"/>
            <a:ext cx="783956" cy="365125"/>
          </a:xfrm>
        </p:spPr>
        <p:txBody>
          <a:bodyPr/>
          <a:lstStyle/>
          <a:p>
            <a:fld id="{683B8651-0143-4140-839E-3D36292080E8}" type="slidenum">
              <a:rPr lang="en-US" smtClean="0"/>
              <a:t>10</a:t>
            </a:fld>
            <a:endParaRPr lang="en-US"/>
          </a:p>
        </p:txBody>
      </p:sp>
      <mc:AlternateContent xmlns:mc="http://schemas.openxmlformats.org/markup-compatibility/2006" xmlns:a14="http://schemas.microsoft.com/office/drawing/2010/main">
        <mc:Choice Requires="a14">
          <p:sp>
            <p:nvSpPr>
              <p:cNvPr id="90" name="TextBox 89"/>
              <p:cNvSpPr txBox="1"/>
              <p:nvPr/>
            </p:nvSpPr>
            <p:spPr>
              <a:xfrm>
                <a:off x="317785" y="1506446"/>
                <a:ext cx="11556430" cy="5209888"/>
              </a:xfrm>
              <a:prstGeom prst="rect">
                <a:avLst/>
              </a:prstGeom>
              <a:noFill/>
            </p:spPr>
            <p:txBody>
              <a:bodyPr wrap="square" rtlCol="0">
                <a:spAutoFit/>
              </a:bodyPr>
              <a:lstStyle/>
              <a:p>
                <a:pPr marL="342900" indent="-342900">
                  <a:buFont typeface="Arial" charset="0"/>
                  <a:buChar char="•"/>
                </a:pPr>
                <a:r>
                  <a:rPr lang="en-US" sz="2400" dirty="0"/>
                  <a:t>Thus a simple classification rule can be </a:t>
                </a:r>
                <a14:m>
                  <m:oMath xmlns:m="http://schemas.openxmlformats.org/officeDocument/2006/math">
                    <m:sSup>
                      <m:sSupPr>
                        <m:ctrlPr>
                          <a:rPr lang="en-US" sz="2400" b="0" i="1" smtClean="0">
                            <a:latin typeface="Cambria Math" panose="02040503050406030204" pitchFamily="18" charset="0"/>
                          </a:rPr>
                        </m:ctrlPr>
                      </m:sSupPr>
                      <m:e>
                        <m:r>
                          <a:rPr lang="en-US" sz="2400" b="1" i="1" smtClean="0">
                            <a:latin typeface="Cambria Math" charset="0"/>
                          </a:rPr>
                          <m:t>𝒘</m:t>
                        </m:r>
                      </m:e>
                      <m:sup>
                        <m:r>
                          <a:rPr lang="en-US" sz="2400" b="0" i="1" smtClean="0">
                            <a:latin typeface="Cambria Math" charset="0"/>
                          </a:rPr>
                          <m:t>𝑇</m:t>
                        </m:r>
                      </m:sup>
                    </m:sSup>
                    <m:r>
                      <a:rPr lang="en-US" sz="2400" b="1" i="1" smtClean="0">
                        <a:latin typeface="Cambria Math" charset="0"/>
                      </a:rPr>
                      <m:t>𝒙</m:t>
                    </m:r>
                    <m:r>
                      <a:rPr lang="en-US" sz="2400" b="0" i="1" smtClean="0">
                        <a:latin typeface="Cambria Math" charset="0"/>
                      </a:rPr>
                      <m:t>+</m:t>
                    </m:r>
                    <m:r>
                      <a:rPr lang="en-US" sz="2400" b="0" i="1" smtClean="0">
                        <a:latin typeface="Cambria Math" charset="0"/>
                      </a:rPr>
                      <m:t>𝑏</m:t>
                    </m:r>
                    <m:r>
                      <a:rPr lang="en-US" sz="2400" b="0" i="1" smtClean="0">
                        <a:latin typeface="Cambria Math" charset="0"/>
                      </a:rPr>
                      <m:t>&gt;0</m:t>
                    </m:r>
                  </m:oMath>
                </a14:m>
                <a:r>
                  <a:rPr lang="en-US" sz="2400" dirty="0"/>
                  <a:t> or </a:t>
                </a:r>
                <a14:m>
                  <m:oMath xmlns:m="http://schemas.openxmlformats.org/officeDocument/2006/math">
                    <m:r>
                      <a:rPr lang="en-US" sz="2400" b="0" i="1" smtClean="0">
                        <a:latin typeface="Cambria Math" charset="0"/>
                      </a:rPr>
                      <m:t>&lt;</m:t>
                    </m:r>
                    <m:r>
                      <a:rPr lang="en-US" sz="2400" i="1">
                        <a:latin typeface="Cambria Math" charset="0"/>
                      </a:rPr>
                      <m:t>0</m:t>
                    </m:r>
                  </m:oMath>
                </a14:m>
                <a:r>
                  <a:rPr lang="en-US" sz="2400" dirty="0"/>
                  <a:t>.</a:t>
                </a:r>
              </a:p>
              <a:p>
                <a:pPr marL="342900" indent="-342900">
                  <a:buFont typeface="Arial" charset="0"/>
                  <a:buChar char="•"/>
                </a:pPr>
                <a:endParaRPr lang="en-US" sz="2400" dirty="0"/>
              </a:p>
              <a:p>
                <a:pPr marL="342900" indent="-342900">
                  <a:buFont typeface="Arial" charset="0"/>
                  <a:buChar char="•"/>
                </a:pPr>
                <a:r>
                  <a:rPr lang="en-US" sz="2400" dirty="0"/>
                  <a:t>For simplicity, let us assume that the hyperplane passes through origin </a:t>
                </a:r>
                <a:r>
                  <a:rPr lang="mr-IN" sz="2400" dirty="0"/>
                  <a:t>–</a:t>
                </a:r>
                <a:r>
                  <a:rPr lang="en-US" sz="2400" dirty="0"/>
                  <a:t> This does not affect the problem in our hand as it just shifts the origin. But that means </a:t>
                </a:r>
                <a14:m>
                  <m:oMath xmlns:m="http://schemas.openxmlformats.org/officeDocument/2006/math">
                    <m:r>
                      <a:rPr lang="en-US" sz="2400" b="0" i="1" smtClean="0">
                        <a:latin typeface="Cambria Math" charset="0"/>
                      </a:rPr>
                      <m:t>𝑏</m:t>
                    </m:r>
                    <m:r>
                      <a:rPr lang="en-US" sz="2400" b="0" i="1" smtClean="0">
                        <a:latin typeface="Cambria Math" charset="0"/>
                      </a:rPr>
                      <m:t>=0</m:t>
                    </m:r>
                  </m:oMath>
                </a14:m>
                <a:r>
                  <a:rPr lang="en-US" sz="2400" dirty="0"/>
                  <a:t>. Thus the classification rule becomes </a:t>
                </a:r>
                <a14:m>
                  <m:oMath xmlns:m="http://schemas.openxmlformats.org/officeDocument/2006/math">
                    <m:r>
                      <a:rPr lang="en-US" sz="2400" b="0" i="1" smtClean="0">
                        <a:latin typeface="Cambria Math" charset="0"/>
                      </a:rPr>
                      <m:t>𝑠𝑔𝑛</m:t>
                    </m:r>
                    <m:d>
                      <m:dPr>
                        <m:ctrlPr>
                          <a:rPr lang="en-US" sz="2400" b="0" i="1" smtClean="0">
                            <a:latin typeface="Cambria Math" panose="02040503050406030204" pitchFamily="18" charset="0"/>
                          </a:rPr>
                        </m:ctrlPr>
                      </m:dPr>
                      <m:e>
                        <m:sSup>
                          <m:sSupPr>
                            <m:ctrlPr>
                              <a:rPr lang="en-US" sz="2400" i="1">
                                <a:latin typeface="Cambria Math" panose="02040503050406030204" pitchFamily="18" charset="0"/>
                              </a:rPr>
                            </m:ctrlPr>
                          </m:sSupPr>
                          <m:e>
                            <m:r>
                              <a:rPr lang="en-US" sz="2400" b="1" i="1">
                                <a:latin typeface="Cambria Math" charset="0"/>
                              </a:rPr>
                              <m:t>𝒘</m:t>
                            </m:r>
                          </m:e>
                          <m:sup>
                            <m:r>
                              <a:rPr lang="en-US" sz="2400" i="1">
                                <a:latin typeface="Cambria Math" charset="0"/>
                              </a:rPr>
                              <m:t>𝑇</m:t>
                            </m:r>
                          </m:sup>
                        </m:sSup>
                        <m:sSup>
                          <m:sSupPr>
                            <m:ctrlPr>
                              <a:rPr lang="en-US" sz="2400" b="0" i="1" smtClean="0">
                                <a:latin typeface="Cambria Math" panose="02040503050406030204" pitchFamily="18" charset="0"/>
                              </a:rPr>
                            </m:ctrlPr>
                          </m:sSupPr>
                          <m:e>
                            <m:r>
                              <a:rPr lang="en-US" sz="2400" b="1" i="1">
                                <a:latin typeface="Cambria Math" charset="0"/>
                              </a:rPr>
                              <m:t>𝒙</m:t>
                            </m:r>
                          </m:e>
                          <m:sup>
                            <m:d>
                              <m:dPr>
                                <m:ctrlPr>
                                  <a:rPr lang="en-US" sz="2400" b="0" i="1" smtClean="0">
                                    <a:latin typeface="Cambria Math" panose="02040503050406030204" pitchFamily="18" charset="0"/>
                                  </a:rPr>
                                </m:ctrlPr>
                              </m:dPr>
                              <m:e>
                                <m:r>
                                  <a:rPr lang="en-US" sz="2400" b="0" i="1" smtClean="0">
                                    <a:latin typeface="Cambria Math" charset="0"/>
                                  </a:rPr>
                                  <m:t>𝑖</m:t>
                                </m:r>
                              </m:e>
                            </m:d>
                          </m:sup>
                        </m:sSup>
                      </m:e>
                    </m:d>
                    <m:r>
                      <a:rPr lang="en-US" sz="2400" b="0" i="1" smtClean="0">
                        <a:latin typeface="Cambria Math" charset="0"/>
                      </a:rPr>
                      <m:t>=</m:t>
                    </m:r>
                    <m:sSup>
                      <m:sSupPr>
                        <m:ctrlPr>
                          <a:rPr lang="en-US" sz="2400" b="0" i="1" smtClean="0">
                            <a:latin typeface="Cambria Math" panose="02040503050406030204" pitchFamily="18" charset="0"/>
                          </a:rPr>
                        </m:ctrlPr>
                      </m:sSupPr>
                      <m:e>
                        <m:r>
                          <a:rPr lang="en-US" sz="2400" b="0" i="1" smtClean="0">
                            <a:latin typeface="Cambria Math" charset="0"/>
                          </a:rPr>
                          <m:t>𝑦</m:t>
                        </m:r>
                      </m:e>
                      <m:sup>
                        <m:r>
                          <a:rPr lang="en-US" sz="2400" b="0" i="1" smtClean="0">
                            <a:latin typeface="Cambria Math" charset="0"/>
                          </a:rPr>
                          <m:t>(</m:t>
                        </m:r>
                        <m:r>
                          <a:rPr lang="en-US" sz="2400" b="0" i="1" smtClean="0">
                            <a:latin typeface="Cambria Math" charset="0"/>
                          </a:rPr>
                          <m:t>𝑖</m:t>
                        </m:r>
                        <m:r>
                          <a:rPr lang="en-US" sz="2400" b="0" i="1" smtClean="0">
                            <a:latin typeface="Cambria Math" charset="0"/>
                          </a:rPr>
                          <m:t>)</m:t>
                        </m:r>
                      </m:sup>
                    </m:sSup>
                    <m:r>
                      <a:rPr lang="en-US" sz="2400" b="0" i="1" smtClean="0">
                        <a:latin typeface="Cambria Math" charset="0"/>
                      </a:rPr>
                      <m:t>∀(</m:t>
                    </m:r>
                    <m:sSup>
                      <m:sSupPr>
                        <m:ctrlPr>
                          <a:rPr lang="en-US" sz="2400" i="1">
                            <a:latin typeface="Cambria Math" panose="02040503050406030204" pitchFamily="18" charset="0"/>
                          </a:rPr>
                        </m:ctrlPr>
                      </m:sSupPr>
                      <m:e>
                        <m:r>
                          <a:rPr lang="en-US" sz="2400" b="1" i="1">
                            <a:latin typeface="Cambria Math" charset="0"/>
                          </a:rPr>
                          <m:t>𝒙</m:t>
                        </m:r>
                      </m:e>
                      <m:sup>
                        <m:d>
                          <m:dPr>
                            <m:ctrlPr>
                              <a:rPr lang="en-US" sz="2400" i="1">
                                <a:latin typeface="Cambria Math" panose="02040503050406030204" pitchFamily="18" charset="0"/>
                              </a:rPr>
                            </m:ctrlPr>
                          </m:dPr>
                          <m:e>
                            <m:r>
                              <a:rPr lang="en-US" sz="2400" i="1">
                                <a:latin typeface="Cambria Math" charset="0"/>
                              </a:rPr>
                              <m:t>𝑖</m:t>
                            </m:r>
                          </m:e>
                        </m:d>
                      </m:sup>
                    </m:sSup>
                    <m:r>
                      <a:rPr lang="en-US" sz="2400" b="0" i="1" smtClean="0">
                        <a:latin typeface="Cambria Math" charset="0"/>
                      </a:rPr>
                      <m:t>,</m:t>
                    </m:r>
                    <m:sSup>
                      <m:sSupPr>
                        <m:ctrlPr>
                          <a:rPr lang="en-US" sz="2400" i="1">
                            <a:latin typeface="Cambria Math" panose="02040503050406030204" pitchFamily="18" charset="0"/>
                          </a:rPr>
                        </m:ctrlPr>
                      </m:sSupPr>
                      <m:e>
                        <m:r>
                          <a:rPr lang="en-US" sz="2400" i="1">
                            <a:latin typeface="Cambria Math" charset="0"/>
                          </a:rPr>
                          <m:t>𝑦</m:t>
                        </m:r>
                      </m:e>
                      <m:sup>
                        <m:r>
                          <a:rPr lang="en-US" sz="2400" i="1">
                            <a:latin typeface="Cambria Math" charset="0"/>
                          </a:rPr>
                          <m:t>(</m:t>
                        </m:r>
                        <m:r>
                          <a:rPr lang="en-US" sz="2400" i="1">
                            <a:latin typeface="Cambria Math" charset="0"/>
                          </a:rPr>
                          <m:t>𝑖</m:t>
                        </m:r>
                        <m:r>
                          <a:rPr lang="en-US" sz="2400" i="1">
                            <a:latin typeface="Cambria Math" charset="0"/>
                          </a:rPr>
                          <m:t>)</m:t>
                        </m:r>
                      </m:sup>
                    </m:sSup>
                    <m:r>
                      <a:rPr lang="en-US" sz="2400" b="0" i="1" smtClean="0">
                        <a:latin typeface="Cambria Math" charset="0"/>
                      </a:rPr>
                      <m:t>)</m:t>
                    </m:r>
                  </m:oMath>
                </a14:m>
                <a:r>
                  <a:rPr lang="en-US" sz="2400" dirty="0"/>
                  <a:t>.</a:t>
                </a:r>
              </a:p>
              <a:p>
                <a:pPr marL="342900" indent="-342900">
                  <a:buFont typeface="Arial" charset="0"/>
                  <a:buChar char="•"/>
                </a:pPr>
                <a:endParaRPr lang="en-US" sz="2400" dirty="0"/>
              </a:p>
              <a:p>
                <a:pPr marL="342900" indent="-342900">
                  <a:buFont typeface="Arial" charset="0"/>
                  <a:buChar char="•"/>
                </a:pPr>
                <a:r>
                  <a:rPr lang="en-US" sz="2400" dirty="0"/>
                  <a:t>There may not exist such hyperplane that can separate two sets of data. If it exists then the data is known to be linearly separable.</a:t>
                </a:r>
              </a:p>
              <a:p>
                <a:pPr marL="342900" indent="-342900">
                  <a:buFont typeface="Arial" charset="0"/>
                  <a:buChar char="•"/>
                </a:pPr>
                <a:endParaRPr lang="en-US" sz="2400" dirty="0"/>
              </a:p>
              <a:p>
                <a:pPr marL="342900" indent="-342900">
                  <a:buFont typeface="Arial" charset="0"/>
                  <a:buChar char="•"/>
                </a:pPr>
                <a:r>
                  <a:rPr lang="en-US" sz="2400" dirty="0"/>
                  <a:t>A more formal definition is </a:t>
                </a:r>
                <a:r>
                  <a:rPr lang="mr-IN" sz="2400" dirty="0"/>
                  <a:t>–</a:t>
                </a:r>
                <a:r>
                  <a:rPr lang="en-US" sz="2400" dirty="0"/>
                  <a:t> Two sets </a:t>
                </a:r>
                <a14:m>
                  <m:oMath xmlns:m="http://schemas.openxmlformats.org/officeDocument/2006/math">
                    <m:r>
                      <a:rPr lang="en-US" sz="2400" b="0" i="1" smtClean="0">
                        <a:latin typeface="Cambria Math" charset="0"/>
                      </a:rPr>
                      <m:t>𝑃</m:t>
                    </m:r>
                  </m:oMath>
                </a14:m>
                <a:r>
                  <a:rPr lang="en-US" sz="2400" dirty="0"/>
                  <a:t> and </a:t>
                </a:r>
                <a14:m>
                  <m:oMath xmlns:m="http://schemas.openxmlformats.org/officeDocument/2006/math">
                    <m:r>
                      <a:rPr lang="en-US" sz="2400" b="0" i="1" smtClean="0">
                        <a:latin typeface="Cambria Math" charset="0"/>
                      </a:rPr>
                      <m:t>𝑁</m:t>
                    </m:r>
                  </m:oMath>
                </a14:m>
                <a:r>
                  <a:rPr lang="en-US" sz="2400" dirty="0"/>
                  <a:t> of </a:t>
                </a:r>
                <a14:m>
                  <m:oMath xmlns:m="http://schemas.openxmlformats.org/officeDocument/2006/math">
                    <m:r>
                      <a:rPr lang="en-US" sz="2400" b="0" i="1" smtClean="0">
                        <a:latin typeface="Cambria Math" charset="0"/>
                      </a:rPr>
                      <m:t>𝑑</m:t>
                    </m:r>
                  </m:oMath>
                </a14:m>
                <a:r>
                  <a:rPr lang="en-US" sz="2400" dirty="0"/>
                  <a:t> dimensional points are said to be linearly separable if there exists </a:t>
                </a:r>
                <a14:m>
                  <m:oMath xmlns:m="http://schemas.openxmlformats.org/officeDocument/2006/math">
                    <m:r>
                      <a:rPr lang="en-US" sz="2400" b="0" i="1" smtClean="0">
                        <a:latin typeface="Cambria Math" charset="0"/>
                      </a:rPr>
                      <m:t>𝑑</m:t>
                    </m:r>
                    <m:r>
                      <a:rPr lang="en-US" sz="2400" b="0" i="1" smtClean="0">
                        <a:latin typeface="Cambria Math" charset="0"/>
                      </a:rPr>
                      <m:t>+1</m:t>
                    </m:r>
                  </m:oMath>
                </a14:m>
                <a:r>
                  <a:rPr lang="en-US" sz="2400" dirty="0"/>
                  <a:t> real numbers </a:t>
                </a:r>
                <a14:m>
                  <m:oMath xmlns:m="http://schemas.openxmlformats.org/officeDocument/2006/math">
                    <m:sSub>
                      <m:sSubPr>
                        <m:ctrlPr>
                          <a:rPr lang="en-US" sz="2400" b="0" i="1" smtClean="0">
                            <a:latin typeface="Cambria Math" panose="02040503050406030204" pitchFamily="18" charset="0"/>
                          </a:rPr>
                        </m:ctrlPr>
                      </m:sSubPr>
                      <m:e>
                        <m:r>
                          <a:rPr lang="en-US" sz="2400" b="1" i="1" smtClean="0">
                            <a:latin typeface="Cambria Math" charset="0"/>
                          </a:rPr>
                          <m:t>𝒘</m:t>
                        </m:r>
                        <m:r>
                          <a:rPr lang="en-US" sz="2400" b="0" i="1" smtClean="0">
                            <a:latin typeface="Cambria Math" charset="0"/>
                          </a:rPr>
                          <m:t>=(</m:t>
                        </m:r>
                        <m:r>
                          <a:rPr lang="en-US" sz="2400" b="0" i="1" smtClean="0">
                            <a:latin typeface="Cambria Math" charset="0"/>
                          </a:rPr>
                          <m:t>𝑤</m:t>
                        </m:r>
                      </m:e>
                      <m:sub>
                        <m:r>
                          <a:rPr lang="en-US" sz="2400" b="0" i="1" smtClean="0">
                            <a:latin typeface="Cambria Math" charset="0"/>
                          </a:rPr>
                          <m:t>0</m:t>
                        </m:r>
                      </m:sub>
                    </m:sSub>
                    <m:r>
                      <a:rPr lang="en-US" sz="2400" b="0" i="1" smtClean="0">
                        <a:latin typeface="Cambria Math" charset="0"/>
                      </a:rPr>
                      <m:t>,</m:t>
                    </m:r>
                    <m:sSub>
                      <m:sSubPr>
                        <m:ctrlPr>
                          <a:rPr lang="en-US" sz="2400" b="0" i="1" smtClean="0">
                            <a:latin typeface="Cambria Math" panose="02040503050406030204" pitchFamily="18" charset="0"/>
                          </a:rPr>
                        </m:ctrlPr>
                      </m:sSubPr>
                      <m:e>
                        <m:r>
                          <a:rPr lang="en-US" sz="2400" b="0" i="1" smtClean="0">
                            <a:latin typeface="Cambria Math" charset="0"/>
                          </a:rPr>
                          <m:t>𝑤</m:t>
                        </m:r>
                      </m:e>
                      <m:sub>
                        <m:r>
                          <a:rPr lang="en-US" sz="2400" b="0" i="1" smtClean="0">
                            <a:latin typeface="Cambria Math" charset="0"/>
                          </a:rPr>
                          <m:t>1</m:t>
                        </m:r>
                      </m:sub>
                    </m:sSub>
                    <m:r>
                      <a:rPr lang="en-US" sz="2400" b="0" i="1" smtClean="0">
                        <a:latin typeface="Cambria Math" charset="0"/>
                      </a:rPr>
                      <m:t>, ⋯, </m:t>
                    </m:r>
                    <m:sSub>
                      <m:sSubPr>
                        <m:ctrlPr>
                          <a:rPr lang="en-US" sz="2400" b="0" i="1" smtClean="0">
                            <a:latin typeface="Cambria Math" panose="02040503050406030204" pitchFamily="18" charset="0"/>
                          </a:rPr>
                        </m:ctrlPr>
                      </m:sSubPr>
                      <m:e>
                        <m:r>
                          <a:rPr lang="en-US" sz="2400" b="0" i="1" smtClean="0">
                            <a:latin typeface="Cambria Math" charset="0"/>
                          </a:rPr>
                          <m:t>𝑤</m:t>
                        </m:r>
                      </m:e>
                      <m:sub>
                        <m:r>
                          <a:rPr lang="en-US" sz="2400" b="0" i="1" smtClean="0">
                            <a:latin typeface="Cambria Math" charset="0"/>
                          </a:rPr>
                          <m:t>𝑑</m:t>
                        </m:r>
                        <m:r>
                          <a:rPr lang="en-US" sz="2400" b="0" i="1" smtClean="0">
                            <a:latin typeface="Cambria Math" charset="0"/>
                          </a:rPr>
                          <m:t>+1</m:t>
                        </m:r>
                      </m:sub>
                    </m:sSub>
                    <m:r>
                      <a:rPr lang="en-US" sz="2400" b="0" i="1" smtClean="0">
                        <a:latin typeface="Cambria Math" charset="0"/>
                      </a:rPr>
                      <m:t>)</m:t>
                    </m:r>
                  </m:oMath>
                </a14:m>
                <a:r>
                  <a:rPr lang="en-US" sz="2400" dirty="0"/>
                  <a:t> such that every point </a:t>
                </a:r>
                <a14:m>
                  <m:oMath xmlns:m="http://schemas.openxmlformats.org/officeDocument/2006/math">
                    <m:r>
                      <a:rPr lang="en-US" sz="2400" b="1" i="1" smtClean="0">
                        <a:latin typeface="Cambria Math" charset="0"/>
                      </a:rPr>
                      <m:t>𝒙</m:t>
                    </m:r>
                    <m:r>
                      <a:rPr lang="en-US" sz="2400" b="0" i="0" smtClean="0">
                        <a:latin typeface="Cambria Math" charset="0"/>
                      </a:rPr>
                      <m:t>=</m:t>
                    </m:r>
                    <m:d>
                      <m:dPr>
                        <m:ctrlPr>
                          <a:rPr lang="en-US" sz="2400" b="0" i="1" smtClean="0">
                            <a:latin typeface="Cambria Math" panose="02040503050406030204" pitchFamily="18" charset="0"/>
                          </a:rPr>
                        </m:ctrlPr>
                      </m:dPr>
                      <m:e>
                        <m:r>
                          <a:rPr lang="en-US" sz="2400" b="0" i="1" smtClean="0">
                            <a:latin typeface="Cambria Math" charset="0"/>
                          </a:rPr>
                          <m:t>1</m:t>
                        </m:r>
                        <m:r>
                          <a:rPr lang="en-US" sz="2400" i="1">
                            <a:latin typeface="Cambria Math" charset="0"/>
                          </a:rPr>
                          <m:t>,</m:t>
                        </m:r>
                        <m:sSub>
                          <m:sSubPr>
                            <m:ctrlPr>
                              <a:rPr lang="en-US" sz="2400" i="1">
                                <a:latin typeface="Cambria Math" panose="02040503050406030204" pitchFamily="18" charset="0"/>
                              </a:rPr>
                            </m:ctrlPr>
                          </m:sSubPr>
                          <m:e>
                            <m:r>
                              <a:rPr lang="en-US" sz="2400" b="0" i="1" smtClean="0">
                                <a:latin typeface="Cambria Math" charset="0"/>
                              </a:rPr>
                              <m:t>𝑥</m:t>
                            </m:r>
                          </m:e>
                          <m:sub>
                            <m:r>
                              <a:rPr lang="en-US" sz="2400" i="1">
                                <a:latin typeface="Cambria Math" charset="0"/>
                              </a:rPr>
                              <m:t>1</m:t>
                            </m:r>
                          </m:sub>
                        </m:sSub>
                        <m:r>
                          <a:rPr lang="en-US" sz="2400" i="1">
                            <a:latin typeface="Cambria Math" charset="0"/>
                          </a:rPr>
                          <m:t>, </m:t>
                        </m:r>
                        <m:sSub>
                          <m:sSubPr>
                            <m:ctrlPr>
                              <a:rPr lang="en-US" sz="2400" b="0" i="1" smtClean="0">
                                <a:latin typeface="Cambria Math" panose="02040503050406030204" pitchFamily="18" charset="0"/>
                              </a:rPr>
                            </m:ctrlPr>
                          </m:sSubPr>
                          <m:e>
                            <m:r>
                              <a:rPr lang="en-US" sz="2400" b="0" i="1" smtClean="0">
                                <a:latin typeface="Cambria Math" charset="0"/>
                              </a:rPr>
                              <m:t>𝑥</m:t>
                            </m:r>
                          </m:e>
                          <m:sub>
                            <m:r>
                              <a:rPr lang="en-US" sz="2400" b="0" i="1" smtClean="0">
                                <a:latin typeface="Cambria Math" charset="0"/>
                              </a:rPr>
                              <m:t>2</m:t>
                            </m:r>
                          </m:sub>
                        </m:sSub>
                        <m:r>
                          <a:rPr lang="en-US" sz="2400" b="0" i="1" smtClean="0">
                            <a:latin typeface="Cambria Math" charset="0"/>
                          </a:rPr>
                          <m:t>,</m:t>
                        </m:r>
                        <m:r>
                          <a:rPr lang="en-US" sz="2400" i="1">
                            <a:latin typeface="Cambria Math" charset="0"/>
                          </a:rPr>
                          <m:t>⋯, </m:t>
                        </m:r>
                        <m:sSub>
                          <m:sSubPr>
                            <m:ctrlPr>
                              <a:rPr lang="en-US" sz="2400" i="1">
                                <a:latin typeface="Cambria Math" panose="02040503050406030204" pitchFamily="18" charset="0"/>
                              </a:rPr>
                            </m:ctrlPr>
                          </m:sSubPr>
                          <m:e>
                            <m:r>
                              <a:rPr lang="en-US" sz="2400" b="0" i="1" smtClean="0">
                                <a:latin typeface="Cambria Math" charset="0"/>
                              </a:rPr>
                              <m:t>𝑥</m:t>
                            </m:r>
                          </m:e>
                          <m:sub>
                            <m:r>
                              <a:rPr lang="en-US" sz="2400" b="0" i="1" smtClean="0">
                                <a:latin typeface="Cambria Math" charset="0"/>
                              </a:rPr>
                              <m:t>𝑑</m:t>
                            </m:r>
                            <m:r>
                              <a:rPr lang="en-US" sz="2400" i="1">
                                <a:latin typeface="Cambria Math" charset="0"/>
                              </a:rPr>
                              <m:t>+1</m:t>
                            </m:r>
                          </m:sub>
                        </m:sSub>
                      </m:e>
                    </m:d>
                    <m:r>
                      <a:rPr lang="en-US" sz="2400" b="0" i="1" smtClean="0">
                        <a:latin typeface="Cambria Math" charset="0"/>
                      </a:rPr>
                      <m:t>∈</m:t>
                    </m:r>
                    <m:r>
                      <a:rPr lang="en-US" sz="2400" b="0" i="1" smtClean="0">
                        <a:latin typeface="Cambria Math" charset="0"/>
                      </a:rPr>
                      <m:t>𝑃</m:t>
                    </m:r>
                  </m:oMath>
                </a14:m>
                <a:r>
                  <a:rPr lang="en-US" sz="2400" dirty="0"/>
                  <a:t>, satisfies </a:t>
                </a:r>
                <a14:m>
                  <m:oMath xmlns:m="http://schemas.openxmlformats.org/officeDocument/2006/math">
                    <m:r>
                      <a:rPr lang="en-US" sz="2400" b="0" i="1" smtClean="0">
                        <a:latin typeface="Cambria Math" charset="0"/>
                      </a:rPr>
                      <m:t>𝑠𝑔𝑛</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1" i="1" smtClean="0">
                                <a:latin typeface="Cambria Math" charset="0"/>
                              </a:rPr>
                              <m:t>𝒘</m:t>
                            </m:r>
                          </m:e>
                          <m:sup>
                            <m:r>
                              <a:rPr lang="en-US" sz="2400" b="0" i="1" smtClean="0">
                                <a:latin typeface="Cambria Math" charset="0"/>
                              </a:rPr>
                              <m:t>𝑇</m:t>
                            </m:r>
                          </m:sup>
                        </m:sSup>
                        <m:r>
                          <a:rPr lang="en-US" sz="2400" b="1" i="1" smtClean="0">
                            <a:latin typeface="Cambria Math" charset="0"/>
                          </a:rPr>
                          <m:t>𝒙</m:t>
                        </m:r>
                      </m:e>
                    </m:d>
                    <m:r>
                      <a:rPr lang="en-US" sz="2400" b="0" i="1" smtClean="0">
                        <a:latin typeface="Cambria Math" charset="0"/>
                      </a:rPr>
                      <m:t>=1</m:t>
                    </m:r>
                  </m:oMath>
                </a14:m>
                <a:r>
                  <a:rPr lang="en-US" sz="2400" dirty="0"/>
                  <a:t> and every point </a:t>
                </a:r>
                <a14:m>
                  <m:oMath xmlns:m="http://schemas.openxmlformats.org/officeDocument/2006/math">
                    <m:r>
                      <a:rPr lang="en-US" sz="2400" b="1" i="1">
                        <a:latin typeface="Cambria Math" charset="0"/>
                      </a:rPr>
                      <m:t>𝒙</m:t>
                    </m:r>
                    <m:r>
                      <a:rPr lang="en-US" sz="2400">
                        <a:latin typeface="Cambria Math" charset="0"/>
                      </a:rPr>
                      <m:t>=</m:t>
                    </m:r>
                    <m:d>
                      <m:dPr>
                        <m:ctrlPr>
                          <a:rPr lang="en-US" sz="2400" i="1">
                            <a:latin typeface="Cambria Math" panose="02040503050406030204" pitchFamily="18" charset="0"/>
                          </a:rPr>
                        </m:ctrlPr>
                      </m:dPr>
                      <m:e>
                        <m:r>
                          <a:rPr lang="en-US" sz="2400" i="1">
                            <a:latin typeface="Cambria Math" charset="0"/>
                          </a:rPr>
                          <m:t>1,</m:t>
                        </m:r>
                        <m:sSub>
                          <m:sSubPr>
                            <m:ctrlPr>
                              <a:rPr lang="en-US" sz="2400" i="1">
                                <a:latin typeface="Cambria Math" panose="02040503050406030204" pitchFamily="18" charset="0"/>
                              </a:rPr>
                            </m:ctrlPr>
                          </m:sSubPr>
                          <m:e>
                            <m:r>
                              <a:rPr lang="en-US" sz="2400" i="1">
                                <a:latin typeface="Cambria Math" charset="0"/>
                              </a:rPr>
                              <m:t>𝑥</m:t>
                            </m:r>
                          </m:e>
                          <m:sub>
                            <m:r>
                              <a:rPr lang="en-US" sz="2400" i="1">
                                <a:latin typeface="Cambria Math" charset="0"/>
                              </a:rPr>
                              <m:t>1</m:t>
                            </m:r>
                          </m:sub>
                        </m:sSub>
                        <m:r>
                          <a:rPr lang="en-US" sz="2400" i="1">
                            <a:latin typeface="Cambria Math" charset="0"/>
                          </a:rPr>
                          <m:t>, </m:t>
                        </m:r>
                        <m:sSub>
                          <m:sSubPr>
                            <m:ctrlPr>
                              <a:rPr lang="en-US" sz="2400" i="1">
                                <a:latin typeface="Cambria Math" panose="02040503050406030204" pitchFamily="18" charset="0"/>
                              </a:rPr>
                            </m:ctrlPr>
                          </m:sSubPr>
                          <m:e>
                            <m:r>
                              <a:rPr lang="en-US" sz="2400" i="1">
                                <a:latin typeface="Cambria Math" charset="0"/>
                              </a:rPr>
                              <m:t>𝑥</m:t>
                            </m:r>
                          </m:e>
                          <m:sub>
                            <m:r>
                              <a:rPr lang="en-US" sz="2400" i="1">
                                <a:latin typeface="Cambria Math" charset="0"/>
                              </a:rPr>
                              <m:t>2</m:t>
                            </m:r>
                          </m:sub>
                        </m:sSub>
                        <m:r>
                          <a:rPr lang="en-US" sz="2400" i="1">
                            <a:latin typeface="Cambria Math" charset="0"/>
                          </a:rPr>
                          <m:t>,⋯, </m:t>
                        </m:r>
                        <m:sSub>
                          <m:sSubPr>
                            <m:ctrlPr>
                              <a:rPr lang="en-US" sz="2400" i="1">
                                <a:latin typeface="Cambria Math" panose="02040503050406030204" pitchFamily="18" charset="0"/>
                              </a:rPr>
                            </m:ctrlPr>
                          </m:sSubPr>
                          <m:e>
                            <m:r>
                              <a:rPr lang="en-US" sz="2400" i="1">
                                <a:latin typeface="Cambria Math" charset="0"/>
                              </a:rPr>
                              <m:t>𝑥</m:t>
                            </m:r>
                          </m:e>
                          <m:sub>
                            <m:r>
                              <a:rPr lang="en-US" sz="2400" b="0" i="1" smtClean="0">
                                <a:latin typeface="Cambria Math" charset="0"/>
                              </a:rPr>
                              <m:t>𝑑</m:t>
                            </m:r>
                            <m:r>
                              <a:rPr lang="en-US" sz="2400" i="1">
                                <a:latin typeface="Cambria Math" charset="0"/>
                              </a:rPr>
                              <m:t>+1</m:t>
                            </m:r>
                          </m:sub>
                        </m:sSub>
                      </m:e>
                    </m:d>
                    <m:r>
                      <a:rPr lang="en-US" sz="2400" i="1">
                        <a:latin typeface="Cambria Math" charset="0"/>
                      </a:rPr>
                      <m:t>∈</m:t>
                    </m:r>
                    <m:r>
                      <a:rPr lang="en-US" sz="2400" b="0" i="1" smtClean="0">
                        <a:latin typeface="Cambria Math" charset="0"/>
                      </a:rPr>
                      <m:t>𝑁</m:t>
                    </m:r>
                  </m:oMath>
                </a14:m>
                <a:r>
                  <a:rPr lang="en-US" sz="2400" dirty="0"/>
                  <a:t>, satisfies </a:t>
                </a:r>
                <a14:m>
                  <m:oMath xmlns:m="http://schemas.openxmlformats.org/officeDocument/2006/math">
                    <m:r>
                      <a:rPr lang="en-US" sz="2400" i="1">
                        <a:latin typeface="Cambria Math" charset="0"/>
                      </a:rPr>
                      <m:t>𝑠𝑔𝑛</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b="1" i="1">
                                <a:latin typeface="Cambria Math" charset="0"/>
                              </a:rPr>
                              <m:t>𝒘</m:t>
                            </m:r>
                          </m:e>
                          <m:sup>
                            <m:r>
                              <a:rPr lang="en-US" sz="2400" i="1">
                                <a:latin typeface="Cambria Math" charset="0"/>
                              </a:rPr>
                              <m:t>𝑇</m:t>
                            </m:r>
                          </m:sup>
                        </m:sSup>
                        <m:r>
                          <a:rPr lang="en-US" sz="2400" b="1" i="1">
                            <a:latin typeface="Cambria Math" charset="0"/>
                          </a:rPr>
                          <m:t>𝒙</m:t>
                        </m:r>
                      </m:e>
                    </m:d>
                    <m:r>
                      <a:rPr lang="en-US" sz="2400" i="1">
                        <a:latin typeface="Cambria Math" charset="0"/>
                      </a:rPr>
                      <m:t>=</m:t>
                    </m:r>
                    <m:r>
                      <a:rPr lang="en-US" sz="2400" b="0" i="1" smtClean="0">
                        <a:latin typeface="Cambria Math" charset="0"/>
                      </a:rPr>
                      <m:t>−</m:t>
                    </m:r>
                    <m:r>
                      <a:rPr lang="en-US" sz="2400" i="1">
                        <a:latin typeface="Cambria Math" charset="0"/>
                      </a:rPr>
                      <m:t>1</m:t>
                    </m:r>
                  </m:oMath>
                </a14:m>
                <a:r>
                  <a:rPr lang="en-US" sz="2400" dirty="0"/>
                  <a:t>, </a:t>
                </a:r>
              </a:p>
              <a:p>
                <a:endParaRPr lang="en-US" sz="1700" dirty="0"/>
              </a:p>
            </p:txBody>
          </p:sp>
        </mc:Choice>
        <mc:Fallback xmlns="">
          <p:sp>
            <p:nvSpPr>
              <p:cNvPr id="90" name="TextBox 89"/>
              <p:cNvSpPr txBox="1">
                <a:spLocks noRot="1" noChangeAspect="1" noMove="1" noResize="1" noEditPoints="1" noAdjustHandles="1" noChangeArrowheads="1" noChangeShapeType="1" noTextEdit="1"/>
              </p:cNvSpPr>
              <p:nvPr/>
            </p:nvSpPr>
            <p:spPr>
              <a:xfrm>
                <a:off x="317785" y="1506446"/>
                <a:ext cx="11556430" cy="5209888"/>
              </a:xfrm>
              <a:prstGeom prst="rect">
                <a:avLst/>
              </a:prstGeom>
              <a:blipFill rotWithShape="0">
                <a:blip r:embed="rId3"/>
                <a:stretch>
                  <a:fillRect l="-686" t="-936" r="-580"/>
                </a:stretch>
              </a:blipFill>
            </p:spPr>
            <p:txBody>
              <a:bodyPr/>
              <a:lstStyle/>
              <a:p>
                <a:r>
                  <a:rPr lang="en-US">
                    <a:noFill/>
                  </a:rPr>
                  <a:t> </a:t>
                </a:r>
              </a:p>
            </p:txBody>
          </p:sp>
        </mc:Fallback>
      </mc:AlternateContent>
    </p:spTree>
    <p:extLst>
      <p:ext uri="{BB962C8B-B14F-4D97-AF65-F5344CB8AC3E}">
        <p14:creationId xmlns:p14="http://schemas.microsoft.com/office/powerpoint/2010/main" val="1561324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674557" y="832857"/>
            <a:ext cx="10088381" cy="84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200" dirty="0">
                <a:solidFill>
                  <a:srgbClr val="434343"/>
                </a:solidFill>
              </a:rPr>
              <a:t>Perceptron Learning Algorithm </a:t>
            </a:r>
            <a:r>
              <a:rPr lang="mr-IN" sz="3200" dirty="0">
                <a:solidFill>
                  <a:srgbClr val="434343"/>
                </a:solidFill>
              </a:rPr>
              <a:t>–</a:t>
            </a:r>
            <a:r>
              <a:rPr lang="en-US" sz="3200" dirty="0">
                <a:solidFill>
                  <a:srgbClr val="434343"/>
                </a:solidFill>
              </a:rPr>
              <a:t> Convergence Proof</a:t>
            </a:r>
            <a:endParaRPr sz="3200" dirty="0">
              <a:solidFill>
                <a:srgbClr val="434343"/>
              </a:solidFill>
            </a:endParaRPr>
          </a:p>
        </p:txBody>
      </p:sp>
      <mc:AlternateContent xmlns:mc="http://schemas.openxmlformats.org/markup-compatibility/2006" xmlns:a14="http://schemas.microsoft.com/office/drawing/2010/main">
        <mc:Choice Requires="a14">
          <p:sp>
            <p:nvSpPr>
              <p:cNvPr id="33" name="TextBox 32"/>
              <p:cNvSpPr txBox="1"/>
              <p:nvPr/>
            </p:nvSpPr>
            <p:spPr>
              <a:xfrm>
                <a:off x="180868" y="1415979"/>
                <a:ext cx="12011132" cy="4636526"/>
              </a:xfrm>
              <a:prstGeom prst="rect">
                <a:avLst/>
              </a:prstGeom>
              <a:noFill/>
            </p:spPr>
            <p:txBody>
              <a:bodyPr wrap="square" rtlCol="0">
                <a:spAutoFit/>
              </a:bodyPr>
              <a:lstStyle/>
              <a:p>
                <a:r>
                  <a:rPr lang="en-US" sz="2400" dirty="0"/>
                  <a:t>Without loss of generalization we will also assume the following while proving the convergence theorem.</a:t>
                </a:r>
              </a:p>
              <a:p>
                <a:pPr marL="285750" indent="-285750">
                  <a:buFont typeface="Arial" charset="0"/>
                  <a:buChar char="•"/>
                </a:pPr>
                <a:r>
                  <a:rPr lang="en-US" sz="2400" dirty="0"/>
                  <a:t>We normalize all the points </a:t>
                </a:r>
                <a14:m>
                  <m:oMath xmlns:m="http://schemas.openxmlformats.org/officeDocument/2006/math">
                    <m:sSup>
                      <m:sSupPr>
                        <m:ctrlPr>
                          <a:rPr lang="en-US" sz="2400" i="1" smtClean="0">
                            <a:latin typeface="Cambria Math" panose="02040503050406030204" pitchFamily="18" charset="0"/>
                          </a:rPr>
                        </m:ctrlPr>
                      </m:sSupPr>
                      <m:e>
                        <m:r>
                          <a:rPr lang="en-US" sz="2400" b="1" i="1" smtClean="0">
                            <a:latin typeface="Cambria Math" charset="0"/>
                          </a:rPr>
                          <m:t>𝒙</m:t>
                        </m:r>
                      </m:e>
                      <m:sup>
                        <m:r>
                          <a:rPr lang="en-US" sz="2400" b="0" i="1" smtClean="0">
                            <a:latin typeface="Cambria Math" charset="0"/>
                          </a:rPr>
                          <m:t>(</m:t>
                        </m:r>
                        <m:r>
                          <a:rPr lang="en-US" sz="2400" b="0" i="1" smtClean="0">
                            <a:latin typeface="Cambria Math" charset="0"/>
                          </a:rPr>
                          <m:t>𝑖</m:t>
                        </m:r>
                        <m:r>
                          <a:rPr lang="en-US" sz="2400" b="0" i="1" smtClean="0">
                            <a:latin typeface="Cambria Math" charset="0"/>
                          </a:rPr>
                          <m:t>)</m:t>
                        </m:r>
                      </m:sup>
                    </m:sSup>
                  </m:oMath>
                </a14:m>
                <a:r>
                  <a:rPr lang="en-IN" sz="2400" dirty="0"/>
                  <a:t> so that </a:t>
                </a:r>
                <a14:m>
                  <m:oMath xmlns:m="http://schemas.openxmlformats.org/officeDocument/2006/math">
                    <m:sSup>
                      <m:sSupPr>
                        <m:ctrlPr>
                          <a:rPr lang="en-US" sz="2400" i="1">
                            <a:latin typeface="Cambria Math" panose="02040503050406030204" pitchFamily="18" charset="0"/>
                          </a:rPr>
                        </m:ctrlPr>
                      </m:sSupPr>
                      <m:e>
                        <m:r>
                          <a:rPr lang="en-US" sz="2400" b="0" i="1" smtClean="0">
                            <a:latin typeface="Cambria Math" charset="0"/>
                          </a:rPr>
                          <m:t>𝑚𝑎𝑥</m:t>
                        </m:r>
                        <m:r>
                          <a:rPr lang="en-US" sz="2400" b="1" i="1" smtClean="0">
                            <a:latin typeface="Cambria Math" charset="0"/>
                          </a:rPr>
                          <m:t> ||</m:t>
                        </m:r>
                        <m:r>
                          <a:rPr lang="en-US" sz="2400" b="1" i="1">
                            <a:latin typeface="Cambria Math" charset="0"/>
                          </a:rPr>
                          <m:t>𝒙</m:t>
                        </m:r>
                      </m:e>
                      <m:sup>
                        <m:r>
                          <a:rPr lang="en-US" sz="2400" i="1">
                            <a:latin typeface="Cambria Math" charset="0"/>
                          </a:rPr>
                          <m:t>(</m:t>
                        </m:r>
                        <m:r>
                          <a:rPr lang="en-US" sz="2400" i="1">
                            <a:latin typeface="Cambria Math" charset="0"/>
                          </a:rPr>
                          <m:t>𝑖</m:t>
                        </m:r>
                        <m:r>
                          <a:rPr lang="en-US" sz="2400" i="1">
                            <a:latin typeface="Cambria Math" charset="0"/>
                          </a:rPr>
                          <m:t>)</m:t>
                        </m:r>
                      </m:sup>
                    </m:sSup>
                    <m:r>
                      <a:rPr lang="en-US" sz="2400" b="0" i="1" smtClean="0">
                        <a:latin typeface="Cambria Math" charset="0"/>
                      </a:rPr>
                      <m:t>||=1</m:t>
                    </m:r>
                  </m:oMath>
                </a14:m>
                <a:r>
                  <a:rPr lang="en-IN" sz="2400" dirty="0"/>
                  <a:t>, </a:t>
                </a:r>
                <a:r>
                  <a:rPr lang="en-IN" sz="2400" i="1" dirty="0"/>
                  <a:t>i.e.,</a:t>
                </a:r>
                <a:r>
                  <a:rPr lang="en-IN" sz="2400" dirty="0"/>
                  <a:t> </a:t>
                </a:r>
                <a:r>
                  <a:rPr lang="en-US" sz="2400" dirty="0"/>
                  <a:t>maximum length of any data point is 1. Notice that this does not affect the algorithm or the solution as, </a:t>
                </a:r>
                <a14:m>
                  <m:oMath xmlns:m="http://schemas.openxmlformats.org/officeDocument/2006/math">
                    <m:r>
                      <a:rPr lang="en-US" sz="2400" i="1">
                        <a:latin typeface="Cambria Math" charset="0"/>
                      </a:rPr>
                      <m:t>𝑠𝑔𝑛</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b="1" i="1">
                                <a:latin typeface="Cambria Math" charset="0"/>
                              </a:rPr>
                              <m:t>𝒘</m:t>
                            </m:r>
                          </m:e>
                          <m:sup>
                            <m:r>
                              <a:rPr lang="en-US" sz="2400" i="1">
                                <a:latin typeface="Cambria Math" charset="0"/>
                              </a:rPr>
                              <m:t>𝑇</m:t>
                            </m:r>
                          </m:sup>
                        </m:sSup>
                        <m:sSup>
                          <m:sSupPr>
                            <m:ctrlPr>
                              <a:rPr lang="en-US" sz="2400" i="1">
                                <a:latin typeface="Cambria Math" panose="02040503050406030204" pitchFamily="18" charset="0"/>
                              </a:rPr>
                            </m:ctrlPr>
                          </m:sSupPr>
                          <m:e>
                            <m:r>
                              <a:rPr lang="en-US" sz="2400" b="1" i="1">
                                <a:latin typeface="Cambria Math" charset="0"/>
                              </a:rPr>
                              <m:t>𝒙</m:t>
                            </m:r>
                          </m:e>
                          <m:sup>
                            <m:d>
                              <m:dPr>
                                <m:ctrlPr>
                                  <a:rPr lang="en-US" sz="2400" i="1">
                                    <a:latin typeface="Cambria Math" panose="02040503050406030204" pitchFamily="18" charset="0"/>
                                  </a:rPr>
                                </m:ctrlPr>
                              </m:dPr>
                              <m:e>
                                <m:r>
                                  <a:rPr lang="en-US" sz="2400" i="1">
                                    <a:latin typeface="Cambria Math" charset="0"/>
                                  </a:rPr>
                                  <m:t>𝑖</m:t>
                                </m:r>
                              </m:e>
                            </m:d>
                          </m:sup>
                        </m:sSup>
                      </m:e>
                    </m:d>
                    <m:r>
                      <a:rPr lang="en-US" sz="2400" b="0" i="1" smtClean="0">
                        <a:latin typeface="Cambria Math" charset="0"/>
                      </a:rPr>
                      <m:t>=</m:t>
                    </m:r>
                    <m:r>
                      <a:rPr lang="en-US" sz="2400" i="1">
                        <a:latin typeface="Cambria Math" charset="0"/>
                      </a:rPr>
                      <m:t>𝑠𝑔𝑛</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b="1" i="1">
                                <a:latin typeface="Cambria Math" charset="0"/>
                              </a:rPr>
                              <m:t>𝒘</m:t>
                            </m:r>
                          </m:e>
                          <m:sup>
                            <m:r>
                              <a:rPr lang="en-US" sz="2400" i="1">
                                <a:latin typeface="Cambria Math" charset="0"/>
                              </a:rPr>
                              <m:t>𝑇</m:t>
                            </m:r>
                          </m:sup>
                        </m:sSup>
                        <m:f>
                          <m:fPr>
                            <m:ctrlPr>
                              <a:rPr lang="mr-IN" sz="2400" i="1" smtClean="0">
                                <a:latin typeface="Cambria Math" panose="02040503050406030204" pitchFamily="18" charset="0"/>
                              </a:rPr>
                            </m:ctrlPr>
                          </m:fPr>
                          <m:num>
                            <m:sSup>
                              <m:sSupPr>
                                <m:ctrlPr>
                                  <a:rPr lang="en-US" sz="2400" i="1">
                                    <a:latin typeface="Cambria Math" panose="02040503050406030204" pitchFamily="18" charset="0"/>
                                  </a:rPr>
                                </m:ctrlPr>
                              </m:sSupPr>
                              <m:e>
                                <m:r>
                                  <a:rPr lang="en-US" sz="2400" b="1" i="1">
                                    <a:latin typeface="Cambria Math" charset="0"/>
                                  </a:rPr>
                                  <m:t>𝒙</m:t>
                                </m:r>
                              </m:e>
                              <m:sup>
                                <m:d>
                                  <m:dPr>
                                    <m:ctrlPr>
                                      <a:rPr lang="en-US" sz="2400" i="1">
                                        <a:latin typeface="Cambria Math" panose="02040503050406030204" pitchFamily="18" charset="0"/>
                                      </a:rPr>
                                    </m:ctrlPr>
                                  </m:dPr>
                                  <m:e>
                                    <m:r>
                                      <a:rPr lang="en-US" sz="2400" i="1">
                                        <a:latin typeface="Cambria Math" charset="0"/>
                                      </a:rPr>
                                      <m:t>𝑖</m:t>
                                    </m:r>
                                  </m:e>
                                </m:d>
                              </m:sup>
                            </m:sSup>
                          </m:num>
                          <m:den>
                            <m:r>
                              <a:rPr lang="en-US" sz="2400" b="0" i="1" smtClean="0">
                                <a:latin typeface="Cambria Math" charset="0"/>
                              </a:rPr>
                              <m:t>||</m:t>
                            </m:r>
                            <m:sSup>
                              <m:sSupPr>
                                <m:ctrlPr>
                                  <a:rPr lang="en-US" sz="2400" i="1">
                                    <a:latin typeface="Cambria Math" panose="02040503050406030204" pitchFamily="18" charset="0"/>
                                  </a:rPr>
                                </m:ctrlPr>
                              </m:sSupPr>
                              <m:e>
                                <m:r>
                                  <a:rPr lang="en-US" sz="2400" b="1" i="1">
                                    <a:latin typeface="Cambria Math" charset="0"/>
                                  </a:rPr>
                                  <m:t>𝒙</m:t>
                                </m:r>
                              </m:e>
                              <m:sup>
                                <m:d>
                                  <m:dPr>
                                    <m:ctrlPr>
                                      <a:rPr lang="en-US" sz="2400" i="1">
                                        <a:latin typeface="Cambria Math" panose="02040503050406030204" pitchFamily="18" charset="0"/>
                                      </a:rPr>
                                    </m:ctrlPr>
                                  </m:dPr>
                                  <m:e>
                                    <m:r>
                                      <a:rPr lang="en-US" sz="2400" i="1">
                                        <a:latin typeface="Cambria Math" charset="0"/>
                                      </a:rPr>
                                      <m:t>𝑖</m:t>
                                    </m:r>
                                  </m:e>
                                </m:d>
                              </m:sup>
                            </m:sSup>
                            <m:r>
                              <a:rPr lang="en-US" sz="2400" b="0" i="1" smtClean="0">
                                <a:latin typeface="Cambria Math" charset="0"/>
                              </a:rPr>
                              <m:t>||</m:t>
                            </m:r>
                          </m:den>
                        </m:f>
                      </m:e>
                    </m:d>
                  </m:oMath>
                </a14:m>
                <a:endParaRPr lang="en-IN" sz="2400" dirty="0"/>
              </a:p>
              <a:p>
                <a:pPr marL="285750" indent="-285750">
                  <a:buFont typeface="Arial" charset="0"/>
                  <a:buChar char="•"/>
                </a:pPr>
                <a:endParaRPr lang="en-IN" sz="2400" dirty="0"/>
              </a:p>
              <a:p>
                <a:pPr marL="285750" indent="-285750">
                  <a:buFont typeface="Arial" charset="0"/>
                  <a:buChar char="•"/>
                </a:pPr>
                <a:endParaRPr lang="en-IN" sz="2400" dirty="0"/>
              </a:p>
              <a:p>
                <a:pPr marL="285750" indent="-285750">
                  <a:buFont typeface="Arial" charset="0"/>
                  <a:buChar char="•"/>
                </a:pPr>
                <a:r>
                  <a:rPr lang="en-IN" sz="2400" dirty="0"/>
                  <a:t>Margin of separation: This is the minimum distance between any data point and the hyperplane </a:t>
                </a:r>
                <a14:m>
                  <m:oMath xmlns:m="http://schemas.openxmlformats.org/officeDocument/2006/math">
                    <m:sSup>
                      <m:sSupPr>
                        <m:ctrlPr>
                          <a:rPr lang="en-US" sz="2400" b="1" i="1">
                            <a:latin typeface="Cambria Math" panose="02040503050406030204" pitchFamily="18" charset="0"/>
                          </a:rPr>
                        </m:ctrlPr>
                      </m:sSupPr>
                      <m:e>
                        <m:r>
                          <a:rPr lang="en-US" sz="2400" b="1" i="1">
                            <a:latin typeface="Cambria Math" charset="0"/>
                          </a:rPr>
                          <m:t>𝒘</m:t>
                        </m:r>
                      </m:e>
                      <m:sup>
                        <m:r>
                          <a:rPr lang="en-US" sz="2400" i="1">
                            <a:latin typeface="Cambria Math" charset="0"/>
                          </a:rPr>
                          <m:t>𝑇</m:t>
                        </m:r>
                      </m:sup>
                    </m:sSup>
                    <m:r>
                      <a:rPr lang="en-US" sz="2400" b="1" i="1">
                        <a:latin typeface="Cambria Math" charset="0"/>
                      </a:rPr>
                      <m:t>𝒙</m:t>
                    </m:r>
                    <m:r>
                      <a:rPr lang="en-US" sz="2400" b="1" i="1">
                        <a:latin typeface="Cambria Math" charset="0"/>
                      </a:rPr>
                      <m:t>=</m:t>
                    </m:r>
                    <m:r>
                      <a:rPr lang="en-US" sz="2400" b="0" i="1" smtClean="0">
                        <a:latin typeface="Cambria Math" charset="0"/>
                      </a:rPr>
                      <m:t>0</m:t>
                    </m:r>
                  </m:oMath>
                </a14:m>
                <a:r>
                  <a:rPr lang="en-IN" sz="2400" dirty="0"/>
                  <a:t>. Among all the hyperplanes,  a hyperplane having the </a:t>
                </a:r>
                <a:r>
                  <a:rPr lang="en-IN" sz="2400" i="1" dirty="0"/>
                  <a:t>maximum</a:t>
                </a:r>
                <a:r>
                  <a:rPr lang="en-IN" sz="2400" dirty="0"/>
                  <a:t> margin of separation is called the </a:t>
                </a:r>
                <a:r>
                  <a:rPr lang="en-IN" sz="2400" i="1" dirty="0"/>
                  <a:t>maximum margin separator</a:t>
                </a:r>
                <a:r>
                  <a:rPr lang="en-IN" sz="2400" dirty="0"/>
                  <a:t>.</a:t>
                </a:r>
                <a:br>
                  <a:rPr lang="en-IN" sz="2400" dirty="0"/>
                </a:br>
                <a14:m>
                  <m:oMath xmlns:m="http://schemas.openxmlformats.org/officeDocument/2006/math">
                    <m:r>
                      <a:rPr lang="en-US" sz="2400" b="0" i="1" smtClean="0">
                        <a:latin typeface="Cambria Math" charset="0"/>
                      </a:rPr>
                      <m:t>𝛾</m:t>
                    </m:r>
                    <m:r>
                      <a:rPr lang="en-US" sz="2400" b="0" i="1" smtClean="0">
                        <a:latin typeface="Cambria Math" charset="0"/>
                      </a:rPr>
                      <m:t>=</m:t>
                    </m:r>
                    <m:func>
                      <m:funcPr>
                        <m:ctrlPr>
                          <a:rPr lang="mr-IN" sz="2400" b="0" i="1" smtClean="0">
                            <a:latin typeface="Cambria Math" panose="02040503050406030204" pitchFamily="18" charset="0"/>
                          </a:rPr>
                        </m:ctrlPr>
                      </m:funcPr>
                      <m:fName>
                        <m:limLow>
                          <m:limLowPr>
                            <m:ctrlPr>
                              <a:rPr lang="mr-IN" sz="2400" b="0" i="1" smtClean="0">
                                <a:latin typeface="Cambria Math" panose="02040503050406030204" pitchFamily="18" charset="0"/>
                              </a:rPr>
                            </m:ctrlPr>
                          </m:limLowPr>
                          <m:e>
                            <m:r>
                              <m:rPr>
                                <m:sty m:val="p"/>
                              </m:rPr>
                              <a:rPr lang="mr-IN" sz="2400" b="0" i="0" smtClean="0">
                                <a:latin typeface="Cambria Math" charset="0"/>
                              </a:rPr>
                              <m:t>min</m:t>
                            </m:r>
                          </m:e>
                          <m:lim>
                            <m:r>
                              <a:rPr lang="en-US" sz="2400" b="1" i="1" smtClean="0">
                                <a:latin typeface="Cambria Math" charset="0"/>
                              </a:rPr>
                              <m:t>𝒙</m:t>
                            </m:r>
                          </m:lim>
                        </m:limLow>
                      </m:fName>
                      <m:e>
                        <m:r>
                          <a:rPr lang="en-US" sz="2400" b="0" i="1" smtClean="0">
                            <a:latin typeface="Cambria Math" charset="0"/>
                          </a:rPr>
                          <m:t>|</m:t>
                        </m:r>
                        <m:sSup>
                          <m:sSupPr>
                            <m:ctrlPr>
                              <a:rPr lang="en-US" sz="2400" b="0" i="1" smtClean="0">
                                <a:latin typeface="Cambria Math" panose="02040503050406030204" pitchFamily="18" charset="0"/>
                              </a:rPr>
                            </m:ctrlPr>
                          </m:sSupPr>
                          <m:e>
                            <m:r>
                              <a:rPr lang="en-US" sz="2400" b="1" i="1" smtClean="0">
                                <a:latin typeface="Cambria Math" charset="0"/>
                              </a:rPr>
                              <m:t>𝒘</m:t>
                            </m:r>
                          </m:e>
                          <m:sup>
                            <m:r>
                              <a:rPr lang="en-US" sz="2400" b="0" i="1" smtClean="0">
                                <a:latin typeface="Cambria Math" charset="0"/>
                              </a:rPr>
                              <m:t>𝑇</m:t>
                            </m:r>
                          </m:sup>
                        </m:sSup>
                        <m:r>
                          <a:rPr lang="en-US" sz="2400" b="1" i="1" smtClean="0">
                            <a:latin typeface="Cambria Math" charset="0"/>
                          </a:rPr>
                          <m:t>𝒙</m:t>
                        </m:r>
                        <m:r>
                          <a:rPr lang="en-US" sz="2400" b="1" i="1" smtClean="0">
                            <a:latin typeface="Cambria Math" charset="0"/>
                          </a:rPr>
                          <m:t>|</m:t>
                        </m:r>
                      </m:e>
                    </m:func>
                  </m:oMath>
                </a14:m>
                <a:endParaRPr lang="en-IN" sz="2400" dirty="0"/>
              </a:p>
            </p:txBody>
          </p:sp>
        </mc:Choice>
        <mc:Fallback xmlns="">
          <p:sp>
            <p:nvSpPr>
              <p:cNvPr id="33" name="TextBox 32"/>
              <p:cNvSpPr txBox="1">
                <a:spLocks noRot="1" noChangeAspect="1" noMove="1" noResize="1" noEditPoints="1" noAdjustHandles="1" noChangeArrowheads="1" noChangeShapeType="1" noTextEdit="1"/>
              </p:cNvSpPr>
              <p:nvPr/>
            </p:nvSpPr>
            <p:spPr>
              <a:xfrm>
                <a:off x="180868" y="1415979"/>
                <a:ext cx="12011132" cy="4636526"/>
              </a:xfrm>
              <a:prstGeom prst="rect">
                <a:avLst/>
              </a:prstGeom>
              <a:blipFill>
                <a:blip r:embed="rId3"/>
                <a:stretch>
                  <a:fillRect l="-845" t="-1093" r="-845"/>
                </a:stretch>
              </a:blipFill>
            </p:spPr>
            <p:txBody>
              <a:bodyPr/>
              <a:lstStyle/>
              <a:p>
                <a:r>
                  <a:rPr lang="en-US">
                    <a:noFill/>
                  </a:rPr>
                  <a:t> </a:t>
                </a:r>
              </a:p>
            </p:txBody>
          </p:sp>
        </mc:Fallback>
      </mc:AlternateContent>
      <p:sp>
        <p:nvSpPr>
          <p:cNvPr id="2" name="Footer Placeholder 1"/>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6" name="Slide Number Placeholder 5"/>
          <p:cNvSpPr>
            <a:spLocks noGrp="1"/>
          </p:cNvSpPr>
          <p:nvPr>
            <p:ph type="sldNum" sz="quarter" idx="4"/>
          </p:nvPr>
        </p:nvSpPr>
        <p:spPr>
          <a:xfrm>
            <a:off x="10569844" y="6356350"/>
            <a:ext cx="783956" cy="365125"/>
          </a:xfrm>
        </p:spPr>
        <p:txBody>
          <a:bodyPr/>
          <a:lstStyle/>
          <a:p>
            <a:fld id="{683B8651-0143-4140-839E-3D36292080E8}" type="slidenum">
              <a:rPr lang="en-US" smtClean="0"/>
              <a:t>11</a:t>
            </a:fld>
            <a:endParaRPr lang="en-US"/>
          </a:p>
        </p:txBody>
      </p:sp>
    </p:spTree>
    <p:extLst>
      <p:ext uri="{BB962C8B-B14F-4D97-AF65-F5344CB8AC3E}">
        <p14:creationId xmlns:p14="http://schemas.microsoft.com/office/powerpoint/2010/main" val="1291031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674557" y="832857"/>
            <a:ext cx="10088381" cy="84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200" dirty="0">
                <a:solidFill>
                  <a:srgbClr val="434343"/>
                </a:solidFill>
              </a:rPr>
              <a:t>Perceptron Learning Algorithm </a:t>
            </a:r>
            <a:r>
              <a:rPr lang="mr-IN" sz="3200" dirty="0">
                <a:solidFill>
                  <a:srgbClr val="434343"/>
                </a:solidFill>
              </a:rPr>
              <a:t>–</a:t>
            </a:r>
            <a:r>
              <a:rPr lang="en-US" sz="3200" dirty="0">
                <a:solidFill>
                  <a:srgbClr val="434343"/>
                </a:solidFill>
              </a:rPr>
              <a:t> Convergence Proof</a:t>
            </a:r>
            <a:endParaRPr sz="3200" dirty="0">
              <a:solidFill>
                <a:srgbClr val="434343"/>
              </a:solidFill>
            </a:endParaRPr>
          </a:p>
        </p:txBody>
      </p:sp>
      <mc:AlternateContent xmlns:mc="http://schemas.openxmlformats.org/markup-compatibility/2006" xmlns:a14="http://schemas.microsoft.com/office/drawing/2010/main">
        <mc:Choice Requires="a14">
          <p:sp>
            <p:nvSpPr>
              <p:cNvPr id="33" name="TextBox 32"/>
              <p:cNvSpPr txBox="1"/>
              <p:nvPr/>
            </p:nvSpPr>
            <p:spPr>
              <a:xfrm>
                <a:off x="180868" y="1371009"/>
                <a:ext cx="12011132" cy="5429820"/>
              </a:xfrm>
              <a:prstGeom prst="rect">
                <a:avLst/>
              </a:prstGeom>
              <a:noFill/>
            </p:spPr>
            <p:txBody>
              <a:bodyPr wrap="square" rtlCol="0">
                <a:spAutoFit/>
              </a:bodyPr>
              <a:lstStyle/>
              <a:p>
                <a:pPr marL="342900" indent="-342900">
                  <a:buFont typeface="Arial" charset="0"/>
                  <a:buChar char="•"/>
                </a:pPr>
                <a:r>
                  <a:rPr lang="en-IN" sz="2400" dirty="0"/>
                  <a:t>Let </a:t>
                </a:r>
                <a14:m>
                  <m:oMath xmlns:m="http://schemas.openxmlformats.org/officeDocument/2006/math">
                    <m:sSup>
                      <m:sSupPr>
                        <m:ctrlPr>
                          <a:rPr lang="en-US" sz="2400" b="0" i="1" smtClean="0">
                            <a:latin typeface="Cambria Math" panose="02040503050406030204" pitchFamily="18" charset="0"/>
                          </a:rPr>
                        </m:ctrlPr>
                      </m:sSupPr>
                      <m:e>
                        <m:r>
                          <a:rPr lang="en-US" sz="2400" b="1" i="1" smtClean="0">
                            <a:latin typeface="Cambria Math" charset="0"/>
                          </a:rPr>
                          <m:t>𝒘</m:t>
                        </m:r>
                      </m:e>
                      <m:sup>
                        <m:r>
                          <a:rPr lang="en-US" sz="2400" b="0" i="1" smtClean="0">
                            <a:latin typeface="Cambria Math" charset="0"/>
                          </a:rPr>
                          <m:t>∗</m:t>
                        </m:r>
                      </m:sup>
                    </m:sSup>
                  </m:oMath>
                </a14:m>
                <a:r>
                  <a:rPr lang="en-IN" sz="2400" dirty="0"/>
                  <a:t> be the normal to the maximum margin linear separator. We want our </a:t>
                </a:r>
                <a14:m>
                  <m:oMath xmlns:m="http://schemas.openxmlformats.org/officeDocument/2006/math">
                    <m:r>
                      <a:rPr lang="en-US" sz="2400" b="1" i="1">
                        <a:latin typeface="Cambria Math" charset="0"/>
                      </a:rPr>
                      <m:t>𝒘</m:t>
                    </m:r>
                  </m:oMath>
                </a14:m>
                <a:r>
                  <a:rPr lang="en-IN" sz="2400" dirty="0"/>
                  <a:t> in the perceptron algorithm in each step getting closer and closer to this (sort of) ideal </a:t>
                </a:r>
                <a14:m>
                  <m:oMath xmlns:m="http://schemas.openxmlformats.org/officeDocument/2006/math">
                    <m:sSup>
                      <m:sSupPr>
                        <m:ctrlPr>
                          <a:rPr lang="en-US" sz="2400" i="1">
                            <a:latin typeface="Cambria Math" panose="02040503050406030204" pitchFamily="18" charset="0"/>
                          </a:rPr>
                        </m:ctrlPr>
                      </m:sSupPr>
                      <m:e>
                        <m:r>
                          <a:rPr lang="en-US" sz="2400" b="1" i="1">
                            <a:latin typeface="Cambria Math" charset="0"/>
                          </a:rPr>
                          <m:t>𝒘</m:t>
                        </m:r>
                      </m:e>
                      <m:sup>
                        <m:r>
                          <a:rPr lang="en-US" sz="2400" i="1">
                            <a:latin typeface="Cambria Math" charset="0"/>
                          </a:rPr>
                          <m:t>∗</m:t>
                        </m:r>
                      </m:sup>
                    </m:sSup>
                  </m:oMath>
                </a14:m>
                <a:r>
                  <a:rPr lang="en-IN" sz="2400" dirty="0"/>
                  <a:t>.</a:t>
                </a:r>
              </a:p>
              <a:p>
                <a:pPr marL="342900" indent="-342900">
                  <a:buFont typeface="Arial" charset="0"/>
                  <a:buChar char="•"/>
                </a:pPr>
                <a:r>
                  <a:rPr lang="en-IN" sz="2400" dirty="0"/>
                  <a:t>This means that the inner product between </a:t>
                </a:r>
                <a14:m>
                  <m:oMath xmlns:m="http://schemas.openxmlformats.org/officeDocument/2006/math">
                    <m:r>
                      <a:rPr lang="en-US" sz="2400" b="1" i="1">
                        <a:latin typeface="Cambria Math" charset="0"/>
                      </a:rPr>
                      <m:t>𝒘</m:t>
                    </m:r>
                  </m:oMath>
                </a14:m>
                <a:r>
                  <a:rPr lang="en-IN" sz="2400" dirty="0"/>
                  <a:t> and </a:t>
                </a:r>
                <a14:m>
                  <m:oMath xmlns:m="http://schemas.openxmlformats.org/officeDocument/2006/math">
                    <m:sSup>
                      <m:sSupPr>
                        <m:ctrlPr>
                          <a:rPr lang="en-US" sz="2400" i="1">
                            <a:latin typeface="Cambria Math" panose="02040503050406030204" pitchFamily="18" charset="0"/>
                          </a:rPr>
                        </m:ctrlPr>
                      </m:sSupPr>
                      <m:e>
                        <m:r>
                          <a:rPr lang="en-US" sz="2400" b="1" i="1">
                            <a:latin typeface="Cambria Math" charset="0"/>
                          </a:rPr>
                          <m:t>𝒘</m:t>
                        </m:r>
                      </m:e>
                      <m:sup>
                        <m:r>
                          <a:rPr lang="en-US" sz="2400" i="1">
                            <a:latin typeface="Cambria Math" charset="0"/>
                          </a:rPr>
                          <m:t>∗</m:t>
                        </m:r>
                      </m:sup>
                    </m:sSup>
                  </m:oMath>
                </a14:m>
                <a:r>
                  <a:rPr lang="en-IN" sz="2400" dirty="0"/>
                  <a:t> should increase with each update.</a:t>
                </a:r>
              </a:p>
              <a:p>
                <a:pPr marL="342900" indent="-342900">
                  <a:buFont typeface="Arial" charset="0"/>
                  <a:buChar char="•"/>
                </a:pPr>
                <a:r>
                  <a:rPr lang="en-IN" sz="2400" dirty="0"/>
                  <a:t>Remember the update rule: </a:t>
                </a:r>
                <a14:m>
                  <m:oMath xmlns:m="http://schemas.openxmlformats.org/officeDocument/2006/math">
                    <m:sSup>
                      <m:sSupPr>
                        <m:ctrlPr>
                          <a:rPr lang="en-US" sz="2400" b="0" i="1" smtClean="0">
                            <a:latin typeface="Cambria Math" panose="02040503050406030204" pitchFamily="18" charset="0"/>
                          </a:rPr>
                        </m:ctrlPr>
                      </m:sSupPr>
                      <m:e>
                        <m:r>
                          <a:rPr lang="en-US" sz="2400" b="1" i="1" smtClean="0">
                            <a:latin typeface="Cambria Math" charset="0"/>
                          </a:rPr>
                          <m:t>𝒘</m:t>
                        </m:r>
                      </m:e>
                      <m:sup>
                        <m:r>
                          <a:rPr lang="en-US" sz="2400" b="0" i="1" smtClean="0">
                            <a:latin typeface="Cambria Math" charset="0"/>
                          </a:rPr>
                          <m:t>′</m:t>
                        </m:r>
                      </m:sup>
                    </m:sSup>
                    <m:r>
                      <a:rPr lang="en-US" sz="2400" b="0" i="1" smtClean="0">
                        <a:latin typeface="Cambria Math" charset="0"/>
                      </a:rPr>
                      <m:t>=</m:t>
                    </m:r>
                    <m:r>
                      <a:rPr lang="en-US" sz="2400" b="1" i="1">
                        <a:latin typeface="Cambria Math" charset="0"/>
                      </a:rPr>
                      <m:t>𝒘</m:t>
                    </m:r>
                    <m:r>
                      <a:rPr lang="en-US" sz="2400" b="1" i="1" smtClean="0">
                        <a:latin typeface="Cambria Math" charset="0"/>
                      </a:rPr>
                      <m:t>+</m:t>
                    </m:r>
                    <m:sSup>
                      <m:sSupPr>
                        <m:ctrlPr>
                          <a:rPr lang="en-US" sz="2400" b="1" i="1" smtClean="0">
                            <a:latin typeface="Cambria Math" panose="02040503050406030204" pitchFamily="18" charset="0"/>
                          </a:rPr>
                        </m:ctrlPr>
                      </m:sSupPr>
                      <m:e>
                        <m:r>
                          <a:rPr lang="en-US" sz="2400" b="1" i="1" smtClean="0">
                            <a:latin typeface="Cambria Math" charset="0"/>
                          </a:rPr>
                          <m:t>𝒙</m:t>
                        </m:r>
                      </m:e>
                      <m:sup>
                        <m:d>
                          <m:dPr>
                            <m:ctrlPr>
                              <a:rPr lang="en-US" sz="2400" b="1" i="1" smtClean="0">
                                <a:latin typeface="Cambria Math" panose="02040503050406030204" pitchFamily="18" charset="0"/>
                              </a:rPr>
                            </m:ctrlPr>
                          </m:dPr>
                          <m:e>
                            <m:r>
                              <a:rPr lang="en-US" sz="2400" b="0" i="1" smtClean="0">
                                <a:latin typeface="Cambria Math" charset="0"/>
                              </a:rPr>
                              <m:t>𝑖</m:t>
                            </m:r>
                          </m:e>
                        </m:d>
                      </m:sup>
                    </m:sSup>
                    <m:sSup>
                      <m:sSupPr>
                        <m:ctrlPr>
                          <a:rPr lang="en-US" sz="2400" b="1" i="1">
                            <a:latin typeface="Cambria Math" panose="02040503050406030204" pitchFamily="18" charset="0"/>
                          </a:rPr>
                        </m:ctrlPr>
                      </m:sSupPr>
                      <m:e>
                        <m:r>
                          <a:rPr lang="en-US" sz="2400" b="0" i="1" smtClean="0">
                            <a:latin typeface="Cambria Math" charset="0"/>
                          </a:rPr>
                          <m:t>𝑦</m:t>
                        </m:r>
                      </m:e>
                      <m:sup>
                        <m:d>
                          <m:dPr>
                            <m:ctrlPr>
                              <a:rPr lang="en-US" sz="2400" b="1" i="1">
                                <a:latin typeface="Cambria Math" panose="02040503050406030204" pitchFamily="18" charset="0"/>
                              </a:rPr>
                            </m:ctrlPr>
                          </m:dPr>
                          <m:e>
                            <m:r>
                              <a:rPr lang="en-US" sz="2400" b="0" i="1">
                                <a:latin typeface="Cambria Math" charset="0"/>
                              </a:rPr>
                              <m:t>𝑖</m:t>
                            </m:r>
                          </m:e>
                        </m:d>
                      </m:sup>
                    </m:sSup>
                  </m:oMath>
                </a14:m>
                <a:endParaRPr lang="en-IN" sz="2400" b="1" dirty="0"/>
              </a:p>
              <a:p>
                <a:pPr marL="342900" indent="-342900">
                  <a:buFont typeface="Arial" charset="0"/>
                  <a:buChar char="•"/>
                </a:pPr>
                <a:r>
                  <a:rPr lang="en-IN" sz="2400" dirty="0"/>
                  <a:t>So, </a:t>
                </a:r>
                <a14:m>
                  <m:oMath xmlns:m="http://schemas.openxmlformats.org/officeDocument/2006/math">
                    <m:sSup>
                      <m:sSupPr>
                        <m:ctrlPr>
                          <a:rPr lang="en-US" sz="2400" b="0" i="1" smtClean="0">
                            <a:solidFill>
                              <a:prstClr val="black"/>
                            </a:solidFill>
                            <a:latin typeface="Cambria Math" panose="02040503050406030204" pitchFamily="18" charset="0"/>
                          </a:rPr>
                        </m:ctrlPr>
                      </m:sSupPr>
                      <m:e>
                        <m:d>
                          <m:dPr>
                            <m:ctrlPr>
                              <a:rPr lang="en-US" sz="2400" b="0" i="1" smtClean="0">
                                <a:solidFill>
                                  <a:prstClr val="black"/>
                                </a:solidFill>
                                <a:latin typeface="Cambria Math" panose="02040503050406030204" pitchFamily="18" charset="0"/>
                              </a:rPr>
                            </m:ctrlPr>
                          </m:dPr>
                          <m:e>
                            <m:sSup>
                              <m:sSupPr>
                                <m:ctrlPr>
                                  <a:rPr lang="en-US" sz="2400" i="1">
                                    <a:solidFill>
                                      <a:prstClr val="black"/>
                                    </a:solidFill>
                                    <a:latin typeface="Cambria Math" panose="02040503050406030204" pitchFamily="18" charset="0"/>
                                  </a:rPr>
                                </m:ctrlPr>
                              </m:sSupPr>
                              <m:e>
                                <m:r>
                                  <a:rPr lang="en-US" sz="2400" b="1" i="1">
                                    <a:solidFill>
                                      <a:prstClr val="black"/>
                                    </a:solidFill>
                                    <a:latin typeface="Cambria Math" charset="0"/>
                                  </a:rPr>
                                  <m:t>𝒘</m:t>
                                </m:r>
                              </m:e>
                              <m:sup>
                                <m:r>
                                  <a:rPr lang="en-US" sz="2400" i="1">
                                    <a:solidFill>
                                      <a:prstClr val="black"/>
                                    </a:solidFill>
                                    <a:latin typeface="Cambria Math" charset="0"/>
                                  </a:rPr>
                                  <m:t>′</m:t>
                                </m:r>
                              </m:sup>
                            </m:sSup>
                          </m:e>
                        </m:d>
                      </m:e>
                      <m:sup>
                        <m:r>
                          <a:rPr lang="en-US" sz="2400" b="0" i="1" smtClean="0">
                            <a:solidFill>
                              <a:prstClr val="black"/>
                            </a:solidFill>
                            <a:latin typeface="Cambria Math" charset="0"/>
                          </a:rPr>
                          <m:t>𝑇</m:t>
                        </m:r>
                      </m:sup>
                    </m:sSup>
                    <m:sSup>
                      <m:sSupPr>
                        <m:ctrlPr>
                          <a:rPr lang="en-US" sz="2400" b="1" i="1" smtClean="0">
                            <a:solidFill>
                              <a:prstClr val="black"/>
                            </a:solidFill>
                            <a:latin typeface="Cambria Math" panose="02040503050406030204" pitchFamily="18" charset="0"/>
                          </a:rPr>
                        </m:ctrlPr>
                      </m:sSupPr>
                      <m:e>
                        <m:r>
                          <a:rPr lang="en-US" sz="2400" b="1" i="1" smtClean="0">
                            <a:solidFill>
                              <a:prstClr val="black"/>
                            </a:solidFill>
                            <a:latin typeface="Cambria Math" charset="0"/>
                          </a:rPr>
                          <m:t>𝒘</m:t>
                        </m:r>
                      </m:e>
                      <m:sup>
                        <m:r>
                          <a:rPr lang="en-US" sz="2400" b="0" i="1" smtClean="0">
                            <a:solidFill>
                              <a:prstClr val="black"/>
                            </a:solidFill>
                            <a:latin typeface="Cambria Math" charset="0"/>
                          </a:rPr>
                          <m:t>∗</m:t>
                        </m:r>
                      </m:sup>
                    </m:sSup>
                    <m:r>
                      <a:rPr lang="en-US" sz="2400" b="1" i="1" smtClean="0">
                        <a:solidFill>
                          <a:prstClr val="black"/>
                        </a:solidFill>
                        <a:latin typeface="Cambria Math" charset="0"/>
                      </a:rPr>
                      <m:t>=</m:t>
                    </m:r>
                    <m:sSup>
                      <m:sSupPr>
                        <m:ctrlPr>
                          <a:rPr lang="en-US" sz="2400" b="1" i="1" smtClean="0">
                            <a:solidFill>
                              <a:prstClr val="black"/>
                            </a:solidFill>
                            <a:latin typeface="Cambria Math" panose="02040503050406030204" pitchFamily="18" charset="0"/>
                          </a:rPr>
                        </m:ctrlPr>
                      </m:sSupPr>
                      <m:e>
                        <m:d>
                          <m:dPr>
                            <m:ctrlPr>
                              <a:rPr lang="en-US" sz="2400" b="1" i="1" smtClean="0">
                                <a:solidFill>
                                  <a:prstClr val="black"/>
                                </a:solidFill>
                                <a:latin typeface="Cambria Math" panose="02040503050406030204" pitchFamily="18" charset="0"/>
                              </a:rPr>
                            </m:ctrlPr>
                          </m:dPr>
                          <m:e>
                            <m:r>
                              <a:rPr lang="en-US" sz="2400" b="1" i="1">
                                <a:solidFill>
                                  <a:prstClr val="black"/>
                                </a:solidFill>
                                <a:latin typeface="Cambria Math" charset="0"/>
                              </a:rPr>
                              <m:t>𝒘</m:t>
                            </m:r>
                            <m:r>
                              <a:rPr lang="en-US" sz="2400" b="1" i="1">
                                <a:solidFill>
                                  <a:prstClr val="black"/>
                                </a:solidFill>
                                <a:latin typeface="Cambria Math" charset="0"/>
                              </a:rPr>
                              <m:t>+</m:t>
                            </m:r>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𝒙</m:t>
                                </m:r>
                              </m:e>
                              <m:sup>
                                <m:d>
                                  <m:dPr>
                                    <m:ctrlPr>
                                      <a:rPr lang="en-US" sz="2400" b="1" i="1">
                                        <a:solidFill>
                                          <a:prstClr val="black"/>
                                        </a:solidFill>
                                        <a:latin typeface="Cambria Math" panose="02040503050406030204" pitchFamily="18" charset="0"/>
                                      </a:rPr>
                                    </m:ctrlPr>
                                  </m:dPr>
                                  <m:e>
                                    <m:r>
                                      <a:rPr lang="en-US" sz="2400" i="1">
                                        <a:solidFill>
                                          <a:prstClr val="black"/>
                                        </a:solidFill>
                                        <a:latin typeface="Cambria Math" charset="0"/>
                                      </a:rPr>
                                      <m:t>𝑖</m:t>
                                    </m:r>
                                  </m:e>
                                </m:d>
                              </m:sup>
                            </m:sSup>
                          </m:e>
                        </m:d>
                      </m:e>
                      <m:sup>
                        <m:r>
                          <a:rPr lang="en-US" sz="2400" b="0" i="1" smtClean="0">
                            <a:solidFill>
                              <a:prstClr val="black"/>
                            </a:solidFill>
                            <a:latin typeface="Cambria Math" charset="0"/>
                          </a:rPr>
                          <m:t>𝑇</m:t>
                        </m:r>
                      </m:sup>
                    </m:sSup>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𝒘</m:t>
                        </m:r>
                      </m:e>
                      <m:sup>
                        <m:r>
                          <a:rPr lang="en-US" sz="2400" i="1">
                            <a:solidFill>
                              <a:prstClr val="black"/>
                            </a:solidFill>
                            <a:latin typeface="Cambria Math" charset="0"/>
                          </a:rPr>
                          <m:t>∗</m:t>
                        </m:r>
                      </m:sup>
                    </m:sSup>
                  </m:oMath>
                </a14:m>
                <a:r>
                  <a:rPr lang="en-IN" sz="2400" dirty="0"/>
                  <a:t>(assuming </a:t>
                </a:r>
                <a14:m>
                  <m:oMath xmlns:m="http://schemas.openxmlformats.org/officeDocument/2006/math">
                    <m:sSup>
                      <m:sSupPr>
                        <m:ctrlPr>
                          <a:rPr lang="en-US" sz="2400" b="1" i="1">
                            <a:solidFill>
                              <a:prstClr val="black"/>
                            </a:solidFill>
                            <a:latin typeface="Cambria Math" panose="02040503050406030204" pitchFamily="18" charset="0"/>
                          </a:rPr>
                        </m:ctrlPr>
                      </m:sSupPr>
                      <m:e>
                        <m:r>
                          <a:rPr lang="en-US" sz="2400" i="1">
                            <a:solidFill>
                              <a:prstClr val="black"/>
                            </a:solidFill>
                            <a:latin typeface="Cambria Math" charset="0"/>
                          </a:rPr>
                          <m:t>𝑦</m:t>
                        </m:r>
                      </m:e>
                      <m:sup>
                        <m:d>
                          <m:dPr>
                            <m:ctrlPr>
                              <a:rPr lang="en-US" sz="2400" b="1" i="1">
                                <a:solidFill>
                                  <a:prstClr val="black"/>
                                </a:solidFill>
                                <a:latin typeface="Cambria Math" panose="02040503050406030204" pitchFamily="18" charset="0"/>
                              </a:rPr>
                            </m:ctrlPr>
                          </m:dPr>
                          <m:e>
                            <m:r>
                              <a:rPr lang="en-US" sz="2400" i="1">
                                <a:solidFill>
                                  <a:prstClr val="black"/>
                                </a:solidFill>
                                <a:latin typeface="Cambria Math" charset="0"/>
                              </a:rPr>
                              <m:t>𝑖</m:t>
                            </m:r>
                          </m:e>
                        </m:d>
                      </m:sup>
                    </m:sSup>
                    <m:r>
                      <a:rPr lang="en-US" sz="2400" b="1" i="1" smtClean="0">
                        <a:solidFill>
                          <a:prstClr val="black"/>
                        </a:solidFill>
                        <a:latin typeface="Cambria Math" charset="0"/>
                      </a:rPr>
                      <m:t>=+</m:t>
                    </m:r>
                    <m:r>
                      <a:rPr lang="en-US" sz="2400" b="0" i="1" smtClean="0">
                        <a:solidFill>
                          <a:prstClr val="black"/>
                        </a:solidFill>
                        <a:latin typeface="Cambria Math" charset="0"/>
                      </a:rPr>
                      <m:t>1</m:t>
                    </m:r>
                  </m:oMath>
                </a14:m>
                <a:r>
                  <a:rPr lang="en-IN" sz="2400" dirty="0"/>
                  <a:t>)</a:t>
                </a:r>
                <a:br>
                  <a:rPr lang="en-IN" sz="2400" dirty="0"/>
                </a:br>
                <a:r>
                  <a:rPr lang="en-IN" sz="2400" dirty="0"/>
                  <a:t>		</a:t>
                </a:r>
                <a14:m>
                  <m:oMath xmlns:m="http://schemas.openxmlformats.org/officeDocument/2006/math">
                    <m:r>
                      <a:rPr lang="en-US" sz="2400" b="0" i="0" smtClean="0">
                        <a:latin typeface="Cambria Math" charset="0"/>
                      </a:rPr>
                      <m:t>  </m:t>
                    </m:r>
                    <m:r>
                      <a:rPr lang="en-US" sz="2400" b="0" i="1" smtClean="0">
                        <a:latin typeface="Cambria Math" charset="0"/>
                      </a:rPr>
                      <m:t>=</m:t>
                    </m:r>
                    <m:sSup>
                      <m:sSupPr>
                        <m:ctrlPr>
                          <a:rPr lang="en-US" sz="2400" b="1" i="1" smtClean="0">
                            <a:solidFill>
                              <a:prstClr val="black"/>
                            </a:solidFill>
                            <a:latin typeface="Cambria Math" panose="02040503050406030204" pitchFamily="18" charset="0"/>
                          </a:rPr>
                        </m:ctrlPr>
                      </m:sSupPr>
                      <m:e>
                        <m:r>
                          <a:rPr lang="en-US" sz="2400" b="1" i="1">
                            <a:solidFill>
                              <a:prstClr val="black"/>
                            </a:solidFill>
                            <a:latin typeface="Cambria Math" charset="0"/>
                          </a:rPr>
                          <m:t>𝒘</m:t>
                        </m:r>
                      </m:e>
                      <m:sup>
                        <m:r>
                          <a:rPr lang="en-US" sz="2400" b="0" i="1" smtClean="0">
                            <a:solidFill>
                              <a:prstClr val="black"/>
                            </a:solidFill>
                            <a:latin typeface="Cambria Math" charset="0"/>
                          </a:rPr>
                          <m:t>𝑇</m:t>
                        </m:r>
                      </m:sup>
                    </m:sSup>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𝒘</m:t>
                        </m:r>
                      </m:e>
                      <m:sup>
                        <m:r>
                          <a:rPr lang="en-US" sz="2400" i="1">
                            <a:solidFill>
                              <a:prstClr val="black"/>
                            </a:solidFill>
                            <a:latin typeface="Cambria Math" charset="0"/>
                          </a:rPr>
                          <m:t>∗</m:t>
                        </m:r>
                      </m:sup>
                    </m:sSup>
                    <m:r>
                      <a:rPr lang="en-US" sz="2400" b="1" i="1" smtClean="0">
                        <a:solidFill>
                          <a:prstClr val="black"/>
                        </a:solidFill>
                        <a:latin typeface="Cambria Math" charset="0"/>
                      </a:rPr>
                      <m:t>+</m:t>
                    </m:r>
                    <m:sSup>
                      <m:sSupPr>
                        <m:ctrlPr>
                          <a:rPr lang="en-US" sz="2400" b="1" i="1" smtClean="0">
                            <a:solidFill>
                              <a:prstClr val="black"/>
                            </a:solidFill>
                            <a:latin typeface="Cambria Math" panose="02040503050406030204" pitchFamily="18" charset="0"/>
                          </a:rPr>
                        </m:ctrlPr>
                      </m:sSupPr>
                      <m:e>
                        <m:d>
                          <m:dPr>
                            <m:ctrlPr>
                              <a:rPr lang="en-US" sz="2400" b="1" i="1" smtClean="0">
                                <a:solidFill>
                                  <a:prstClr val="black"/>
                                </a:solidFill>
                                <a:latin typeface="Cambria Math" panose="02040503050406030204" pitchFamily="18" charset="0"/>
                              </a:rPr>
                            </m:ctrlPr>
                          </m:dPr>
                          <m:e>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𝒙</m:t>
                                </m:r>
                              </m:e>
                              <m:sup>
                                <m:d>
                                  <m:dPr>
                                    <m:ctrlPr>
                                      <a:rPr lang="en-US" sz="2400" b="1" i="1">
                                        <a:solidFill>
                                          <a:prstClr val="black"/>
                                        </a:solidFill>
                                        <a:latin typeface="Cambria Math" panose="02040503050406030204" pitchFamily="18" charset="0"/>
                                      </a:rPr>
                                    </m:ctrlPr>
                                  </m:dPr>
                                  <m:e>
                                    <m:r>
                                      <a:rPr lang="en-US" sz="2400" i="1">
                                        <a:solidFill>
                                          <a:prstClr val="black"/>
                                        </a:solidFill>
                                        <a:latin typeface="Cambria Math" charset="0"/>
                                      </a:rPr>
                                      <m:t>𝑖</m:t>
                                    </m:r>
                                  </m:e>
                                </m:d>
                              </m:sup>
                            </m:sSup>
                          </m:e>
                        </m:d>
                      </m:e>
                      <m:sup>
                        <m:r>
                          <a:rPr lang="en-US" sz="2400" b="0" i="1" smtClean="0">
                            <a:solidFill>
                              <a:prstClr val="black"/>
                            </a:solidFill>
                            <a:latin typeface="Cambria Math" charset="0"/>
                          </a:rPr>
                          <m:t>𝑇</m:t>
                        </m:r>
                      </m:sup>
                    </m:sSup>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𝒘</m:t>
                        </m:r>
                      </m:e>
                      <m:sup>
                        <m:r>
                          <a:rPr lang="en-US" sz="2400" i="1">
                            <a:solidFill>
                              <a:prstClr val="black"/>
                            </a:solidFill>
                            <a:latin typeface="Cambria Math" charset="0"/>
                          </a:rPr>
                          <m:t>∗</m:t>
                        </m:r>
                      </m:sup>
                    </m:sSup>
                  </m:oMath>
                </a14:m>
                <a:endParaRPr lang="en-IN" sz="2400" dirty="0"/>
              </a:p>
              <a:p>
                <a:pPr marL="342900" indent="-342900">
                  <a:buFont typeface="Arial" charset="0"/>
                  <a:buChar char="•"/>
                </a:pPr>
                <a:endParaRPr lang="en-IN" sz="2400" dirty="0"/>
              </a:p>
              <a:p>
                <a:pPr marL="342900" indent="-342900">
                  <a:buFont typeface="Arial" charset="0"/>
                  <a:buChar char="•"/>
                </a:pPr>
                <a:endParaRPr lang="en-IN" sz="2400" dirty="0"/>
              </a:p>
              <a:p>
                <a:pPr marL="342900" indent="-342900">
                  <a:buFont typeface="Arial" charset="0"/>
                  <a:buChar char="•"/>
                </a:pPr>
                <a:r>
                  <a:rPr lang="en-IN" sz="2400" dirty="0"/>
                  <a:t>Similarly for a negative training example,</a:t>
                </a:r>
              </a:p>
              <a:p>
                <a:pPr/>
                <a14:m>
                  <m:oMathPara xmlns:m="http://schemas.openxmlformats.org/officeDocument/2006/math">
                    <m:oMathParaPr>
                      <m:jc m:val="centerGroup"/>
                    </m:oMathParaPr>
                    <m:oMath xmlns:m="http://schemas.openxmlformats.org/officeDocument/2006/math">
                      <m:sSup>
                        <m:sSupPr>
                          <m:ctrlPr>
                            <a:rPr lang="en-US" sz="2400" i="1">
                              <a:solidFill>
                                <a:prstClr val="black"/>
                              </a:solidFill>
                              <a:latin typeface="Cambria Math" panose="02040503050406030204" pitchFamily="18" charset="0"/>
                            </a:rPr>
                          </m:ctrlPr>
                        </m:sSupPr>
                        <m:e>
                          <m:d>
                            <m:dPr>
                              <m:ctrlPr>
                                <a:rPr lang="en-US" sz="2400" i="1">
                                  <a:solidFill>
                                    <a:prstClr val="black"/>
                                  </a:solidFill>
                                  <a:latin typeface="Cambria Math" panose="02040503050406030204" pitchFamily="18" charset="0"/>
                                </a:rPr>
                              </m:ctrlPr>
                            </m:dPr>
                            <m:e>
                              <m:sSup>
                                <m:sSupPr>
                                  <m:ctrlPr>
                                    <a:rPr lang="en-US" sz="2400" i="1">
                                      <a:solidFill>
                                        <a:prstClr val="black"/>
                                      </a:solidFill>
                                      <a:latin typeface="Cambria Math" panose="02040503050406030204" pitchFamily="18" charset="0"/>
                                    </a:rPr>
                                  </m:ctrlPr>
                                </m:sSupPr>
                                <m:e>
                                  <m:r>
                                    <a:rPr lang="en-US" sz="2400" b="1" i="1">
                                      <a:solidFill>
                                        <a:prstClr val="black"/>
                                      </a:solidFill>
                                      <a:latin typeface="Cambria Math" charset="0"/>
                                    </a:rPr>
                                    <m:t>𝒘</m:t>
                                  </m:r>
                                </m:e>
                                <m:sup>
                                  <m:r>
                                    <a:rPr lang="en-US" sz="2400" i="1">
                                      <a:solidFill>
                                        <a:prstClr val="black"/>
                                      </a:solidFill>
                                      <a:latin typeface="Cambria Math" charset="0"/>
                                    </a:rPr>
                                    <m:t>′</m:t>
                                  </m:r>
                                </m:sup>
                              </m:sSup>
                            </m:e>
                          </m:d>
                        </m:e>
                        <m:sup>
                          <m:r>
                            <a:rPr lang="en-US" sz="2400" i="1">
                              <a:solidFill>
                                <a:prstClr val="black"/>
                              </a:solidFill>
                              <a:latin typeface="Cambria Math" charset="0"/>
                            </a:rPr>
                            <m:t>𝑇</m:t>
                          </m:r>
                        </m:sup>
                      </m:sSup>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𝒘</m:t>
                          </m:r>
                        </m:e>
                        <m:sup>
                          <m:r>
                            <a:rPr lang="en-US" sz="2400" i="1">
                              <a:solidFill>
                                <a:prstClr val="black"/>
                              </a:solidFill>
                              <a:latin typeface="Cambria Math" charset="0"/>
                            </a:rPr>
                            <m:t>∗</m:t>
                          </m:r>
                        </m:sup>
                      </m:sSup>
                      <m:r>
                        <a:rPr lang="en-US" sz="2400" b="1" i="1">
                          <a:solidFill>
                            <a:prstClr val="black"/>
                          </a:solidFill>
                          <a:latin typeface="Cambria Math" charset="0"/>
                        </a:rPr>
                        <m:t>=</m:t>
                      </m:r>
                      <m:sSup>
                        <m:sSupPr>
                          <m:ctrlPr>
                            <a:rPr lang="en-US" sz="2400" b="1" i="1">
                              <a:solidFill>
                                <a:prstClr val="black"/>
                              </a:solidFill>
                              <a:latin typeface="Cambria Math" panose="02040503050406030204" pitchFamily="18" charset="0"/>
                            </a:rPr>
                          </m:ctrlPr>
                        </m:sSupPr>
                        <m:e>
                          <m:d>
                            <m:dPr>
                              <m:ctrlPr>
                                <a:rPr lang="en-US" sz="2400" b="1" i="1">
                                  <a:solidFill>
                                    <a:prstClr val="black"/>
                                  </a:solidFill>
                                  <a:latin typeface="Cambria Math" panose="02040503050406030204" pitchFamily="18" charset="0"/>
                                </a:rPr>
                              </m:ctrlPr>
                            </m:dPr>
                            <m:e>
                              <m:r>
                                <a:rPr lang="en-US" sz="2400" b="1" i="1">
                                  <a:solidFill>
                                    <a:prstClr val="black"/>
                                  </a:solidFill>
                                  <a:latin typeface="Cambria Math" charset="0"/>
                                </a:rPr>
                                <m:t>𝒘</m:t>
                              </m:r>
                              <m:r>
                                <a:rPr lang="en-US" sz="2400" b="1" i="1" smtClean="0">
                                  <a:solidFill>
                                    <a:prstClr val="black"/>
                                  </a:solidFill>
                                  <a:latin typeface="Cambria Math" charset="0"/>
                                </a:rPr>
                                <m:t>−</m:t>
                              </m:r>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𝒙</m:t>
                                  </m:r>
                                </m:e>
                                <m:sup>
                                  <m:d>
                                    <m:dPr>
                                      <m:ctrlPr>
                                        <a:rPr lang="en-US" sz="2400" b="1" i="1">
                                          <a:solidFill>
                                            <a:prstClr val="black"/>
                                          </a:solidFill>
                                          <a:latin typeface="Cambria Math" panose="02040503050406030204" pitchFamily="18" charset="0"/>
                                        </a:rPr>
                                      </m:ctrlPr>
                                    </m:dPr>
                                    <m:e>
                                      <m:r>
                                        <a:rPr lang="en-US" sz="2400" i="1">
                                          <a:solidFill>
                                            <a:prstClr val="black"/>
                                          </a:solidFill>
                                          <a:latin typeface="Cambria Math" charset="0"/>
                                        </a:rPr>
                                        <m:t>𝑖</m:t>
                                      </m:r>
                                    </m:e>
                                  </m:d>
                                </m:sup>
                              </m:sSup>
                            </m:e>
                          </m:d>
                        </m:e>
                        <m:sup>
                          <m:r>
                            <a:rPr lang="en-US" sz="2400" i="1">
                              <a:solidFill>
                                <a:prstClr val="black"/>
                              </a:solidFill>
                              <a:latin typeface="Cambria Math" charset="0"/>
                            </a:rPr>
                            <m:t>𝑇</m:t>
                          </m:r>
                        </m:sup>
                      </m:sSup>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𝒘</m:t>
                          </m:r>
                        </m:e>
                        <m:sup>
                          <m:r>
                            <a:rPr lang="en-US" sz="2400" i="1">
                              <a:solidFill>
                                <a:prstClr val="black"/>
                              </a:solidFill>
                              <a:latin typeface="Cambria Math" charset="0"/>
                            </a:rPr>
                            <m:t>∗</m:t>
                          </m:r>
                        </m:sup>
                      </m:sSup>
                      <m:r>
                        <a:rPr lang="en-US" sz="2400" b="1" i="1" smtClean="0">
                          <a:solidFill>
                            <a:prstClr val="black"/>
                          </a:solidFill>
                          <a:latin typeface="Cambria Math" charset="0"/>
                        </a:rPr>
                        <m:t>=</m:t>
                      </m:r>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𝒘</m:t>
                          </m:r>
                        </m:e>
                        <m:sup>
                          <m:r>
                            <a:rPr lang="en-US" sz="2400" i="1">
                              <a:solidFill>
                                <a:prstClr val="black"/>
                              </a:solidFill>
                              <a:latin typeface="Cambria Math" charset="0"/>
                            </a:rPr>
                            <m:t>𝑇</m:t>
                          </m:r>
                        </m:sup>
                      </m:sSup>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𝒘</m:t>
                          </m:r>
                        </m:e>
                        <m:sup>
                          <m:r>
                            <a:rPr lang="en-US" sz="2400" i="1">
                              <a:solidFill>
                                <a:prstClr val="black"/>
                              </a:solidFill>
                              <a:latin typeface="Cambria Math" charset="0"/>
                            </a:rPr>
                            <m:t>∗</m:t>
                          </m:r>
                        </m:sup>
                      </m:sSup>
                      <m:r>
                        <a:rPr lang="en-US" sz="2400" b="1" i="1" smtClean="0">
                          <a:solidFill>
                            <a:prstClr val="black"/>
                          </a:solidFill>
                          <a:latin typeface="Cambria Math" charset="0"/>
                        </a:rPr>
                        <m:t>−</m:t>
                      </m:r>
                      <m:sSup>
                        <m:sSupPr>
                          <m:ctrlPr>
                            <a:rPr lang="en-US" sz="2400" b="1" i="1">
                              <a:solidFill>
                                <a:prstClr val="black"/>
                              </a:solidFill>
                              <a:latin typeface="Cambria Math" panose="02040503050406030204" pitchFamily="18" charset="0"/>
                            </a:rPr>
                          </m:ctrlPr>
                        </m:sSupPr>
                        <m:e>
                          <m:d>
                            <m:dPr>
                              <m:ctrlPr>
                                <a:rPr lang="en-US" sz="2400" b="1" i="1">
                                  <a:solidFill>
                                    <a:prstClr val="black"/>
                                  </a:solidFill>
                                  <a:latin typeface="Cambria Math" panose="02040503050406030204" pitchFamily="18" charset="0"/>
                                </a:rPr>
                              </m:ctrlPr>
                            </m:dPr>
                            <m:e>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𝒙</m:t>
                                  </m:r>
                                </m:e>
                                <m:sup>
                                  <m:d>
                                    <m:dPr>
                                      <m:ctrlPr>
                                        <a:rPr lang="en-US" sz="2400" b="1" i="1">
                                          <a:solidFill>
                                            <a:prstClr val="black"/>
                                          </a:solidFill>
                                          <a:latin typeface="Cambria Math" panose="02040503050406030204" pitchFamily="18" charset="0"/>
                                        </a:rPr>
                                      </m:ctrlPr>
                                    </m:dPr>
                                    <m:e>
                                      <m:r>
                                        <a:rPr lang="en-US" sz="2400" i="1">
                                          <a:solidFill>
                                            <a:prstClr val="black"/>
                                          </a:solidFill>
                                          <a:latin typeface="Cambria Math" charset="0"/>
                                        </a:rPr>
                                        <m:t>𝑖</m:t>
                                      </m:r>
                                    </m:e>
                                  </m:d>
                                </m:sup>
                              </m:sSup>
                            </m:e>
                          </m:d>
                        </m:e>
                        <m:sup>
                          <m:r>
                            <a:rPr lang="en-US" sz="2400" i="1">
                              <a:solidFill>
                                <a:prstClr val="black"/>
                              </a:solidFill>
                              <a:latin typeface="Cambria Math" charset="0"/>
                            </a:rPr>
                            <m:t>𝑇</m:t>
                          </m:r>
                        </m:sup>
                      </m:sSup>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𝒘</m:t>
                          </m:r>
                        </m:e>
                        <m:sup>
                          <m:r>
                            <a:rPr lang="en-US" sz="2400" i="1">
                              <a:solidFill>
                                <a:prstClr val="black"/>
                              </a:solidFill>
                              <a:latin typeface="Cambria Math" charset="0"/>
                            </a:rPr>
                            <m:t>∗</m:t>
                          </m:r>
                        </m:sup>
                      </m:sSup>
                    </m:oMath>
                  </m:oMathPara>
                </a14:m>
                <a:endParaRPr lang="en-IN" sz="2400" dirty="0"/>
              </a:p>
              <a:p>
                <a14:m>
                  <m:oMath xmlns:m="http://schemas.openxmlformats.org/officeDocument/2006/math">
                    <m:sSup>
                      <m:sSupPr>
                        <m:ctrlPr>
                          <a:rPr lang="en-US" sz="2400" b="1" i="1">
                            <a:solidFill>
                              <a:prstClr val="black"/>
                            </a:solidFill>
                            <a:latin typeface="Cambria Math" panose="02040503050406030204" pitchFamily="18" charset="0"/>
                          </a:rPr>
                        </m:ctrlPr>
                      </m:sSupPr>
                      <m:e>
                        <m:d>
                          <m:dPr>
                            <m:ctrlPr>
                              <a:rPr lang="en-US" sz="2400" b="1" i="1">
                                <a:solidFill>
                                  <a:prstClr val="black"/>
                                </a:solidFill>
                                <a:latin typeface="Cambria Math" panose="02040503050406030204" pitchFamily="18" charset="0"/>
                              </a:rPr>
                            </m:ctrlPr>
                          </m:dPr>
                          <m:e>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𝒙</m:t>
                                </m:r>
                              </m:e>
                              <m:sup>
                                <m:d>
                                  <m:dPr>
                                    <m:ctrlPr>
                                      <a:rPr lang="en-US" sz="2400" b="1" i="1">
                                        <a:solidFill>
                                          <a:prstClr val="black"/>
                                        </a:solidFill>
                                        <a:latin typeface="Cambria Math" panose="02040503050406030204" pitchFamily="18" charset="0"/>
                                      </a:rPr>
                                    </m:ctrlPr>
                                  </m:dPr>
                                  <m:e>
                                    <m:r>
                                      <a:rPr lang="en-US" sz="2400" i="1">
                                        <a:solidFill>
                                          <a:prstClr val="black"/>
                                        </a:solidFill>
                                        <a:latin typeface="Cambria Math" charset="0"/>
                                      </a:rPr>
                                      <m:t>𝑖</m:t>
                                    </m:r>
                                  </m:e>
                                </m:d>
                              </m:sup>
                            </m:sSup>
                          </m:e>
                        </m:d>
                      </m:e>
                      <m:sup>
                        <m:r>
                          <a:rPr lang="en-US" sz="2400" i="1">
                            <a:solidFill>
                              <a:prstClr val="black"/>
                            </a:solidFill>
                            <a:latin typeface="Cambria Math" charset="0"/>
                          </a:rPr>
                          <m:t>𝑇</m:t>
                        </m:r>
                      </m:sup>
                    </m:sSup>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𝒘</m:t>
                        </m:r>
                      </m:e>
                      <m:sup>
                        <m:r>
                          <a:rPr lang="en-US" sz="2400" i="1">
                            <a:solidFill>
                              <a:prstClr val="black"/>
                            </a:solidFill>
                            <a:latin typeface="Cambria Math" charset="0"/>
                          </a:rPr>
                          <m:t>∗</m:t>
                        </m:r>
                      </m:sup>
                    </m:sSup>
                  </m:oMath>
                </a14:m>
                <a:r>
                  <a:rPr lang="en-IN" sz="2400" dirty="0"/>
                  <a:t> is negative as the example is negative and thus </a:t>
                </a:r>
                <a14:m>
                  <m:oMath xmlns:m="http://schemas.openxmlformats.org/officeDocument/2006/math">
                    <m:r>
                      <a:rPr lang="en-US" sz="2400" b="0" i="0" smtClean="0">
                        <a:solidFill>
                          <a:prstClr val="black"/>
                        </a:solidFill>
                        <a:latin typeface="Cambria Math" charset="0"/>
                      </a:rPr>
                      <m:t>−</m:t>
                    </m:r>
                    <m:sSup>
                      <m:sSupPr>
                        <m:ctrlPr>
                          <a:rPr lang="en-US" sz="2400" b="1" i="1">
                            <a:solidFill>
                              <a:prstClr val="black"/>
                            </a:solidFill>
                            <a:latin typeface="Cambria Math" panose="02040503050406030204" pitchFamily="18" charset="0"/>
                          </a:rPr>
                        </m:ctrlPr>
                      </m:sSupPr>
                      <m:e>
                        <m:d>
                          <m:dPr>
                            <m:ctrlPr>
                              <a:rPr lang="en-US" sz="2400" b="1" i="1">
                                <a:solidFill>
                                  <a:prstClr val="black"/>
                                </a:solidFill>
                                <a:latin typeface="Cambria Math" panose="02040503050406030204" pitchFamily="18" charset="0"/>
                              </a:rPr>
                            </m:ctrlPr>
                          </m:dPr>
                          <m:e>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𝒙</m:t>
                                </m:r>
                              </m:e>
                              <m:sup>
                                <m:d>
                                  <m:dPr>
                                    <m:ctrlPr>
                                      <a:rPr lang="en-US" sz="2400" b="1" i="1">
                                        <a:solidFill>
                                          <a:prstClr val="black"/>
                                        </a:solidFill>
                                        <a:latin typeface="Cambria Math" panose="02040503050406030204" pitchFamily="18" charset="0"/>
                                      </a:rPr>
                                    </m:ctrlPr>
                                  </m:dPr>
                                  <m:e>
                                    <m:r>
                                      <a:rPr lang="en-US" sz="2400" i="1">
                                        <a:solidFill>
                                          <a:prstClr val="black"/>
                                        </a:solidFill>
                                        <a:latin typeface="Cambria Math" charset="0"/>
                                      </a:rPr>
                                      <m:t>𝑖</m:t>
                                    </m:r>
                                  </m:e>
                                </m:d>
                              </m:sup>
                            </m:sSup>
                          </m:e>
                        </m:d>
                      </m:e>
                      <m:sup>
                        <m:r>
                          <a:rPr lang="en-US" sz="2400" i="1">
                            <a:solidFill>
                              <a:prstClr val="black"/>
                            </a:solidFill>
                            <a:latin typeface="Cambria Math" charset="0"/>
                          </a:rPr>
                          <m:t>𝑇</m:t>
                        </m:r>
                      </m:sup>
                    </m:sSup>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𝒘</m:t>
                        </m:r>
                      </m:e>
                      <m:sup>
                        <m:r>
                          <a:rPr lang="en-US" sz="2400" i="1">
                            <a:solidFill>
                              <a:prstClr val="black"/>
                            </a:solidFill>
                            <a:latin typeface="Cambria Math" charset="0"/>
                          </a:rPr>
                          <m:t>∗</m:t>
                        </m:r>
                      </m:sup>
                    </m:sSup>
                    <m:r>
                      <a:rPr lang="en-US" sz="2400" b="1" i="1" smtClean="0">
                        <a:solidFill>
                          <a:prstClr val="black"/>
                        </a:solidFill>
                        <a:latin typeface="Cambria Math" charset="0"/>
                      </a:rPr>
                      <m:t>≥</m:t>
                    </m:r>
                    <m:r>
                      <a:rPr lang="en-US" sz="2400" b="0" i="1" smtClean="0">
                        <a:solidFill>
                          <a:prstClr val="black"/>
                        </a:solidFill>
                        <a:latin typeface="Cambria Math" charset="0"/>
                      </a:rPr>
                      <m:t>𝛾</m:t>
                    </m:r>
                  </m:oMath>
                </a14:m>
                <a:r>
                  <a:rPr lang="en-IN" sz="2400" dirty="0"/>
                  <a:t>.</a:t>
                </a:r>
              </a:p>
              <a:p>
                <a:pPr marL="342900" indent="-342900">
                  <a:buFont typeface="Arial" charset="0"/>
                  <a:buChar char="•"/>
                </a:pPr>
                <a:r>
                  <a:rPr lang="en-IN" sz="2400" dirty="0"/>
                  <a:t>So, in both cases </a:t>
                </a:r>
                <a14:m>
                  <m:oMath xmlns:m="http://schemas.openxmlformats.org/officeDocument/2006/math">
                    <m:sSup>
                      <m:sSupPr>
                        <m:ctrlPr>
                          <a:rPr lang="en-US" sz="2400" i="1">
                            <a:solidFill>
                              <a:prstClr val="black"/>
                            </a:solidFill>
                            <a:latin typeface="Cambria Math" panose="02040503050406030204" pitchFamily="18" charset="0"/>
                          </a:rPr>
                        </m:ctrlPr>
                      </m:sSupPr>
                      <m:e>
                        <m:d>
                          <m:dPr>
                            <m:ctrlPr>
                              <a:rPr lang="en-US" sz="2400" i="1">
                                <a:solidFill>
                                  <a:prstClr val="black"/>
                                </a:solidFill>
                                <a:latin typeface="Cambria Math" panose="02040503050406030204" pitchFamily="18" charset="0"/>
                              </a:rPr>
                            </m:ctrlPr>
                          </m:dPr>
                          <m:e>
                            <m:sSup>
                              <m:sSupPr>
                                <m:ctrlPr>
                                  <a:rPr lang="en-US" sz="2400" i="1">
                                    <a:solidFill>
                                      <a:prstClr val="black"/>
                                    </a:solidFill>
                                    <a:latin typeface="Cambria Math" panose="02040503050406030204" pitchFamily="18" charset="0"/>
                                  </a:rPr>
                                </m:ctrlPr>
                              </m:sSupPr>
                              <m:e>
                                <m:r>
                                  <a:rPr lang="en-US" sz="2400" b="1" i="1">
                                    <a:solidFill>
                                      <a:prstClr val="black"/>
                                    </a:solidFill>
                                    <a:latin typeface="Cambria Math" charset="0"/>
                                  </a:rPr>
                                  <m:t>𝒘</m:t>
                                </m:r>
                              </m:e>
                              <m:sup>
                                <m:r>
                                  <a:rPr lang="en-US" sz="2400" i="1">
                                    <a:solidFill>
                                      <a:prstClr val="black"/>
                                    </a:solidFill>
                                    <a:latin typeface="Cambria Math" charset="0"/>
                                  </a:rPr>
                                  <m:t>′</m:t>
                                </m:r>
                              </m:sup>
                            </m:sSup>
                          </m:e>
                        </m:d>
                      </m:e>
                      <m:sup>
                        <m:r>
                          <a:rPr lang="en-US" sz="2400" i="1">
                            <a:solidFill>
                              <a:prstClr val="black"/>
                            </a:solidFill>
                            <a:latin typeface="Cambria Math" charset="0"/>
                          </a:rPr>
                          <m:t>𝑇</m:t>
                        </m:r>
                      </m:sup>
                    </m:sSup>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𝒘</m:t>
                        </m:r>
                      </m:e>
                      <m:sup>
                        <m:r>
                          <a:rPr lang="en-US" sz="2400" i="1">
                            <a:solidFill>
                              <a:prstClr val="black"/>
                            </a:solidFill>
                            <a:latin typeface="Cambria Math" charset="0"/>
                          </a:rPr>
                          <m:t>∗</m:t>
                        </m:r>
                      </m:sup>
                    </m:sSup>
                  </m:oMath>
                </a14:m>
                <a:r>
                  <a:rPr lang="en-IN" sz="2400" dirty="0"/>
                  <a:t> is increasing by at least </a:t>
                </a:r>
                <a14:m>
                  <m:oMath xmlns:m="http://schemas.openxmlformats.org/officeDocument/2006/math">
                    <m:r>
                      <a:rPr lang="en-US" sz="2400" i="1">
                        <a:solidFill>
                          <a:prstClr val="black"/>
                        </a:solidFill>
                        <a:latin typeface="Cambria Math" charset="0"/>
                      </a:rPr>
                      <m:t>𝛾</m:t>
                    </m:r>
                  </m:oMath>
                </a14:m>
                <a:r>
                  <a:rPr lang="en-IN" sz="2400" dirty="0"/>
                  <a:t>. Which means length of </a:t>
                </a:r>
                <a14:m>
                  <m:oMath xmlns:m="http://schemas.openxmlformats.org/officeDocument/2006/math">
                    <m:sSup>
                      <m:sSupPr>
                        <m:ctrlPr>
                          <a:rPr lang="en-US" sz="2400" i="1">
                            <a:latin typeface="Cambria Math" panose="02040503050406030204" pitchFamily="18" charset="0"/>
                          </a:rPr>
                        </m:ctrlPr>
                      </m:sSupPr>
                      <m:e>
                        <m:r>
                          <a:rPr lang="en-US" sz="2400" b="1" i="1">
                            <a:latin typeface="Cambria Math" charset="0"/>
                          </a:rPr>
                          <m:t>𝒘</m:t>
                        </m:r>
                      </m:e>
                      <m:sup>
                        <m:r>
                          <a:rPr lang="en-US" sz="2400" i="1">
                            <a:latin typeface="Cambria Math" charset="0"/>
                          </a:rPr>
                          <m:t>′</m:t>
                        </m:r>
                      </m:sup>
                    </m:sSup>
                  </m:oMath>
                </a14:m>
                <a:r>
                  <a:rPr lang="en-IN" sz="2400" dirty="0"/>
                  <a:t> increases with each update </a:t>
                </a:r>
                <a:r>
                  <a:rPr lang="en-IN" sz="2400" dirty="0">
                    <a:solidFill>
                      <a:srgbClr val="FF0000"/>
                    </a:solidFill>
                    <a:sym typeface="Wingdings"/>
                  </a:rPr>
                  <a:t> Observation 1</a:t>
                </a:r>
                <a:endParaRPr lang="en-IN" sz="2400" dirty="0">
                  <a:solidFill>
                    <a:srgbClr val="FF0000"/>
                  </a:solidFill>
                </a:endParaRPr>
              </a:p>
            </p:txBody>
          </p:sp>
        </mc:Choice>
        <mc:Fallback xmlns="">
          <p:sp>
            <p:nvSpPr>
              <p:cNvPr id="33" name="TextBox 32"/>
              <p:cNvSpPr txBox="1">
                <a:spLocks noRot="1" noChangeAspect="1" noMove="1" noResize="1" noEditPoints="1" noAdjustHandles="1" noChangeArrowheads="1" noChangeShapeType="1" noTextEdit="1"/>
              </p:cNvSpPr>
              <p:nvPr/>
            </p:nvSpPr>
            <p:spPr>
              <a:xfrm>
                <a:off x="180868" y="1371009"/>
                <a:ext cx="12011132" cy="5429820"/>
              </a:xfrm>
              <a:prstGeom prst="rect">
                <a:avLst/>
              </a:prstGeom>
              <a:blipFill rotWithShape="0">
                <a:blip r:embed="rId3"/>
                <a:stretch>
                  <a:fillRect l="-711" t="-898" b="-1571"/>
                </a:stretch>
              </a:blipFill>
            </p:spPr>
            <p:txBody>
              <a:bodyPr/>
              <a:lstStyle/>
              <a:p>
                <a:r>
                  <a:rPr lang="en-US">
                    <a:noFill/>
                  </a:rPr>
                  <a:t> </a:t>
                </a:r>
              </a:p>
            </p:txBody>
          </p:sp>
        </mc:Fallback>
      </mc:AlternateContent>
      <p:sp>
        <p:nvSpPr>
          <p:cNvPr id="6" name="Slide Number Placeholder 5"/>
          <p:cNvSpPr>
            <a:spLocks noGrp="1"/>
          </p:cNvSpPr>
          <p:nvPr>
            <p:ph type="sldNum" sz="quarter" idx="4"/>
          </p:nvPr>
        </p:nvSpPr>
        <p:spPr>
          <a:xfrm>
            <a:off x="10569844" y="6462366"/>
            <a:ext cx="783956" cy="365125"/>
          </a:xfrm>
        </p:spPr>
        <p:txBody>
          <a:bodyPr/>
          <a:lstStyle/>
          <a:p>
            <a:fld id="{683B8651-0143-4140-839E-3D36292080E8}" type="slidenum">
              <a:rPr lang="en-US" smtClean="0"/>
              <a:t>12</a:t>
            </a:fld>
            <a:endParaRPr lang="en-US" dirty="0"/>
          </a:p>
        </p:txBody>
      </p:sp>
      <mc:AlternateContent xmlns:mc="http://schemas.openxmlformats.org/markup-compatibility/2006" xmlns:a14="http://schemas.microsoft.com/office/drawing/2010/main">
        <mc:Choice Requires="a14">
          <p:sp>
            <p:nvSpPr>
              <p:cNvPr id="3" name="TextBox 2"/>
              <p:cNvSpPr txBox="1"/>
              <p:nvPr/>
            </p:nvSpPr>
            <p:spPr>
              <a:xfrm>
                <a:off x="348536" y="4162482"/>
                <a:ext cx="1663661" cy="369332"/>
              </a:xfrm>
              <a:prstGeom prst="rect">
                <a:avLst/>
              </a:prstGeom>
              <a:noFill/>
              <a:ln>
                <a:solidFill>
                  <a:schemeClr val="tx1"/>
                </a:solidFill>
              </a:ln>
            </p:spPr>
            <p:txBody>
              <a:bodyPr wrap="none" rtlCol="0">
                <a:spAutoFit/>
              </a:bodyPr>
              <a:lstStyle/>
              <a:p>
                <a:r>
                  <a:rPr lang="en-US" dirty="0"/>
                  <a:t>Previous </a:t>
                </a:r>
                <a14:m>
                  <m:oMath xmlns:m="http://schemas.openxmlformats.org/officeDocument/2006/math">
                    <m:sSup>
                      <m:sSupPr>
                        <m:ctrlPr>
                          <a:rPr lang="en-US" b="1" i="1">
                            <a:solidFill>
                              <a:prstClr val="black"/>
                            </a:solidFill>
                            <a:latin typeface="Cambria Math" panose="02040503050406030204" pitchFamily="18" charset="0"/>
                          </a:rPr>
                        </m:ctrlPr>
                      </m:sSupPr>
                      <m:e>
                        <m:r>
                          <a:rPr lang="en-US" b="1" i="1">
                            <a:solidFill>
                              <a:prstClr val="black"/>
                            </a:solidFill>
                            <a:latin typeface="Cambria Math" charset="0"/>
                          </a:rPr>
                          <m:t>𝒘</m:t>
                        </m:r>
                      </m:e>
                      <m:sup>
                        <m:r>
                          <a:rPr lang="en-US" i="1">
                            <a:solidFill>
                              <a:prstClr val="black"/>
                            </a:solidFill>
                            <a:latin typeface="Cambria Math" charset="0"/>
                          </a:rPr>
                          <m:t>𝑇</m:t>
                        </m:r>
                      </m:sup>
                    </m:sSup>
                    <m:sSup>
                      <m:sSupPr>
                        <m:ctrlPr>
                          <a:rPr lang="en-US" b="1" i="1">
                            <a:solidFill>
                              <a:prstClr val="black"/>
                            </a:solidFill>
                            <a:latin typeface="Cambria Math" panose="02040503050406030204" pitchFamily="18" charset="0"/>
                          </a:rPr>
                        </m:ctrlPr>
                      </m:sSupPr>
                      <m:e>
                        <m:r>
                          <a:rPr lang="en-US" b="1" i="1">
                            <a:solidFill>
                              <a:prstClr val="black"/>
                            </a:solidFill>
                            <a:latin typeface="Cambria Math" charset="0"/>
                          </a:rPr>
                          <m:t>𝒘</m:t>
                        </m:r>
                      </m:e>
                      <m:sup>
                        <m:r>
                          <a:rPr lang="en-US" i="1">
                            <a:solidFill>
                              <a:prstClr val="black"/>
                            </a:solidFill>
                            <a:latin typeface="Cambria Math" charset="0"/>
                          </a:rPr>
                          <m:t>∗</m:t>
                        </m:r>
                      </m:sup>
                    </m:sSup>
                  </m:oMath>
                </a14:m>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348536" y="4162482"/>
                <a:ext cx="1663661" cy="369332"/>
              </a:xfrm>
              <a:prstGeom prst="rect">
                <a:avLst/>
              </a:prstGeom>
              <a:blipFill rotWithShape="0">
                <a:blip r:embed="rId4"/>
                <a:stretch>
                  <a:fillRect l="-2545" t="-8065" b="-24194"/>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046494" y="4162482"/>
                <a:ext cx="1672253" cy="369332"/>
              </a:xfrm>
              <a:prstGeom prst="rect">
                <a:avLst/>
              </a:prstGeom>
              <a:noFill/>
              <a:ln>
                <a:solidFill>
                  <a:schemeClr val="tx1"/>
                </a:solidFill>
              </a:ln>
            </p:spPr>
            <p:txBody>
              <a:bodyPr wrap="none" rtlCol="0">
                <a:spAutoFit/>
              </a:bodyPr>
              <a:lstStyle/>
              <a:p>
                <a:r>
                  <a:rPr lang="en-US" dirty="0"/>
                  <a:t>This is at least </a:t>
                </a:r>
                <a14:m>
                  <m:oMath xmlns:m="http://schemas.openxmlformats.org/officeDocument/2006/math">
                    <m:r>
                      <a:rPr lang="en-US" b="0" i="1" smtClean="0">
                        <a:latin typeface="Cambria Math" charset="0"/>
                      </a:rPr>
                      <m:t>𝛾</m:t>
                    </m:r>
                  </m:oMath>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4046494" y="4162482"/>
                <a:ext cx="1672253" cy="369332"/>
              </a:xfrm>
              <a:prstGeom prst="rect">
                <a:avLst/>
              </a:prstGeom>
              <a:blipFill rotWithShape="0">
                <a:blip r:embed="rId5"/>
                <a:stretch>
                  <a:fillRect l="-2899" t="-8065" b="-24194"/>
                </a:stretch>
              </a:blipFill>
              <a:ln>
                <a:solidFill>
                  <a:schemeClr val="tx1"/>
                </a:solidFill>
              </a:ln>
            </p:spPr>
            <p:txBody>
              <a:bodyPr/>
              <a:lstStyle/>
              <a:p>
                <a:r>
                  <a:rPr lang="en-US">
                    <a:noFill/>
                  </a:rPr>
                  <a:t> </a:t>
                </a:r>
              </a:p>
            </p:txBody>
          </p:sp>
        </mc:Fallback>
      </mc:AlternateContent>
      <p:cxnSp>
        <p:nvCxnSpPr>
          <p:cNvPr id="7" name="Curved Connector 6"/>
          <p:cNvCxnSpPr>
            <a:endCxn id="3" idx="3"/>
          </p:cNvCxnSpPr>
          <p:nvPr/>
        </p:nvCxnSpPr>
        <p:spPr>
          <a:xfrm rot="10800000" flipV="1">
            <a:off x="2012197" y="3852472"/>
            <a:ext cx="835934" cy="494676"/>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0" name="Curved Connector 9"/>
          <p:cNvCxnSpPr>
            <a:endCxn id="8" idx="0"/>
          </p:cNvCxnSpPr>
          <p:nvPr/>
        </p:nvCxnSpPr>
        <p:spPr>
          <a:xfrm>
            <a:off x="4332157" y="3932402"/>
            <a:ext cx="550464" cy="230080"/>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sp>
        <p:nvSpPr>
          <p:cNvPr id="4" name="Footer Placeholder 3"/>
          <p:cNvSpPr>
            <a:spLocks noGrp="1"/>
          </p:cNvSpPr>
          <p:nvPr>
            <p:ph type="ftr" sz="quarter" idx="3"/>
          </p:nvPr>
        </p:nvSpPr>
        <p:spPr>
          <a:xfrm>
            <a:off x="2012197" y="6555130"/>
            <a:ext cx="8167606" cy="365125"/>
          </a:xfrm>
        </p:spPr>
        <p:txBody>
          <a:bodyPr/>
          <a:lstStyle/>
          <a:p>
            <a:r>
              <a:rPr lang="en-US"/>
              <a:t>CS21206 / FAIML | Perceptron and MLP (c) Abir Das, Ayan Chaudhury</a:t>
            </a:r>
            <a:endParaRPr lang="en-US" dirty="0"/>
          </a:p>
        </p:txBody>
      </p:sp>
    </p:spTree>
    <p:extLst>
      <p:ext uri="{BB962C8B-B14F-4D97-AF65-F5344CB8AC3E}">
        <p14:creationId xmlns:p14="http://schemas.microsoft.com/office/powerpoint/2010/main" val="19448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674557" y="832857"/>
            <a:ext cx="10088381" cy="84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200" dirty="0">
                <a:solidFill>
                  <a:srgbClr val="434343"/>
                </a:solidFill>
              </a:rPr>
              <a:t>Perceptron Learning Algorithm </a:t>
            </a:r>
            <a:r>
              <a:rPr lang="mr-IN" sz="3200" dirty="0">
                <a:solidFill>
                  <a:srgbClr val="434343"/>
                </a:solidFill>
              </a:rPr>
              <a:t>–</a:t>
            </a:r>
            <a:r>
              <a:rPr lang="en-US" sz="3200" dirty="0">
                <a:solidFill>
                  <a:srgbClr val="434343"/>
                </a:solidFill>
              </a:rPr>
              <a:t> Convergence Proof</a:t>
            </a:r>
            <a:endParaRPr sz="3200" dirty="0">
              <a:solidFill>
                <a:srgbClr val="434343"/>
              </a:solidFill>
            </a:endParaRPr>
          </a:p>
        </p:txBody>
      </p:sp>
      <mc:AlternateContent xmlns:mc="http://schemas.openxmlformats.org/markup-compatibility/2006" xmlns:a14="http://schemas.microsoft.com/office/drawing/2010/main">
        <mc:Choice Requires="a14">
          <p:sp>
            <p:nvSpPr>
              <p:cNvPr id="33" name="TextBox 32"/>
              <p:cNvSpPr txBox="1"/>
              <p:nvPr/>
            </p:nvSpPr>
            <p:spPr>
              <a:xfrm>
                <a:off x="180868" y="1371009"/>
                <a:ext cx="12011132" cy="4853188"/>
              </a:xfrm>
              <a:prstGeom prst="rect">
                <a:avLst/>
              </a:prstGeom>
              <a:noFill/>
            </p:spPr>
            <p:txBody>
              <a:bodyPr wrap="square" rtlCol="0">
                <a:spAutoFit/>
              </a:bodyPr>
              <a:lstStyle/>
              <a:p>
                <a:pPr marL="342900" indent="-342900">
                  <a:buFont typeface="Arial" charset="0"/>
                  <a:buChar char="•"/>
                </a:pPr>
                <a:r>
                  <a:rPr lang="en-IN" sz="2400" dirty="0"/>
                  <a:t>length of </a:t>
                </a:r>
                <a14:m>
                  <m:oMath xmlns:m="http://schemas.openxmlformats.org/officeDocument/2006/math">
                    <m:sSup>
                      <m:sSupPr>
                        <m:ctrlPr>
                          <a:rPr lang="en-US" sz="2400" i="1">
                            <a:latin typeface="Cambria Math" panose="02040503050406030204" pitchFamily="18" charset="0"/>
                          </a:rPr>
                        </m:ctrlPr>
                      </m:sSupPr>
                      <m:e>
                        <m:r>
                          <a:rPr lang="en-US" sz="2400" b="1" i="1">
                            <a:latin typeface="Cambria Math" charset="0"/>
                          </a:rPr>
                          <m:t>𝒘</m:t>
                        </m:r>
                      </m:e>
                      <m:sup>
                        <m:r>
                          <a:rPr lang="en-US" sz="2400" i="1">
                            <a:latin typeface="Cambria Math" charset="0"/>
                          </a:rPr>
                          <m:t>′</m:t>
                        </m:r>
                      </m:sup>
                    </m:sSup>
                  </m:oMath>
                </a14:m>
                <a:r>
                  <a:rPr lang="en-IN" sz="2400" dirty="0"/>
                  <a:t>is given by </a:t>
                </a:r>
                <a14:m>
                  <m:oMath xmlns:m="http://schemas.openxmlformats.org/officeDocument/2006/math">
                    <m:sSup>
                      <m:sSupPr>
                        <m:ctrlPr>
                          <a:rPr lang="en-US" sz="2400" i="1">
                            <a:latin typeface="Cambria Math" panose="02040503050406030204" pitchFamily="18" charset="0"/>
                          </a:rPr>
                        </m:ctrlPr>
                      </m:sSupPr>
                      <m:e>
                        <m:r>
                          <a:rPr lang="en-US" sz="2400" b="1" i="1" smtClean="0">
                            <a:latin typeface="Cambria Math" charset="0"/>
                          </a:rPr>
                          <m:t>||</m:t>
                        </m:r>
                        <m:r>
                          <a:rPr lang="en-US" sz="2400" b="1" i="1">
                            <a:latin typeface="Cambria Math" charset="0"/>
                          </a:rPr>
                          <m:t>𝒘</m:t>
                        </m:r>
                      </m:e>
                      <m:sup>
                        <m:r>
                          <a:rPr lang="en-US" sz="2400" i="1">
                            <a:latin typeface="Cambria Math" charset="0"/>
                          </a:rPr>
                          <m:t>′</m:t>
                        </m:r>
                      </m:sup>
                    </m:sSup>
                    <m:r>
                      <a:rPr lang="en-US" sz="2400" b="0" i="1" smtClean="0">
                        <a:latin typeface="Cambria Math" charset="0"/>
                      </a:rPr>
                      <m:t>|</m:t>
                    </m:r>
                    <m:sSup>
                      <m:sSupPr>
                        <m:ctrlPr>
                          <a:rPr lang="en-US" sz="2400" b="0" i="1" smtClean="0">
                            <a:latin typeface="Cambria Math" panose="02040503050406030204" pitchFamily="18" charset="0"/>
                          </a:rPr>
                        </m:ctrlPr>
                      </m:sSupPr>
                      <m:e>
                        <m:d>
                          <m:dPr>
                            <m:begChr m:val=""/>
                            <m:endChr m:val="|"/>
                            <m:ctrlPr>
                              <a:rPr lang="en-US" sz="2400" b="0" i="1" smtClean="0">
                                <a:latin typeface="Cambria Math" panose="02040503050406030204" pitchFamily="18" charset="0"/>
                              </a:rPr>
                            </m:ctrlPr>
                          </m:dPr>
                          <m:e>
                            <m:r>
                              <a:rPr lang="en-US">
                                <a:latin typeface="Cambria Math" charset="0"/>
                              </a:rPr>
                              <m:t>​</m:t>
                            </m:r>
                          </m:e>
                        </m:d>
                      </m:e>
                      <m:sup>
                        <m:r>
                          <a:rPr lang="en-US" sz="2400" b="0" i="1" smtClean="0">
                            <a:latin typeface="Cambria Math" charset="0"/>
                          </a:rPr>
                          <m:t>2</m:t>
                        </m:r>
                      </m:sup>
                    </m:sSup>
                  </m:oMath>
                </a14:m>
                <a:r>
                  <a:rPr lang="en-IN" sz="2400" dirty="0"/>
                  <a:t>. Let us see, how this changes with each update.</a:t>
                </a:r>
              </a:p>
              <a:p>
                <a:pPr marL="342900" indent="-342900">
                  <a:buFont typeface="Arial" charset="0"/>
                  <a:buChar char="•"/>
                </a:pPr>
                <a:endParaRPr lang="en-IN" sz="2400" dirty="0"/>
              </a:p>
              <a:p>
                <a:pPr marL="342900" indent="-342900">
                  <a:buFont typeface="Arial" charset="0"/>
                  <a:buChar char="•"/>
                </a:pPr>
                <a14:m>
                  <m:oMath xmlns:m="http://schemas.openxmlformats.org/officeDocument/2006/math">
                    <m:sSup>
                      <m:sSupPr>
                        <m:ctrlPr>
                          <a:rPr lang="en-US" sz="2200" i="1">
                            <a:latin typeface="Cambria Math" panose="02040503050406030204" pitchFamily="18" charset="0"/>
                          </a:rPr>
                        </m:ctrlPr>
                      </m:sSupPr>
                      <m:e>
                        <m:r>
                          <a:rPr lang="en-US" sz="2200" b="1" i="1">
                            <a:latin typeface="Cambria Math" charset="0"/>
                          </a:rPr>
                          <m:t>||</m:t>
                        </m:r>
                        <m:r>
                          <a:rPr lang="en-US" sz="2200" b="1" i="1">
                            <a:latin typeface="Cambria Math" charset="0"/>
                          </a:rPr>
                          <m:t>𝒘</m:t>
                        </m:r>
                      </m:e>
                      <m:sup>
                        <m:r>
                          <a:rPr lang="en-US" sz="2200" i="1">
                            <a:latin typeface="Cambria Math" charset="0"/>
                          </a:rPr>
                          <m:t>′</m:t>
                        </m:r>
                      </m:sup>
                    </m:sSup>
                    <m:r>
                      <a:rPr lang="en-US" sz="2200" i="1">
                        <a:latin typeface="Cambria Math" charset="0"/>
                      </a:rPr>
                      <m:t>|</m:t>
                    </m:r>
                    <m:sSup>
                      <m:sSupPr>
                        <m:ctrlPr>
                          <a:rPr lang="en-US" sz="2200" i="1">
                            <a:latin typeface="Cambria Math" panose="02040503050406030204" pitchFamily="18" charset="0"/>
                          </a:rPr>
                        </m:ctrlPr>
                      </m:sSupPr>
                      <m:e>
                        <m:d>
                          <m:dPr>
                            <m:begChr m:val=""/>
                            <m:endChr m:val="|"/>
                            <m:ctrlPr>
                              <a:rPr lang="en-US" sz="2200" i="1">
                                <a:latin typeface="Cambria Math" panose="02040503050406030204" pitchFamily="18" charset="0"/>
                              </a:rPr>
                            </m:ctrlPr>
                          </m:dPr>
                          <m:e>
                            <m:r>
                              <a:rPr lang="en-US" sz="2200">
                                <a:latin typeface="Cambria Math" charset="0"/>
                              </a:rPr>
                              <m:t>​</m:t>
                            </m:r>
                          </m:e>
                        </m:d>
                      </m:e>
                      <m:sup>
                        <m:r>
                          <a:rPr lang="en-US" sz="2200" i="1">
                            <a:latin typeface="Cambria Math" charset="0"/>
                          </a:rPr>
                          <m:t>2</m:t>
                        </m:r>
                      </m:sup>
                    </m:sSup>
                    <m:r>
                      <a:rPr lang="en-US" sz="2200" b="0" i="1" smtClean="0">
                        <a:latin typeface="Cambria Math" charset="0"/>
                      </a:rPr>
                      <m:t>=</m:t>
                    </m:r>
                    <m:sSup>
                      <m:sSupPr>
                        <m:ctrlPr>
                          <a:rPr lang="en-US" sz="2200" b="0" i="1" smtClean="0">
                            <a:latin typeface="Cambria Math" panose="02040503050406030204" pitchFamily="18" charset="0"/>
                          </a:rPr>
                        </m:ctrlPr>
                      </m:sSupPr>
                      <m:e>
                        <m:d>
                          <m:dPr>
                            <m:ctrlPr>
                              <a:rPr lang="en-US" sz="2200" b="0" i="1" smtClean="0">
                                <a:latin typeface="Cambria Math" panose="02040503050406030204" pitchFamily="18" charset="0"/>
                              </a:rPr>
                            </m:ctrlPr>
                          </m:dPr>
                          <m:e>
                            <m:sSup>
                              <m:sSupPr>
                                <m:ctrlPr>
                                  <a:rPr lang="en-US" sz="2200" b="0" i="1" smtClean="0">
                                    <a:latin typeface="Cambria Math" panose="02040503050406030204" pitchFamily="18" charset="0"/>
                                  </a:rPr>
                                </m:ctrlPr>
                              </m:sSupPr>
                              <m:e>
                                <m:r>
                                  <a:rPr lang="en-US" sz="2200" b="1" i="1" smtClean="0">
                                    <a:latin typeface="Cambria Math" charset="0"/>
                                  </a:rPr>
                                  <m:t>𝒘</m:t>
                                </m:r>
                              </m:e>
                              <m:sup>
                                <m:r>
                                  <a:rPr lang="en-US" sz="2200" b="0" i="1" smtClean="0">
                                    <a:latin typeface="Cambria Math" charset="0"/>
                                  </a:rPr>
                                  <m:t>′</m:t>
                                </m:r>
                              </m:sup>
                            </m:sSup>
                          </m:e>
                        </m:d>
                      </m:e>
                      <m:sup>
                        <m:r>
                          <a:rPr lang="en-US" sz="2200" b="0" i="1" smtClean="0">
                            <a:latin typeface="Cambria Math" charset="0"/>
                          </a:rPr>
                          <m:t>𝑇</m:t>
                        </m:r>
                      </m:sup>
                    </m:sSup>
                    <m:sSup>
                      <m:sSupPr>
                        <m:ctrlPr>
                          <a:rPr lang="en-US" sz="2200" i="1">
                            <a:latin typeface="Cambria Math" panose="02040503050406030204" pitchFamily="18" charset="0"/>
                          </a:rPr>
                        </m:ctrlPr>
                      </m:sSupPr>
                      <m:e>
                        <m:r>
                          <a:rPr lang="en-US" sz="2200" b="1" i="1">
                            <a:latin typeface="Cambria Math" charset="0"/>
                          </a:rPr>
                          <m:t>𝒘</m:t>
                        </m:r>
                      </m:e>
                      <m:sup>
                        <m:r>
                          <a:rPr lang="en-US" sz="2200" i="1">
                            <a:latin typeface="Cambria Math" charset="0"/>
                          </a:rPr>
                          <m:t>′</m:t>
                        </m:r>
                      </m:sup>
                    </m:sSup>
                    <m:r>
                      <a:rPr lang="en-US" sz="2200" b="0" i="1" smtClean="0">
                        <a:latin typeface="Cambria Math" charset="0"/>
                      </a:rPr>
                      <m:t>=</m:t>
                    </m:r>
                    <m:sSup>
                      <m:sSupPr>
                        <m:ctrlPr>
                          <a:rPr lang="en-US" sz="2200" b="1" i="1" smtClean="0">
                            <a:latin typeface="Cambria Math" panose="02040503050406030204" pitchFamily="18" charset="0"/>
                          </a:rPr>
                        </m:ctrlPr>
                      </m:sSupPr>
                      <m:e>
                        <m:d>
                          <m:dPr>
                            <m:ctrlPr>
                              <a:rPr lang="en-US" sz="2200" b="0" i="1" smtClean="0">
                                <a:latin typeface="Cambria Math" panose="02040503050406030204" pitchFamily="18" charset="0"/>
                              </a:rPr>
                            </m:ctrlPr>
                          </m:dPr>
                          <m:e>
                            <m:r>
                              <a:rPr lang="en-US" sz="2200" b="1" i="1">
                                <a:latin typeface="Cambria Math" charset="0"/>
                              </a:rPr>
                              <m:t>𝒘</m:t>
                            </m:r>
                            <m:r>
                              <a:rPr lang="en-US" sz="2200" b="1" i="1">
                                <a:latin typeface="Cambria Math" charset="0"/>
                              </a:rPr>
                              <m:t>+</m:t>
                            </m:r>
                            <m:sSup>
                              <m:sSupPr>
                                <m:ctrlPr>
                                  <a:rPr lang="en-US" sz="2200" b="1" i="1">
                                    <a:latin typeface="Cambria Math" panose="02040503050406030204" pitchFamily="18" charset="0"/>
                                  </a:rPr>
                                </m:ctrlPr>
                              </m:sSupPr>
                              <m:e>
                                <m:r>
                                  <a:rPr lang="en-US" sz="2200" b="1" i="1">
                                    <a:latin typeface="Cambria Math" charset="0"/>
                                  </a:rPr>
                                  <m:t>𝒙</m:t>
                                </m:r>
                              </m:e>
                              <m:sup>
                                <m:d>
                                  <m:dPr>
                                    <m:ctrlPr>
                                      <a:rPr lang="en-US" sz="2200" b="1" i="1">
                                        <a:latin typeface="Cambria Math" panose="02040503050406030204" pitchFamily="18" charset="0"/>
                                      </a:rPr>
                                    </m:ctrlPr>
                                  </m:dPr>
                                  <m:e>
                                    <m:r>
                                      <a:rPr lang="en-US" sz="2200" i="1">
                                        <a:latin typeface="Cambria Math" charset="0"/>
                                      </a:rPr>
                                      <m:t>𝑖</m:t>
                                    </m:r>
                                  </m:e>
                                </m:d>
                              </m:sup>
                            </m:sSup>
                            <m:sSup>
                              <m:sSupPr>
                                <m:ctrlPr>
                                  <a:rPr lang="en-US" sz="2200" b="1" i="1">
                                    <a:latin typeface="Cambria Math" panose="02040503050406030204" pitchFamily="18" charset="0"/>
                                  </a:rPr>
                                </m:ctrlPr>
                              </m:sSupPr>
                              <m:e>
                                <m:r>
                                  <a:rPr lang="en-US" sz="2200" i="1">
                                    <a:latin typeface="Cambria Math" charset="0"/>
                                  </a:rPr>
                                  <m:t>𝑦</m:t>
                                </m:r>
                              </m:e>
                              <m:sup>
                                <m:d>
                                  <m:dPr>
                                    <m:ctrlPr>
                                      <a:rPr lang="en-US" sz="2200" b="1" i="1">
                                        <a:latin typeface="Cambria Math" panose="02040503050406030204" pitchFamily="18" charset="0"/>
                                      </a:rPr>
                                    </m:ctrlPr>
                                  </m:dPr>
                                  <m:e>
                                    <m:r>
                                      <a:rPr lang="en-US" sz="2200" i="1">
                                        <a:latin typeface="Cambria Math" charset="0"/>
                                      </a:rPr>
                                      <m:t>𝑖</m:t>
                                    </m:r>
                                  </m:e>
                                </m:d>
                              </m:sup>
                            </m:sSup>
                          </m:e>
                        </m:d>
                      </m:e>
                      <m:sup>
                        <m:r>
                          <a:rPr lang="en-US" sz="2200" b="0" i="1" smtClean="0">
                            <a:latin typeface="Cambria Math" charset="0"/>
                          </a:rPr>
                          <m:t>𝑇</m:t>
                        </m:r>
                      </m:sup>
                    </m:sSup>
                    <m:d>
                      <m:dPr>
                        <m:ctrlPr>
                          <a:rPr lang="en-US" sz="2200" b="1" i="1" smtClean="0">
                            <a:latin typeface="Cambria Math" panose="02040503050406030204" pitchFamily="18" charset="0"/>
                          </a:rPr>
                        </m:ctrlPr>
                      </m:dPr>
                      <m:e>
                        <m:r>
                          <a:rPr lang="en-US" sz="2200" b="1" i="1">
                            <a:latin typeface="Cambria Math" charset="0"/>
                          </a:rPr>
                          <m:t>𝒘</m:t>
                        </m:r>
                        <m:r>
                          <a:rPr lang="en-US" sz="2200" b="1" i="1">
                            <a:latin typeface="Cambria Math" charset="0"/>
                          </a:rPr>
                          <m:t>+</m:t>
                        </m:r>
                        <m:sSup>
                          <m:sSupPr>
                            <m:ctrlPr>
                              <a:rPr lang="en-US" sz="2200" b="1" i="1">
                                <a:latin typeface="Cambria Math" panose="02040503050406030204" pitchFamily="18" charset="0"/>
                              </a:rPr>
                            </m:ctrlPr>
                          </m:sSupPr>
                          <m:e>
                            <m:r>
                              <a:rPr lang="en-US" sz="2200" b="1" i="1">
                                <a:latin typeface="Cambria Math" charset="0"/>
                              </a:rPr>
                              <m:t>𝒙</m:t>
                            </m:r>
                          </m:e>
                          <m:sup>
                            <m:d>
                              <m:dPr>
                                <m:ctrlPr>
                                  <a:rPr lang="en-US" sz="2200" b="1" i="1">
                                    <a:latin typeface="Cambria Math" panose="02040503050406030204" pitchFamily="18" charset="0"/>
                                  </a:rPr>
                                </m:ctrlPr>
                              </m:dPr>
                              <m:e>
                                <m:r>
                                  <a:rPr lang="en-US" sz="2200" i="1">
                                    <a:latin typeface="Cambria Math" charset="0"/>
                                  </a:rPr>
                                  <m:t>𝑖</m:t>
                                </m:r>
                              </m:e>
                            </m:d>
                          </m:sup>
                        </m:sSup>
                        <m:sSup>
                          <m:sSupPr>
                            <m:ctrlPr>
                              <a:rPr lang="en-US" sz="2200" b="1" i="1">
                                <a:latin typeface="Cambria Math" panose="02040503050406030204" pitchFamily="18" charset="0"/>
                              </a:rPr>
                            </m:ctrlPr>
                          </m:sSupPr>
                          <m:e>
                            <m:r>
                              <a:rPr lang="en-US" sz="2200" i="1">
                                <a:latin typeface="Cambria Math" charset="0"/>
                              </a:rPr>
                              <m:t>𝑦</m:t>
                            </m:r>
                          </m:e>
                          <m:sup>
                            <m:d>
                              <m:dPr>
                                <m:ctrlPr>
                                  <a:rPr lang="en-US" sz="2200" b="1" i="1">
                                    <a:latin typeface="Cambria Math" panose="02040503050406030204" pitchFamily="18" charset="0"/>
                                  </a:rPr>
                                </m:ctrlPr>
                              </m:dPr>
                              <m:e>
                                <m:r>
                                  <a:rPr lang="en-US" sz="2200" i="1">
                                    <a:latin typeface="Cambria Math" charset="0"/>
                                  </a:rPr>
                                  <m:t>𝑖</m:t>
                                </m:r>
                              </m:e>
                            </m:d>
                          </m:sup>
                        </m:sSup>
                      </m:e>
                    </m:d>
                    <m:r>
                      <a:rPr lang="en-US" sz="2200" b="1" i="1" smtClean="0">
                        <a:latin typeface="Cambria Math" charset="0"/>
                      </a:rPr>
                      <m:t>=</m:t>
                    </m:r>
                    <m:sSup>
                      <m:sSupPr>
                        <m:ctrlPr>
                          <a:rPr lang="en-US" sz="2200" b="1" i="1" smtClean="0">
                            <a:latin typeface="Cambria Math" panose="02040503050406030204" pitchFamily="18" charset="0"/>
                          </a:rPr>
                        </m:ctrlPr>
                      </m:sSupPr>
                      <m:e>
                        <m:d>
                          <m:dPr>
                            <m:begChr m:val="|"/>
                            <m:endChr m:val="|"/>
                            <m:ctrlPr>
                              <a:rPr lang="en-US" sz="2200" b="1" i="1" smtClean="0">
                                <a:latin typeface="Cambria Math" panose="02040503050406030204" pitchFamily="18" charset="0"/>
                              </a:rPr>
                            </m:ctrlPr>
                          </m:dPr>
                          <m:e>
                            <m:d>
                              <m:dPr>
                                <m:begChr m:val="|"/>
                                <m:endChr m:val="|"/>
                                <m:ctrlPr>
                                  <a:rPr lang="en-US" sz="2200" b="1" i="1" smtClean="0">
                                    <a:latin typeface="Cambria Math" panose="02040503050406030204" pitchFamily="18" charset="0"/>
                                  </a:rPr>
                                </m:ctrlPr>
                              </m:dPr>
                              <m:e>
                                <m:r>
                                  <a:rPr lang="en-US" sz="2200" b="1" i="1" smtClean="0">
                                    <a:latin typeface="Cambria Math" charset="0"/>
                                  </a:rPr>
                                  <m:t>𝒘</m:t>
                                </m:r>
                              </m:e>
                            </m:d>
                          </m:e>
                        </m:d>
                      </m:e>
                      <m:sup>
                        <m:r>
                          <a:rPr lang="en-US" sz="2200" b="0" i="1" smtClean="0">
                            <a:latin typeface="Cambria Math" charset="0"/>
                          </a:rPr>
                          <m:t>2</m:t>
                        </m:r>
                      </m:sup>
                    </m:sSup>
                    <m:r>
                      <a:rPr lang="en-US" sz="2200" b="0" i="1" smtClean="0">
                        <a:latin typeface="Cambria Math" charset="0"/>
                      </a:rPr>
                      <m:t>+2</m:t>
                    </m:r>
                    <m:sSup>
                      <m:sSupPr>
                        <m:ctrlPr>
                          <a:rPr lang="en-US" sz="2200" b="1" i="1">
                            <a:latin typeface="Cambria Math" panose="02040503050406030204" pitchFamily="18" charset="0"/>
                          </a:rPr>
                        </m:ctrlPr>
                      </m:sSupPr>
                      <m:e>
                        <m:r>
                          <a:rPr lang="en-US" sz="2200" i="1">
                            <a:latin typeface="Cambria Math" charset="0"/>
                          </a:rPr>
                          <m:t>𝑦</m:t>
                        </m:r>
                      </m:e>
                      <m:sup>
                        <m:d>
                          <m:dPr>
                            <m:ctrlPr>
                              <a:rPr lang="en-US" sz="2200" b="1" i="1">
                                <a:latin typeface="Cambria Math" panose="02040503050406030204" pitchFamily="18" charset="0"/>
                              </a:rPr>
                            </m:ctrlPr>
                          </m:dPr>
                          <m:e>
                            <m:r>
                              <a:rPr lang="en-US" sz="2200" i="1">
                                <a:latin typeface="Cambria Math" charset="0"/>
                              </a:rPr>
                              <m:t>𝑖</m:t>
                            </m:r>
                          </m:e>
                        </m:d>
                      </m:sup>
                    </m:sSup>
                    <m:sSup>
                      <m:sSupPr>
                        <m:ctrlPr>
                          <a:rPr lang="en-US" sz="2200" b="1" i="1" smtClean="0">
                            <a:latin typeface="Cambria Math" panose="02040503050406030204" pitchFamily="18" charset="0"/>
                          </a:rPr>
                        </m:ctrlPr>
                      </m:sSupPr>
                      <m:e>
                        <m:d>
                          <m:dPr>
                            <m:ctrlPr>
                              <a:rPr lang="en-US" sz="2200" b="1" i="1" smtClean="0">
                                <a:latin typeface="Cambria Math" panose="02040503050406030204" pitchFamily="18" charset="0"/>
                              </a:rPr>
                            </m:ctrlPr>
                          </m:dPr>
                          <m:e>
                            <m:sSup>
                              <m:sSupPr>
                                <m:ctrlPr>
                                  <a:rPr lang="en-US" sz="2200" b="1" i="1">
                                    <a:latin typeface="Cambria Math" panose="02040503050406030204" pitchFamily="18" charset="0"/>
                                  </a:rPr>
                                </m:ctrlPr>
                              </m:sSupPr>
                              <m:e>
                                <m:r>
                                  <a:rPr lang="en-US" sz="2200" b="1" i="1">
                                    <a:latin typeface="Cambria Math" charset="0"/>
                                  </a:rPr>
                                  <m:t>𝒙</m:t>
                                </m:r>
                              </m:e>
                              <m:sup>
                                <m:d>
                                  <m:dPr>
                                    <m:ctrlPr>
                                      <a:rPr lang="en-US" sz="2200" b="1" i="1">
                                        <a:latin typeface="Cambria Math" panose="02040503050406030204" pitchFamily="18" charset="0"/>
                                      </a:rPr>
                                    </m:ctrlPr>
                                  </m:dPr>
                                  <m:e>
                                    <m:r>
                                      <a:rPr lang="en-US" sz="2200" i="1">
                                        <a:latin typeface="Cambria Math" charset="0"/>
                                      </a:rPr>
                                      <m:t>𝑖</m:t>
                                    </m:r>
                                  </m:e>
                                </m:d>
                              </m:sup>
                            </m:sSup>
                          </m:e>
                        </m:d>
                      </m:e>
                      <m:sup>
                        <m:r>
                          <a:rPr lang="en-US" sz="2200" b="0" i="1" smtClean="0">
                            <a:latin typeface="Cambria Math" charset="0"/>
                          </a:rPr>
                          <m:t>𝑇</m:t>
                        </m:r>
                      </m:sup>
                    </m:sSup>
                    <m:r>
                      <a:rPr lang="en-US" sz="2200" b="1" i="1">
                        <a:latin typeface="Cambria Math" charset="0"/>
                      </a:rPr>
                      <m:t>𝒘</m:t>
                    </m:r>
                    <m:r>
                      <a:rPr lang="en-US" sz="2200" b="0" i="1" smtClean="0">
                        <a:latin typeface="Cambria Math" charset="0"/>
                      </a:rPr>
                      <m:t>+</m:t>
                    </m:r>
                    <m:sSup>
                      <m:sSupPr>
                        <m:ctrlPr>
                          <a:rPr lang="en-US" sz="2200" b="0" i="1" smtClean="0">
                            <a:latin typeface="Cambria Math" panose="02040503050406030204" pitchFamily="18" charset="0"/>
                          </a:rPr>
                        </m:ctrlPr>
                      </m:sSupPr>
                      <m:e>
                        <m:d>
                          <m:dPr>
                            <m:ctrlPr>
                              <a:rPr lang="en-US" sz="2200" b="0" i="1" smtClean="0">
                                <a:latin typeface="Cambria Math" panose="02040503050406030204" pitchFamily="18" charset="0"/>
                              </a:rPr>
                            </m:ctrlPr>
                          </m:dPr>
                          <m:e>
                            <m:sSup>
                              <m:sSupPr>
                                <m:ctrlPr>
                                  <a:rPr lang="en-US" sz="2200" b="1" i="1">
                                    <a:latin typeface="Cambria Math" panose="02040503050406030204" pitchFamily="18" charset="0"/>
                                  </a:rPr>
                                </m:ctrlPr>
                              </m:sSupPr>
                              <m:e>
                                <m:r>
                                  <a:rPr lang="en-US" sz="2200" i="1">
                                    <a:latin typeface="Cambria Math" charset="0"/>
                                  </a:rPr>
                                  <m:t>𝑦</m:t>
                                </m:r>
                              </m:e>
                              <m:sup>
                                <m:d>
                                  <m:dPr>
                                    <m:ctrlPr>
                                      <a:rPr lang="en-US" sz="2200" b="1" i="1">
                                        <a:latin typeface="Cambria Math" panose="02040503050406030204" pitchFamily="18" charset="0"/>
                                      </a:rPr>
                                    </m:ctrlPr>
                                  </m:dPr>
                                  <m:e>
                                    <m:r>
                                      <a:rPr lang="en-US" sz="2200" i="1">
                                        <a:latin typeface="Cambria Math" charset="0"/>
                                      </a:rPr>
                                      <m:t>𝑖</m:t>
                                    </m:r>
                                  </m:e>
                                </m:d>
                              </m:sup>
                            </m:sSup>
                          </m:e>
                        </m:d>
                      </m:e>
                      <m:sup>
                        <m:r>
                          <a:rPr lang="en-US" sz="2200" b="0" i="0" smtClean="0">
                            <a:latin typeface="Cambria Math" charset="0"/>
                          </a:rPr>
                          <m:t>2</m:t>
                        </m:r>
                      </m:sup>
                    </m:sSup>
                    <m:sSup>
                      <m:sSupPr>
                        <m:ctrlPr>
                          <a:rPr lang="en-US" sz="2200" b="1" i="1">
                            <a:latin typeface="Cambria Math" panose="02040503050406030204" pitchFamily="18" charset="0"/>
                          </a:rPr>
                        </m:ctrlPr>
                      </m:sSupPr>
                      <m:e>
                        <m:r>
                          <a:rPr lang="en-US" sz="2200" b="1" i="1" smtClean="0">
                            <a:latin typeface="Cambria Math" charset="0"/>
                          </a:rPr>
                          <m:t>||</m:t>
                        </m:r>
                        <m:r>
                          <a:rPr lang="en-US" sz="2200" b="1" i="1">
                            <a:latin typeface="Cambria Math" charset="0"/>
                          </a:rPr>
                          <m:t>𝒙</m:t>
                        </m:r>
                      </m:e>
                      <m:sup>
                        <m:d>
                          <m:dPr>
                            <m:ctrlPr>
                              <a:rPr lang="en-US" sz="2200" b="1" i="1">
                                <a:latin typeface="Cambria Math" panose="02040503050406030204" pitchFamily="18" charset="0"/>
                              </a:rPr>
                            </m:ctrlPr>
                          </m:dPr>
                          <m:e>
                            <m:r>
                              <a:rPr lang="en-US" sz="2200" i="1">
                                <a:latin typeface="Cambria Math" charset="0"/>
                              </a:rPr>
                              <m:t>𝑖</m:t>
                            </m:r>
                          </m:e>
                        </m:d>
                      </m:sup>
                    </m:sSup>
                    <m:r>
                      <a:rPr lang="en-US" sz="2200" i="1">
                        <a:latin typeface="Cambria Math" charset="0"/>
                      </a:rPr>
                      <m:t>|</m:t>
                    </m:r>
                    <m:sSup>
                      <m:sSupPr>
                        <m:ctrlPr>
                          <a:rPr lang="en-US" sz="2200" i="1">
                            <a:latin typeface="Cambria Math" panose="02040503050406030204" pitchFamily="18" charset="0"/>
                          </a:rPr>
                        </m:ctrlPr>
                      </m:sSupPr>
                      <m:e>
                        <m:d>
                          <m:dPr>
                            <m:begChr m:val=""/>
                            <m:endChr m:val="|"/>
                            <m:ctrlPr>
                              <a:rPr lang="en-US" sz="2200" i="1">
                                <a:latin typeface="Cambria Math" panose="02040503050406030204" pitchFamily="18" charset="0"/>
                              </a:rPr>
                            </m:ctrlPr>
                          </m:dPr>
                          <m:e>
                            <m:r>
                              <a:rPr lang="en-US" sz="2200">
                                <a:latin typeface="Cambria Math" charset="0"/>
                              </a:rPr>
                              <m:t>​</m:t>
                            </m:r>
                          </m:e>
                        </m:d>
                      </m:e>
                      <m:sup>
                        <m:r>
                          <a:rPr lang="en-US" sz="2200" i="1">
                            <a:latin typeface="Cambria Math" charset="0"/>
                          </a:rPr>
                          <m:t>2</m:t>
                        </m:r>
                      </m:sup>
                    </m:sSup>
                  </m:oMath>
                </a14:m>
                <a:endParaRPr lang="en-IN" sz="2200" dirty="0"/>
              </a:p>
              <a:p>
                <a:pPr marL="342900" indent="-342900">
                  <a:buFont typeface="Arial" charset="0"/>
                  <a:buChar char="•"/>
                </a:pPr>
                <a:endParaRPr lang="en-IN" sz="2200" dirty="0"/>
              </a:p>
              <a:p>
                <a:pPr marL="342900" indent="-342900">
                  <a:buFont typeface="Arial" charset="0"/>
                  <a:buChar char="•"/>
                </a:pPr>
                <a:r>
                  <a:rPr lang="en-IN" sz="2400" dirty="0"/>
                  <a:t>Let us consider the case </a:t>
                </a:r>
                <a14:m>
                  <m:oMath xmlns:m="http://schemas.openxmlformats.org/officeDocument/2006/math">
                    <m:sSup>
                      <m:sSupPr>
                        <m:ctrlPr>
                          <a:rPr lang="en-US" sz="2400" b="1" i="1">
                            <a:solidFill>
                              <a:prstClr val="black"/>
                            </a:solidFill>
                            <a:latin typeface="Cambria Math" panose="02040503050406030204" pitchFamily="18" charset="0"/>
                          </a:rPr>
                        </m:ctrlPr>
                      </m:sSupPr>
                      <m:e>
                        <m:r>
                          <a:rPr lang="en-US" sz="2400" i="1">
                            <a:solidFill>
                              <a:prstClr val="black"/>
                            </a:solidFill>
                            <a:latin typeface="Cambria Math" charset="0"/>
                          </a:rPr>
                          <m:t>𝑦</m:t>
                        </m:r>
                      </m:e>
                      <m:sup>
                        <m:d>
                          <m:dPr>
                            <m:ctrlPr>
                              <a:rPr lang="en-US" sz="2400" b="1" i="1">
                                <a:solidFill>
                                  <a:prstClr val="black"/>
                                </a:solidFill>
                                <a:latin typeface="Cambria Math" panose="02040503050406030204" pitchFamily="18" charset="0"/>
                              </a:rPr>
                            </m:ctrlPr>
                          </m:dPr>
                          <m:e>
                            <m:r>
                              <a:rPr lang="en-US" sz="2400" i="1">
                                <a:solidFill>
                                  <a:prstClr val="black"/>
                                </a:solidFill>
                                <a:latin typeface="Cambria Math" charset="0"/>
                              </a:rPr>
                              <m:t>𝑖</m:t>
                            </m:r>
                          </m:e>
                        </m:d>
                      </m:sup>
                    </m:sSup>
                    <m:r>
                      <a:rPr lang="en-US" sz="2400" b="1" i="1">
                        <a:solidFill>
                          <a:prstClr val="black"/>
                        </a:solidFill>
                        <a:latin typeface="Cambria Math" charset="0"/>
                      </a:rPr>
                      <m:t>=+</m:t>
                    </m:r>
                    <m:r>
                      <a:rPr lang="en-US" sz="2400" i="1">
                        <a:solidFill>
                          <a:prstClr val="black"/>
                        </a:solidFill>
                        <a:latin typeface="Cambria Math" charset="0"/>
                      </a:rPr>
                      <m:t>1</m:t>
                    </m:r>
                  </m:oMath>
                </a14:m>
                <a:r>
                  <a:rPr lang="en-IN" sz="2400" dirty="0"/>
                  <a:t> first.</a:t>
                </a:r>
              </a:p>
              <a:p>
                <a:pPr marL="342900" indent="-342900">
                  <a:buFont typeface="Arial" charset="0"/>
                  <a:buChar char="•"/>
                </a:pPr>
                <a:endParaRPr lang="en-IN" sz="2400" dirty="0"/>
              </a:p>
              <a:p>
                <a:pPr marL="342900" indent="-342900">
                  <a:buFont typeface="Arial" charset="0"/>
                  <a:buChar char="•"/>
                </a:pPr>
                <a14:m>
                  <m:oMath xmlns:m="http://schemas.openxmlformats.org/officeDocument/2006/math">
                    <m:sSup>
                      <m:sSupPr>
                        <m:ctrlPr>
                          <a:rPr lang="en-US" sz="2400" i="1">
                            <a:latin typeface="Cambria Math" panose="02040503050406030204" pitchFamily="18" charset="0"/>
                          </a:rPr>
                        </m:ctrlPr>
                      </m:sSupPr>
                      <m:e>
                        <m:r>
                          <a:rPr lang="en-US" sz="2400" b="1" i="1">
                            <a:latin typeface="Cambria Math" charset="0"/>
                          </a:rPr>
                          <m:t>||</m:t>
                        </m:r>
                        <m:r>
                          <a:rPr lang="en-US" sz="2400" b="1" i="1">
                            <a:latin typeface="Cambria Math" charset="0"/>
                          </a:rPr>
                          <m:t>𝒘</m:t>
                        </m:r>
                      </m:e>
                      <m:sup>
                        <m:r>
                          <a:rPr lang="en-US" sz="2400" i="1">
                            <a:latin typeface="Cambria Math" charset="0"/>
                          </a:rPr>
                          <m:t>′</m:t>
                        </m:r>
                      </m:sup>
                    </m:sSup>
                    <m:r>
                      <a:rPr lang="en-US" sz="2400" i="1">
                        <a:latin typeface="Cambria Math"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a:latin typeface="Cambria Math" charset="0"/>
                              </a:rPr>
                              <m:t>​</m:t>
                            </m:r>
                          </m:e>
                        </m:d>
                      </m:e>
                      <m:sup>
                        <m:r>
                          <a:rPr lang="en-US" sz="2400" i="1">
                            <a:latin typeface="Cambria Math" charset="0"/>
                          </a:rPr>
                          <m:t>2</m:t>
                        </m:r>
                      </m:sup>
                    </m:sSup>
                    <m:r>
                      <a:rPr lang="en-US" sz="2400" b="0" i="1" smtClean="0">
                        <a:latin typeface="Cambria Math" charset="0"/>
                      </a:rPr>
                      <m:t>=</m:t>
                    </m:r>
                    <m:sSup>
                      <m:sSupPr>
                        <m:ctrlPr>
                          <a:rPr lang="en-US" sz="2400" b="1" i="1">
                            <a:solidFill>
                              <a:prstClr val="black"/>
                            </a:solidFill>
                            <a:latin typeface="Cambria Math" panose="02040503050406030204" pitchFamily="18" charset="0"/>
                          </a:rPr>
                        </m:ctrlPr>
                      </m:sSupPr>
                      <m:e>
                        <m:d>
                          <m:dPr>
                            <m:begChr m:val="|"/>
                            <m:endChr m:val="|"/>
                            <m:ctrlPr>
                              <a:rPr lang="en-US" sz="2400" b="1" i="1">
                                <a:solidFill>
                                  <a:prstClr val="black"/>
                                </a:solidFill>
                                <a:latin typeface="Cambria Math" panose="02040503050406030204" pitchFamily="18" charset="0"/>
                              </a:rPr>
                            </m:ctrlPr>
                          </m:dPr>
                          <m:e>
                            <m:d>
                              <m:dPr>
                                <m:begChr m:val="|"/>
                                <m:endChr m:val="|"/>
                                <m:ctrlPr>
                                  <a:rPr lang="en-US" sz="2400" b="1" i="1">
                                    <a:solidFill>
                                      <a:prstClr val="black"/>
                                    </a:solidFill>
                                    <a:latin typeface="Cambria Math" panose="02040503050406030204" pitchFamily="18" charset="0"/>
                                  </a:rPr>
                                </m:ctrlPr>
                              </m:dPr>
                              <m:e>
                                <m:r>
                                  <a:rPr lang="en-US" sz="2400" b="1" i="1">
                                    <a:solidFill>
                                      <a:prstClr val="black"/>
                                    </a:solidFill>
                                    <a:latin typeface="Cambria Math" charset="0"/>
                                  </a:rPr>
                                  <m:t>𝒘</m:t>
                                </m:r>
                              </m:e>
                            </m:d>
                          </m:e>
                        </m:d>
                      </m:e>
                      <m:sup>
                        <m:r>
                          <a:rPr lang="en-US" sz="2400" i="1">
                            <a:solidFill>
                              <a:prstClr val="black"/>
                            </a:solidFill>
                            <a:latin typeface="Cambria Math" charset="0"/>
                          </a:rPr>
                          <m:t>2</m:t>
                        </m:r>
                      </m:sup>
                    </m:sSup>
                    <m:r>
                      <a:rPr lang="en-US" sz="2400" i="1">
                        <a:solidFill>
                          <a:prstClr val="black"/>
                        </a:solidFill>
                        <a:latin typeface="Cambria Math" charset="0"/>
                      </a:rPr>
                      <m:t>+2</m:t>
                    </m:r>
                    <m:sSup>
                      <m:sSupPr>
                        <m:ctrlPr>
                          <a:rPr lang="en-US" sz="2400" b="1" i="1">
                            <a:solidFill>
                              <a:prstClr val="black"/>
                            </a:solidFill>
                            <a:latin typeface="Cambria Math" panose="02040503050406030204" pitchFamily="18" charset="0"/>
                          </a:rPr>
                        </m:ctrlPr>
                      </m:sSupPr>
                      <m:e>
                        <m:d>
                          <m:dPr>
                            <m:ctrlPr>
                              <a:rPr lang="en-US" sz="2400" b="1" i="1">
                                <a:solidFill>
                                  <a:prstClr val="black"/>
                                </a:solidFill>
                                <a:latin typeface="Cambria Math" panose="02040503050406030204" pitchFamily="18" charset="0"/>
                              </a:rPr>
                            </m:ctrlPr>
                          </m:dPr>
                          <m:e>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𝒙</m:t>
                                </m:r>
                              </m:e>
                              <m:sup>
                                <m:d>
                                  <m:dPr>
                                    <m:ctrlPr>
                                      <a:rPr lang="en-US" sz="2400" b="1" i="1">
                                        <a:solidFill>
                                          <a:prstClr val="black"/>
                                        </a:solidFill>
                                        <a:latin typeface="Cambria Math" panose="02040503050406030204" pitchFamily="18" charset="0"/>
                                      </a:rPr>
                                    </m:ctrlPr>
                                  </m:dPr>
                                  <m:e>
                                    <m:r>
                                      <a:rPr lang="en-US" sz="2400" i="1">
                                        <a:solidFill>
                                          <a:prstClr val="black"/>
                                        </a:solidFill>
                                        <a:latin typeface="Cambria Math" charset="0"/>
                                      </a:rPr>
                                      <m:t>𝑖</m:t>
                                    </m:r>
                                  </m:e>
                                </m:d>
                              </m:sup>
                            </m:sSup>
                          </m:e>
                        </m:d>
                      </m:e>
                      <m:sup>
                        <m:r>
                          <a:rPr lang="en-US" sz="2400" i="1">
                            <a:solidFill>
                              <a:prstClr val="black"/>
                            </a:solidFill>
                            <a:latin typeface="Cambria Math" charset="0"/>
                          </a:rPr>
                          <m:t>𝑇</m:t>
                        </m:r>
                      </m:sup>
                    </m:sSup>
                    <m:r>
                      <a:rPr lang="en-US" sz="2400" b="1" i="1">
                        <a:solidFill>
                          <a:prstClr val="black"/>
                        </a:solidFill>
                        <a:latin typeface="Cambria Math" charset="0"/>
                      </a:rPr>
                      <m:t>𝒘</m:t>
                    </m:r>
                    <m:r>
                      <a:rPr lang="en-US" sz="2400" i="1">
                        <a:solidFill>
                          <a:prstClr val="black"/>
                        </a:solidFill>
                        <a:latin typeface="Cambria Math" charset="0"/>
                      </a:rPr>
                      <m:t>+</m:t>
                    </m:r>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m:t>
                        </m:r>
                        <m:r>
                          <a:rPr lang="en-US" sz="2400" b="1" i="1">
                            <a:solidFill>
                              <a:prstClr val="black"/>
                            </a:solidFill>
                            <a:latin typeface="Cambria Math" charset="0"/>
                          </a:rPr>
                          <m:t>𝒙</m:t>
                        </m:r>
                      </m:e>
                      <m:sup>
                        <m:d>
                          <m:dPr>
                            <m:ctrlPr>
                              <a:rPr lang="en-US" sz="2400" b="1" i="1">
                                <a:solidFill>
                                  <a:prstClr val="black"/>
                                </a:solidFill>
                                <a:latin typeface="Cambria Math" panose="02040503050406030204" pitchFamily="18" charset="0"/>
                              </a:rPr>
                            </m:ctrlPr>
                          </m:dPr>
                          <m:e>
                            <m:r>
                              <a:rPr lang="en-US" sz="2400" i="1">
                                <a:solidFill>
                                  <a:prstClr val="black"/>
                                </a:solidFill>
                                <a:latin typeface="Cambria Math" charset="0"/>
                              </a:rPr>
                              <m:t>𝑖</m:t>
                            </m:r>
                          </m:e>
                        </m:d>
                      </m:sup>
                    </m:sSup>
                    <m:r>
                      <a:rPr lang="en-US" sz="2400" i="1">
                        <a:solidFill>
                          <a:prstClr val="black"/>
                        </a:solidFill>
                        <a:latin typeface="Cambria Math" charset="0"/>
                      </a:rPr>
                      <m:t>|</m:t>
                    </m:r>
                    <m:sSup>
                      <m:sSupPr>
                        <m:ctrlPr>
                          <a:rPr lang="en-US" sz="2400" i="1">
                            <a:solidFill>
                              <a:prstClr val="black"/>
                            </a:solidFill>
                            <a:latin typeface="Cambria Math" panose="02040503050406030204" pitchFamily="18" charset="0"/>
                          </a:rPr>
                        </m:ctrlPr>
                      </m:sSupPr>
                      <m:e>
                        <m:d>
                          <m:dPr>
                            <m:begChr m:val=""/>
                            <m:endChr m:val="|"/>
                            <m:ctrlPr>
                              <a:rPr lang="en-US" sz="2400" i="1">
                                <a:solidFill>
                                  <a:prstClr val="black"/>
                                </a:solidFill>
                                <a:latin typeface="Cambria Math" panose="02040503050406030204" pitchFamily="18" charset="0"/>
                              </a:rPr>
                            </m:ctrlPr>
                          </m:dPr>
                          <m:e>
                            <m:r>
                              <a:rPr lang="en-US" sz="2400">
                                <a:solidFill>
                                  <a:prstClr val="black"/>
                                </a:solidFill>
                                <a:latin typeface="Cambria Math" charset="0"/>
                              </a:rPr>
                              <m:t>​</m:t>
                            </m:r>
                          </m:e>
                        </m:d>
                      </m:e>
                      <m:sup>
                        <m:r>
                          <a:rPr lang="en-US" sz="2400" i="1">
                            <a:solidFill>
                              <a:prstClr val="black"/>
                            </a:solidFill>
                            <a:latin typeface="Cambria Math" charset="0"/>
                          </a:rPr>
                          <m:t>2</m:t>
                        </m:r>
                      </m:sup>
                    </m:sSup>
                  </m:oMath>
                </a14:m>
                <a:endParaRPr lang="en-IN" sz="2400" dirty="0"/>
              </a:p>
              <a:p>
                <a:pPr marL="342900" indent="-342900">
                  <a:buFont typeface="Arial" charset="0"/>
                  <a:buChar char="•"/>
                </a:pPr>
                <a:endParaRPr lang="en-IN" sz="2400" dirty="0"/>
              </a:p>
              <a:p>
                <a:pPr marL="342900" indent="-342900">
                  <a:buFont typeface="Arial" charset="0"/>
                  <a:buChar char="•"/>
                </a:pPr>
                <a:endParaRPr lang="en-IN" sz="2400" dirty="0"/>
              </a:p>
              <a:p>
                <a:pPr marL="342900" indent="-342900">
                  <a:buFont typeface="Arial" charset="0"/>
                  <a:buChar char="•"/>
                </a:pPr>
                <a:endParaRPr lang="en-IN" sz="2400" dirty="0"/>
              </a:p>
              <a:p>
                <a:pPr marL="342900" indent="-342900">
                  <a:buFont typeface="Arial" charset="0"/>
                  <a:buChar char="•"/>
                </a:pPr>
                <a:endParaRPr lang="en-IN" sz="2400" dirty="0"/>
              </a:p>
              <a:p>
                <a:pPr marL="342900" indent="-342900">
                  <a:buFont typeface="Arial" charset="0"/>
                  <a:buChar char="•"/>
                </a:pPr>
                <a:r>
                  <a:rPr lang="en-IN" sz="2400" dirty="0"/>
                  <a:t>So, </a:t>
                </a:r>
                <a14:m>
                  <m:oMath xmlns:m="http://schemas.openxmlformats.org/officeDocument/2006/math">
                    <m:sSup>
                      <m:sSupPr>
                        <m:ctrlPr>
                          <a:rPr lang="en-US" sz="2400" i="1">
                            <a:latin typeface="Cambria Math" panose="02040503050406030204" pitchFamily="18" charset="0"/>
                          </a:rPr>
                        </m:ctrlPr>
                      </m:sSupPr>
                      <m:e>
                        <m:r>
                          <a:rPr lang="en-US" sz="2400" b="1" i="1">
                            <a:latin typeface="Cambria Math" charset="0"/>
                          </a:rPr>
                          <m:t>||</m:t>
                        </m:r>
                        <m:r>
                          <a:rPr lang="en-US" sz="2400" b="1" i="1">
                            <a:latin typeface="Cambria Math" charset="0"/>
                          </a:rPr>
                          <m:t>𝒘</m:t>
                        </m:r>
                      </m:e>
                      <m:sup>
                        <m:r>
                          <a:rPr lang="en-US" sz="2400" i="1">
                            <a:latin typeface="Cambria Math" charset="0"/>
                          </a:rPr>
                          <m:t>′</m:t>
                        </m:r>
                      </m:sup>
                    </m:sSup>
                    <m:r>
                      <a:rPr lang="en-US" sz="2400" i="1">
                        <a:latin typeface="Cambria Math"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a:latin typeface="Cambria Math" charset="0"/>
                              </a:rPr>
                              <m:t>​</m:t>
                            </m:r>
                          </m:e>
                        </m:d>
                      </m:e>
                      <m:sup>
                        <m:r>
                          <a:rPr lang="en-US" sz="2400" i="1">
                            <a:latin typeface="Cambria Math" charset="0"/>
                          </a:rPr>
                          <m:t>2</m:t>
                        </m:r>
                      </m:sup>
                    </m:sSup>
                    <m:r>
                      <a:rPr lang="en-US" sz="2400" b="1" i="1" smtClean="0">
                        <a:latin typeface="Cambria Math" charset="0"/>
                      </a:rPr>
                      <m:t>≤</m:t>
                    </m:r>
                    <m:sSup>
                      <m:sSupPr>
                        <m:ctrlPr>
                          <a:rPr lang="en-US" sz="2400" b="1" i="1">
                            <a:solidFill>
                              <a:prstClr val="black"/>
                            </a:solidFill>
                            <a:latin typeface="Cambria Math" panose="02040503050406030204" pitchFamily="18" charset="0"/>
                          </a:rPr>
                        </m:ctrlPr>
                      </m:sSupPr>
                      <m:e>
                        <m:d>
                          <m:dPr>
                            <m:begChr m:val="|"/>
                            <m:endChr m:val="|"/>
                            <m:ctrlPr>
                              <a:rPr lang="en-US" sz="2400" b="1" i="1">
                                <a:solidFill>
                                  <a:prstClr val="black"/>
                                </a:solidFill>
                                <a:latin typeface="Cambria Math" panose="02040503050406030204" pitchFamily="18" charset="0"/>
                              </a:rPr>
                            </m:ctrlPr>
                          </m:dPr>
                          <m:e>
                            <m:d>
                              <m:dPr>
                                <m:begChr m:val="|"/>
                                <m:endChr m:val="|"/>
                                <m:ctrlPr>
                                  <a:rPr lang="en-US" sz="2400" b="1" i="1">
                                    <a:solidFill>
                                      <a:prstClr val="black"/>
                                    </a:solidFill>
                                    <a:latin typeface="Cambria Math" panose="02040503050406030204" pitchFamily="18" charset="0"/>
                                  </a:rPr>
                                </m:ctrlPr>
                              </m:dPr>
                              <m:e>
                                <m:r>
                                  <a:rPr lang="en-US" sz="2400" b="1" i="1">
                                    <a:solidFill>
                                      <a:prstClr val="black"/>
                                    </a:solidFill>
                                    <a:latin typeface="Cambria Math" charset="0"/>
                                  </a:rPr>
                                  <m:t>𝒘</m:t>
                                </m:r>
                              </m:e>
                            </m:d>
                          </m:e>
                        </m:d>
                      </m:e>
                      <m:sup>
                        <m:r>
                          <a:rPr lang="en-US" sz="2400" i="1">
                            <a:solidFill>
                              <a:prstClr val="black"/>
                            </a:solidFill>
                            <a:latin typeface="Cambria Math" charset="0"/>
                          </a:rPr>
                          <m:t>2</m:t>
                        </m:r>
                      </m:sup>
                    </m:sSup>
                    <m:r>
                      <a:rPr lang="en-US" sz="2400" b="0" i="1" smtClean="0">
                        <a:solidFill>
                          <a:prstClr val="black"/>
                        </a:solidFill>
                        <a:latin typeface="Cambria Math" charset="0"/>
                      </a:rPr>
                      <m:t>+1</m:t>
                    </m:r>
                  </m:oMath>
                </a14:m>
                <a:endParaRPr lang="en-IN" sz="2400" dirty="0"/>
              </a:p>
            </p:txBody>
          </p:sp>
        </mc:Choice>
        <mc:Fallback xmlns="">
          <p:sp>
            <p:nvSpPr>
              <p:cNvPr id="33" name="TextBox 32"/>
              <p:cNvSpPr txBox="1">
                <a:spLocks noRot="1" noChangeAspect="1" noMove="1" noResize="1" noEditPoints="1" noAdjustHandles="1" noChangeArrowheads="1" noChangeShapeType="1" noTextEdit="1"/>
              </p:cNvSpPr>
              <p:nvPr/>
            </p:nvSpPr>
            <p:spPr>
              <a:xfrm>
                <a:off x="180868" y="1371009"/>
                <a:ext cx="12011132" cy="4853188"/>
              </a:xfrm>
              <a:prstGeom prst="rect">
                <a:avLst/>
              </a:prstGeom>
              <a:blipFill rotWithShape="0">
                <a:blip r:embed="rId3"/>
                <a:stretch>
                  <a:fillRect l="-711" t="-11935" b="-1633"/>
                </a:stretch>
              </a:blipFill>
            </p:spPr>
            <p:txBody>
              <a:bodyPr/>
              <a:lstStyle/>
              <a:p>
                <a:r>
                  <a:rPr lang="en-US">
                    <a:noFill/>
                  </a:rPr>
                  <a:t> </a:t>
                </a:r>
              </a:p>
            </p:txBody>
          </p:sp>
        </mc:Fallback>
      </mc:AlternateContent>
      <p:sp>
        <p:nvSpPr>
          <p:cNvPr id="2" name="Footer Placeholder 1"/>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6" name="Slide Number Placeholder 5"/>
          <p:cNvSpPr>
            <a:spLocks noGrp="1"/>
          </p:cNvSpPr>
          <p:nvPr>
            <p:ph type="sldNum" sz="quarter" idx="4"/>
          </p:nvPr>
        </p:nvSpPr>
        <p:spPr>
          <a:xfrm>
            <a:off x="10569844" y="6356350"/>
            <a:ext cx="783956" cy="365125"/>
          </a:xfrm>
        </p:spPr>
        <p:txBody>
          <a:bodyPr/>
          <a:lstStyle/>
          <a:p>
            <a:fld id="{683B8651-0143-4140-839E-3D36292080E8}" type="slidenum">
              <a:rPr lang="en-US" smtClean="0"/>
              <a:t>13</a:t>
            </a:fld>
            <a:endParaRPr lang="en-US"/>
          </a:p>
        </p:txBody>
      </p:sp>
      <mc:AlternateContent xmlns:mc="http://schemas.openxmlformats.org/markup-compatibility/2006" xmlns:a14="http://schemas.microsoft.com/office/drawing/2010/main">
        <mc:Choice Requires="a14">
          <p:sp>
            <p:nvSpPr>
              <p:cNvPr id="11" name="TextBox 10"/>
              <p:cNvSpPr txBox="1"/>
              <p:nvPr/>
            </p:nvSpPr>
            <p:spPr>
              <a:xfrm>
                <a:off x="333546" y="4471284"/>
                <a:ext cx="4028592" cy="1037592"/>
              </a:xfrm>
              <a:prstGeom prst="rect">
                <a:avLst/>
              </a:prstGeom>
              <a:noFill/>
              <a:ln>
                <a:solidFill>
                  <a:schemeClr val="tx1"/>
                </a:solidFill>
              </a:ln>
            </p:spPr>
            <p:txBody>
              <a:bodyPr wrap="square" rtlCol="0">
                <a:spAutoFit/>
              </a:bodyPr>
              <a:lstStyle/>
              <a:p>
                <a:r>
                  <a:rPr lang="en-US" dirty="0"/>
                  <a:t>This is negative as update occurs only on misclassification and for </a:t>
                </a:r>
                <a14:m>
                  <m:oMath xmlns:m="http://schemas.openxmlformats.org/officeDocument/2006/math">
                    <m:sSup>
                      <m:sSupPr>
                        <m:ctrlPr>
                          <a:rPr lang="en-US" b="1" i="1">
                            <a:solidFill>
                              <a:prstClr val="black"/>
                            </a:solidFill>
                            <a:latin typeface="Cambria Math" panose="02040503050406030204" pitchFamily="18" charset="0"/>
                          </a:rPr>
                        </m:ctrlPr>
                      </m:sSupPr>
                      <m:e>
                        <m:r>
                          <a:rPr lang="en-US" i="1">
                            <a:solidFill>
                              <a:prstClr val="black"/>
                            </a:solidFill>
                            <a:latin typeface="Cambria Math" charset="0"/>
                          </a:rPr>
                          <m:t>𝑦</m:t>
                        </m:r>
                      </m:e>
                      <m:sup>
                        <m:d>
                          <m:dPr>
                            <m:ctrlPr>
                              <a:rPr lang="en-US" b="1" i="1">
                                <a:solidFill>
                                  <a:prstClr val="black"/>
                                </a:solidFill>
                                <a:latin typeface="Cambria Math" panose="02040503050406030204" pitchFamily="18" charset="0"/>
                              </a:rPr>
                            </m:ctrlPr>
                          </m:dPr>
                          <m:e>
                            <m:r>
                              <a:rPr lang="en-US" i="1">
                                <a:solidFill>
                                  <a:prstClr val="black"/>
                                </a:solidFill>
                                <a:latin typeface="Cambria Math" charset="0"/>
                              </a:rPr>
                              <m:t>𝑖</m:t>
                            </m:r>
                          </m:e>
                        </m:d>
                      </m:sup>
                    </m:sSup>
                    <m:r>
                      <a:rPr lang="en-US" b="1" i="1">
                        <a:solidFill>
                          <a:prstClr val="black"/>
                        </a:solidFill>
                        <a:latin typeface="Cambria Math" charset="0"/>
                      </a:rPr>
                      <m:t>=+</m:t>
                    </m:r>
                    <m:r>
                      <a:rPr lang="en-US" i="1">
                        <a:solidFill>
                          <a:prstClr val="black"/>
                        </a:solidFill>
                        <a:latin typeface="Cambria Math" charset="0"/>
                      </a:rPr>
                      <m:t>1</m:t>
                    </m:r>
                  </m:oMath>
                </a14:m>
                <a:r>
                  <a:rPr lang="en-US" dirty="0"/>
                  <a:t>, misclassification means </a:t>
                </a:r>
                <a14:m>
                  <m:oMath xmlns:m="http://schemas.openxmlformats.org/officeDocument/2006/math">
                    <m:sSup>
                      <m:sSupPr>
                        <m:ctrlPr>
                          <a:rPr lang="en-US" b="1" i="1">
                            <a:solidFill>
                              <a:prstClr val="black"/>
                            </a:solidFill>
                            <a:latin typeface="Cambria Math" panose="02040503050406030204" pitchFamily="18" charset="0"/>
                          </a:rPr>
                        </m:ctrlPr>
                      </m:sSupPr>
                      <m:e>
                        <m:d>
                          <m:dPr>
                            <m:ctrlPr>
                              <a:rPr lang="en-US" b="1" i="1">
                                <a:solidFill>
                                  <a:prstClr val="black"/>
                                </a:solidFill>
                                <a:latin typeface="Cambria Math" panose="02040503050406030204" pitchFamily="18" charset="0"/>
                              </a:rPr>
                            </m:ctrlPr>
                          </m:dPr>
                          <m:e>
                            <m:sSup>
                              <m:sSupPr>
                                <m:ctrlPr>
                                  <a:rPr lang="en-US" b="1" i="1">
                                    <a:solidFill>
                                      <a:prstClr val="black"/>
                                    </a:solidFill>
                                    <a:latin typeface="Cambria Math" panose="02040503050406030204" pitchFamily="18" charset="0"/>
                                  </a:rPr>
                                </m:ctrlPr>
                              </m:sSupPr>
                              <m:e>
                                <m:r>
                                  <a:rPr lang="en-US" b="1" i="1">
                                    <a:solidFill>
                                      <a:prstClr val="black"/>
                                    </a:solidFill>
                                    <a:latin typeface="Cambria Math" charset="0"/>
                                  </a:rPr>
                                  <m:t>𝒙</m:t>
                                </m:r>
                              </m:e>
                              <m:sup>
                                <m:d>
                                  <m:dPr>
                                    <m:ctrlPr>
                                      <a:rPr lang="en-US" b="1" i="1">
                                        <a:solidFill>
                                          <a:prstClr val="black"/>
                                        </a:solidFill>
                                        <a:latin typeface="Cambria Math" panose="02040503050406030204" pitchFamily="18" charset="0"/>
                                      </a:rPr>
                                    </m:ctrlPr>
                                  </m:dPr>
                                  <m:e>
                                    <m:r>
                                      <a:rPr lang="en-US" i="1">
                                        <a:solidFill>
                                          <a:prstClr val="black"/>
                                        </a:solidFill>
                                        <a:latin typeface="Cambria Math" charset="0"/>
                                      </a:rPr>
                                      <m:t>𝑖</m:t>
                                    </m:r>
                                  </m:e>
                                </m:d>
                              </m:sup>
                            </m:sSup>
                          </m:e>
                        </m:d>
                      </m:e>
                      <m:sup>
                        <m:r>
                          <a:rPr lang="en-US" i="1">
                            <a:solidFill>
                              <a:prstClr val="black"/>
                            </a:solidFill>
                            <a:latin typeface="Cambria Math" charset="0"/>
                          </a:rPr>
                          <m:t>𝑇</m:t>
                        </m:r>
                      </m:sup>
                    </m:sSup>
                    <m:r>
                      <a:rPr lang="en-US" b="1" i="1">
                        <a:solidFill>
                          <a:prstClr val="black"/>
                        </a:solidFill>
                        <a:latin typeface="Cambria Math" charset="0"/>
                      </a:rPr>
                      <m:t>𝒘</m:t>
                    </m:r>
                    <m:r>
                      <a:rPr lang="en-US" b="0" i="1" smtClean="0">
                        <a:solidFill>
                          <a:prstClr val="black"/>
                        </a:solidFill>
                        <a:latin typeface="Cambria Math" charset="0"/>
                      </a:rPr>
                      <m:t>≤0</m:t>
                    </m:r>
                  </m:oMath>
                </a14:m>
                <a:r>
                  <a:rPr lang="en-US" dirty="0"/>
                  <a:t>.</a:t>
                </a:r>
              </a:p>
            </p:txBody>
          </p:sp>
        </mc:Choice>
        <mc:Fallback xmlns="">
          <p:sp>
            <p:nvSpPr>
              <p:cNvPr id="11" name="TextBox 10"/>
              <p:cNvSpPr txBox="1">
                <a:spLocks noRot="1" noChangeAspect="1" noMove="1" noResize="1" noEditPoints="1" noAdjustHandles="1" noChangeArrowheads="1" noChangeShapeType="1" noTextEdit="1"/>
              </p:cNvSpPr>
              <p:nvPr/>
            </p:nvSpPr>
            <p:spPr>
              <a:xfrm>
                <a:off x="333546" y="4471284"/>
                <a:ext cx="4028592" cy="1037592"/>
              </a:xfrm>
              <a:prstGeom prst="rect">
                <a:avLst/>
              </a:prstGeom>
              <a:blipFill rotWithShape="0">
                <a:blip r:embed="rId4"/>
                <a:stretch>
                  <a:fillRect l="-1207" t="-2312" r="-302" b="-6358"/>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4938024" y="4471284"/>
                <a:ext cx="4028592" cy="646331"/>
              </a:xfrm>
              <a:prstGeom prst="rect">
                <a:avLst/>
              </a:prstGeom>
              <a:noFill/>
              <a:ln>
                <a:solidFill>
                  <a:schemeClr val="tx1"/>
                </a:solidFill>
              </a:ln>
            </p:spPr>
            <p:txBody>
              <a:bodyPr wrap="square" rtlCol="0">
                <a:spAutoFit/>
              </a:bodyPr>
              <a:lstStyle/>
              <a:p>
                <a:r>
                  <a:rPr lang="en-US" dirty="0"/>
                  <a:t>This is </a:t>
                </a:r>
                <a14:m>
                  <m:oMath xmlns:m="http://schemas.openxmlformats.org/officeDocument/2006/math">
                    <m:r>
                      <a:rPr lang="en-US" b="0" i="1" smtClean="0">
                        <a:solidFill>
                          <a:prstClr val="black"/>
                        </a:solidFill>
                        <a:latin typeface="Cambria Math" charset="0"/>
                      </a:rPr>
                      <m:t>≤1</m:t>
                    </m:r>
                  </m:oMath>
                </a14:m>
                <a:r>
                  <a:rPr lang="en-US" dirty="0"/>
                  <a:t>, as we assumed every point is rescaled to unit ball.</a:t>
                </a:r>
              </a:p>
            </p:txBody>
          </p:sp>
        </mc:Choice>
        <mc:Fallback xmlns="">
          <p:sp>
            <p:nvSpPr>
              <p:cNvPr id="12" name="TextBox 11"/>
              <p:cNvSpPr txBox="1">
                <a:spLocks noRot="1" noChangeAspect="1" noMove="1" noResize="1" noEditPoints="1" noAdjustHandles="1" noChangeArrowheads="1" noChangeShapeType="1" noTextEdit="1"/>
              </p:cNvSpPr>
              <p:nvPr/>
            </p:nvSpPr>
            <p:spPr>
              <a:xfrm>
                <a:off x="4938024" y="4471284"/>
                <a:ext cx="4028592" cy="646331"/>
              </a:xfrm>
              <a:prstGeom prst="rect">
                <a:avLst/>
              </a:prstGeom>
              <a:blipFill rotWithShape="0">
                <a:blip r:embed="rId5"/>
                <a:stretch>
                  <a:fillRect l="-1056" t="-3670" r="-1207" b="-11927"/>
                </a:stretch>
              </a:blipFill>
              <a:ln>
                <a:solidFill>
                  <a:schemeClr val="tx1"/>
                </a:solidFill>
              </a:ln>
            </p:spPr>
            <p:txBody>
              <a:bodyPr/>
              <a:lstStyle/>
              <a:p>
                <a:r>
                  <a:rPr lang="en-US">
                    <a:noFill/>
                  </a:rPr>
                  <a:t> </a:t>
                </a:r>
              </a:p>
            </p:txBody>
          </p:sp>
        </mc:Fallback>
      </mc:AlternateContent>
      <p:cxnSp>
        <p:nvCxnSpPr>
          <p:cNvPr id="9" name="Curved Connector 8"/>
          <p:cNvCxnSpPr>
            <a:endCxn id="11" idx="0"/>
          </p:cNvCxnSpPr>
          <p:nvPr/>
        </p:nvCxnSpPr>
        <p:spPr>
          <a:xfrm rot="10800000" flipV="1">
            <a:off x="2347843" y="4062334"/>
            <a:ext cx="1384709" cy="408950"/>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4" name="Curved Connector 13"/>
          <p:cNvCxnSpPr>
            <a:endCxn id="12" idx="0"/>
          </p:cNvCxnSpPr>
          <p:nvPr/>
        </p:nvCxnSpPr>
        <p:spPr>
          <a:xfrm>
            <a:off x="4967682" y="4062334"/>
            <a:ext cx="1984638" cy="408950"/>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3159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11" grpId="0" animBg="1"/>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674557" y="832857"/>
            <a:ext cx="10088381" cy="84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200" dirty="0">
                <a:solidFill>
                  <a:srgbClr val="434343"/>
                </a:solidFill>
              </a:rPr>
              <a:t>Perceptron Learning Algorithm </a:t>
            </a:r>
            <a:r>
              <a:rPr lang="mr-IN" sz="3200" dirty="0">
                <a:solidFill>
                  <a:srgbClr val="434343"/>
                </a:solidFill>
              </a:rPr>
              <a:t>–</a:t>
            </a:r>
            <a:r>
              <a:rPr lang="en-US" sz="3200" dirty="0">
                <a:solidFill>
                  <a:srgbClr val="434343"/>
                </a:solidFill>
              </a:rPr>
              <a:t> Convergence Proof</a:t>
            </a:r>
            <a:endParaRPr sz="3200" dirty="0">
              <a:solidFill>
                <a:srgbClr val="434343"/>
              </a:solidFill>
            </a:endParaRPr>
          </a:p>
        </p:txBody>
      </p:sp>
      <mc:AlternateContent xmlns:mc="http://schemas.openxmlformats.org/markup-compatibility/2006" xmlns:a14="http://schemas.microsoft.com/office/drawing/2010/main">
        <mc:Choice Requires="a14">
          <p:sp>
            <p:nvSpPr>
              <p:cNvPr id="33" name="TextBox 32"/>
              <p:cNvSpPr txBox="1"/>
              <p:nvPr/>
            </p:nvSpPr>
            <p:spPr>
              <a:xfrm>
                <a:off x="180868" y="1371009"/>
                <a:ext cx="12011132" cy="4556055"/>
              </a:xfrm>
              <a:prstGeom prst="rect">
                <a:avLst/>
              </a:prstGeom>
              <a:noFill/>
            </p:spPr>
            <p:txBody>
              <a:bodyPr wrap="square" rtlCol="0">
                <a:spAutoFit/>
              </a:bodyPr>
              <a:lstStyle/>
              <a:p>
                <a:pPr marL="342900" indent="-342900">
                  <a:buFont typeface="Arial" charset="0"/>
                  <a:buChar char="•"/>
                </a:pPr>
                <a:r>
                  <a:rPr lang="en-IN" sz="2400" dirty="0"/>
                  <a:t>Let us now consider the case </a:t>
                </a:r>
                <a14:m>
                  <m:oMath xmlns:m="http://schemas.openxmlformats.org/officeDocument/2006/math">
                    <m:sSup>
                      <m:sSupPr>
                        <m:ctrlPr>
                          <a:rPr lang="en-US" sz="2400" b="1" i="1">
                            <a:solidFill>
                              <a:prstClr val="black"/>
                            </a:solidFill>
                            <a:latin typeface="Cambria Math" panose="02040503050406030204" pitchFamily="18" charset="0"/>
                          </a:rPr>
                        </m:ctrlPr>
                      </m:sSupPr>
                      <m:e>
                        <m:r>
                          <a:rPr lang="en-US" sz="2400" i="1">
                            <a:solidFill>
                              <a:prstClr val="black"/>
                            </a:solidFill>
                            <a:latin typeface="Cambria Math" charset="0"/>
                          </a:rPr>
                          <m:t>𝑦</m:t>
                        </m:r>
                      </m:e>
                      <m:sup>
                        <m:d>
                          <m:dPr>
                            <m:ctrlPr>
                              <a:rPr lang="en-US" sz="2400" b="1" i="1">
                                <a:solidFill>
                                  <a:prstClr val="black"/>
                                </a:solidFill>
                                <a:latin typeface="Cambria Math" panose="02040503050406030204" pitchFamily="18" charset="0"/>
                              </a:rPr>
                            </m:ctrlPr>
                          </m:dPr>
                          <m:e>
                            <m:r>
                              <a:rPr lang="en-US" sz="2400" i="1">
                                <a:solidFill>
                                  <a:prstClr val="black"/>
                                </a:solidFill>
                                <a:latin typeface="Cambria Math" charset="0"/>
                              </a:rPr>
                              <m:t>𝑖</m:t>
                            </m:r>
                          </m:e>
                        </m:d>
                      </m:sup>
                    </m:sSup>
                    <m:r>
                      <a:rPr lang="en-US" sz="2400" b="1" i="1">
                        <a:solidFill>
                          <a:prstClr val="black"/>
                        </a:solidFill>
                        <a:latin typeface="Cambria Math" charset="0"/>
                      </a:rPr>
                      <m:t>=</m:t>
                    </m:r>
                    <m:r>
                      <a:rPr lang="en-US" sz="2400" b="0" i="1" smtClean="0">
                        <a:solidFill>
                          <a:prstClr val="black"/>
                        </a:solidFill>
                        <a:latin typeface="Cambria Math" charset="0"/>
                      </a:rPr>
                      <m:t>−</m:t>
                    </m:r>
                    <m:r>
                      <a:rPr lang="en-US" sz="2400" i="1">
                        <a:solidFill>
                          <a:prstClr val="black"/>
                        </a:solidFill>
                        <a:latin typeface="Cambria Math" charset="0"/>
                      </a:rPr>
                      <m:t>1</m:t>
                    </m:r>
                  </m:oMath>
                </a14:m>
                <a:r>
                  <a:rPr lang="en-IN" sz="2400" dirty="0"/>
                  <a:t>.</a:t>
                </a:r>
              </a:p>
              <a:p>
                <a:pPr marL="342900" indent="-342900">
                  <a:buFont typeface="Arial" charset="0"/>
                  <a:buChar char="•"/>
                </a:pPr>
                <a:endParaRPr lang="en-IN" sz="2400" dirty="0"/>
              </a:p>
              <a:p>
                <a:pPr marL="342900" indent="-342900">
                  <a:buFont typeface="Arial" charset="0"/>
                  <a:buChar char="•"/>
                </a:pPr>
                <a14:m>
                  <m:oMath xmlns:m="http://schemas.openxmlformats.org/officeDocument/2006/math">
                    <m:sSup>
                      <m:sSupPr>
                        <m:ctrlPr>
                          <a:rPr lang="en-US" sz="2400" i="1">
                            <a:latin typeface="Cambria Math" panose="02040503050406030204" pitchFamily="18" charset="0"/>
                          </a:rPr>
                        </m:ctrlPr>
                      </m:sSupPr>
                      <m:e>
                        <m:r>
                          <a:rPr lang="en-US" sz="2400" b="1" i="1">
                            <a:latin typeface="Cambria Math" charset="0"/>
                          </a:rPr>
                          <m:t>||</m:t>
                        </m:r>
                        <m:r>
                          <a:rPr lang="en-US" sz="2400" b="1" i="1">
                            <a:latin typeface="Cambria Math" charset="0"/>
                          </a:rPr>
                          <m:t>𝒘</m:t>
                        </m:r>
                      </m:e>
                      <m:sup>
                        <m:r>
                          <a:rPr lang="en-US" sz="2400" i="1">
                            <a:latin typeface="Cambria Math" charset="0"/>
                          </a:rPr>
                          <m:t>′</m:t>
                        </m:r>
                      </m:sup>
                    </m:sSup>
                    <m:r>
                      <a:rPr lang="en-US" sz="2400" i="1">
                        <a:latin typeface="Cambria Math"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a:latin typeface="Cambria Math" charset="0"/>
                              </a:rPr>
                              <m:t>​</m:t>
                            </m:r>
                          </m:e>
                        </m:d>
                      </m:e>
                      <m:sup>
                        <m:r>
                          <a:rPr lang="en-US" sz="2400" i="1">
                            <a:latin typeface="Cambria Math" charset="0"/>
                          </a:rPr>
                          <m:t>2</m:t>
                        </m:r>
                      </m:sup>
                    </m:sSup>
                    <m:r>
                      <a:rPr lang="en-US" sz="2400" b="0" i="1" smtClean="0">
                        <a:latin typeface="Cambria Math" charset="0"/>
                      </a:rPr>
                      <m:t>=</m:t>
                    </m:r>
                    <m:sSup>
                      <m:sSupPr>
                        <m:ctrlPr>
                          <a:rPr lang="en-US" sz="2400" b="1" i="1">
                            <a:solidFill>
                              <a:prstClr val="black"/>
                            </a:solidFill>
                            <a:latin typeface="Cambria Math" panose="02040503050406030204" pitchFamily="18" charset="0"/>
                          </a:rPr>
                        </m:ctrlPr>
                      </m:sSupPr>
                      <m:e>
                        <m:d>
                          <m:dPr>
                            <m:begChr m:val="|"/>
                            <m:endChr m:val="|"/>
                            <m:ctrlPr>
                              <a:rPr lang="en-US" sz="2400" b="1" i="1">
                                <a:solidFill>
                                  <a:prstClr val="black"/>
                                </a:solidFill>
                                <a:latin typeface="Cambria Math" panose="02040503050406030204" pitchFamily="18" charset="0"/>
                              </a:rPr>
                            </m:ctrlPr>
                          </m:dPr>
                          <m:e>
                            <m:d>
                              <m:dPr>
                                <m:begChr m:val="|"/>
                                <m:endChr m:val="|"/>
                                <m:ctrlPr>
                                  <a:rPr lang="en-US" sz="2400" b="1" i="1">
                                    <a:solidFill>
                                      <a:prstClr val="black"/>
                                    </a:solidFill>
                                    <a:latin typeface="Cambria Math" panose="02040503050406030204" pitchFamily="18" charset="0"/>
                                  </a:rPr>
                                </m:ctrlPr>
                              </m:dPr>
                              <m:e>
                                <m:r>
                                  <a:rPr lang="en-US" sz="2400" b="1" i="1">
                                    <a:solidFill>
                                      <a:prstClr val="black"/>
                                    </a:solidFill>
                                    <a:latin typeface="Cambria Math" charset="0"/>
                                  </a:rPr>
                                  <m:t>𝒘</m:t>
                                </m:r>
                              </m:e>
                            </m:d>
                          </m:e>
                        </m:d>
                      </m:e>
                      <m:sup>
                        <m:r>
                          <a:rPr lang="en-US" sz="2400" i="1">
                            <a:solidFill>
                              <a:prstClr val="black"/>
                            </a:solidFill>
                            <a:latin typeface="Cambria Math" charset="0"/>
                          </a:rPr>
                          <m:t>2</m:t>
                        </m:r>
                      </m:sup>
                    </m:sSup>
                    <m:r>
                      <a:rPr lang="en-US" sz="2400" b="0" i="1" smtClean="0">
                        <a:solidFill>
                          <a:prstClr val="black"/>
                        </a:solidFill>
                        <a:latin typeface="Cambria Math" charset="0"/>
                      </a:rPr>
                      <m:t>−</m:t>
                    </m:r>
                    <m:r>
                      <a:rPr lang="en-US" sz="2400" i="1">
                        <a:solidFill>
                          <a:prstClr val="black"/>
                        </a:solidFill>
                        <a:latin typeface="Cambria Math" charset="0"/>
                      </a:rPr>
                      <m:t>2</m:t>
                    </m:r>
                    <m:sSup>
                      <m:sSupPr>
                        <m:ctrlPr>
                          <a:rPr lang="en-US" sz="2400" b="1" i="1">
                            <a:solidFill>
                              <a:prstClr val="black"/>
                            </a:solidFill>
                            <a:latin typeface="Cambria Math" panose="02040503050406030204" pitchFamily="18" charset="0"/>
                          </a:rPr>
                        </m:ctrlPr>
                      </m:sSupPr>
                      <m:e>
                        <m:d>
                          <m:dPr>
                            <m:ctrlPr>
                              <a:rPr lang="en-US" sz="2400" b="1" i="1">
                                <a:solidFill>
                                  <a:prstClr val="black"/>
                                </a:solidFill>
                                <a:latin typeface="Cambria Math" panose="02040503050406030204" pitchFamily="18" charset="0"/>
                              </a:rPr>
                            </m:ctrlPr>
                          </m:dPr>
                          <m:e>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𝒙</m:t>
                                </m:r>
                              </m:e>
                              <m:sup>
                                <m:d>
                                  <m:dPr>
                                    <m:ctrlPr>
                                      <a:rPr lang="en-US" sz="2400" b="1" i="1">
                                        <a:solidFill>
                                          <a:prstClr val="black"/>
                                        </a:solidFill>
                                        <a:latin typeface="Cambria Math" panose="02040503050406030204" pitchFamily="18" charset="0"/>
                                      </a:rPr>
                                    </m:ctrlPr>
                                  </m:dPr>
                                  <m:e>
                                    <m:r>
                                      <a:rPr lang="en-US" sz="2400" i="1">
                                        <a:solidFill>
                                          <a:prstClr val="black"/>
                                        </a:solidFill>
                                        <a:latin typeface="Cambria Math" charset="0"/>
                                      </a:rPr>
                                      <m:t>𝑖</m:t>
                                    </m:r>
                                  </m:e>
                                </m:d>
                              </m:sup>
                            </m:sSup>
                          </m:e>
                        </m:d>
                      </m:e>
                      <m:sup>
                        <m:r>
                          <a:rPr lang="en-US" sz="2400" i="1">
                            <a:solidFill>
                              <a:prstClr val="black"/>
                            </a:solidFill>
                            <a:latin typeface="Cambria Math" charset="0"/>
                          </a:rPr>
                          <m:t>𝑇</m:t>
                        </m:r>
                      </m:sup>
                    </m:sSup>
                    <m:r>
                      <a:rPr lang="en-US" sz="2400" b="1" i="1">
                        <a:solidFill>
                          <a:prstClr val="black"/>
                        </a:solidFill>
                        <a:latin typeface="Cambria Math" charset="0"/>
                      </a:rPr>
                      <m:t>𝒘</m:t>
                    </m:r>
                    <m:r>
                      <a:rPr lang="en-US" sz="2400" i="1">
                        <a:solidFill>
                          <a:prstClr val="black"/>
                        </a:solidFill>
                        <a:latin typeface="Cambria Math" charset="0"/>
                      </a:rPr>
                      <m:t>+</m:t>
                    </m:r>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m:t>
                        </m:r>
                        <m:r>
                          <a:rPr lang="en-US" sz="2400" b="1" i="1">
                            <a:solidFill>
                              <a:prstClr val="black"/>
                            </a:solidFill>
                            <a:latin typeface="Cambria Math" charset="0"/>
                          </a:rPr>
                          <m:t>𝒙</m:t>
                        </m:r>
                      </m:e>
                      <m:sup>
                        <m:d>
                          <m:dPr>
                            <m:ctrlPr>
                              <a:rPr lang="en-US" sz="2400" b="1" i="1">
                                <a:solidFill>
                                  <a:prstClr val="black"/>
                                </a:solidFill>
                                <a:latin typeface="Cambria Math" panose="02040503050406030204" pitchFamily="18" charset="0"/>
                              </a:rPr>
                            </m:ctrlPr>
                          </m:dPr>
                          <m:e>
                            <m:r>
                              <a:rPr lang="en-US" sz="2400" i="1">
                                <a:solidFill>
                                  <a:prstClr val="black"/>
                                </a:solidFill>
                                <a:latin typeface="Cambria Math" charset="0"/>
                              </a:rPr>
                              <m:t>𝑖</m:t>
                            </m:r>
                          </m:e>
                        </m:d>
                      </m:sup>
                    </m:sSup>
                    <m:r>
                      <a:rPr lang="en-US" sz="2400" i="1">
                        <a:solidFill>
                          <a:prstClr val="black"/>
                        </a:solidFill>
                        <a:latin typeface="Cambria Math" charset="0"/>
                      </a:rPr>
                      <m:t>|</m:t>
                    </m:r>
                    <m:sSup>
                      <m:sSupPr>
                        <m:ctrlPr>
                          <a:rPr lang="en-US" sz="2400" i="1">
                            <a:solidFill>
                              <a:prstClr val="black"/>
                            </a:solidFill>
                            <a:latin typeface="Cambria Math" panose="02040503050406030204" pitchFamily="18" charset="0"/>
                          </a:rPr>
                        </m:ctrlPr>
                      </m:sSupPr>
                      <m:e>
                        <m:d>
                          <m:dPr>
                            <m:begChr m:val=""/>
                            <m:endChr m:val="|"/>
                            <m:ctrlPr>
                              <a:rPr lang="en-US" sz="2400" i="1">
                                <a:solidFill>
                                  <a:prstClr val="black"/>
                                </a:solidFill>
                                <a:latin typeface="Cambria Math" panose="02040503050406030204" pitchFamily="18" charset="0"/>
                              </a:rPr>
                            </m:ctrlPr>
                          </m:dPr>
                          <m:e>
                            <m:r>
                              <a:rPr lang="en-US" sz="2400">
                                <a:solidFill>
                                  <a:prstClr val="black"/>
                                </a:solidFill>
                                <a:latin typeface="Cambria Math" charset="0"/>
                              </a:rPr>
                              <m:t>​</m:t>
                            </m:r>
                          </m:e>
                        </m:d>
                      </m:e>
                      <m:sup>
                        <m:r>
                          <a:rPr lang="en-US" sz="2400" i="1">
                            <a:solidFill>
                              <a:prstClr val="black"/>
                            </a:solidFill>
                            <a:latin typeface="Cambria Math" charset="0"/>
                          </a:rPr>
                          <m:t>2</m:t>
                        </m:r>
                      </m:sup>
                    </m:sSup>
                  </m:oMath>
                </a14:m>
                <a:endParaRPr lang="en-IN" sz="2400" dirty="0"/>
              </a:p>
              <a:p>
                <a:pPr marL="342900" indent="-342900">
                  <a:buFont typeface="Arial" charset="0"/>
                  <a:buChar char="•"/>
                </a:pPr>
                <a:endParaRPr lang="en-IN" sz="2400" dirty="0"/>
              </a:p>
              <a:p>
                <a:pPr marL="342900" indent="-342900">
                  <a:buFont typeface="Arial" charset="0"/>
                  <a:buChar char="•"/>
                </a:pPr>
                <a:r>
                  <a:rPr lang="en-IN" sz="2400" dirty="0"/>
                  <a:t>Using similar arguments, </a:t>
                </a:r>
                <a14:m>
                  <m:oMath xmlns:m="http://schemas.openxmlformats.org/officeDocument/2006/math">
                    <m:sSup>
                      <m:sSupPr>
                        <m:ctrlPr>
                          <a:rPr lang="en-US" sz="2400" b="1" i="1">
                            <a:solidFill>
                              <a:prstClr val="black"/>
                            </a:solidFill>
                            <a:latin typeface="Cambria Math" panose="02040503050406030204" pitchFamily="18" charset="0"/>
                          </a:rPr>
                        </m:ctrlPr>
                      </m:sSupPr>
                      <m:e>
                        <m:d>
                          <m:dPr>
                            <m:ctrlPr>
                              <a:rPr lang="en-US" sz="2400" b="1" i="1">
                                <a:solidFill>
                                  <a:prstClr val="black"/>
                                </a:solidFill>
                                <a:latin typeface="Cambria Math" panose="02040503050406030204" pitchFamily="18" charset="0"/>
                              </a:rPr>
                            </m:ctrlPr>
                          </m:dPr>
                          <m:e>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𝒙</m:t>
                                </m:r>
                              </m:e>
                              <m:sup>
                                <m:d>
                                  <m:dPr>
                                    <m:ctrlPr>
                                      <a:rPr lang="en-US" sz="2400" b="1" i="1">
                                        <a:solidFill>
                                          <a:prstClr val="black"/>
                                        </a:solidFill>
                                        <a:latin typeface="Cambria Math" panose="02040503050406030204" pitchFamily="18" charset="0"/>
                                      </a:rPr>
                                    </m:ctrlPr>
                                  </m:dPr>
                                  <m:e>
                                    <m:r>
                                      <a:rPr lang="en-US" sz="2400" i="1">
                                        <a:solidFill>
                                          <a:prstClr val="black"/>
                                        </a:solidFill>
                                        <a:latin typeface="Cambria Math" charset="0"/>
                                      </a:rPr>
                                      <m:t>𝑖</m:t>
                                    </m:r>
                                  </m:e>
                                </m:d>
                              </m:sup>
                            </m:sSup>
                          </m:e>
                        </m:d>
                      </m:e>
                      <m:sup>
                        <m:r>
                          <a:rPr lang="en-US" sz="2400" i="1">
                            <a:solidFill>
                              <a:prstClr val="black"/>
                            </a:solidFill>
                            <a:latin typeface="Cambria Math" charset="0"/>
                          </a:rPr>
                          <m:t>𝑇</m:t>
                        </m:r>
                      </m:sup>
                    </m:sSup>
                    <m:r>
                      <a:rPr lang="en-US" sz="2400" b="1" i="1">
                        <a:solidFill>
                          <a:prstClr val="black"/>
                        </a:solidFill>
                        <a:latin typeface="Cambria Math" charset="0"/>
                      </a:rPr>
                      <m:t>𝒘</m:t>
                    </m:r>
                    <m:r>
                      <a:rPr lang="en-US" sz="2400" b="1" i="1" smtClean="0">
                        <a:solidFill>
                          <a:prstClr val="black"/>
                        </a:solidFill>
                        <a:latin typeface="Cambria Math" charset="0"/>
                      </a:rPr>
                      <m:t>≥</m:t>
                    </m:r>
                    <m:r>
                      <a:rPr lang="en-US" sz="2400" b="0" i="1" smtClean="0">
                        <a:solidFill>
                          <a:prstClr val="black"/>
                        </a:solidFill>
                        <a:latin typeface="Cambria Math" charset="0"/>
                      </a:rPr>
                      <m:t>0</m:t>
                    </m:r>
                  </m:oMath>
                </a14:m>
                <a:r>
                  <a:rPr lang="en-IN" sz="2400" dirty="0"/>
                  <a:t>, so, </a:t>
                </a:r>
                <a14:m>
                  <m:oMath xmlns:m="http://schemas.openxmlformats.org/officeDocument/2006/math">
                    <m:r>
                      <a:rPr lang="en-US" sz="2400" b="0" i="0" smtClean="0">
                        <a:solidFill>
                          <a:prstClr val="black"/>
                        </a:solidFill>
                        <a:latin typeface="Cambria Math" charset="0"/>
                      </a:rPr>
                      <m:t>−2</m:t>
                    </m:r>
                    <m:sSup>
                      <m:sSupPr>
                        <m:ctrlPr>
                          <a:rPr lang="en-US" sz="2400" b="1" i="1">
                            <a:solidFill>
                              <a:prstClr val="black"/>
                            </a:solidFill>
                            <a:latin typeface="Cambria Math" panose="02040503050406030204" pitchFamily="18" charset="0"/>
                          </a:rPr>
                        </m:ctrlPr>
                      </m:sSupPr>
                      <m:e>
                        <m:d>
                          <m:dPr>
                            <m:ctrlPr>
                              <a:rPr lang="en-US" sz="2400" b="1" i="1">
                                <a:solidFill>
                                  <a:prstClr val="black"/>
                                </a:solidFill>
                                <a:latin typeface="Cambria Math" panose="02040503050406030204" pitchFamily="18" charset="0"/>
                              </a:rPr>
                            </m:ctrlPr>
                          </m:dPr>
                          <m:e>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𝒙</m:t>
                                </m:r>
                              </m:e>
                              <m:sup>
                                <m:d>
                                  <m:dPr>
                                    <m:ctrlPr>
                                      <a:rPr lang="en-US" sz="2400" b="1" i="1">
                                        <a:solidFill>
                                          <a:prstClr val="black"/>
                                        </a:solidFill>
                                        <a:latin typeface="Cambria Math" panose="02040503050406030204" pitchFamily="18" charset="0"/>
                                      </a:rPr>
                                    </m:ctrlPr>
                                  </m:dPr>
                                  <m:e>
                                    <m:r>
                                      <a:rPr lang="en-US" sz="2400" i="1">
                                        <a:solidFill>
                                          <a:prstClr val="black"/>
                                        </a:solidFill>
                                        <a:latin typeface="Cambria Math" charset="0"/>
                                      </a:rPr>
                                      <m:t>𝑖</m:t>
                                    </m:r>
                                  </m:e>
                                </m:d>
                              </m:sup>
                            </m:sSup>
                          </m:e>
                        </m:d>
                      </m:e>
                      <m:sup>
                        <m:r>
                          <a:rPr lang="en-US" sz="2400" i="1">
                            <a:solidFill>
                              <a:prstClr val="black"/>
                            </a:solidFill>
                            <a:latin typeface="Cambria Math" charset="0"/>
                          </a:rPr>
                          <m:t>𝑇</m:t>
                        </m:r>
                      </m:sup>
                    </m:sSup>
                    <m:r>
                      <a:rPr lang="en-US" sz="2400" b="1" i="1">
                        <a:solidFill>
                          <a:prstClr val="black"/>
                        </a:solidFill>
                        <a:latin typeface="Cambria Math" charset="0"/>
                      </a:rPr>
                      <m:t>𝒘</m:t>
                    </m:r>
                    <m:r>
                      <a:rPr lang="en-US" sz="2400" b="1" i="1" smtClean="0">
                        <a:solidFill>
                          <a:prstClr val="black"/>
                        </a:solidFill>
                        <a:latin typeface="Cambria Math" charset="0"/>
                      </a:rPr>
                      <m:t>≤</m:t>
                    </m:r>
                    <m:r>
                      <a:rPr lang="en-US" sz="2400" i="1">
                        <a:solidFill>
                          <a:prstClr val="black"/>
                        </a:solidFill>
                        <a:latin typeface="Cambria Math" charset="0"/>
                      </a:rPr>
                      <m:t>0</m:t>
                    </m:r>
                  </m:oMath>
                </a14:m>
                <a:r>
                  <a:rPr lang="en-IN" sz="2400" dirty="0"/>
                  <a:t> and also </a:t>
                </a:r>
                <a14:m>
                  <m:oMath xmlns:m="http://schemas.openxmlformats.org/officeDocument/2006/math">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charset="0"/>
                          </a:rPr>
                          <m:t>||</m:t>
                        </m:r>
                        <m:r>
                          <a:rPr lang="en-US" sz="2400" b="1" i="1">
                            <a:solidFill>
                              <a:prstClr val="black"/>
                            </a:solidFill>
                            <a:latin typeface="Cambria Math" charset="0"/>
                          </a:rPr>
                          <m:t>𝒙</m:t>
                        </m:r>
                      </m:e>
                      <m:sup>
                        <m:d>
                          <m:dPr>
                            <m:ctrlPr>
                              <a:rPr lang="en-US" sz="2400" b="1" i="1">
                                <a:solidFill>
                                  <a:prstClr val="black"/>
                                </a:solidFill>
                                <a:latin typeface="Cambria Math" panose="02040503050406030204" pitchFamily="18" charset="0"/>
                              </a:rPr>
                            </m:ctrlPr>
                          </m:dPr>
                          <m:e>
                            <m:r>
                              <a:rPr lang="en-US" sz="2400" i="1">
                                <a:solidFill>
                                  <a:prstClr val="black"/>
                                </a:solidFill>
                                <a:latin typeface="Cambria Math" charset="0"/>
                              </a:rPr>
                              <m:t>𝑖</m:t>
                            </m:r>
                          </m:e>
                        </m:d>
                      </m:sup>
                    </m:sSup>
                    <m:r>
                      <a:rPr lang="en-US" sz="2400" i="1">
                        <a:solidFill>
                          <a:prstClr val="black"/>
                        </a:solidFill>
                        <a:latin typeface="Cambria Math" charset="0"/>
                      </a:rPr>
                      <m:t>|</m:t>
                    </m:r>
                    <m:sSup>
                      <m:sSupPr>
                        <m:ctrlPr>
                          <a:rPr lang="en-US" sz="2400" i="1">
                            <a:solidFill>
                              <a:prstClr val="black"/>
                            </a:solidFill>
                            <a:latin typeface="Cambria Math" panose="02040503050406030204" pitchFamily="18" charset="0"/>
                          </a:rPr>
                        </m:ctrlPr>
                      </m:sSupPr>
                      <m:e>
                        <m:d>
                          <m:dPr>
                            <m:begChr m:val=""/>
                            <m:endChr m:val="|"/>
                            <m:ctrlPr>
                              <a:rPr lang="en-US" sz="2400" i="1">
                                <a:solidFill>
                                  <a:prstClr val="black"/>
                                </a:solidFill>
                                <a:latin typeface="Cambria Math" panose="02040503050406030204" pitchFamily="18" charset="0"/>
                              </a:rPr>
                            </m:ctrlPr>
                          </m:dPr>
                          <m:e>
                            <m:r>
                              <a:rPr lang="en-US" sz="2400">
                                <a:solidFill>
                                  <a:prstClr val="black"/>
                                </a:solidFill>
                                <a:latin typeface="Cambria Math" charset="0"/>
                              </a:rPr>
                              <m:t>​</m:t>
                            </m:r>
                          </m:e>
                        </m:d>
                      </m:e>
                      <m:sup>
                        <m:r>
                          <a:rPr lang="en-US" sz="2400" i="1">
                            <a:solidFill>
                              <a:prstClr val="black"/>
                            </a:solidFill>
                            <a:latin typeface="Cambria Math" charset="0"/>
                          </a:rPr>
                          <m:t>2</m:t>
                        </m:r>
                      </m:sup>
                    </m:sSup>
                    <m:r>
                      <a:rPr lang="en-US" sz="2400" b="0" i="1" smtClean="0">
                        <a:solidFill>
                          <a:prstClr val="black"/>
                        </a:solidFill>
                        <a:latin typeface="Cambria Math" charset="0"/>
                      </a:rPr>
                      <m:t>≤1</m:t>
                    </m:r>
                  </m:oMath>
                </a14:m>
                <a:endParaRPr lang="en-IN" sz="2400" dirty="0"/>
              </a:p>
              <a:p>
                <a:pPr marL="342900" indent="-342900">
                  <a:buFont typeface="Arial" charset="0"/>
                  <a:buChar char="•"/>
                </a:pPr>
                <a:endParaRPr lang="en-IN" sz="2400" dirty="0"/>
              </a:p>
              <a:p>
                <a:pPr marL="342900" indent="-342900">
                  <a:buFont typeface="Arial" charset="0"/>
                  <a:buChar char="•"/>
                </a:pPr>
                <a:endParaRPr lang="en-IN" sz="2400" dirty="0"/>
              </a:p>
              <a:p>
                <a:pPr marL="342900" indent="-342900">
                  <a:buFont typeface="Arial" charset="0"/>
                  <a:buChar char="•"/>
                </a:pPr>
                <a:r>
                  <a:rPr lang="en-IN" sz="2400" dirty="0"/>
                  <a:t>So, here also </a:t>
                </a:r>
                <a14:m>
                  <m:oMath xmlns:m="http://schemas.openxmlformats.org/officeDocument/2006/math">
                    <m:sSup>
                      <m:sSupPr>
                        <m:ctrlPr>
                          <a:rPr lang="en-US" sz="2400" i="1">
                            <a:latin typeface="Cambria Math" panose="02040503050406030204" pitchFamily="18" charset="0"/>
                          </a:rPr>
                        </m:ctrlPr>
                      </m:sSupPr>
                      <m:e>
                        <m:r>
                          <a:rPr lang="en-US" sz="2400" b="1" i="1">
                            <a:latin typeface="Cambria Math" charset="0"/>
                          </a:rPr>
                          <m:t>||</m:t>
                        </m:r>
                        <m:r>
                          <a:rPr lang="en-US" sz="2400" b="1" i="1">
                            <a:latin typeface="Cambria Math" charset="0"/>
                          </a:rPr>
                          <m:t>𝒘</m:t>
                        </m:r>
                      </m:e>
                      <m:sup>
                        <m:r>
                          <a:rPr lang="en-US" sz="2400" i="1">
                            <a:latin typeface="Cambria Math" charset="0"/>
                          </a:rPr>
                          <m:t>′</m:t>
                        </m:r>
                      </m:sup>
                    </m:sSup>
                    <m:r>
                      <a:rPr lang="en-US" sz="2400" i="1">
                        <a:latin typeface="Cambria Math"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a:latin typeface="Cambria Math" charset="0"/>
                              </a:rPr>
                              <m:t>​</m:t>
                            </m:r>
                          </m:e>
                        </m:d>
                      </m:e>
                      <m:sup>
                        <m:r>
                          <a:rPr lang="en-US" sz="2400" i="1">
                            <a:latin typeface="Cambria Math" charset="0"/>
                          </a:rPr>
                          <m:t>2</m:t>
                        </m:r>
                      </m:sup>
                    </m:sSup>
                    <m:r>
                      <a:rPr lang="en-US" sz="2400" b="1" i="1" smtClean="0">
                        <a:latin typeface="Cambria Math" charset="0"/>
                      </a:rPr>
                      <m:t>≤</m:t>
                    </m:r>
                    <m:sSup>
                      <m:sSupPr>
                        <m:ctrlPr>
                          <a:rPr lang="en-US" sz="2400" b="1" i="1">
                            <a:solidFill>
                              <a:prstClr val="black"/>
                            </a:solidFill>
                            <a:latin typeface="Cambria Math" panose="02040503050406030204" pitchFamily="18" charset="0"/>
                          </a:rPr>
                        </m:ctrlPr>
                      </m:sSupPr>
                      <m:e>
                        <m:d>
                          <m:dPr>
                            <m:begChr m:val="|"/>
                            <m:endChr m:val="|"/>
                            <m:ctrlPr>
                              <a:rPr lang="en-US" sz="2400" b="1" i="1">
                                <a:solidFill>
                                  <a:prstClr val="black"/>
                                </a:solidFill>
                                <a:latin typeface="Cambria Math" panose="02040503050406030204" pitchFamily="18" charset="0"/>
                              </a:rPr>
                            </m:ctrlPr>
                          </m:dPr>
                          <m:e>
                            <m:d>
                              <m:dPr>
                                <m:begChr m:val="|"/>
                                <m:endChr m:val="|"/>
                                <m:ctrlPr>
                                  <a:rPr lang="en-US" sz="2400" b="1" i="1">
                                    <a:solidFill>
                                      <a:prstClr val="black"/>
                                    </a:solidFill>
                                    <a:latin typeface="Cambria Math" panose="02040503050406030204" pitchFamily="18" charset="0"/>
                                  </a:rPr>
                                </m:ctrlPr>
                              </m:dPr>
                              <m:e>
                                <m:r>
                                  <a:rPr lang="en-US" sz="2400" b="1" i="1">
                                    <a:solidFill>
                                      <a:prstClr val="black"/>
                                    </a:solidFill>
                                    <a:latin typeface="Cambria Math" charset="0"/>
                                  </a:rPr>
                                  <m:t>𝒘</m:t>
                                </m:r>
                              </m:e>
                            </m:d>
                          </m:e>
                        </m:d>
                      </m:e>
                      <m:sup>
                        <m:r>
                          <a:rPr lang="en-US" sz="2400" i="1">
                            <a:solidFill>
                              <a:prstClr val="black"/>
                            </a:solidFill>
                            <a:latin typeface="Cambria Math" charset="0"/>
                          </a:rPr>
                          <m:t>2</m:t>
                        </m:r>
                      </m:sup>
                    </m:sSup>
                    <m:r>
                      <a:rPr lang="en-US" sz="2400" b="0" i="1" smtClean="0">
                        <a:solidFill>
                          <a:prstClr val="black"/>
                        </a:solidFill>
                        <a:latin typeface="Cambria Math" charset="0"/>
                      </a:rPr>
                      <m:t>+1</m:t>
                    </m:r>
                  </m:oMath>
                </a14:m>
                <a:endParaRPr lang="en-IN" sz="2400" dirty="0"/>
              </a:p>
              <a:p>
                <a:pPr marL="342900" indent="-342900">
                  <a:buFont typeface="Arial" charset="0"/>
                  <a:buChar char="•"/>
                </a:pPr>
                <a:endParaRPr lang="en-IN" sz="2400" dirty="0"/>
              </a:p>
              <a:p>
                <a:pPr marL="342900" indent="-342900">
                  <a:buFont typeface="Arial" charset="0"/>
                  <a:buChar char="•"/>
                </a:pPr>
                <a:r>
                  <a:rPr lang="en-IN" sz="2400"/>
                  <a:t>So, the length of the updated vector can get modified and that too in a controlled way. </a:t>
                </a:r>
                <a:r>
                  <a:rPr lang="en-IN" sz="2400" dirty="0">
                    <a:solidFill>
                      <a:srgbClr val="FF0000"/>
                    </a:solidFill>
                    <a:sym typeface="Wingdings"/>
                  </a:rPr>
                  <a:t> Observation 2</a:t>
                </a:r>
                <a:endParaRPr lang="en-IN" sz="2400" dirty="0">
                  <a:solidFill>
                    <a:srgbClr val="FF0000"/>
                  </a:solidFill>
                </a:endParaRPr>
              </a:p>
            </p:txBody>
          </p:sp>
        </mc:Choice>
        <mc:Fallback xmlns="">
          <p:sp>
            <p:nvSpPr>
              <p:cNvPr id="33" name="TextBox 32"/>
              <p:cNvSpPr txBox="1">
                <a:spLocks noRot="1" noChangeAspect="1" noMove="1" noResize="1" noEditPoints="1" noAdjustHandles="1" noChangeArrowheads="1" noChangeShapeType="1" noTextEdit="1"/>
              </p:cNvSpPr>
              <p:nvPr/>
            </p:nvSpPr>
            <p:spPr>
              <a:xfrm>
                <a:off x="180868" y="1371009"/>
                <a:ext cx="12011132" cy="4556055"/>
              </a:xfrm>
              <a:prstGeom prst="rect">
                <a:avLst/>
              </a:prstGeom>
              <a:blipFill>
                <a:blip r:embed="rId3"/>
                <a:stretch>
                  <a:fillRect l="-739" t="-279" b="-2228"/>
                </a:stretch>
              </a:blipFill>
            </p:spPr>
            <p:txBody>
              <a:bodyPr/>
              <a:lstStyle/>
              <a:p>
                <a:r>
                  <a:rPr lang="en-US">
                    <a:noFill/>
                  </a:rPr>
                  <a:t> </a:t>
                </a:r>
              </a:p>
            </p:txBody>
          </p:sp>
        </mc:Fallback>
      </mc:AlternateContent>
      <p:sp>
        <p:nvSpPr>
          <p:cNvPr id="2" name="Footer Placeholder 1"/>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6" name="Slide Number Placeholder 5"/>
          <p:cNvSpPr>
            <a:spLocks noGrp="1"/>
          </p:cNvSpPr>
          <p:nvPr>
            <p:ph type="sldNum" sz="quarter" idx="4"/>
          </p:nvPr>
        </p:nvSpPr>
        <p:spPr>
          <a:xfrm>
            <a:off x="10569844" y="6356350"/>
            <a:ext cx="783956" cy="365125"/>
          </a:xfrm>
        </p:spPr>
        <p:txBody>
          <a:bodyPr/>
          <a:lstStyle/>
          <a:p>
            <a:fld id="{683B8651-0143-4140-839E-3D36292080E8}" type="slidenum">
              <a:rPr lang="en-US" smtClean="0"/>
              <a:t>14</a:t>
            </a:fld>
            <a:endParaRPr lang="en-US"/>
          </a:p>
        </p:txBody>
      </p:sp>
    </p:spTree>
    <p:extLst>
      <p:ext uri="{BB962C8B-B14F-4D97-AF65-F5344CB8AC3E}">
        <p14:creationId xmlns:p14="http://schemas.microsoft.com/office/powerpoint/2010/main" val="602228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674557" y="832857"/>
            <a:ext cx="10088381" cy="84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200" dirty="0">
                <a:solidFill>
                  <a:srgbClr val="434343"/>
                </a:solidFill>
              </a:rPr>
              <a:t>Perceptron Learning Algorithm </a:t>
            </a:r>
            <a:r>
              <a:rPr lang="mr-IN" sz="3200" dirty="0">
                <a:solidFill>
                  <a:srgbClr val="434343"/>
                </a:solidFill>
              </a:rPr>
              <a:t>–</a:t>
            </a:r>
            <a:r>
              <a:rPr lang="en-US" sz="3200" dirty="0">
                <a:solidFill>
                  <a:srgbClr val="434343"/>
                </a:solidFill>
              </a:rPr>
              <a:t> Convergence Proof</a:t>
            </a:r>
            <a:endParaRPr sz="3200" dirty="0">
              <a:solidFill>
                <a:srgbClr val="434343"/>
              </a:solidFill>
            </a:endParaRPr>
          </a:p>
        </p:txBody>
      </p:sp>
      <mc:AlternateContent xmlns:mc="http://schemas.openxmlformats.org/markup-compatibility/2006" xmlns:a14="http://schemas.microsoft.com/office/drawing/2010/main">
        <mc:Choice Requires="a14">
          <p:sp>
            <p:nvSpPr>
              <p:cNvPr id="33" name="TextBox 32"/>
              <p:cNvSpPr txBox="1"/>
              <p:nvPr/>
            </p:nvSpPr>
            <p:spPr>
              <a:xfrm>
                <a:off x="180868" y="1371009"/>
                <a:ext cx="12011132" cy="4307333"/>
              </a:xfrm>
              <a:prstGeom prst="rect">
                <a:avLst/>
              </a:prstGeom>
              <a:noFill/>
            </p:spPr>
            <p:txBody>
              <a:bodyPr wrap="square" rtlCol="0">
                <a:spAutoFit/>
              </a:bodyPr>
              <a:lstStyle/>
              <a:p>
                <a:pPr marL="342900" indent="-342900">
                  <a:buFont typeface="Arial" charset="0"/>
                  <a:buChar char="•"/>
                </a:pPr>
                <a:r>
                  <a:rPr lang="en-IN" sz="2400" dirty="0"/>
                  <a:t>Say after </a:t>
                </a:r>
                <a14:m>
                  <m:oMath xmlns:m="http://schemas.openxmlformats.org/officeDocument/2006/math">
                    <m:r>
                      <a:rPr lang="en-US" sz="2400" b="0" i="1" smtClean="0">
                        <a:latin typeface="Cambria Math" charset="0"/>
                      </a:rPr>
                      <m:t>𝑘</m:t>
                    </m:r>
                  </m:oMath>
                </a14:m>
                <a:r>
                  <a:rPr lang="en-IN" sz="2400" dirty="0"/>
                  <a:t> iterations, </a:t>
                </a:r>
                <a14:m>
                  <m:oMath xmlns:m="http://schemas.openxmlformats.org/officeDocument/2006/math">
                    <m:r>
                      <a:rPr lang="en-US" sz="2400" b="1" i="1">
                        <a:solidFill>
                          <a:prstClr val="black"/>
                        </a:solidFill>
                        <a:latin typeface="Cambria Math" charset="0"/>
                      </a:rPr>
                      <m:t>𝒘</m:t>
                    </m:r>
                  </m:oMath>
                </a14:m>
                <a:r>
                  <a:rPr lang="en-IN" sz="2400" dirty="0"/>
                  <a:t> is denoted as </a:t>
                </a:r>
                <a14:m>
                  <m:oMath xmlns:m="http://schemas.openxmlformats.org/officeDocument/2006/math">
                    <m:sSub>
                      <m:sSubPr>
                        <m:ctrlPr>
                          <a:rPr lang="en-US" sz="2400" b="1" i="1" smtClean="0">
                            <a:solidFill>
                              <a:prstClr val="black"/>
                            </a:solidFill>
                            <a:latin typeface="Cambria Math" panose="02040503050406030204" pitchFamily="18" charset="0"/>
                          </a:rPr>
                        </m:ctrlPr>
                      </m:sSubPr>
                      <m:e>
                        <m:r>
                          <a:rPr lang="en-US" sz="2400" b="1" i="1">
                            <a:solidFill>
                              <a:prstClr val="black"/>
                            </a:solidFill>
                            <a:latin typeface="Cambria Math" charset="0"/>
                          </a:rPr>
                          <m:t>𝒘</m:t>
                        </m:r>
                      </m:e>
                      <m:sub>
                        <m:r>
                          <a:rPr lang="en-US" sz="2400" b="0" i="1" smtClean="0">
                            <a:solidFill>
                              <a:prstClr val="black"/>
                            </a:solidFill>
                            <a:latin typeface="Cambria Math" charset="0"/>
                          </a:rPr>
                          <m:t>𝑘</m:t>
                        </m:r>
                      </m:sub>
                    </m:sSub>
                  </m:oMath>
                </a14:m>
                <a:r>
                  <a:rPr lang="en-IN" sz="2400" dirty="0"/>
                  <a:t>.</a:t>
                </a:r>
              </a:p>
              <a:p>
                <a:pPr marL="342900" indent="-342900">
                  <a:buFont typeface="Arial" charset="0"/>
                  <a:buChar char="•"/>
                </a:pPr>
                <a:endParaRPr lang="en-IN" sz="2400" dirty="0"/>
              </a:p>
              <a:p>
                <a:pPr marL="342900" indent="-342900">
                  <a:buFont typeface="Arial" charset="0"/>
                  <a:buChar char="•"/>
                </a:pPr>
                <a:r>
                  <a:rPr lang="en-IN" sz="2400" dirty="0"/>
                  <a:t>So </a:t>
                </a:r>
                <a:r>
                  <a:rPr lang="en-IN" sz="2400" dirty="0">
                    <a:solidFill>
                      <a:srgbClr val="FF0000"/>
                    </a:solidFill>
                  </a:rPr>
                  <a:t>observation 1</a:t>
                </a:r>
                <a:r>
                  <a:rPr lang="en-IN" sz="2400" dirty="0"/>
                  <a:t> implies, </a:t>
                </a:r>
                <a14:m>
                  <m:oMath xmlns:m="http://schemas.openxmlformats.org/officeDocument/2006/math">
                    <m:sSubSup>
                      <m:sSubSupPr>
                        <m:ctrlPr>
                          <a:rPr lang="en-US" sz="2400" b="1" i="1" smtClean="0">
                            <a:solidFill>
                              <a:prstClr val="black"/>
                            </a:solidFill>
                            <a:latin typeface="Cambria Math" panose="02040503050406030204" pitchFamily="18" charset="0"/>
                          </a:rPr>
                        </m:ctrlPr>
                      </m:sSubSupPr>
                      <m:e>
                        <m:r>
                          <a:rPr lang="en-US" sz="2400" b="1" i="1">
                            <a:solidFill>
                              <a:prstClr val="black"/>
                            </a:solidFill>
                            <a:latin typeface="Cambria Math" charset="0"/>
                          </a:rPr>
                          <m:t>𝒘</m:t>
                        </m:r>
                      </m:e>
                      <m:sub>
                        <m:r>
                          <a:rPr lang="en-US" sz="2400" i="1">
                            <a:solidFill>
                              <a:prstClr val="black"/>
                            </a:solidFill>
                            <a:latin typeface="Cambria Math" charset="0"/>
                          </a:rPr>
                          <m:t>𝑘</m:t>
                        </m:r>
                      </m:sub>
                      <m:sup>
                        <m:r>
                          <a:rPr lang="en-US" sz="2400" b="0" i="1" smtClean="0">
                            <a:solidFill>
                              <a:prstClr val="black"/>
                            </a:solidFill>
                            <a:latin typeface="Cambria Math" charset="0"/>
                          </a:rPr>
                          <m:t>𝑇</m:t>
                        </m:r>
                      </m:sup>
                    </m:sSubSup>
                    <m:sSup>
                      <m:sSupPr>
                        <m:ctrlPr>
                          <a:rPr lang="en-US" sz="2400" b="1" i="1" smtClean="0">
                            <a:solidFill>
                              <a:prstClr val="black"/>
                            </a:solidFill>
                            <a:latin typeface="Cambria Math" panose="02040503050406030204" pitchFamily="18" charset="0"/>
                          </a:rPr>
                        </m:ctrlPr>
                      </m:sSupPr>
                      <m:e>
                        <m:r>
                          <a:rPr lang="en-US" sz="2400" b="1" i="1" smtClean="0">
                            <a:solidFill>
                              <a:prstClr val="black"/>
                            </a:solidFill>
                            <a:latin typeface="Cambria Math" charset="0"/>
                          </a:rPr>
                          <m:t>𝒘</m:t>
                        </m:r>
                      </m:e>
                      <m:sup>
                        <m:r>
                          <a:rPr lang="en-US" sz="2400" b="0" i="1" smtClean="0">
                            <a:solidFill>
                              <a:prstClr val="black"/>
                            </a:solidFill>
                            <a:latin typeface="Cambria Math" charset="0"/>
                          </a:rPr>
                          <m:t>∗</m:t>
                        </m:r>
                      </m:sup>
                    </m:sSup>
                    <m:r>
                      <a:rPr lang="en-US" sz="2400" b="1" i="1" smtClean="0">
                        <a:solidFill>
                          <a:prstClr val="black"/>
                        </a:solidFill>
                        <a:latin typeface="Cambria Math" charset="0"/>
                      </a:rPr>
                      <m:t>≥</m:t>
                    </m:r>
                    <m:r>
                      <a:rPr lang="en-US" sz="2400" b="0" i="1" smtClean="0">
                        <a:solidFill>
                          <a:prstClr val="black"/>
                        </a:solidFill>
                        <a:latin typeface="Cambria Math" charset="0"/>
                      </a:rPr>
                      <m:t>𝑘</m:t>
                    </m:r>
                    <m:r>
                      <a:rPr lang="en-US" sz="2400" b="0" i="1" smtClean="0">
                        <a:solidFill>
                          <a:prstClr val="black"/>
                        </a:solidFill>
                        <a:latin typeface="Cambria Math" charset="0"/>
                      </a:rPr>
                      <m:t>𝛾</m:t>
                    </m:r>
                  </m:oMath>
                </a14:m>
                <a:r>
                  <a:rPr lang="en-IN" sz="2400" dirty="0"/>
                  <a:t> and </a:t>
                </a:r>
                <a:r>
                  <a:rPr lang="en-IN" sz="2400" dirty="0">
                    <a:solidFill>
                      <a:srgbClr val="FF0000"/>
                    </a:solidFill>
                  </a:rPr>
                  <a:t>observation 2</a:t>
                </a:r>
                <a:r>
                  <a:rPr lang="en-IN" sz="2400" dirty="0"/>
                  <a:t> implies </a:t>
                </a:r>
                <a14:m>
                  <m:oMath xmlns:m="http://schemas.openxmlformats.org/officeDocument/2006/math">
                    <m:sSup>
                      <m:sSupPr>
                        <m:ctrlPr>
                          <a:rPr lang="en-US" sz="2400" b="0" i="1" smtClean="0">
                            <a:latin typeface="Cambria Math" panose="02040503050406030204" pitchFamily="18" charset="0"/>
                          </a:rPr>
                        </m:ctrlPr>
                      </m:sSupPr>
                      <m:e>
                        <m:d>
                          <m:dPr>
                            <m:begChr m:val="|"/>
                            <m:endChr m:val="|"/>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sSub>
                                  <m:sSubPr>
                                    <m:ctrlPr>
                                      <a:rPr lang="en-US" sz="2400" b="1" i="1" smtClean="0">
                                        <a:latin typeface="Cambria Math" panose="02040503050406030204" pitchFamily="18" charset="0"/>
                                      </a:rPr>
                                    </m:ctrlPr>
                                  </m:sSubPr>
                                  <m:e>
                                    <m:r>
                                      <a:rPr lang="en-US" sz="2400" b="1" i="1" smtClean="0">
                                        <a:latin typeface="Cambria Math" charset="0"/>
                                      </a:rPr>
                                      <m:t>𝒘</m:t>
                                    </m:r>
                                  </m:e>
                                  <m:sub>
                                    <m:r>
                                      <a:rPr lang="en-US" sz="2400" b="0" i="1" smtClean="0">
                                        <a:latin typeface="Cambria Math" charset="0"/>
                                      </a:rPr>
                                      <m:t>𝑘</m:t>
                                    </m:r>
                                  </m:sub>
                                </m:sSub>
                              </m:e>
                            </m:d>
                          </m:e>
                        </m:d>
                      </m:e>
                      <m:sup>
                        <m:r>
                          <a:rPr lang="en-US" sz="2400" b="0" i="1" smtClean="0">
                            <a:latin typeface="Cambria Math" charset="0"/>
                          </a:rPr>
                          <m:t>2</m:t>
                        </m:r>
                      </m:sup>
                    </m:sSup>
                    <m:r>
                      <a:rPr lang="en-US" sz="2400" b="0" i="1" smtClean="0">
                        <a:latin typeface="Cambria Math" charset="0"/>
                      </a:rPr>
                      <m:t>≤</m:t>
                    </m:r>
                    <m:r>
                      <a:rPr lang="en-US" sz="2400" b="0" i="1" smtClean="0">
                        <a:latin typeface="Cambria Math" charset="0"/>
                      </a:rPr>
                      <m:t>𝑘</m:t>
                    </m:r>
                  </m:oMath>
                </a14:m>
                <a:r>
                  <a:rPr lang="en-IN" sz="2400" dirty="0"/>
                  <a:t> [remember the initial value of </a:t>
                </a:r>
                <a14:m>
                  <m:oMath xmlns:m="http://schemas.openxmlformats.org/officeDocument/2006/math">
                    <m:r>
                      <a:rPr lang="en-US" sz="2400" b="1" i="1">
                        <a:solidFill>
                          <a:prstClr val="black"/>
                        </a:solidFill>
                        <a:latin typeface="Cambria Math" charset="0"/>
                      </a:rPr>
                      <m:t>𝒘</m:t>
                    </m:r>
                  </m:oMath>
                </a14:m>
                <a:r>
                  <a:rPr lang="en-IN" sz="2400" dirty="0"/>
                  <a:t> is </a:t>
                </a:r>
                <a:r>
                  <a:rPr lang="en-IN" sz="2400" b="1" dirty="0"/>
                  <a:t>0</a:t>
                </a:r>
                <a:r>
                  <a:rPr lang="en-IN" sz="2400" dirty="0"/>
                  <a:t>]</a:t>
                </a:r>
              </a:p>
              <a:p>
                <a:pPr marL="342900" indent="-342900">
                  <a:buFont typeface="Arial" charset="0"/>
                  <a:buChar char="•"/>
                </a:pPr>
                <a:endParaRPr lang="en-IN" sz="2400" dirty="0"/>
              </a:p>
              <a:p>
                <a:pPr marL="342900" indent="-342900">
                  <a:buFont typeface="Arial" charset="0"/>
                  <a:buChar char="•"/>
                </a:pPr>
                <a:r>
                  <a:rPr lang="en-IN" sz="2400" dirty="0"/>
                  <a:t>Now we have to apply the Cauchy-Swartz inequality.</a:t>
                </a:r>
              </a:p>
              <a:p>
                <a:pPr marL="342900" indent="-342900">
                  <a:buFont typeface="Arial" charset="0"/>
                  <a:buChar char="•"/>
                </a:pPr>
                <a14:m>
                  <m:oMath xmlns:m="http://schemas.openxmlformats.org/officeDocument/2006/math">
                    <m:d>
                      <m:dPr>
                        <m:begChr m:val="|"/>
                        <m:endChr m:val="|"/>
                        <m:ctrlPr>
                          <a:rPr lang="en-US" sz="2400" b="1" i="1" smtClean="0">
                            <a:latin typeface="Cambria Math" panose="02040503050406030204" pitchFamily="18" charset="0"/>
                          </a:rPr>
                        </m:ctrlPr>
                      </m:dPr>
                      <m:e>
                        <m:d>
                          <m:dPr>
                            <m:begChr m:val="|"/>
                            <m:endChr m:val="|"/>
                            <m:ctrlPr>
                              <a:rPr lang="en-US" sz="2400" b="1" i="1" smtClean="0">
                                <a:latin typeface="Cambria Math" panose="02040503050406030204" pitchFamily="18" charset="0"/>
                              </a:rPr>
                            </m:ctrlPr>
                          </m:dPr>
                          <m:e>
                            <m:sSub>
                              <m:sSubPr>
                                <m:ctrlPr>
                                  <a:rPr lang="en-US" sz="2400" b="1" i="1">
                                    <a:latin typeface="Cambria Math" panose="02040503050406030204" pitchFamily="18" charset="0"/>
                                  </a:rPr>
                                </m:ctrlPr>
                              </m:sSubPr>
                              <m:e>
                                <m:r>
                                  <a:rPr lang="en-US" sz="2400" b="1" i="1">
                                    <a:latin typeface="Cambria Math" charset="0"/>
                                  </a:rPr>
                                  <m:t>𝒘</m:t>
                                </m:r>
                              </m:e>
                              <m:sub>
                                <m:r>
                                  <a:rPr lang="en-US" sz="2400" i="1">
                                    <a:latin typeface="Cambria Math" charset="0"/>
                                  </a:rPr>
                                  <m:t>𝑘</m:t>
                                </m:r>
                              </m:sub>
                            </m:sSub>
                          </m:e>
                        </m:d>
                      </m:e>
                    </m:d>
                    <m:d>
                      <m:dPr>
                        <m:begChr m:val="|"/>
                        <m:endChr m:val="|"/>
                        <m:ctrlPr>
                          <a:rPr lang="en-US" sz="2400" b="1" i="1" smtClean="0">
                            <a:latin typeface="Cambria Math" panose="02040503050406030204" pitchFamily="18" charset="0"/>
                          </a:rPr>
                        </m:ctrlPr>
                      </m:dPr>
                      <m:e>
                        <m:d>
                          <m:dPr>
                            <m:begChr m:val="|"/>
                            <m:endChr m:val="|"/>
                            <m:ctrlPr>
                              <a:rPr lang="en-US" sz="2400" b="1" i="1" smtClean="0">
                                <a:latin typeface="Cambria Math" panose="02040503050406030204" pitchFamily="18" charset="0"/>
                              </a:rPr>
                            </m:ctrlPr>
                          </m:dPr>
                          <m:e>
                            <m:sSup>
                              <m:sSupPr>
                                <m:ctrlPr>
                                  <a:rPr lang="en-US" sz="2400" b="1" i="1" smtClean="0">
                                    <a:latin typeface="Cambria Math" panose="02040503050406030204" pitchFamily="18" charset="0"/>
                                  </a:rPr>
                                </m:ctrlPr>
                              </m:sSupPr>
                              <m:e>
                                <m:r>
                                  <a:rPr lang="en-US" sz="2400" b="1" i="1" smtClean="0">
                                    <a:latin typeface="Cambria Math" charset="0"/>
                                  </a:rPr>
                                  <m:t>𝒘</m:t>
                                </m:r>
                              </m:e>
                              <m:sup>
                                <m:r>
                                  <a:rPr lang="en-US" sz="2400" b="0" i="1" smtClean="0">
                                    <a:latin typeface="Cambria Math" charset="0"/>
                                  </a:rPr>
                                  <m:t>∗</m:t>
                                </m:r>
                              </m:sup>
                            </m:sSup>
                          </m:e>
                        </m:d>
                      </m:e>
                    </m:d>
                    <m:r>
                      <a:rPr lang="en-US" sz="2400" b="1" i="1" smtClean="0">
                        <a:latin typeface="Cambria Math" charset="0"/>
                      </a:rPr>
                      <m:t>≥</m:t>
                    </m:r>
                    <m:sSubSup>
                      <m:sSubSupPr>
                        <m:ctrlPr>
                          <a:rPr lang="en-US" sz="2400" b="1" i="1" smtClean="0">
                            <a:latin typeface="Cambria Math" panose="02040503050406030204" pitchFamily="18" charset="0"/>
                          </a:rPr>
                        </m:ctrlPr>
                      </m:sSubSupPr>
                      <m:e>
                        <m:r>
                          <a:rPr lang="en-US" sz="2400" b="1" i="1">
                            <a:latin typeface="Cambria Math" charset="0"/>
                          </a:rPr>
                          <m:t>𝒘</m:t>
                        </m:r>
                      </m:e>
                      <m:sub>
                        <m:r>
                          <a:rPr lang="en-US" sz="2400" i="1">
                            <a:latin typeface="Cambria Math" charset="0"/>
                          </a:rPr>
                          <m:t>𝑘</m:t>
                        </m:r>
                      </m:sub>
                      <m:sup>
                        <m:r>
                          <a:rPr lang="en-US" sz="2400" b="0" i="1" smtClean="0">
                            <a:latin typeface="Cambria Math" charset="0"/>
                          </a:rPr>
                          <m:t>𝑇</m:t>
                        </m:r>
                      </m:sup>
                    </m:sSubSup>
                    <m:sSup>
                      <m:sSupPr>
                        <m:ctrlPr>
                          <a:rPr lang="en-US" sz="2400" b="1" i="1">
                            <a:latin typeface="Cambria Math" panose="02040503050406030204" pitchFamily="18" charset="0"/>
                          </a:rPr>
                        </m:ctrlPr>
                      </m:sSupPr>
                      <m:e>
                        <m:r>
                          <a:rPr lang="en-US" sz="2400" b="1" i="1">
                            <a:latin typeface="Cambria Math" charset="0"/>
                          </a:rPr>
                          <m:t>𝒘</m:t>
                        </m:r>
                      </m:e>
                      <m:sup>
                        <m:r>
                          <a:rPr lang="en-US" sz="2400" i="1">
                            <a:latin typeface="Cambria Math" charset="0"/>
                          </a:rPr>
                          <m:t>∗</m:t>
                        </m:r>
                      </m:sup>
                    </m:sSup>
                  </m:oMath>
                </a14:m>
                <a:r>
                  <a:rPr lang="en-IN" sz="2400" dirty="0"/>
                  <a:t> , but </a:t>
                </a:r>
                <a14:m>
                  <m:oMath xmlns:m="http://schemas.openxmlformats.org/officeDocument/2006/math">
                    <m:d>
                      <m:dPr>
                        <m:begChr m:val="|"/>
                        <m:endChr m:val="|"/>
                        <m:ctrlPr>
                          <a:rPr lang="en-US" sz="2400" b="1" i="1">
                            <a:latin typeface="Cambria Math" panose="02040503050406030204" pitchFamily="18" charset="0"/>
                          </a:rPr>
                        </m:ctrlPr>
                      </m:dPr>
                      <m:e>
                        <m:d>
                          <m:dPr>
                            <m:begChr m:val="|"/>
                            <m:endChr m:val="|"/>
                            <m:ctrlPr>
                              <a:rPr lang="en-US" sz="2400" b="1" i="1">
                                <a:latin typeface="Cambria Math" panose="02040503050406030204" pitchFamily="18" charset="0"/>
                              </a:rPr>
                            </m:ctrlPr>
                          </m:dPr>
                          <m:e>
                            <m:sSup>
                              <m:sSupPr>
                                <m:ctrlPr>
                                  <a:rPr lang="en-US" sz="2400" b="1" i="1">
                                    <a:latin typeface="Cambria Math" panose="02040503050406030204" pitchFamily="18" charset="0"/>
                                  </a:rPr>
                                </m:ctrlPr>
                              </m:sSupPr>
                              <m:e>
                                <m:r>
                                  <a:rPr lang="en-US" sz="2400" b="1" i="1">
                                    <a:latin typeface="Cambria Math" charset="0"/>
                                  </a:rPr>
                                  <m:t>𝒘</m:t>
                                </m:r>
                              </m:e>
                              <m:sup>
                                <m:r>
                                  <a:rPr lang="en-US" sz="2400" i="1">
                                    <a:latin typeface="Cambria Math" charset="0"/>
                                  </a:rPr>
                                  <m:t>∗</m:t>
                                </m:r>
                              </m:sup>
                            </m:sSup>
                          </m:e>
                        </m:d>
                      </m:e>
                    </m:d>
                    <m:r>
                      <a:rPr lang="en-US" sz="2400" b="1" i="1" smtClean="0">
                        <a:latin typeface="Cambria Math" charset="0"/>
                      </a:rPr>
                      <m:t>=</m:t>
                    </m:r>
                    <m:r>
                      <a:rPr lang="en-US" sz="2400" b="0" i="1" smtClean="0">
                        <a:latin typeface="Cambria Math" charset="0"/>
                      </a:rPr>
                      <m:t>1</m:t>
                    </m:r>
                  </m:oMath>
                </a14:m>
                <a:r>
                  <a:rPr lang="en-IN" sz="2400" dirty="0"/>
                  <a:t>, so, </a:t>
                </a:r>
              </a:p>
              <a:p>
                <a:pPr marL="342900" indent="-342900">
                  <a:buFont typeface="Arial" charset="0"/>
                  <a:buChar char="•"/>
                </a:pPr>
                <a14:m>
                  <m:oMath xmlns:m="http://schemas.openxmlformats.org/officeDocument/2006/math">
                    <m:d>
                      <m:dPr>
                        <m:begChr m:val="|"/>
                        <m:endChr m:val="|"/>
                        <m:ctrlPr>
                          <a:rPr lang="en-US" sz="2400" b="1" i="1">
                            <a:latin typeface="Cambria Math" panose="02040503050406030204" pitchFamily="18" charset="0"/>
                          </a:rPr>
                        </m:ctrlPr>
                      </m:dPr>
                      <m:e>
                        <m:d>
                          <m:dPr>
                            <m:begChr m:val="|"/>
                            <m:endChr m:val="|"/>
                            <m:ctrlPr>
                              <a:rPr lang="en-US" sz="2400" b="1" i="1">
                                <a:latin typeface="Cambria Math" panose="02040503050406030204" pitchFamily="18" charset="0"/>
                              </a:rPr>
                            </m:ctrlPr>
                          </m:dPr>
                          <m:e>
                            <m:sSub>
                              <m:sSubPr>
                                <m:ctrlPr>
                                  <a:rPr lang="en-US" sz="2400" b="1" i="1">
                                    <a:latin typeface="Cambria Math" panose="02040503050406030204" pitchFamily="18" charset="0"/>
                                  </a:rPr>
                                </m:ctrlPr>
                              </m:sSubPr>
                              <m:e>
                                <m:r>
                                  <a:rPr lang="en-US" sz="2400" b="1" i="1">
                                    <a:latin typeface="Cambria Math" charset="0"/>
                                  </a:rPr>
                                  <m:t>𝒘</m:t>
                                </m:r>
                              </m:e>
                              <m:sub>
                                <m:r>
                                  <a:rPr lang="en-US" sz="2400" i="1">
                                    <a:latin typeface="Cambria Math" charset="0"/>
                                  </a:rPr>
                                  <m:t>𝑘</m:t>
                                </m:r>
                              </m:sub>
                            </m:sSub>
                          </m:e>
                        </m:d>
                      </m:e>
                    </m:d>
                    <m:r>
                      <a:rPr lang="en-US" sz="2400" b="1" i="1">
                        <a:latin typeface="Cambria Math" charset="0"/>
                      </a:rPr>
                      <m:t>≥</m:t>
                    </m:r>
                    <m:sSubSup>
                      <m:sSubSupPr>
                        <m:ctrlPr>
                          <a:rPr lang="en-US" sz="2400" b="1" i="1">
                            <a:latin typeface="Cambria Math" panose="02040503050406030204" pitchFamily="18" charset="0"/>
                          </a:rPr>
                        </m:ctrlPr>
                      </m:sSubSupPr>
                      <m:e>
                        <m:r>
                          <a:rPr lang="en-US" sz="2400" b="1" i="1">
                            <a:latin typeface="Cambria Math" charset="0"/>
                          </a:rPr>
                          <m:t>𝒘</m:t>
                        </m:r>
                      </m:e>
                      <m:sub>
                        <m:r>
                          <a:rPr lang="en-US" sz="2400" i="1">
                            <a:latin typeface="Cambria Math" charset="0"/>
                          </a:rPr>
                          <m:t>𝑘</m:t>
                        </m:r>
                      </m:sub>
                      <m:sup>
                        <m:r>
                          <a:rPr lang="en-US" sz="2400" i="1">
                            <a:latin typeface="Cambria Math" charset="0"/>
                          </a:rPr>
                          <m:t>𝑇</m:t>
                        </m:r>
                      </m:sup>
                    </m:sSubSup>
                    <m:sSup>
                      <m:sSupPr>
                        <m:ctrlPr>
                          <a:rPr lang="en-US" sz="2400" b="1" i="1">
                            <a:latin typeface="Cambria Math" panose="02040503050406030204" pitchFamily="18" charset="0"/>
                          </a:rPr>
                        </m:ctrlPr>
                      </m:sSupPr>
                      <m:e>
                        <m:r>
                          <a:rPr lang="en-US" sz="2400" b="1" i="1">
                            <a:latin typeface="Cambria Math" charset="0"/>
                          </a:rPr>
                          <m:t>𝒘</m:t>
                        </m:r>
                      </m:e>
                      <m:sup>
                        <m:r>
                          <a:rPr lang="en-US" sz="2400" i="1">
                            <a:latin typeface="Cambria Math" charset="0"/>
                          </a:rPr>
                          <m:t>∗</m:t>
                        </m:r>
                      </m:sup>
                    </m:sSup>
                    <m:r>
                      <a:rPr lang="en-US" sz="2400" b="1" i="1" smtClean="0">
                        <a:latin typeface="Cambria Math" charset="0"/>
                      </a:rPr>
                      <m:t>≥</m:t>
                    </m:r>
                    <m:r>
                      <a:rPr lang="en-US" sz="2400" b="0" i="1" smtClean="0">
                        <a:latin typeface="Cambria Math" charset="0"/>
                      </a:rPr>
                      <m:t>𝑘</m:t>
                    </m:r>
                    <m:r>
                      <a:rPr lang="en-US" sz="2400" b="0" i="1" smtClean="0">
                        <a:latin typeface="Cambria Math" charset="0"/>
                      </a:rPr>
                      <m:t>𝛾</m:t>
                    </m:r>
                  </m:oMath>
                </a14:m>
                <a:r>
                  <a:rPr lang="en-IN" sz="2400" dirty="0"/>
                  <a:t> [</a:t>
                </a:r>
                <a:r>
                  <a:rPr lang="en-IN" sz="2400" dirty="0">
                    <a:solidFill>
                      <a:srgbClr val="FF0000"/>
                    </a:solidFill>
                  </a:rPr>
                  <a:t>observation 1</a:t>
                </a:r>
                <a:r>
                  <a:rPr lang="en-IN" sz="2400" dirty="0"/>
                  <a:t>]</a:t>
                </a:r>
              </a:p>
              <a:p>
                <a:pPr marL="342900" indent="-342900">
                  <a:buFont typeface="Arial" charset="0"/>
                  <a:buChar char="•"/>
                </a:pPr>
                <a:r>
                  <a:rPr lang="en-IN" sz="2400" dirty="0"/>
                  <a:t>This implies </a:t>
                </a:r>
                <a14:m>
                  <m:oMath xmlns:m="http://schemas.openxmlformats.org/officeDocument/2006/math">
                    <m:sSup>
                      <m:sSupPr>
                        <m:ctrlPr>
                          <a:rPr lang="en-US" sz="2400" b="0" i="1" smtClean="0">
                            <a:latin typeface="Cambria Math" panose="02040503050406030204" pitchFamily="18" charset="0"/>
                          </a:rPr>
                        </m:ctrlPr>
                      </m:sSupPr>
                      <m:e>
                        <m:r>
                          <a:rPr lang="en-US" sz="2400" i="1">
                            <a:latin typeface="Cambria Math" charset="0"/>
                          </a:rPr>
                          <m:t>𝑘</m:t>
                        </m:r>
                      </m:e>
                      <m:sup>
                        <m:r>
                          <a:rPr lang="en-US" sz="2400" b="0" i="1" smtClean="0">
                            <a:latin typeface="Cambria Math" charset="0"/>
                          </a:rPr>
                          <m:t>2</m:t>
                        </m:r>
                      </m:sup>
                    </m:sSup>
                    <m:sSup>
                      <m:sSupPr>
                        <m:ctrlPr>
                          <a:rPr lang="en-US" sz="2400" b="0" i="1" smtClean="0">
                            <a:latin typeface="Cambria Math" panose="02040503050406030204" pitchFamily="18" charset="0"/>
                          </a:rPr>
                        </m:ctrlPr>
                      </m:sSupPr>
                      <m:e>
                        <m:r>
                          <a:rPr lang="en-US" sz="2400" i="1">
                            <a:latin typeface="Cambria Math" charset="0"/>
                          </a:rPr>
                          <m:t>𝛾</m:t>
                        </m:r>
                      </m:e>
                      <m:sup>
                        <m:r>
                          <a:rPr lang="en-US" sz="2400" b="0" i="1" smtClean="0">
                            <a:latin typeface="Cambria Math" charset="0"/>
                          </a:rPr>
                          <m:t>2</m:t>
                        </m:r>
                      </m:sup>
                    </m:sSup>
                    <m:r>
                      <a:rPr lang="en-US" sz="2400" b="0" i="1" smtClean="0">
                        <a:latin typeface="Cambria Math" charset="0"/>
                      </a:rPr>
                      <m:t>≤</m:t>
                    </m:r>
                    <m:sSup>
                      <m:sSupPr>
                        <m:ctrlPr>
                          <a:rPr lang="en-US" sz="2400" b="1" i="1" smtClean="0">
                            <a:latin typeface="Cambria Math" panose="02040503050406030204" pitchFamily="18" charset="0"/>
                          </a:rPr>
                        </m:ctrlPr>
                      </m:sSupPr>
                      <m:e>
                        <m:d>
                          <m:dPr>
                            <m:begChr m:val="|"/>
                            <m:endChr m:val="|"/>
                            <m:ctrlPr>
                              <a:rPr lang="en-US" sz="2400" b="1" i="1">
                                <a:latin typeface="Cambria Math" panose="02040503050406030204" pitchFamily="18" charset="0"/>
                              </a:rPr>
                            </m:ctrlPr>
                          </m:dPr>
                          <m:e>
                            <m:d>
                              <m:dPr>
                                <m:begChr m:val="|"/>
                                <m:endChr m:val="|"/>
                                <m:ctrlPr>
                                  <a:rPr lang="en-US" sz="2400" b="1" i="1">
                                    <a:latin typeface="Cambria Math" panose="02040503050406030204" pitchFamily="18" charset="0"/>
                                  </a:rPr>
                                </m:ctrlPr>
                              </m:dPr>
                              <m:e>
                                <m:sSub>
                                  <m:sSubPr>
                                    <m:ctrlPr>
                                      <a:rPr lang="en-US" sz="2400" b="1" i="1">
                                        <a:latin typeface="Cambria Math" panose="02040503050406030204" pitchFamily="18" charset="0"/>
                                      </a:rPr>
                                    </m:ctrlPr>
                                  </m:sSubPr>
                                  <m:e>
                                    <m:r>
                                      <a:rPr lang="en-US" sz="2400" b="1" i="1">
                                        <a:latin typeface="Cambria Math" charset="0"/>
                                      </a:rPr>
                                      <m:t>𝒘</m:t>
                                    </m:r>
                                  </m:e>
                                  <m:sub>
                                    <m:r>
                                      <a:rPr lang="en-US" sz="2400" i="1">
                                        <a:latin typeface="Cambria Math" charset="0"/>
                                      </a:rPr>
                                      <m:t>𝑘</m:t>
                                    </m:r>
                                  </m:sub>
                                </m:sSub>
                              </m:e>
                            </m:d>
                          </m:e>
                        </m:d>
                      </m:e>
                      <m:sup>
                        <m:r>
                          <a:rPr lang="en-US" sz="2400" b="0" i="1" smtClean="0">
                            <a:latin typeface="Cambria Math" charset="0"/>
                          </a:rPr>
                          <m:t>2</m:t>
                        </m:r>
                      </m:sup>
                    </m:sSup>
                    <m:r>
                      <a:rPr lang="en-US" sz="2400" b="1" i="1" smtClean="0">
                        <a:latin typeface="Cambria Math" charset="0"/>
                      </a:rPr>
                      <m:t>≤</m:t>
                    </m:r>
                    <m:r>
                      <a:rPr lang="en-US" sz="2400" b="0" i="1" smtClean="0">
                        <a:latin typeface="Cambria Math" charset="0"/>
                      </a:rPr>
                      <m:t>𝑘</m:t>
                    </m:r>
                  </m:oMath>
                </a14:m>
                <a:r>
                  <a:rPr lang="en-IN" sz="2400" dirty="0"/>
                  <a:t> [</a:t>
                </a:r>
                <a:r>
                  <a:rPr lang="en-IN" sz="2400" dirty="0">
                    <a:solidFill>
                      <a:srgbClr val="FF0000"/>
                    </a:solidFill>
                  </a:rPr>
                  <a:t>observation 2</a:t>
                </a:r>
                <a:r>
                  <a:rPr lang="en-IN" sz="2400" dirty="0"/>
                  <a:t>]</a:t>
                </a:r>
              </a:p>
              <a:p>
                <a:pPr marL="342900" indent="-342900">
                  <a:buFont typeface="Arial" charset="0"/>
                  <a:buChar char="•"/>
                </a:pPr>
                <a:r>
                  <a:rPr lang="en-IN" sz="2400" dirty="0"/>
                  <a:t>So, </a:t>
                </a:r>
                <a14:m>
                  <m:oMath xmlns:m="http://schemas.openxmlformats.org/officeDocument/2006/math">
                    <m:r>
                      <a:rPr lang="en-US" sz="2400" b="0" i="1" smtClean="0">
                        <a:latin typeface="Cambria Math" charset="0"/>
                      </a:rPr>
                      <m:t>𝑘</m:t>
                    </m:r>
                    <m:r>
                      <a:rPr lang="en-US" sz="2400" b="0" i="1" smtClean="0">
                        <a:latin typeface="Cambria Math" charset="0"/>
                      </a:rPr>
                      <m:t>≤</m:t>
                    </m:r>
                    <m:f>
                      <m:fPr>
                        <m:ctrlPr>
                          <a:rPr lang="mr-IN" sz="2400" b="0" i="1" smtClean="0">
                            <a:latin typeface="Cambria Math" panose="02040503050406030204" pitchFamily="18" charset="0"/>
                          </a:rPr>
                        </m:ctrlPr>
                      </m:fPr>
                      <m:num>
                        <m:r>
                          <a:rPr lang="en-US" sz="2400" b="0" i="1" smtClean="0">
                            <a:latin typeface="Cambria Math" charset="0"/>
                          </a:rPr>
                          <m:t>1</m:t>
                        </m:r>
                      </m:num>
                      <m:den>
                        <m:sSup>
                          <m:sSupPr>
                            <m:ctrlPr>
                              <a:rPr lang="en-US" sz="2400" i="1">
                                <a:latin typeface="Cambria Math" panose="02040503050406030204" pitchFamily="18" charset="0"/>
                              </a:rPr>
                            </m:ctrlPr>
                          </m:sSupPr>
                          <m:e>
                            <m:r>
                              <a:rPr lang="en-US" sz="2400" i="1">
                                <a:latin typeface="Cambria Math" charset="0"/>
                              </a:rPr>
                              <m:t>𝛾</m:t>
                            </m:r>
                          </m:e>
                          <m:sup>
                            <m:r>
                              <a:rPr lang="en-US" sz="2400" i="1">
                                <a:latin typeface="Cambria Math" charset="0"/>
                              </a:rPr>
                              <m:t>2</m:t>
                            </m:r>
                          </m:sup>
                        </m:sSup>
                      </m:den>
                    </m:f>
                  </m:oMath>
                </a14:m>
                <a:endParaRPr lang="en-IN" sz="2400" dirty="0"/>
              </a:p>
            </p:txBody>
          </p:sp>
        </mc:Choice>
        <mc:Fallback xmlns="">
          <p:sp>
            <p:nvSpPr>
              <p:cNvPr id="33" name="TextBox 32"/>
              <p:cNvSpPr txBox="1">
                <a:spLocks noRot="1" noChangeAspect="1" noMove="1" noResize="1" noEditPoints="1" noAdjustHandles="1" noChangeArrowheads="1" noChangeShapeType="1" noTextEdit="1"/>
              </p:cNvSpPr>
              <p:nvPr/>
            </p:nvSpPr>
            <p:spPr>
              <a:xfrm>
                <a:off x="180868" y="1371009"/>
                <a:ext cx="12011132" cy="4307333"/>
              </a:xfrm>
              <a:prstGeom prst="rect">
                <a:avLst/>
              </a:prstGeom>
              <a:blipFill rotWithShape="0">
                <a:blip r:embed="rId3"/>
                <a:stretch>
                  <a:fillRect l="-711" t="-1133" r="-761"/>
                </a:stretch>
              </a:blipFill>
            </p:spPr>
            <p:txBody>
              <a:bodyPr/>
              <a:lstStyle/>
              <a:p>
                <a:r>
                  <a:rPr lang="en-US">
                    <a:noFill/>
                  </a:rPr>
                  <a:t> </a:t>
                </a:r>
              </a:p>
            </p:txBody>
          </p:sp>
        </mc:Fallback>
      </mc:AlternateContent>
      <p:sp>
        <p:nvSpPr>
          <p:cNvPr id="2" name="Footer Placeholder 1"/>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6" name="Slide Number Placeholder 5"/>
          <p:cNvSpPr>
            <a:spLocks noGrp="1"/>
          </p:cNvSpPr>
          <p:nvPr>
            <p:ph type="sldNum" sz="quarter" idx="4"/>
          </p:nvPr>
        </p:nvSpPr>
        <p:spPr>
          <a:xfrm>
            <a:off x="10569844" y="6356350"/>
            <a:ext cx="783956" cy="365125"/>
          </a:xfrm>
        </p:spPr>
        <p:txBody>
          <a:bodyPr/>
          <a:lstStyle/>
          <a:p>
            <a:fld id="{683B8651-0143-4140-839E-3D36292080E8}" type="slidenum">
              <a:rPr lang="en-US" smtClean="0"/>
              <a:t>15</a:t>
            </a:fld>
            <a:endParaRPr lang="en-US"/>
          </a:p>
        </p:txBody>
      </p:sp>
    </p:spTree>
    <p:extLst>
      <p:ext uri="{BB962C8B-B14F-4D97-AF65-F5344CB8AC3E}">
        <p14:creationId xmlns:p14="http://schemas.microsoft.com/office/powerpoint/2010/main" val="855074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2882" y="925429"/>
            <a:ext cx="5395159" cy="5395159"/>
          </a:xfrm>
          <a:prstGeom prst="rect">
            <a:avLst/>
          </a:prstGeom>
        </p:spPr>
      </p:pic>
      <p:sp>
        <p:nvSpPr>
          <p:cNvPr id="2" name="Footer Placeholder 1"/>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5" name="Slide Number Placeholder 4"/>
          <p:cNvSpPr>
            <a:spLocks noGrp="1"/>
          </p:cNvSpPr>
          <p:nvPr>
            <p:ph type="sldNum" sz="quarter" idx="4"/>
          </p:nvPr>
        </p:nvSpPr>
        <p:spPr>
          <a:xfrm>
            <a:off x="10569844" y="6356350"/>
            <a:ext cx="783956" cy="365125"/>
          </a:xfrm>
        </p:spPr>
        <p:txBody>
          <a:bodyPr/>
          <a:lstStyle/>
          <a:p>
            <a:fld id="{683B8651-0143-4140-839E-3D36292080E8}" type="slidenum">
              <a:rPr lang="en-US" smtClean="0"/>
              <a:t>16</a:t>
            </a:fld>
            <a:endParaRPr lang="en-US"/>
          </a:p>
        </p:txBody>
      </p:sp>
    </p:spTree>
    <p:extLst>
      <p:ext uri="{BB962C8B-B14F-4D97-AF65-F5344CB8AC3E}">
        <p14:creationId xmlns:p14="http://schemas.microsoft.com/office/powerpoint/2010/main" val="33773142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21" name="Picture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8925" y="4153921"/>
            <a:ext cx="3581862" cy="2409616"/>
          </a:xfrm>
          <a:prstGeom prst="rect">
            <a:avLst/>
          </a:prstGeom>
        </p:spPr>
      </p:pic>
      <p:sp>
        <p:nvSpPr>
          <p:cNvPr id="3" name="Footer Placeholder 2"/>
          <p:cNvSpPr>
            <a:spLocks noGrp="1"/>
          </p:cNvSpPr>
          <p:nvPr>
            <p:ph type="ftr" sz="quarter" idx="3"/>
          </p:nvPr>
        </p:nvSpPr>
        <p:spPr>
          <a:xfrm>
            <a:off x="2012197" y="6377866"/>
            <a:ext cx="8167606" cy="365125"/>
          </a:xfrm>
        </p:spPr>
        <p:txBody>
          <a:bodyPr/>
          <a:lstStyle/>
          <a:p>
            <a:r>
              <a:rPr lang="en-US"/>
              <a:t>CS21206 / FAIML | Perceptron and MLP (c) Abir Das, Ayan Chaudhury</a:t>
            </a:r>
            <a:endParaRPr lang="en-US" dirty="0"/>
          </a:p>
        </p:txBody>
      </p:sp>
      <p:sp>
        <p:nvSpPr>
          <p:cNvPr id="5" name="Slide Number Placeholder 4"/>
          <p:cNvSpPr>
            <a:spLocks noGrp="1"/>
          </p:cNvSpPr>
          <p:nvPr>
            <p:ph type="sldNum" sz="quarter" idx="4"/>
          </p:nvPr>
        </p:nvSpPr>
        <p:spPr>
          <a:xfrm>
            <a:off x="10569844" y="6356350"/>
            <a:ext cx="783956" cy="365125"/>
          </a:xfrm>
        </p:spPr>
        <p:txBody>
          <a:bodyPr/>
          <a:lstStyle/>
          <a:p>
            <a:fld id="{683B8651-0143-4140-839E-3D36292080E8}" type="slidenum">
              <a:rPr lang="en-US" smtClean="0"/>
              <a:t>17</a:t>
            </a:fld>
            <a:endParaRPr lang="en-US"/>
          </a:p>
        </p:txBody>
      </p:sp>
      <p:sp>
        <p:nvSpPr>
          <p:cNvPr id="15" name="Google Shape;100;p14"/>
          <p:cNvSpPr txBox="1"/>
          <p:nvPr/>
        </p:nvSpPr>
        <p:spPr>
          <a:xfrm>
            <a:off x="2501680" y="832857"/>
            <a:ext cx="7208400" cy="84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solidFill>
                  <a:srgbClr val="434343"/>
                </a:solidFill>
              </a:rPr>
              <a:t>Popular Choices of Activation Functions</a:t>
            </a:r>
            <a:endParaRPr sz="2800" dirty="0">
              <a:solidFill>
                <a:srgbClr val="434343"/>
              </a:solidFill>
            </a:endParaRPr>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58" y="1253307"/>
            <a:ext cx="2501680" cy="2501680"/>
          </a:xfrm>
          <a:prstGeom prst="rect">
            <a:avLst/>
          </a:prstGeom>
        </p:spPr>
      </p:pic>
      <mc:AlternateContent xmlns:mc="http://schemas.openxmlformats.org/markup-compatibility/2006" xmlns:a14="http://schemas.microsoft.com/office/drawing/2010/main">
        <mc:Choice Requires="a14">
          <p:sp>
            <p:nvSpPr>
              <p:cNvPr id="16" name="TextBox 15"/>
              <p:cNvSpPr txBox="1"/>
              <p:nvPr/>
            </p:nvSpPr>
            <p:spPr>
              <a:xfrm>
                <a:off x="2501680" y="1468058"/>
                <a:ext cx="2575641" cy="1200329"/>
              </a:xfrm>
              <a:prstGeom prst="rect">
                <a:avLst/>
              </a:prstGeom>
              <a:noFill/>
            </p:spPr>
            <p:txBody>
              <a:bodyPr wrap="none" rtlCol="0">
                <a:spAutoFit/>
              </a:bodyPr>
              <a:lstStyle/>
              <a:p>
                <a:r>
                  <a:rPr lang="en-US" dirty="0"/>
                  <a:t>Linear activation function</a:t>
                </a:r>
              </a:p>
              <a:p>
                <a:pPr marL="285750" indent="-285750">
                  <a:buFont typeface="Arial" panose="020B0604020202020204" pitchFamily="34" charset="0"/>
                  <a:buChar char="•"/>
                </a:pPr>
                <a14:m>
                  <m:oMath xmlns:m="http://schemas.openxmlformats.org/officeDocument/2006/math">
                    <m:r>
                      <a:rPr lang="en-US" sz="1800" b="0" i="1" smtClean="0">
                        <a:latin typeface="Cambria Math" panose="02040503050406030204" pitchFamily="18" charset="0"/>
                      </a:rPr>
                      <m:t>𝑔</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𝑎</m:t>
                        </m:r>
                      </m:e>
                    </m:d>
                    <m:r>
                      <a:rPr lang="en-US" sz="1800" b="0" i="1" smtClean="0">
                        <a:latin typeface="Cambria Math" panose="02040503050406030204" pitchFamily="18" charset="0"/>
                      </a:rPr>
                      <m:t>=</m:t>
                    </m:r>
                    <m:r>
                      <a:rPr lang="en-US" sz="1800" b="0" i="1" smtClean="0">
                        <a:latin typeface="Cambria Math" panose="02040503050406030204" pitchFamily="18" charset="0"/>
                      </a:rPr>
                      <m:t>𝑎</m:t>
                    </m:r>
                  </m:oMath>
                </a14:m>
                <a:endParaRPr lang="en-IN" sz="1800" dirty="0"/>
              </a:p>
              <a:p>
                <a:pPr marL="285750" indent="-285750">
                  <a:buFont typeface="Arial" panose="020B0604020202020204" pitchFamily="34" charset="0"/>
                  <a:buChar char="•"/>
                </a:pPr>
                <a:r>
                  <a:rPr lang="en-US" dirty="0"/>
                  <a:t>Unbounded</a:t>
                </a:r>
              </a:p>
              <a:p>
                <a:pPr marL="285750"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𝑔</m:t>
                    </m:r>
                    <m:r>
                      <a:rPr lang="en-US" b="0" i="1" smtClean="0">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𝑎</m:t>
                        </m:r>
                      </m:e>
                    </m:d>
                    <m:r>
                      <a:rPr lang="en-US" i="1">
                        <a:latin typeface="Cambria Math" panose="02040503050406030204" pitchFamily="18" charset="0"/>
                      </a:rPr>
                      <m:t>=</m:t>
                    </m:r>
                    <m:r>
                      <a:rPr lang="en-US" b="0" i="1" smtClean="0">
                        <a:latin typeface="Cambria Math" panose="02040503050406030204" pitchFamily="18" charset="0"/>
                      </a:rPr>
                      <m:t>1</m:t>
                    </m:r>
                  </m:oMath>
                </a14:m>
                <a:endParaRPr lang="en-IN" dirty="0"/>
              </a:p>
            </p:txBody>
          </p:sp>
        </mc:Choice>
        <mc:Fallback xmlns="">
          <p:sp>
            <p:nvSpPr>
              <p:cNvPr id="16" name="TextBox 15"/>
              <p:cNvSpPr txBox="1">
                <a:spLocks noRot="1" noChangeAspect="1" noMove="1" noResize="1" noEditPoints="1" noAdjustHandles="1" noChangeArrowheads="1" noChangeShapeType="1" noTextEdit="1"/>
              </p:cNvSpPr>
              <p:nvPr/>
            </p:nvSpPr>
            <p:spPr>
              <a:xfrm>
                <a:off x="2501680" y="1468058"/>
                <a:ext cx="2575641" cy="1200329"/>
              </a:xfrm>
              <a:prstGeom prst="rect">
                <a:avLst/>
              </a:prstGeom>
              <a:blipFill rotWithShape="0">
                <a:blip r:embed="rId5"/>
                <a:stretch>
                  <a:fillRect l="-1891" t="-3046" r="-1655" b="-5076"/>
                </a:stretch>
              </a:blipFill>
            </p:spPr>
            <p:txBody>
              <a:bodyPr/>
              <a:lstStyle/>
              <a:p>
                <a:r>
                  <a:rPr lang="en-IN">
                    <a:noFill/>
                  </a:rPr>
                  <a:t> </a:t>
                </a:r>
              </a:p>
            </p:txBody>
          </p:sp>
        </mc:Fallback>
      </mc:AlternateContent>
      <p:pic>
        <p:nvPicPr>
          <p:cNvPr id="17" name="Picture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98925" y="1253307"/>
            <a:ext cx="3712290" cy="2497359"/>
          </a:xfrm>
          <a:prstGeom prst="rect">
            <a:avLst/>
          </a:prstGeom>
        </p:spPr>
      </p:pic>
      <mc:AlternateContent xmlns:mc="http://schemas.openxmlformats.org/markup-compatibility/2006" xmlns:a14="http://schemas.microsoft.com/office/drawing/2010/main">
        <mc:Choice Requires="a14">
          <p:sp>
            <p:nvSpPr>
              <p:cNvPr id="18" name="TextBox 17"/>
              <p:cNvSpPr txBox="1"/>
              <p:nvPr/>
            </p:nvSpPr>
            <p:spPr>
              <a:xfrm>
                <a:off x="9280787" y="1468058"/>
                <a:ext cx="2896370" cy="1628651"/>
              </a:xfrm>
              <a:prstGeom prst="rect">
                <a:avLst/>
              </a:prstGeom>
              <a:noFill/>
            </p:spPr>
            <p:txBody>
              <a:bodyPr wrap="none" rtlCol="0">
                <a:spAutoFit/>
              </a:bodyPr>
              <a:lstStyle/>
              <a:p>
                <a:r>
                  <a:rPr lang="en-US" dirty="0"/>
                  <a:t>Sigmoid activation function</a:t>
                </a:r>
              </a:p>
              <a:p>
                <a:pPr marL="285750" indent="-285750">
                  <a:buFont typeface="Arial" panose="020B0604020202020204" pitchFamily="34" charset="0"/>
                  <a:buChar char="•"/>
                </a:pPr>
                <a14:m>
                  <m:oMath xmlns:m="http://schemas.openxmlformats.org/officeDocument/2006/math">
                    <m:r>
                      <a:rPr lang="en-US" sz="1800" b="0" i="1" smtClean="0">
                        <a:latin typeface="Cambria Math" panose="02040503050406030204" pitchFamily="18" charset="0"/>
                      </a:rPr>
                      <m:t>𝑔</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𝑎</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𝜎</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rPr>
                          <m:t>𝑎</m:t>
                        </m:r>
                      </m:e>
                    </m:d>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1+</m:t>
                        </m:r>
                        <m:r>
                          <m:rPr>
                            <m:sty m:val="p"/>
                          </m:rPr>
                          <a:rPr lang="en-US" sz="1800" b="0" i="0" smtClean="0">
                            <a:latin typeface="Cambria Math" panose="02040503050406030204" pitchFamily="18" charset="0"/>
                          </a:rPr>
                          <m:t>exp</m:t>
                        </m:r>
                        <m:r>
                          <a:rPr lang="en-US" sz="1800" b="0" i="1" smtClean="0">
                            <a:latin typeface="Cambria Math" panose="02040503050406030204" pitchFamily="18" charset="0"/>
                          </a:rPr>
                          <m:t>⁡(−</m:t>
                        </m:r>
                        <m:r>
                          <a:rPr lang="en-US" sz="1800" b="0" i="1" smtClean="0">
                            <a:latin typeface="Cambria Math" panose="02040503050406030204" pitchFamily="18" charset="0"/>
                          </a:rPr>
                          <m:t>𝑎</m:t>
                        </m:r>
                        <m:r>
                          <a:rPr lang="en-US" sz="1800" b="0" i="1" smtClean="0">
                            <a:latin typeface="Cambria Math" panose="02040503050406030204" pitchFamily="18" charset="0"/>
                          </a:rPr>
                          <m:t>)</m:t>
                        </m:r>
                      </m:den>
                    </m:f>
                  </m:oMath>
                </a14:m>
                <a:endParaRPr lang="en-IN" sz="1800" dirty="0"/>
              </a:p>
              <a:p>
                <a:pPr marL="285750" indent="-285750">
                  <a:buFont typeface="Arial" panose="020B0604020202020204" pitchFamily="34" charset="0"/>
                  <a:buChar char="•"/>
                </a:pPr>
                <a:r>
                  <a:rPr lang="en-US" dirty="0"/>
                  <a:t>Bounded (0, 1)</a:t>
                </a:r>
              </a:p>
              <a:p>
                <a:pPr marL="285750" indent="-285750">
                  <a:buFont typeface="Arial" panose="020B0604020202020204" pitchFamily="34" charset="0"/>
                  <a:buChar char="•"/>
                </a:pPr>
                <a:r>
                  <a:rPr lang="en-US" sz="1800" dirty="0"/>
                  <a:t>Always positive</a:t>
                </a:r>
              </a:p>
              <a:p>
                <a:pPr marL="285750"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𝑔</m:t>
                    </m:r>
                    <m:r>
                      <a:rPr lang="en-US" b="0" i="1" smtClean="0">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𝑎</m:t>
                        </m:r>
                      </m:e>
                    </m:d>
                    <m:r>
                      <a:rPr lang="en-US" i="1">
                        <a:latin typeface="Cambria Math" panose="02040503050406030204" pitchFamily="18" charset="0"/>
                      </a:rPr>
                      <m:t>=</m:t>
                    </m:r>
                    <m:r>
                      <a:rPr lang="en-US" b="0" i="1" smtClean="0">
                        <a:latin typeface="Cambria Math" panose="02040503050406030204" pitchFamily="18" charset="0"/>
                      </a:rPr>
                      <m:t>𝑔</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rPr>
                          <m:t>𝑎</m:t>
                        </m:r>
                      </m:e>
                    </m:d>
                    <m:r>
                      <a:rPr lang="en-US" b="0" i="1" smtClean="0">
                        <a:latin typeface="Cambria Math" panose="02040503050406030204" pitchFamily="18" charset="0"/>
                      </a:rPr>
                      <m:t>(1−</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m:t>
                    </m:r>
                  </m:oMath>
                </a14:m>
                <a:endParaRPr lang="en-IN" dirty="0"/>
              </a:p>
            </p:txBody>
          </p:sp>
        </mc:Choice>
        <mc:Fallback xmlns="">
          <p:sp>
            <p:nvSpPr>
              <p:cNvPr id="18" name="TextBox 17"/>
              <p:cNvSpPr txBox="1">
                <a:spLocks noRot="1" noChangeAspect="1" noMove="1" noResize="1" noEditPoints="1" noAdjustHandles="1" noChangeArrowheads="1" noChangeShapeType="1" noTextEdit="1"/>
              </p:cNvSpPr>
              <p:nvPr/>
            </p:nvSpPr>
            <p:spPr>
              <a:xfrm>
                <a:off x="9280787" y="1468058"/>
                <a:ext cx="2896370" cy="1628651"/>
              </a:xfrm>
              <a:prstGeom prst="rect">
                <a:avLst/>
              </a:prstGeom>
              <a:blipFill rotWithShape="0">
                <a:blip r:embed="rId7"/>
                <a:stretch>
                  <a:fillRect l="-1681" t="-2247" b="-3745"/>
                </a:stretch>
              </a:blipFill>
            </p:spPr>
            <p:txBody>
              <a:bodyPr/>
              <a:lstStyle/>
              <a:p>
                <a:r>
                  <a:rPr lang="en-IN">
                    <a:noFill/>
                  </a:rPr>
                  <a:t> </a:t>
                </a:r>
              </a:p>
            </p:txBody>
          </p:sp>
        </mc:Fallback>
      </mc:AlternateContent>
      <p:pic>
        <p:nvPicPr>
          <p:cNvPr id="19" name="Picture 1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758" y="4153921"/>
            <a:ext cx="3216765" cy="2164006"/>
          </a:xfrm>
          <a:prstGeom prst="rect">
            <a:avLst/>
          </a:prstGeom>
        </p:spPr>
      </p:pic>
      <mc:AlternateContent xmlns:mc="http://schemas.openxmlformats.org/markup-compatibility/2006" xmlns:a14="http://schemas.microsoft.com/office/drawing/2010/main">
        <mc:Choice Requires="a14">
          <p:sp>
            <p:nvSpPr>
              <p:cNvPr id="20" name="TextBox 19"/>
              <p:cNvSpPr txBox="1"/>
              <p:nvPr/>
            </p:nvSpPr>
            <p:spPr>
              <a:xfrm>
                <a:off x="3118439" y="4175437"/>
                <a:ext cx="2674322" cy="2269467"/>
              </a:xfrm>
              <a:prstGeom prst="rect">
                <a:avLst/>
              </a:prstGeom>
              <a:noFill/>
            </p:spPr>
            <p:txBody>
              <a:bodyPr wrap="none" rtlCol="0">
                <a:spAutoFit/>
              </a:bodyPr>
              <a:lstStyle/>
              <a:p>
                <a:r>
                  <a:rPr lang="en-US" dirty="0"/>
                  <a:t>tanh activation function</a:t>
                </a:r>
              </a:p>
              <a:p>
                <a:pPr marL="285750" indent="-285750">
                  <a:buFont typeface="Arial" panose="020B0604020202020204" pitchFamily="34" charset="0"/>
                  <a:buChar char="•"/>
                </a:pPr>
                <a14:m>
                  <m:oMath xmlns:m="http://schemas.openxmlformats.org/officeDocument/2006/math">
                    <m:r>
                      <a:rPr lang="en-US" sz="1800" b="0" i="1" smtClean="0">
                        <a:latin typeface="Cambria Math" panose="02040503050406030204" pitchFamily="18" charset="0"/>
                      </a:rPr>
                      <m:t>𝑔</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𝑎</m:t>
                        </m:r>
                      </m:e>
                    </m:d>
                    <m:r>
                      <a:rPr lang="en-US" sz="1800" b="0" i="1" smtClean="0">
                        <a:latin typeface="Cambria Math" panose="02040503050406030204" pitchFamily="18" charset="0"/>
                      </a:rPr>
                      <m:t>=</m:t>
                    </m:r>
                    <m:r>
                      <a:rPr lang="en-US" sz="1800" b="0" i="1" smtClean="0">
                        <a:latin typeface="Cambria Math" panose="02040503050406030204" pitchFamily="18" charset="0"/>
                      </a:rPr>
                      <m:t>𝑡𝑎𝑛h</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rPr>
                          <m:t>𝑎</m:t>
                        </m:r>
                      </m:e>
                    </m:d>
                  </m:oMath>
                </a14:m>
                <a:br>
                  <a:rPr lang="en-US" sz="1800" b="0" i="1" dirty="0">
                    <a:latin typeface="Cambria Math" panose="02040503050406030204" pitchFamily="18" charset="0"/>
                  </a:rPr>
                </a:br>
                <a:r>
                  <a:rPr lang="en-US" sz="1800" b="0" i="1" dirty="0">
                    <a:latin typeface="Cambria Math" panose="02040503050406030204" pitchFamily="18" charset="0"/>
                  </a:rPr>
                  <a:t>	</a:t>
                </a:r>
                <a14:m>
                  <m:oMath xmlns:m="http://schemas.openxmlformats.org/officeDocument/2006/math">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exp</m:t>
                            </m:r>
                          </m:fName>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𝑎</m:t>
                                </m:r>
                              </m:e>
                            </m:d>
                          </m:e>
                        </m:func>
                        <m:r>
                          <a:rPr lang="en-US" sz="1800" b="0" i="1" smtClean="0">
                            <a:latin typeface="Cambria Math" panose="02040503050406030204" pitchFamily="18" charset="0"/>
                          </a:rPr>
                          <m:t>−</m:t>
                        </m:r>
                        <m:r>
                          <m:rPr>
                            <m:sty m:val="p"/>
                          </m:rPr>
                          <a:rPr lang="en-US" sz="1800" b="0" i="0" smtClean="0">
                            <a:latin typeface="Cambria Math" panose="02040503050406030204" pitchFamily="18" charset="0"/>
                          </a:rPr>
                          <m:t>exp</m:t>
                        </m:r>
                        <m:r>
                          <a:rPr lang="en-US" sz="1800" b="0" i="1" smtClean="0">
                            <a:latin typeface="Cambria Math" panose="02040503050406030204" pitchFamily="18" charset="0"/>
                          </a:rPr>
                          <m:t>⁡(−</m:t>
                        </m:r>
                        <m:r>
                          <a:rPr lang="en-US" sz="1800" b="0" i="1" smtClean="0">
                            <a:latin typeface="Cambria Math" panose="02040503050406030204" pitchFamily="18" charset="0"/>
                          </a:rPr>
                          <m:t>𝑎</m:t>
                        </m:r>
                        <m:r>
                          <a:rPr lang="en-US" sz="1800" b="0" i="1" smtClean="0">
                            <a:latin typeface="Cambria Math" panose="02040503050406030204" pitchFamily="18" charset="0"/>
                          </a:rPr>
                          <m:t>)</m:t>
                        </m:r>
                      </m:num>
                      <m:den>
                        <m:r>
                          <m:rPr>
                            <m:sty m:val="p"/>
                          </m:rPr>
                          <a:rPr lang="en-US" sz="1800" b="0" i="0" smtClean="0">
                            <a:latin typeface="Cambria Math" panose="02040503050406030204" pitchFamily="18" charset="0"/>
                          </a:rPr>
                          <m:t>exp</m:t>
                        </m:r>
                        <m:r>
                          <a:rPr lang="en-US" sz="1800" b="0" i="1" smtClean="0">
                            <a:latin typeface="Cambria Math" panose="02040503050406030204" pitchFamily="18" charset="0"/>
                          </a:rPr>
                          <m:t>⁡(</m:t>
                        </m:r>
                        <m:r>
                          <a:rPr lang="en-US" sz="1800" b="0" i="1" smtClean="0">
                            <a:latin typeface="Cambria Math" panose="02040503050406030204" pitchFamily="18" charset="0"/>
                          </a:rPr>
                          <m:t>𝑎</m:t>
                        </m:r>
                        <m:r>
                          <a:rPr lang="en-US" sz="1800" b="0" i="1" smtClean="0">
                            <a:latin typeface="Cambria Math" panose="02040503050406030204" pitchFamily="18" charset="0"/>
                          </a:rPr>
                          <m:t>)+</m:t>
                        </m:r>
                        <m:r>
                          <m:rPr>
                            <m:sty m:val="p"/>
                          </m:rPr>
                          <a:rPr lang="en-US" sz="1800" b="0" i="0" smtClean="0">
                            <a:latin typeface="Cambria Math" panose="02040503050406030204" pitchFamily="18" charset="0"/>
                          </a:rPr>
                          <m:t>exp</m:t>
                        </m:r>
                        <m:r>
                          <a:rPr lang="en-US" sz="1800" b="0" i="1" smtClean="0">
                            <a:latin typeface="Cambria Math" panose="02040503050406030204" pitchFamily="18" charset="0"/>
                          </a:rPr>
                          <m:t>⁡(−</m:t>
                        </m:r>
                        <m:r>
                          <a:rPr lang="en-US" sz="1800" b="0" i="1" smtClean="0">
                            <a:latin typeface="Cambria Math" panose="02040503050406030204" pitchFamily="18" charset="0"/>
                          </a:rPr>
                          <m:t>𝑎</m:t>
                        </m:r>
                        <m:r>
                          <a:rPr lang="en-US" sz="1800" b="0" i="1" smtClean="0">
                            <a:latin typeface="Cambria Math" panose="02040503050406030204" pitchFamily="18" charset="0"/>
                          </a:rPr>
                          <m:t>)</m:t>
                        </m:r>
                      </m:den>
                    </m:f>
                  </m:oMath>
                </a14:m>
                <a:endParaRPr lang="en-IN" sz="1800" dirty="0"/>
              </a:p>
              <a:p>
                <a:pPr marL="285750" indent="-285750">
                  <a:buFont typeface="Arial" panose="020B0604020202020204" pitchFamily="34" charset="0"/>
                  <a:buChar char="•"/>
                </a:pPr>
                <a:r>
                  <a:rPr lang="en-US" dirty="0"/>
                  <a:t>Bounded (-1, 1)</a:t>
                </a:r>
              </a:p>
              <a:p>
                <a:pPr marL="285750" indent="-285750">
                  <a:buFont typeface="Arial" panose="020B0604020202020204" pitchFamily="34" charset="0"/>
                  <a:buChar char="•"/>
                </a:pPr>
                <a:r>
                  <a:rPr lang="en-US" sz="1800" dirty="0"/>
                  <a:t>Can be positive or</a:t>
                </a:r>
                <a:br>
                  <a:rPr lang="en-US" sz="1800" dirty="0"/>
                </a:br>
                <a:r>
                  <a:rPr lang="en-US" sz="1800" dirty="0"/>
                  <a:t>negative</a:t>
                </a:r>
              </a:p>
              <a:p>
                <a:pPr marL="285750"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𝑔</m:t>
                    </m:r>
                    <m:r>
                      <a:rPr lang="en-US" b="0" i="1" smtClean="0">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𝑎</m:t>
                        </m:r>
                      </m:e>
                    </m:d>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𝑔</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endParaRPr lang="en-IN" dirty="0"/>
              </a:p>
            </p:txBody>
          </p:sp>
        </mc:Choice>
        <mc:Fallback xmlns="">
          <p:sp>
            <p:nvSpPr>
              <p:cNvPr id="20" name="TextBox 19"/>
              <p:cNvSpPr txBox="1">
                <a:spLocks noRot="1" noChangeAspect="1" noMove="1" noResize="1" noEditPoints="1" noAdjustHandles="1" noChangeArrowheads="1" noChangeShapeType="1" noTextEdit="1"/>
              </p:cNvSpPr>
              <p:nvPr/>
            </p:nvSpPr>
            <p:spPr>
              <a:xfrm>
                <a:off x="3118439" y="4175437"/>
                <a:ext cx="2674322" cy="2269467"/>
              </a:xfrm>
              <a:prstGeom prst="rect">
                <a:avLst/>
              </a:prstGeom>
              <a:blipFill rotWithShape="0">
                <a:blip r:embed="rId9"/>
                <a:stretch>
                  <a:fillRect l="-2055" t="-161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9411215" y="4180322"/>
                <a:ext cx="2701381" cy="1886863"/>
              </a:xfrm>
              <a:prstGeom prst="rect">
                <a:avLst/>
              </a:prstGeom>
              <a:noFill/>
            </p:spPr>
            <p:txBody>
              <a:bodyPr wrap="none" rtlCol="0">
                <a:spAutoFit/>
              </a:bodyPr>
              <a:lstStyle/>
              <a:p>
                <a:r>
                  <a:rPr lang="en-US" dirty="0"/>
                  <a:t>ReLU activation function</a:t>
                </a:r>
              </a:p>
              <a:p>
                <a:pPr marL="285750" indent="-285750">
                  <a:buFont typeface="Arial" panose="020B0604020202020204" pitchFamily="34" charset="0"/>
                  <a:buChar char="•"/>
                </a:pPr>
                <a14:m>
                  <m:oMath xmlns:m="http://schemas.openxmlformats.org/officeDocument/2006/math">
                    <m:r>
                      <a:rPr lang="en-US" sz="1800" b="0" i="1" smtClean="0">
                        <a:latin typeface="Cambria Math" panose="02040503050406030204" pitchFamily="18" charset="0"/>
                      </a:rPr>
                      <m:t>𝑔</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𝑎</m:t>
                        </m:r>
                      </m:e>
                    </m:d>
                    <m:r>
                      <a:rPr lang="en-US" sz="1800" b="0" i="1" smtClean="0">
                        <a:latin typeface="Cambria Math" panose="02040503050406030204" pitchFamily="18" charset="0"/>
                      </a:rPr>
                      <m:t>=</m:t>
                    </m:r>
                    <m:r>
                      <m:rPr>
                        <m:sty m:val="p"/>
                      </m:rPr>
                      <a:rPr lang="en-US" sz="1800" b="0" i="0" smtClean="0">
                        <a:latin typeface="Cambria Math" panose="02040503050406030204" pitchFamily="18" charset="0"/>
                      </a:rPr>
                      <m:t>max</m:t>
                    </m:r>
                    <m:r>
                      <a:rPr lang="en-US" sz="1800" b="0" i="1" smtClean="0">
                        <a:latin typeface="Cambria Math" panose="02040503050406030204" pitchFamily="18" charset="0"/>
                      </a:rPr>
                      <m:t>⁡(0,</m:t>
                    </m:r>
                    <m:r>
                      <a:rPr lang="en-US" sz="1800" b="0" i="1" smtClean="0">
                        <a:latin typeface="Cambria Math" panose="02040503050406030204" pitchFamily="18" charset="0"/>
                      </a:rPr>
                      <m:t>𝑎</m:t>
                    </m:r>
                    <m:r>
                      <a:rPr lang="en-US" sz="1800" b="0" i="1" smtClean="0">
                        <a:latin typeface="Cambria Math" panose="02040503050406030204" pitchFamily="18" charset="0"/>
                      </a:rPr>
                      <m:t>)</m:t>
                    </m:r>
                  </m:oMath>
                </a14:m>
                <a:endParaRPr lang="en-IN" sz="1800" dirty="0"/>
              </a:p>
              <a:p>
                <a:pPr marL="285750" indent="-285750">
                  <a:buFont typeface="Arial" panose="020B0604020202020204" pitchFamily="34" charset="0"/>
                  <a:buChar char="•"/>
                </a:pPr>
                <a:r>
                  <a:rPr lang="en-US" dirty="0"/>
                  <a:t>Bounded below by 0</a:t>
                </a:r>
              </a:p>
              <a:p>
                <a:pPr marL="285750" indent="-285750">
                  <a:buFont typeface="Arial" panose="020B0604020202020204" pitchFamily="34" charset="0"/>
                  <a:buChar char="•"/>
                </a:pPr>
                <a:r>
                  <a:rPr lang="en-US" dirty="0"/>
                  <a:t>But not upper-bounded</a:t>
                </a:r>
              </a:p>
              <a:p>
                <a:pPr marL="285750"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𝑔</m:t>
                    </m:r>
                    <m:r>
                      <a:rPr lang="en-US" b="0" i="1" smtClean="0">
                        <a:latin typeface="Cambria Math" panose="02040503050406030204" pitchFamily="18" charset="0"/>
                      </a:rPr>
                      <m:t>′</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b="0" i="1" smtClean="0">
                                <a:latin typeface="Cambria Math" panose="02040503050406030204" pitchFamily="18" charset="0"/>
                              </a:rPr>
                              <m:t>1</m:t>
                            </m:r>
                            <m:r>
                              <a:rPr lang="en-US" i="1">
                                <a:latin typeface="Cambria Math" panose="02040503050406030204" pitchFamily="18" charset="0"/>
                              </a:rPr>
                              <m:t>,  </m:t>
                            </m:r>
                            <m:r>
                              <a:rPr lang="en-US" i="1">
                                <a:latin typeface="Cambria Math" panose="02040503050406030204" pitchFamily="18" charset="0"/>
                              </a:rPr>
                              <m:t>𝑎</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0</m:t>
                            </m:r>
                          </m:e>
                          <m:e>
                            <m:r>
                              <a:rPr lang="en-US" i="1">
                                <a:latin typeface="Cambria Math" panose="02040503050406030204" pitchFamily="18" charset="0"/>
                              </a:rPr>
                              <m:t>&amp;0,  </m:t>
                            </m:r>
                            <m:r>
                              <a:rPr lang="en-US" i="1">
                                <a:latin typeface="Cambria Math" panose="02040503050406030204" pitchFamily="18" charset="0"/>
                              </a:rPr>
                              <m:t>𝑎</m:t>
                            </m:r>
                            <m:r>
                              <a:rPr lang="en-US" i="1">
                                <a:latin typeface="Cambria Math" panose="02040503050406030204" pitchFamily="18" charset="0"/>
                              </a:rPr>
                              <m:t>&lt;0</m:t>
                            </m:r>
                          </m:e>
                        </m:eqArr>
                      </m:e>
                    </m:d>
                  </m:oMath>
                </a14:m>
                <a:endParaRPr lang="en-IN" sz="1800" dirty="0"/>
              </a:p>
            </p:txBody>
          </p:sp>
        </mc:Choice>
        <mc:Fallback xmlns="">
          <p:sp>
            <p:nvSpPr>
              <p:cNvPr id="22" name="TextBox 21"/>
              <p:cNvSpPr txBox="1">
                <a:spLocks noRot="1" noChangeAspect="1" noMove="1" noResize="1" noEditPoints="1" noAdjustHandles="1" noChangeArrowheads="1" noChangeShapeType="1" noTextEdit="1"/>
              </p:cNvSpPr>
              <p:nvPr/>
            </p:nvSpPr>
            <p:spPr>
              <a:xfrm>
                <a:off x="9411215" y="4180322"/>
                <a:ext cx="2701381" cy="1886863"/>
              </a:xfrm>
              <a:prstGeom prst="rect">
                <a:avLst/>
              </a:prstGeom>
              <a:blipFill>
                <a:blip r:embed="rId10"/>
                <a:stretch>
                  <a:fillRect l="-2347" t="-15436" r="-939" b="-101342"/>
                </a:stretch>
              </a:blipFill>
            </p:spPr>
            <p:txBody>
              <a:bodyPr/>
              <a:lstStyle/>
              <a:p>
                <a:r>
                  <a:rPr lang="en-US">
                    <a:noFill/>
                  </a:rPr>
                  <a:t> </a:t>
                </a:r>
              </a:p>
            </p:txBody>
          </p:sp>
        </mc:Fallback>
      </mc:AlternateContent>
    </p:spTree>
    <p:extLst>
      <p:ext uri="{BB962C8B-B14F-4D97-AF65-F5344CB8AC3E}">
        <p14:creationId xmlns:p14="http://schemas.microsoft.com/office/powerpoint/2010/main" val="2262242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84" name="Rectangle 83"/>
          <p:cNvSpPr/>
          <p:nvPr/>
        </p:nvSpPr>
        <p:spPr>
          <a:xfrm>
            <a:off x="8352846" y="2189155"/>
            <a:ext cx="924650" cy="868562"/>
          </a:xfrm>
          <a:prstGeom prst="rect">
            <a:avLst/>
          </a:prstGeom>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30" name="Rectangle 29"/>
          <p:cNvSpPr/>
          <p:nvPr/>
        </p:nvSpPr>
        <p:spPr>
          <a:xfrm>
            <a:off x="1527164" y="1959013"/>
            <a:ext cx="2734543" cy="1098704"/>
          </a:xfrm>
          <a:prstGeom prst="rect">
            <a:avLst/>
          </a:prstGeom>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100" name="Google Shape;100;p14"/>
          <p:cNvSpPr txBox="1"/>
          <p:nvPr/>
        </p:nvSpPr>
        <p:spPr>
          <a:xfrm>
            <a:off x="3394564" y="832857"/>
            <a:ext cx="5179280"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solidFill>
                  <a:srgbClr val="434343"/>
                </a:solidFill>
              </a:rPr>
              <a:t>Multilayer Neural Network</a:t>
            </a:r>
            <a:endParaRPr sz="2800" dirty="0">
              <a:solidFill>
                <a:srgbClr val="434343"/>
              </a:solidFill>
            </a:endParaRPr>
          </a:p>
        </p:txBody>
      </p:sp>
      <p:sp>
        <p:nvSpPr>
          <p:cNvPr id="119" name="Google Shape;119;p14"/>
          <p:cNvSpPr/>
          <p:nvPr/>
        </p:nvSpPr>
        <p:spPr>
          <a:xfrm>
            <a:off x="273587" y="1664065"/>
            <a:ext cx="167400" cy="332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Narrow"/>
              <a:ea typeface="Arial Narrow"/>
              <a:cs typeface="Arial Narrow"/>
              <a:sym typeface="Arial Narrow"/>
            </a:endParaRPr>
          </a:p>
        </p:txBody>
      </p:sp>
      <p:cxnSp>
        <p:nvCxnSpPr>
          <p:cNvPr id="23" name="Straight Arrow Connector 22"/>
          <p:cNvCxnSpPr>
            <a:endCxn id="22" idx="1"/>
          </p:cNvCxnSpPr>
          <p:nvPr/>
        </p:nvCxnSpPr>
        <p:spPr>
          <a:xfrm>
            <a:off x="663068" y="1740794"/>
            <a:ext cx="1113565" cy="556303"/>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endCxn id="22" idx="2"/>
          </p:cNvCxnSpPr>
          <p:nvPr/>
        </p:nvCxnSpPr>
        <p:spPr>
          <a:xfrm>
            <a:off x="663068" y="2551684"/>
            <a:ext cx="1008112" cy="0"/>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endCxn id="22" idx="3"/>
          </p:cNvCxnSpPr>
          <p:nvPr/>
        </p:nvCxnSpPr>
        <p:spPr>
          <a:xfrm flipV="1">
            <a:off x="730160" y="2806271"/>
            <a:ext cx="1046473" cy="1249612"/>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22" idx="4"/>
          </p:cNvCxnSpPr>
          <p:nvPr/>
        </p:nvCxnSpPr>
        <p:spPr>
          <a:xfrm flipV="1">
            <a:off x="2031220" y="2911724"/>
            <a:ext cx="0" cy="1080120"/>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22" idx="6"/>
          </p:cNvCxnSpPr>
          <p:nvPr/>
        </p:nvCxnSpPr>
        <p:spPr>
          <a:xfrm flipV="1">
            <a:off x="2391260" y="2549195"/>
            <a:ext cx="1081771" cy="2489"/>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1139326" y="2962687"/>
            <a:ext cx="36000" cy="340800"/>
            <a:chOff x="2731586" y="4043627"/>
            <a:chExt cx="36000" cy="340800"/>
          </a:xfrm>
        </p:grpSpPr>
        <p:sp>
          <p:nvSpPr>
            <p:cNvPr id="5" name="Oval 4"/>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Oval 43"/>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Oval 44"/>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7" name="TextBox 6"/>
              <p:cNvSpPr txBox="1"/>
              <p:nvPr/>
            </p:nvSpPr>
            <p:spPr>
              <a:xfrm>
                <a:off x="186718" y="1410652"/>
                <a:ext cx="50853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1</m:t>
                          </m:r>
                        </m:sub>
                      </m:sSub>
                    </m:oMath>
                  </m:oMathPara>
                </a14:m>
                <a:endParaRPr lang="en-US" sz="3200" b="0" dirty="0"/>
              </a:p>
            </p:txBody>
          </p:sp>
        </mc:Choice>
        <mc:Fallback xmlns="">
          <p:sp>
            <p:nvSpPr>
              <p:cNvPr id="7" name="TextBox 6"/>
              <p:cNvSpPr txBox="1">
                <a:spLocks noRot="1" noChangeAspect="1" noMove="1" noResize="1" noEditPoints="1" noAdjustHandles="1" noChangeArrowheads="1" noChangeShapeType="1" noTextEdit="1"/>
              </p:cNvSpPr>
              <p:nvPr/>
            </p:nvSpPr>
            <p:spPr>
              <a:xfrm>
                <a:off x="186718" y="1410652"/>
                <a:ext cx="508537" cy="492443"/>
              </a:xfrm>
              <a:prstGeom prst="rect">
                <a:avLst/>
              </a:prstGeom>
              <a:blipFill rotWithShape="0">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186718" y="2219426"/>
                <a:ext cx="51802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2</m:t>
                          </m:r>
                        </m:sub>
                      </m:sSub>
                    </m:oMath>
                  </m:oMathPara>
                </a14:m>
                <a:endParaRPr lang="en-US" sz="3200" b="0" dirty="0"/>
              </a:p>
            </p:txBody>
          </p:sp>
        </mc:Choice>
        <mc:Fallback xmlns="">
          <p:sp>
            <p:nvSpPr>
              <p:cNvPr id="48" name="TextBox 47"/>
              <p:cNvSpPr txBox="1">
                <a:spLocks noRot="1" noChangeAspect="1" noMove="1" noResize="1" noEditPoints="1" noAdjustHandles="1" noChangeArrowheads="1" noChangeShapeType="1" noTextEdit="1"/>
              </p:cNvSpPr>
              <p:nvPr/>
            </p:nvSpPr>
            <p:spPr>
              <a:xfrm>
                <a:off x="186718" y="2219426"/>
                <a:ext cx="518027" cy="492443"/>
              </a:xfrm>
              <a:prstGeom prst="rect">
                <a:avLst/>
              </a:prstGeom>
              <a:blipFill rotWithShape="0">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p:cNvSpPr txBox="1"/>
              <p:nvPr/>
            </p:nvSpPr>
            <p:spPr>
              <a:xfrm>
                <a:off x="186718" y="3676831"/>
                <a:ext cx="54514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𝑑</m:t>
                          </m:r>
                        </m:sub>
                      </m:sSub>
                    </m:oMath>
                  </m:oMathPara>
                </a14:m>
                <a:endParaRPr lang="en-US" sz="3200" b="0" dirty="0"/>
              </a:p>
            </p:txBody>
          </p:sp>
        </mc:Choice>
        <mc:Fallback xmlns="">
          <p:sp>
            <p:nvSpPr>
              <p:cNvPr id="49" name="TextBox 48"/>
              <p:cNvSpPr txBox="1">
                <a:spLocks noRot="1" noChangeAspect="1" noMove="1" noResize="1" noEditPoints="1" noAdjustHandles="1" noChangeArrowheads="1" noChangeShapeType="1" noTextEdit="1"/>
              </p:cNvSpPr>
              <p:nvPr/>
            </p:nvSpPr>
            <p:spPr>
              <a:xfrm>
                <a:off x="186718" y="3676831"/>
                <a:ext cx="545149" cy="492443"/>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943286" y="1466570"/>
                <a:ext cx="583878"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1</m:t>
                          </m:r>
                        </m:sub>
                      </m:sSub>
                    </m:oMath>
                  </m:oMathPara>
                </a14:m>
                <a:endParaRPr lang="en-US" sz="3200" b="0" dirty="0"/>
              </a:p>
            </p:txBody>
          </p:sp>
        </mc:Choice>
        <mc:Fallback xmlns="">
          <p:sp>
            <p:nvSpPr>
              <p:cNvPr id="50" name="TextBox 49"/>
              <p:cNvSpPr txBox="1">
                <a:spLocks noRot="1" noChangeAspect="1" noMove="1" noResize="1" noEditPoints="1" noAdjustHandles="1" noChangeArrowheads="1" noChangeShapeType="1" noTextEdit="1"/>
              </p:cNvSpPr>
              <p:nvPr/>
            </p:nvSpPr>
            <p:spPr>
              <a:xfrm>
                <a:off x="943286" y="1466570"/>
                <a:ext cx="583878" cy="492443"/>
              </a:xfrm>
              <a:prstGeom prst="rect">
                <a:avLst/>
              </a:prstGeom>
              <a:blipFill rotWithShape="0">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943286" y="2025975"/>
                <a:ext cx="593368"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2</m:t>
                          </m:r>
                        </m:sub>
                      </m:sSub>
                    </m:oMath>
                  </m:oMathPara>
                </a14:m>
                <a:endParaRPr lang="en-US" sz="3200" b="0" dirty="0"/>
              </a:p>
            </p:txBody>
          </p:sp>
        </mc:Choice>
        <mc:Fallback xmlns="">
          <p:sp>
            <p:nvSpPr>
              <p:cNvPr id="51" name="TextBox 50"/>
              <p:cNvSpPr txBox="1">
                <a:spLocks noRot="1" noChangeAspect="1" noMove="1" noResize="1" noEditPoints="1" noAdjustHandles="1" noChangeArrowheads="1" noChangeShapeType="1" noTextEdit="1"/>
              </p:cNvSpPr>
              <p:nvPr/>
            </p:nvSpPr>
            <p:spPr>
              <a:xfrm>
                <a:off x="943286" y="2025975"/>
                <a:ext cx="593368" cy="492443"/>
              </a:xfrm>
              <a:prstGeom prst="rect">
                <a:avLst/>
              </a:prstGeom>
              <a:blipFill rotWithShape="0">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943286" y="3647681"/>
                <a:ext cx="620491"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𝑑</m:t>
                          </m:r>
                        </m:sub>
                      </m:sSub>
                    </m:oMath>
                  </m:oMathPara>
                </a14:m>
                <a:endParaRPr lang="en-US" sz="3200" b="0" dirty="0"/>
              </a:p>
            </p:txBody>
          </p:sp>
        </mc:Choice>
        <mc:Fallback xmlns="">
          <p:sp>
            <p:nvSpPr>
              <p:cNvPr id="52" name="TextBox 51"/>
              <p:cNvSpPr txBox="1">
                <a:spLocks noRot="1" noChangeAspect="1" noMove="1" noResize="1" noEditPoints="1" noAdjustHandles="1" noChangeArrowheads="1" noChangeShapeType="1" noTextEdit="1"/>
              </p:cNvSpPr>
              <p:nvPr/>
            </p:nvSpPr>
            <p:spPr>
              <a:xfrm>
                <a:off x="943286" y="3647681"/>
                <a:ext cx="620491" cy="492443"/>
              </a:xfrm>
              <a:prstGeom prst="rect">
                <a:avLst/>
              </a:prstGeom>
              <a:blipFill rotWithShape="0">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885447" y="4062042"/>
                <a:ext cx="29815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1</m:t>
                      </m:r>
                    </m:oMath>
                  </m:oMathPara>
                </a14:m>
                <a:endParaRPr lang="en-IN"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1885447" y="4062042"/>
                <a:ext cx="298159" cy="430887"/>
              </a:xfrm>
              <a:prstGeom prst="rect">
                <a:avLst/>
              </a:prstGeom>
              <a:blipFill rotWithShape="0">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138401" y="3215633"/>
                <a:ext cx="122937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𝑊</m:t>
                          </m:r>
                        </m:e>
                        <m:sub>
                          <m:r>
                            <a:rPr lang="en-US" sz="2800" b="0" i="1" smtClean="0">
                              <a:latin typeface="Cambria Math" panose="02040503050406030204" pitchFamily="18" charset="0"/>
                            </a:rPr>
                            <m:t>0</m:t>
                          </m:r>
                        </m:sub>
                      </m:sSub>
                      <m:r>
                        <a:rPr lang="en-US" sz="2800" b="0" i="1" smtClean="0">
                          <a:latin typeface="Cambria Math" panose="02040503050406030204" pitchFamily="18" charset="0"/>
                        </a:rPr>
                        <m:t>=</m:t>
                      </m:r>
                      <m:r>
                        <a:rPr lang="en-US" sz="2800" b="0" i="1" smtClean="0">
                          <a:latin typeface="Cambria Math" panose="02040503050406030204" pitchFamily="18" charset="0"/>
                        </a:rPr>
                        <m:t>𝑏</m:t>
                      </m:r>
                    </m:oMath>
                  </m:oMathPara>
                </a14:m>
                <a:endParaRPr lang="en-IN" sz="2800" dirty="0"/>
              </a:p>
            </p:txBody>
          </p:sp>
        </mc:Choice>
        <mc:Fallback xmlns="">
          <p:sp>
            <p:nvSpPr>
              <p:cNvPr id="9" name="TextBox 8"/>
              <p:cNvSpPr txBox="1">
                <a:spLocks noRot="1" noChangeAspect="1" noMove="1" noResize="1" noEditPoints="1" noAdjustHandles="1" noChangeArrowheads="1" noChangeShapeType="1" noTextEdit="1"/>
              </p:cNvSpPr>
              <p:nvPr/>
            </p:nvSpPr>
            <p:spPr>
              <a:xfrm>
                <a:off x="2138401" y="3215633"/>
                <a:ext cx="1229376" cy="430887"/>
              </a:xfrm>
              <a:prstGeom prst="rect">
                <a:avLst/>
              </a:prstGeom>
              <a:blipFill rotWithShape="0">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418098" y="2056752"/>
                <a:ext cx="92333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𝑎</m:t>
                      </m:r>
                      <m:r>
                        <a:rPr lang="en-US" sz="3200" b="0" i="1" smtClean="0">
                          <a:latin typeface="Cambria Math" panose="02040503050406030204" pitchFamily="18" charset="0"/>
                        </a:rPr>
                        <m:t>(</m:t>
                      </m:r>
                      <m:r>
                        <a:rPr lang="en-US" sz="3200" b="1" i="1" smtClean="0">
                          <a:latin typeface="Cambria Math" panose="02040503050406030204" pitchFamily="18" charset="0"/>
                        </a:rPr>
                        <m:t>𝒙</m:t>
                      </m:r>
                      <m:r>
                        <a:rPr lang="en-US" sz="3200" b="0" i="1" smtClean="0">
                          <a:latin typeface="Cambria Math" panose="02040503050406030204" pitchFamily="18" charset="0"/>
                        </a:rPr>
                        <m:t>)</m:t>
                      </m:r>
                    </m:oMath>
                  </m:oMathPara>
                </a14:m>
                <a:endParaRPr lang="en-IN" sz="3200" dirty="0"/>
              </a:p>
            </p:txBody>
          </p:sp>
        </mc:Choice>
        <mc:Fallback xmlns="">
          <p:sp>
            <p:nvSpPr>
              <p:cNvPr id="10" name="TextBox 9"/>
              <p:cNvSpPr txBox="1">
                <a:spLocks noRot="1" noChangeAspect="1" noMove="1" noResize="1" noEditPoints="1" noAdjustHandles="1" noChangeArrowheads="1" noChangeShapeType="1" noTextEdit="1"/>
              </p:cNvSpPr>
              <p:nvPr/>
            </p:nvSpPr>
            <p:spPr>
              <a:xfrm>
                <a:off x="2418098" y="2056752"/>
                <a:ext cx="923330" cy="492443"/>
              </a:xfrm>
              <a:prstGeom prst="rect">
                <a:avLst/>
              </a:prstGeom>
              <a:blipFill rotWithShape="0">
                <a:blip r:embed="rId11"/>
                <a:stretch>
                  <a:fillRect/>
                </a:stretch>
              </a:blipFill>
            </p:spPr>
            <p:txBody>
              <a:bodyPr/>
              <a:lstStyle/>
              <a:p>
                <a:r>
                  <a:rPr lang="en-IN">
                    <a:noFill/>
                  </a:rPr>
                  <a:t> </a:t>
                </a:r>
              </a:p>
            </p:txBody>
          </p:sp>
        </mc:Fallback>
      </mc:AlternateContent>
      <p:grpSp>
        <p:nvGrpSpPr>
          <p:cNvPr id="16" name="Group 15"/>
          <p:cNvGrpSpPr/>
          <p:nvPr/>
        </p:nvGrpSpPr>
        <p:grpSpPr>
          <a:xfrm>
            <a:off x="1671180" y="2191644"/>
            <a:ext cx="860767" cy="720080"/>
            <a:chOff x="3359696" y="3429000"/>
            <a:chExt cx="860767" cy="720080"/>
          </a:xfrm>
        </p:grpSpPr>
        <p:sp>
          <p:nvSpPr>
            <p:cNvPr id="22" name="Oval 21"/>
            <p:cNvSpPr/>
            <p:nvPr/>
          </p:nvSpPr>
          <p:spPr>
            <a:xfrm>
              <a:off x="3359696" y="3429000"/>
              <a:ext cx="720080" cy="7200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pic>
          <p:nvPicPr>
            <p:cNvPr id="13" name="Picture 12"/>
            <p:cNvPicPr>
              <a:picLocks noChangeAspect="1"/>
            </p:cNvPicPr>
            <p:nvPr/>
          </p:nvPicPr>
          <p:blipFill>
            <a:blip r:embed="rId12"/>
            <a:stretch>
              <a:fillRect/>
            </a:stretch>
          </p:blipFill>
          <p:spPr>
            <a:xfrm>
              <a:off x="3426091" y="3443712"/>
              <a:ext cx="794372" cy="690906"/>
            </a:xfrm>
            <a:prstGeom prst="rect">
              <a:avLst/>
            </a:prstGeom>
          </p:spPr>
        </p:pic>
      </p:grpSp>
      <p:grpSp>
        <p:nvGrpSpPr>
          <p:cNvPr id="15" name="Group 14"/>
          <p:cNvGrpSpPr/>
          <p:nvPr/>
        </p:nvGrpSpPr>
        <p:grpSpPr>
          <a:xfrm>
            <a:off x="3489636" y="2189155"/>
            <a:ext cx="772071" cy="720080"/>
            <a:chOff x="6644172" y="4270432"/>
            <a:chExt cx="772071" cy="720080"/>
          </a:xfrm>
        </p:grpSpPr>
        <p:sp>
          <p:nvSpPr>
            <p:cNvPr id="61" name="Oval 60"/>
            <p:cNvSpPr/>
            <p:nvPr/>
          </p:nvSpPr>
          <p:spPr>
            <a:xfrm>
              <a:off x="6644172" y="4270432"/>
              <a:ext cx="720080" cy="7200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4" name="TextBox 13"/>
                <p:cNvSpPr txBox="1"/>
                <p:nvPr/>
              </p:nvSpPr>
              <p:spPr>
                <a:xfrm>
                  <a:off x="6644172" y="4383657"/>
                  <a:ext cx="772071" cy="4001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600" b="0" i="1" smtClean="0">
                            <a:latin typeface="Cambria Math" panose="02040503050406030204" pitchFamily="18" charset="0"/>
                            <a:ea typeface="Cambria Math" panose="02040503050406030204" pitchFamily="18" charset="0"/>
                          </a:rPr>
                          <m:t>𝑔</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𝑎</m:t>
                        </m:r>
                        <m:r>
                          <a:rPr lang="en-US" sz="2600" b="0" i="1" smtClean="0">
                            <a:latin typeface="Cambria Math" panose="02040503050406030204" pitchFamily="18" charset="0"/>
                            <a:ea typeface="Cambria Math" panose="02040503050406030204" pitchFamily="18" charset="0"/>
                          </a:rPr>
                          <m:t>)</m:t>
                        </m:r>
                      </m:oMath>
                    </m:oMathPara>
                  </a14:m>
                  <a:endParaRPr lang="en-IN" sz="2600" dirty="0"/>
                </a:p>
              </p:txBody>
            </p:sp>
          </mc:Choice>
          <mc:Fallback xmlns="">
            <p:sp>
              <p:nvSpPr>
                <p:cNvPr id="14" name="TextBox 13"/>
                <p:cNvSpPr txBox="1">
                  <a:spLocks noRot="1" noChangeAspect="1" noMove="1" noResize="1" noEditPoints="1" noAdjustHandles="1" noChangeArrowheads="1" noChangeShapeType="1" noTextEdit="1"/>
                </p:cNvSpPr>
                <p:nvPr/>
              </p:nvSpPr>
              <p:spPr>
                <a:xfrm>
                  <a:off x="6644172" y="4383657"/>
                  <a:ext cx="772071" cy="400110"/>
                </a:xfrm>
                <a:prstGeom prst="rect">
                  <a:avLst/>
                </a:prstGeom>
                <a:blipFill rotWithShape="0">
                  <a:blip r:embed="rId13"/>
                  <a:stretch>
                    <a:fillRect/>
                  </a:stretch>
                </a:blipFill>
              </p:spPr>
              <p:txBody>
                <a:bodyPr/>
                <a:lstStyle/>
                <a:p>
                  <a:r>
                    <a:rPr lang="en-IN">
                      <a:noFill/>
                    </a:rPr>
                    <a:t> </a:t>
                  </a:r>
                </a:p>
              </p:txBody>
            </p:sp>
          </mc:Fallback>
        </mc:AlternateContent>
      </p:grpSp>
      <p:cxnSp>
        <p:nvCxnSpPr>
          <p:cNvPr id="65" name="Straight Arrow Connector 64"/>
          <p:cNvCxnSpPr/>
          <p:nvPr/>
        </p:nvCxnSpPr>
        <p:spPr>
          <a:xfrm>
            <a:off x="4209716" y="2546706"/>
            <a:ext cx="622884" cy="2489"/>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p:cNvSpPr txBox="1"/>
              <p:nvPr/>
            </p:nvSpPr>
            <p:spPr>
              <a:xfrm>
                <a:off x="4800642" y="2233181"/>
                <a:ext cx="350032"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𝑦</m:t>
                      </m:r>
                    </m:oMath>
                  </m:oMathPara>
                </a14:m>
                <a:endParaRPr lang="en-IN" sz="3200" dirty="0"/>
              </a:p>
            </p:txBody>
          </p:sp>
        </mc:Choice>
        <mc:Fallback xmlns="">
          <p:sp>
            <p:nvSpPr>
              <p:cNvPr id="19" name="TextBox 18"/>
              <p:cNvSpPr txBox="1">
                <a:spLocks noRot="1" noChangeAspect="1" noMove="1" noResize="1" noEditPoints="1" noAdjustHandles="1" noChangeArrowheads="1" noChangeShapeType="1" noTextEdit="1"/>
              </p:cNvSpPr>
              <p:nvPr/>
            </p:nvSpPr>
            <p:spPr>
              <a:xfrm>
                <a:off x="4800642" y="2233181"/>
                <a:ext cx="350032" cy="492443"/>
              </a:xfrm>
              <a:prstGeom prst="rect">
                <a:avLst/>
              </a:prstGeom>
              <a:blipFill rotWithShape="0">
                <a:blip r:embed="rId14"/>
                <a:stretch>
                  <a:fillRect/>
                </a:stretch>
              </a:blipFill>
            </p:spPr>
            <p:txBody>
              <a:bodyPr/>
              <a:lstStyle/>
              <a:p>
                <a:r>
                  <a:rPr lang="en-IN">
                    <a:noFill/>
                  </a:rPr>
                  <a:t> </a:t>
                </a:r>
              </a:p>
            </p:txBody>
          </p:sp>
        </mc:Fallback>
      </mc:AlternateContent>
      <p:sp>
        <p:nvSpPr>
          <p:cNvPr id="3" name="Footer Placeholder 2"/>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21" name="Slide Number Placeholder 20"/>
          <p:cNvSpPr>
            <a:spLocks noGrp="1"/>
          </p:cNvSpPr>
          <p:nvPr>
            <p:ph type="sldNum" sz="quarter" idx="4"/>
          </p:nvPr>
        </p:nvSpPr>
        <p:spPr>
          <a:xfrm>
            <a:off x="10569844" y="6356350"/>
            <a:ext cx="783956" cy="365125"/>
          </a:xfrm>
        </p:spPr>
        <p:txBody>
          <a:bodyPr/>
          <a:lstStyle/>
          <a:p>
            <a:fld id="{683B8651-0143-4140-839E-3D36292080E8}" type="slidenum">
              <a:rPr lang="en-US" smtClean="0"/>
              <a:t>18</a:t>
            </a:fld>
            <a:endParaRPr lang="en-US"/>
          </a:p>
        </p:txBody>
      </p:sp>
      <p:pic>
        <p:nvPicPr>
          <p:cNvPr id="29" name="Picture 28"/>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427165" y="2233181"/>
            <a:ext cx="746306" cy="746306"/>
          </a:xfrm>
          <a:prstGeom prst="rect">
            <a:avLst/>
          </a:prstGeom>
        </p:spPr>
      </p:pic>
      <p:sp>
        <p:nvSpPr>
          <p:cNvPr id="55" name="Google Shape;119;p14"/>
          <p:cNvSpPr/>
          <p:nvPr/>
        </p:nvSpPr>
        <p:spPr>
          <a:xfrm>
            <a:off x="7041940" y="1723095"/>
            <a:ext cx="167400" cy="332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Narrow"/>
              <a:ea typeface="Arial Narrow"/>
              <a:cs typeface="Arial Narrow"/>
              <a:sym typeface="Arial Narrow"/>
            </a:endParaRPr>
          </a:p>
        </p:txBody>
      </p:sp>
      <p:cxnSp>
        <p:nvCxnSpPr>
          <p:cNvPr id="56" name="Straight Arrow Connector 55"/>
          <p:cNvCxnSpPr>
            <a:endCxn id="77" idx="1"/>
          </p:cNvCxnSpPr>
          <p:nvPr/>
        </p:nvCxnSpPr>
        <p:spPr>
          <a:xfrm>
            <a:off x="7431421" y="1799824"/>
            <a:ext cx="1113565" cy="556303"/>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endCxn id="77" idx="2"/>
          </p:cNvCxnSpPr>
          <p:nvPr/>
        </p:nvCxnSpPr>
        <p:spPr>
          <a:xfrm>
            <a:off x="7431421" y="2610714"/>
            <a:ext cx="1008112" cy="0"/>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77" idx="3"/>
          </p:cNvCxnSpPr>
          <p:nvPr/>
        </p:nvCxnSpPr>
        <p:spPr>
          <a:xfrm flipV="1">
            <a:off x="7498513" y="2865301"/>
            <a:ext cx="1046473" cy="1249612"/>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endCxn id="77" idx="4"/>
          </p:cNvCxnSpPr>
          <p:nvPr/>
        </p:nvCxnSpPr>
        <p:spPr>
          <a:xfrm flipV="1">
            <a:off x="8799573" y="2970754"/>
            <a:ext cx="0" cy="1080120"/>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p:grpSp>
        <p:nvGrpSpPr>
          <p:cNvPr id="62" name="Group 61"/>
          <p:cNvGrpSpPr/>
          <p:nvPr/>
        </p:nvGrpSpPr>
        <p:grpSpPr>
          <a:xfrm>
            <a:off x="7907679" y="3021717"/>
            <a:ext cx="36000" cy="340800"/>
            <a:chOff x="2731586" y="4043627"/>
            <a:chExt cx="36000" cy="340800"/>
          </a:xfrm>
        </p:grpSpPr>
        <p:sp>
          <p:nvSpPr>
            <p:cNvPr id="63" name="Oval 62"/>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Oval 63"/>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Oval 65"/>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67" name="TextBox 66"/>
              <p:cNvSpPr txBox="1"/>
              <p:nvPr/>
            </p:nvSpPr>
            <p:spPr>
              <a:xfrm>
                <a:off x="6955071" y="1469682"/>
                <a:ext cx="50853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1</m:t>
                          </m:r>
                        </m:sub>
                      </m:sSub>
                    </m:oMath>
                  </m:oMathPara>
                </a14:m>
                <a:endParaRPr lang="en-US" sz="3200" b="0" dirty="0"/>
              </a:p>
            </p:txBody>
          </p:sp>
        </mc:Choice>
        <mc:Fallback xmlns="">
          <p:sp>
            <p:nvSpPr>
              <p:cNvPr id="67" name="TextBox 66"/>
              <p:cNvSpPr txBox="1">
                <a:spLocks noRot="1" noChangeAspect="1" noMove="1" noResize="1" noEditPoints="1" noAdjustHandles="1" noChangeArrowheads="1" noChangeShapeType="1" noTextEdit="1"/>
              </p:cNvSpPr>
              <p:nvPr/>
            </p:nvSpPr>
            <p:spPr>
              <a:xfrm>
                <a:off x="6955071" y="1469682"/>
                <a:ext cx="508537" cy="492443"/>
              </a:xfrm>
              <a:prstGeom prst="rect">
                <a:avLst/>
              </a:prstGeom>
              <a:blipFill rotWithShape="0">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6955071" y="2278456"/>
                <a:ext cx="51802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2</m:t>
                          </m:r>
                        </m:sub>
                      </m:sSub>
                    </m:oMath>
                  </m:oMathPara>
                </a14:m>
                <a:endParaRPr lang="en-US" sz="3200" b="0" dirty="0"/>
              </a:p>
            </p:txBody>
          </p:sp>
        </mc:Choice>
        <mc:Fallback xmlns="">
          <p:sp>
            <p:nvSpPr>
              <p:cNvPr id="68" name="TextBox 67"/>
              <p:cNvSpPr txBox="1">
                <a:spLocks noRot="1" noChangeAspect="1" noMove="1" noResize="1" noEditPoints="1" noAdjustHandles="1" noChangeArrowheads="1" noChangeShapeType="1" noTextEdit="1"/>
              </p:cNvSpPr>
              <p:nvPr/>
            </p:nvSpPr>
            <p:spPr>
              <a:xfrm>
                <a:off x="6955071" y="2278456"/>
                <a:ext cx="518027" cy="492443"/>
              </a:xfrm>
              <a:prstGeom prst="rect">
                <a:avLst/>
              </a:prstGeom>
              <a:blipFill rotWithShape="0">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a:off x="6955071" y="3735861"/>
                <a:ext cx="54514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𝑑</m:t>
                          </m:r>
                        </m:sub>
                      </m:sSub>
                    </m:oMath>
                  </m:oMathPara>
                </a14:m>
                <a:endParaRPr lang="en-US" sz="3200" b="0" dirty="0"/>
              </a:p>
            </p:txBody>
          </p:sp>
        </mc:Choice>
        <mc:Fallback xmlns="">
          <p:sp>
            <p:nvSpPr>
              <p:cNvPr id="69" name="TextBox 68"/>
              <p:cNvSpPr txBox="1">
                <a:spLocks noRot="1" noChangeAspect="1" noMove="1" noResize="1" noEditPoints="1" noAdjustHandles="1" noChangeArrowheads="1" noChangeShapeType="1" noTextEdit="1"/>
              </p:cNvSpPr>
              <p:nvPr/>
            </p:nvSpPr>
            <p:spPr>
              <a:xfrm>
                <a:off x="6955071" y="3735861"/>
                <a:ext cx="545149" cy="492443"/>
              </a:xfrm>
              <a:prstGeom prst="rect">
                <a:avLst/>
              </a:prstGeom>
              <a:blipFill rotWithShape="0">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7711639" y="1525600"/>
                <a:ext cx="583878"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1</m:t>
                          </m:r>
                        </m:sub>
                      </m:sSub>
                    </m:oMath>
                  </m:oMathPara>
                </a14:m>
                <a:endParaRPr lang="en-US" sz="3200" b="0" dirty="0"/>
              </a:p>
            </p:txBody>
          </p:sp>
        </mc:Choice>
        <mc:Fallback xmlns="">
          <p:sp>
            <p:nvSpPr>
              <p:cNvPr id="70" name="TextBox 69"/>
              <p:cNvSpPr txBox="1">
                <a:spLocks noRot="1" noChangeAspect="1" noMove="1" noResize="1" noEditPoints="1" noAdjustHandles="1" noChangeArrowheads="1" noChangeShapeType="1" noTextEdit="1"/>
              </p:cNvSpPr>
              <p:nvPr/>
            </p:nvSpPr>
            <p:spPr>
              <a:xfrm>
                <a:off x="7711639" y="1525600"/>
                <a:ext cx="583878" cy="492443"/>
              </a:xfrm>
              <a:prstGeom prst="rect">
                <a:avLst/>
              </a:prstGeom>
              <a:blipFill rotWithShape="0">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7711639" y="2085005"/>
                <a:ext cx="593368"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2</m:t>
                          </m:r>
                        </m:sub>
                      </m:sSub>
                    </m:oMath>
                  </m:oMathPara>
                </a14:m>
                <a:endParaRPr lang="en-US" sz="3200" b="0" dirty="0"/>
              </a:p>
            </p:txBody>
          </p:sp>
        </mc:Choice>
        <mc:Fallback xmlns="">
          <p:sp>
            <p:nvSpPr>
              <p:cNvPr id="71" name="TextBox 70"/>
              <p:cNvSpPr txBox="1">
                <a:spLocks noRot="1" noChangeAspect="1" noMove="1" noResize="1" noEditPoints="1" noAdjustHandles="1" noChangeArrowheads="1" noChangeShapeType="1" noTextEdit="1"/>
              </p:cNvSpPr>
              <p:nvPr/>
            </p:nvSpPr>
            <p:spPr>
              <a:xfrm>
                <a:off x="7711639" y="2085005"/>
                <a:ext cx="593368" cy="492443"/>
              </a:xfrm>
              <a:prstGeom prst="rect">
                <a:avLst/>
              </a:prstGeom>
              <a:blipFill rotWithShape="0">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7711639" y="3706711"/>
                <a:ext cx="620491"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𝑑</m:t>
                          </m:r>
                        </m:sub>
                      </m:sSub>
                    </m:oMath>
                  </m:oMathPara>
                </a14:m>
                <a:endParaRPr lang="en-US" sz="3200" b="0" dirty="0"/>
              </a:p>
            </p:txBody>
          </p:sp>
        </mc:Choice>
        <mc:Fallback xmlns="">
          <p:sp>
            <p:nvSpPr>
              <p:cNvPr id="72" name="TextBox 71"/>
              <p:cNvSpPr txBox="1">
                <a:spLocks noRot="1" noChangeAspect="1" noMove="1" noResize="1" noEditPoints="1" noAdjustHandles="1" noChangeArrowheads="1" noChangeShapeType="1" noTextEdit="1"/>
              </p:cNvSpPr>
              <p:nvPr/>
            </p:nvSpPr>
            <p:spPr>
              <a:xfrm>
                <a:off x="7711639" y="3706711"/>
                <a:ext cx="620491" cy="492443"/>
              </a:xfrm>
              <a:prstGeom prst="rect">
                <a:avLst/>
              </a:prstGeom>
              <a:blipFill rotWithShape="0">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3" name="TextBox 72"/>
              <p:cNvSpPr txBox="1"/>
              <p:nvPr/>
            </p:nvSpPr>
            <p:spPr>
              <a:xfrm>
                <a:off x="8653800" y="4121072"/>
                <a:ext cx="29815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1</m:t>
                      </m:r>
                    </m:oMath>
                  </m:oMathPara>
                </a14:m>
                <a:endParaRPr lang="en-IN" sz="2800" dirty="0"/>
              </a:p>
            </p:txBody>
          </p:sp>
        </mc:Choice>
        <mc:Fallback xmlns="">
          <p:sp>
            <p:nvSpPr>
              <p:cNvPr id="73" name="TextBox 72"/>
              <p:cNvSpPr txBox="1">
                <a:spLocks noRot="1" noChangeAspect="1" noMove="1" noResize="1" noEditPoints="1" noAdjustHandles="1" noChangeArrowheads="1" noChangeShapeType="1" noTextEdit="1"/>
              </p:cNvSpPr>
              <p:nvPr/>
            </p:nvSpPr>
            <p:spPr>
              <a:xfrm>
                <a:off x="8653800" y="4121072"/>
                <a:ext cx="298159" cy="430887"/>
              </a:xfrm>
              <a:prstGeom prst="rect">
                <a:avLst/>
              </a:prstGeom>
              <a:blipFill rotWithShape="0">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8906754" y="3274663"/>
                <a:ext cx="122937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𝑊</m:t>
                          </m:r>
                        </m:e>
                        <m:sub>
                          <m:r>
                            <a:rPr lang="en-US" sz="2800" b="0" i="1" smtClean="0">
                              <a:latin typeface="Cambria Math" panose="02040503050406030204" pitchFamily="18" charset="0"/>
                            </a:rPr>
                            <m:t>0</m:t>
                          </m:r>
                        </m:sub>
                      </m:sSub>
                      <m:r>
                        <a:rPr lang="en-US" sz="2800" b="0" i="1" smtClean="0">
                          <a:latin typeface="Cambria Math" panose="02040503050406030204" pitchFamily="18" charset="0"/>
                        </a:rPr>
                        <m:t>=</m:t>
                      </m:r>
                      <m:r>
                        <a:rPr lang="en-US" sz="2800" b="0" i="1" smtClean="0">
                          <a:latin typeface="Cambria Math" panose="02040503050406030204" pitchFamily="18" charset="0"/>
                        </a:rPr>
                        <m:t>𝑏</m:t>
                      </m:r>
                    </m:oMath>
                  </m:oMathPara>
                </a14:m>
                <a:endParaRPr lang="en-IN" sz="2800" dirty="0"/>
              </a:p>
            </p:txBody>
          </p:sp>
        </mc:Choice>
        <mc:Fallback xmlns="">
          <p:sp>
            <p:nvSpPr>
              <p:cNvPr id="74" name="TextBox 73"/>
              <p:cNvSpPr txBox="1">
                <a:spLocks noRot="1" noChangeAspect="1" noMove="1" noResize="1" noEditPoints="1" noAdjustHandles="1" noChangeArrowheads="1" noChangeShapeType="1" noTextEdit="1"/>
              </p:cNvSpPr>
              <p:nvPr/>
            </p:nvSpPr>
            <p:spPr>
              <a:xfrm>
                <a:off x="8906754" y="3274663"/>
                <a:ext cx="1229376" cy="430887"/>
              </a:xfrm>
              <a:prstGeom prst="rect">
                <a:avLst/>
              </a:prstGeom>
              <a:blipFill rotWithShape="0">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8466550" y="2567244"/>
                <a:ext cx="6972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𝑔</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m:t>
                      </m:r>
                    </m:oMath>
                  </m:oMathPara>
                </a14:m>
                <a:endParaRPr lang="en-IN" sz="2400" dirty="0"/>
              </a:p>
            </p:txBody>
          </p:sp>
        </mc:Choice>
        <mc:Fallback xmlns="">
          <p:sp>
            <p:nvSpPr>
              <p:cNvPr id="81" name="TextBox 80"/>
              <p:cNvSpPr txBox="1">
                <a:spLocks noRot="1" noChangeAspect="1" noMove="1" noResize="1" noEditPoints="1" noAdjustHandles="1" noChangeArrowheads="1" noChangeShapeType="1" noTextEdit="1"/>
              </p:cNvSpPr>
              <p:nvPr/>
            </p:nvSpPr>
            <p:spPr>
              <a:xfrm>
                <a:off x="8466550" y="2567244"/>
                <a:ext cx="697242" cy="369332"/>
              </a:xfrm>
              <a:prstGeom prst="rect">
                <a:avLst/>
              </a:prstGeom>
              <a:blipFill rotWithShape="0">
                <a:blip r:embed="rId24"/>
                <a:stretch>
                  <a:fillRect l="-10526" r="-14912" b="-34426"/>
                </a:stretch>
              </a:blipFill>
            </p:spPr>
            <p:txBody>
              <a:bodyPr/>
              <a:lstStyle/>
              <a:p>
                <a:r>
                  <a:rPr lang="en-IN">
                    <a:noFill/>
                  </a:rPr>
                  <a:t> </a:t>
                </a:r>
              </a:p>
            </p:txBody>
          </p:sp>
        </mc:Fallback>
      </mc:AlternateContent>
      <p:cxnSp>
        <p:nvCxnSpPr>
          <p:cNvPr id="82" name="Straight Arrow Connector 81"/>
          <p:cNvCxnSpPr/>
          <p:nvPr/>
        </p:nvCxnSpPr>
        <p:spPr>
          <a:xfrm>
            <a:off x="9181213" y="2612477"/>
            <a:ext cx="622884" cy="2489"/>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3" name="TextBox 82"/>
              <p:cNvSpPr txBox="1"/>
              <p:nvPr/>
            </p:nvSpPr>
            <p:spPr>
              <a:xfrm>
                <a:off x="9772139" y="2298952"/>
                <a:ext cx="350032"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𝑦</m:t>
                      </m:r>
                    </m:oMath>
                  </m:oMathPara>
                </a14:m>
                <a:endParaRPr lang="en-IN" sz="3200" dirty="0"/>
              </a:p>
            </p:txBody>
          </p:sp>
        </mc:Choice>
        <mc:Fallback xmlns="">
          <p:sp>
            <p:nvSpPr>
              <p:cNvPr id="83" name="TextBox 82"/>
              <p:cNvSpPr txBox="1">
                <a:spLocks noRot="1" noChangeAspect="1" noMove="1" noResize="1" noEditPoints="1" noAdjustHandles="1" noChangeArrowheads="1" noChangeShapeType="1" noTextEdit="1"/>
              </p:cNvSpPr>
              <p:nvPr/>
            </p:nvSpPr>
            <p:spPr>
              <a:xfrm>
                <a:off x="9772139" y="2298952"/>
                <a:ext cx="350032" cy="492443"/>
              </a:xfrm>
              <a:prstGeom prst="rect">
                <a:avLst/>
              </a:prstGeom>
              <a:blipFill rotWithShape="0">
                <a:blip r:embed="rId25"/>
                <a:stretch>
                  <a:fillRect/>
                </a:stretch>
              </a:blipFill>
            </p:spPr>
            <p:txBody>
              <a:bodyPr/>
              <a:lstStyle/>
              <a:p>
                <a:r>
                  <a:rPr lang="en-IN">
                    <a:noFill/>
                  </a:rPr>
                  <a:t> </a:t>
                </a:r>
              </a:p>
            </p:txBody>
          </p:sp>
        </mc:Fallback>
      </mc:AlternateContent>
      <p:sp>
        <p:nvSpPr>
          <p:cNvPr id="85" name="TextBox 84"/>
          <p:cNvSpPr txBox="1"/>
          <p:nvPr/>
        </p:nvSpPr>
        <p:spPr>
          <a:xfrm>
            <a:off x="4126085" y="4853670"/>
            <a:ext cx="3190682" cy="461665"/>
          </a:xfrm>
          <a:prstGeom prst="rect">
            <a:avLst/>
          </a:prstGeom>
          <a:noFill/>
        </p:spPr>
        <p:txBody>
          <a:bodyPr wrap="none" rtlCol="0">
            <a:spAutoFit/>
          </a:bodyPr>
          <a:lstStyle/>
          <a:p>
            <a:r>
              <a:rPr lang="en-US" sz="2400" dirty="0"/>
              <a:t>A bit of notation change</a:t>
            </a:r>
            <a:endParaRPr lang="en-IN" sz="2400" dirty="0"/>
          </a:p>
        </p:txBody>
      </p:sp>
    </p:spTree>
    <p:extLst>
      <p:ext uri="{BB962C8B-B14F-4D97-AF65-F5344CB8AC3E}">
        <p14:creationId xmlns:p14="http://schemas.microsoft.com/office/powerpoint/2010/main" val="4218930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nodePh="1">
                                  <p:stCondLst>
                                    <p:cond delay="0"/>
                                  </p:stCondLst>
                                  <p:endCondLst>
                                    <p:cond evt="begin" delay="0">
                                      <p:tn val="9"/>
                                    </p:cond>
                                  </p:endCondLst>
                                  <p:childTnLst>
                                    <p:set>
                                      <p:cBhvr>
                                        <p:cTn id="10" dur="1" fill="hold">
                                          <p:stCondLst>
                                            <p:cond delay="0"/>
                                          </p:stCondLst>
                                        </p:cTn>
                                        <p:tgtEl>
                                          <p:spTgt spid="1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par>
                                <p:cTn id="51" presetID="1" presetClass="entr" presetSubtype="0" fill="hold" grpId="0" nodeType="withEffect" nodePh="1">
                                  <p:stCondLst>
                                    <p:cond delay="0"/>
                                  </p:stCondLst>
                                  <p:endCondLst>
                                    <p:cond evt="begin" delay="0">
                                      <p:tn val="51"/>
                                    </p:cond>
                                  </p:endCondLst>
                                  <p:childTnLst>
                                    <p:set>
                                      <p:cBhvr>
                                        <p:cTn id="52" dur="1" fill="hold">
                                          <p:stCondLst>
                                            <p:cond delay="0"/>
                                          </p:stCondLst>
                                        </p:cTn>
                                        <p:tgtEl>
                                          <p:spTgt spid="5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8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8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30" grpId="0" animBg="1"/>
      <p:bldP spid="119" grpId="0"/>
      <p:bldP spid="7" grpId="0"/>
      <p:bldP spid="48" grpId="0"/>
      <p:bldP spid="49" grpId="0"/>
      <p:bldP spid="50" grpId="0"/>
      <p:bldP spid="51" grpId="0"/>
      <p:bldP spid="52" grpId="0"/>
      <p:bldP spid="8" grpId="0"/>
      <p:bldP spid="9" grpId="0"/>
      <p:bldP spid="10" grpId="0"/>
      <p:bldP spid="19" grpId="0"/>
      <p:bldP spid="55" grpId="0"/>
      <p:bldP spid="67" grpId="0"/>
      <p:bldP spid="68" grpId="0"/>
      <p:bldP spid="69" grpId="0"/>
      <p:bldP spid="70" grpId="0"/>
      <p:bldP spid="71" grpId="0"/>
      <p:bldP spid="72" grpId="0"/>
      <p:bldP spid="73" grpId="0"/>
      <p:bldP spid="74" grpId="0"/>
      <p:bldP spid="81" grpId="0"/>
      <p:bldP spid="83" grpId="0"/>
      <p:bldP spid="8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33" name="Picture 3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2067" y="2125313"/>
            <a:ext cx="746306" cy="746306"/>
          </a:xfrm>
          <a:prstGeom prst="rect">
            <a:avLst/>
          </a:prstGeom>
          <a:noFill/>
        </p:spPr>
      </p:pic>
      <p:sp>
        <p:nvSpPr>
          <p:cNvPr id="100" name="Google Shape;100;p14"/>
          <p:cNvSpPr txBox="1"/>
          <p:nvPr/>
        </p:nvSpPr>
        <p:spPr>
          <a:xfrm>
            <a:off x="3394564" y="832857"/>
            <a:ext cx="5179280"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solidFill>
                  <a:srgbClr val="434343"/>
                </a:solidFill>
              </a:rPr>
              <a:t>Multilayer Neural Network</a:t>
            </a:r>
            <a:endParaRPr sz="2800" dirty="0">
              <a:solidFill>
                <a:srgbClr val="434343"/>
              </a:solidFill>
            </a:endParaRPr>
          </a:p>
        </p:txBody>
      </p:sp>
      <p:sp>
        <p:nvSpPr>
          <p:cNvPr id="3" name="Footer Placeholder 2"/>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21" name="Slide Number Placeholder 20"/>
          <p:cNvSpPr>
            <a:spLocks noGrp="1"/>
          </p:cNvSpPr>
          <p:nvPr>
            <p:ph type="sldNum" sz="quarter" idx="4"/>
          </p:nvPr>
        </p:nvSpPr>
        <p:spPr>
          <a:xfrm>
            <a:off x="10569844" y="6356350"/>
            <a:ext cx="783956" cy="365125"/>
          </a:xfrm>
        </p:spPr>
        <p:txBody>
          <a:bodyPr/>
          <a:lstStyle/>
          <a:p>
            <a:fld id="{683B8651-0143-4140-839E-3D36292080E8}" type="slidenum">
              <a:rPr lang="en-US" smtClean="0"/>
              <a:t>19</a:t>
            </a:fld>
            <a:endParaRPr lang="en-US"/>
          </a:p>
        </p:txBody>
      </p:sp>
      <p:pic>
        <p:nvPicPr>
          <p:cNvPr id="29" name="Picture 2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2067" y="3480790"/>
            <a:ext cx="746306" cy="746306"/>
          </a:xfrm>
          <a:prstGeom prst="rect">
            <a:avLst/>
          </a:prstGeom>
        </p:spPr>
      </p:pic>
      <p:sp>
        <p:nvSpPr>
          <p:cNvPr id="55" name="Google Shape;119;p14"/>
          <p:cNvSpPr/>
          <p:nvPr/>
        </p:nvSpPr>
        <p:spPr>
          <a:xfrm>
            <a:off x="336842" y="1615227"/>
            <a:ext cx="167400" cy="332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Narrow"/>
              <a:ea typeface="Arial Narrow"/>
              <a:cs typeface="Arial Narrow"/>
              <a:sym typeface="Arial Narrow"/>
            </a:endParaRPr>
          </a:p>
        </p:txBody>
      </p:sp>
      <p:cxnSp>
        <p:nvCxnSpPr>
          <p:cNvPr id="56" name="Straight Arrow Connector 55"/>
          <p:cNvCxnSpPr/>
          <p:nvPr/>
        </p:nvCxnSpPr>
        <p:spPr>
          <a:xfrm>
            <a:off x="726323" y="1691956"/>
            <a:ext cx="1113565" cy="556303"/>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726323" y="2502846"/>
            <a:ext cx="1008112" cy="0"/>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793415" y="2757433"/>
            <a:ext cx="1046473" cy="1249612"/>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p:cNvSpPr txBox="1"/>
              <p:nvPr/>
            </p:nvSpPr>
            <p:spPr>
              <a:xfrm>
                <a:off x="249973" y="1361814"/>
                <a:ext cx="50853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1</m:t>
                          </m:r>
                        </m:sub>
                      </m:sSub>
                    </m:oMath>
                  </m:oMathPara>
                </a14:m>
                <a:endParaRPr lang="en-US" sz="3200" b="0" dirty="0"/>
              </a:p>
            </p:txBody>
          </p:sp>
        </mc:Choice>
        <mc:Fallback xmlns="">
          <p:sp>
            <p:nvSpPr>
              <p:cNvPr id="67" name="TextBox 66"/>
              <p:cNvSpPr txBox="1">
                <a:spLocks noRot="1" noChangeAspect="1" noMove="1" noResize="1" noEditPoints="1" noAdjustHandles="1" noChangeArrowheads="1" noChangeShapeType="1" noTextEdit="1"/>
              </p:cNvSpPr>
              <p:nvPr/>
            </p:nvSpPr>
            <p:spPr>
              <a:xfrm>
                <a:off x="249973" y="1361814"/>
                <a:ext cx="508537" cy="492443"/>
              </a:xfrm>
              <a:prstGeom prst="rect">
                <a:avLst/>
              </a:prstGeom>
              <a:blipFill rotWithShape="0">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49973" y="2170588"/>
                <a:ext cx="51802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2</m:t>
                          </m:r>
                        </m:sub>
                      </m:sSub>
                    </m:oMath>
                  </m:oMathPara>
                </a14:m>
                <a:endParaRPr lang="en-US" sz="3200" b="0" dirty="0"/>
              </a:p>
            </p:txBody>
          </p:sp>
        </mc:Choice>
        <mc:Fallback xmlns="">
          <p:sp>
            <p:nvSpPr>
              <p:cNvPr id="68" name="TextBox 67"/>
              <p:cNvSpPr txBox="1">
                <a:spLocks noRot="1" noChangeAspect="1" noMove="1" noResize="1" noEditPoints="1" noAdjustHandles="1" noChangeArrowheads="1" noChangeShapeType="1" noTextEdit="1"/>
              </p:cNvSpPr>
              <p:nvPr/>
            </p:nvSpPr>
            <p:spPr>
              <a:xfrm>
                <a:off x="249973" y="2170588"/>
                <a:ext cx="518027" cy="492443"/>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a:off x="249973" y="3627993"/>
                <a:ext cx="54514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𝑑</m:t>
                          </m:r>
                        </m:sub>
                      </m:sSub>
                    </m:oMath>
                  </m:oMathPara>
                </a14:m>
                <a:endParaRPr lang="en-US" sz="3200" b="0" dirty="0"/>
              </a:p>
            </p:txBody>
          </p:sp>
        </mc:Choice>
        <mc:Fallback xmlns="">
          <p:sp>
            <p:nvSpPr>
              <p:cNvPr id="69" name="TextBox 68"/>
              <p:cNvSpPr txBox="1">
                <a:spLocks noRot="1" noChangeAspect="1" noMove="1" noResize="1" noEditPoints="1" noAdjustHandles="1" noChangeArrowheads="1" noChangeShapeType="1" noTextEdit="1"/>
              </p:cNvSpPr>
              <p:nvPr/>
            </p:nvSpPr>
            <p:spPr>
              <a:xfrm>
                <a:off x="249973" y="3627993"/>
                <a:ext cx="545149" cy="492443"/>
              </a:xfrm>
              <a:prstGeom prst="rect">
                <a:avLst/>
              </a:prstGeom>
              <a:blipFill rotWithShape="0">
                <a:blip r:embed="rId6"/>
                <a:stretch>
                  <a:fillRect/>
                </a:stretch>
              </a:blipFill>
            </p:spPr>
            <p:txBody>
              <a:bodyPr/>
              <a:lstStyle/>
              <a:p>
                <a:r>
                  <a:rPr lang="en-IN">
                    <a:noFill/>
                  </a:rPr>
                  <a:t> </a:t>
                </a:r>
              </a:p>
            </p:txBody>
          </p:sp>
        </mc:Fallback>
      </mc:AlternateContent>
      <p:cxnSp>
        <p:nvCxnSpPr>
          <p:cNvPr id="82" name="Straight Arrow Connector 81"/>
          <p:cNvCxnSpPr>
            <a:endCxn id="97" idx="1"/>
          </p:cNvCxnSpPr>
          <p:nvPr/>
        </p:nvCxnSpPr>
        <p:spPr>
          <a:xfrm flipV="1">
            <a:off x="2474259" y="3858947"/>
            <a:ext cx="1125933" cy="359"/>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33" idx="3"/>
            <a:endCxn id="97" idx="1"/>
          </p:cNvCxnSpPr>
          <p:nvPr/>
        </p:nvCxnSpPr>
        <p:spPr>
          <a:xfrm>
            <a:off x="2468373" y="2498466"/>
            <a:ext cx="1131819" cy="1360481"/>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2094475" y="1796659"/>
            <a:ext cx="0" cy="344968"/>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p:cNvSpPr txBox="1"/>
              <p:nvPr/>
            </p:nvSpPr>
            <p:spPr>
              <a:xfrm>
                <a:off x="2012197" y="1467042"/>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m:t>
                      </m:r>
                    </m:oMath>
                  </m:oMathPara>
                </a14:m>
                <a:endParaRPr lang="en-IN" dirty="0">
                  <a:solidFill>
                    <a:schemeClr val="tx1"/>
                  </a:solidFill>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2012197" y="1467042"/>
                <a:ext cx="181139" cy="276999"/>
              </a:xfrm>
              <a:prstGeom prst="rect">
                <a:avLst/>
              </a:prstGeom>
              <a:blipFill rotWithShape="0">
                <a:blip r:embed="rId7"/>
                <a:stretch>
                  <a:fillRect l="-30000" r="-30000" b="-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1731976" y="2416839"/>
                <a:ext cx="6972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𝑔</m:t>
                      </m:r>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𝑎</m:t>
                      </m:r>
                      <m:r>
                        <a:rPr lang="en-US" sz="2400" b="0" i="1" smtClean="0">
                          <a:solidFill>
                            <a:schemeClr val="tx1"/>
                          </a:solidFill>
                          <a:latin typeface="Cambria Math" panose="02040503050406030204" pitchFamily="18" charset="0"/>
                          <a:ea typeface="Cambria Math" panose="02040503050406030204" pitchFamily="18" charset="0"/>
                        </a:rPr>
                        <m:t>)</m:t>
                      </m:r>
                    </m:oMath>
                  </m:oMathPara>
                </a14:m>
                <a:endParaRPr lang="en-IN" sz="2400" dirty="0">
                  <a:solidFill>
                    <a:schemeClr val="tx1"/>
                  </a:solidFill>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1731976" y="2416839"/>
                <a:ext cx="697242" cy="369332"/>
              </a:xfrm>
              <a:prstGeom prst="rect">
                <a:avLst/>
              </a:prstGeom>
              <a:blipFill rotWithShape="0">
                <a:blip r:embed="rId8"/>
                <a:stretch>
                  <a:fillRect l="-10526" r="-15789" b="-34426"/>
                </a:stretch>
              </a:blipFill>
            </p:spPr>
            <p:txBody>
              <a:bodyPr/>
              <a:lstStyle/>
              <a:p>
                <a:r>
                  <a:rPr lang="en-IN">
                    <a:noFill/>
                  </a:rPr>
                  <a:t> </a:t>
                </a:r>
              </a:p>
            </p:txBody>
          </p:sp>
        </mc:Fallback>
      </mc:AlternateContent>
      <p:cxnSp>
        <p:nvCxnSpPr>
          <p:cNvPr id="38" name="Straight Arrow Connector 37"/>
          <p:cNvCxnSpPr/>
          <p:nvPr/>
        </p:nvCxnSpPr>
        <p:spPr>
          <a:xfrm>
            <a:off x="739588" y="1680882"/>
            <a:ext cx="1100300" cy="1947111"/>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endCxn id="29" idx="1"/>
          </p:cNvCxnSpPr>
          <p:nvPr/>
        </p:nvCxnSpPr>
        <p:spPr>
          <a:xfrm>
            <a:off x="746007" y="2518386"/>
            <a:ext cx="976060" cy="1335557"/>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endCxn id="29" idx="1"/>
          </p:cNvCxnSpPr>
          <p:nvPr/>
        </p:nvCxnSpPr>
        <p:spPr>
          <a:xfrm flipV="1">
            <a:off x="817950" y="3853943"/>
            <a:ext cx="904117" cy="133125"/>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2073317" y="3140826"/>
            <a:ext cx="0" cy="344968"/>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p:cNvSpPr txBox="1"/>
              <p:nvPr/>
            </p:nvSpPr>
            <p:spPr>
              <a:xfrm>
                <a:off x="1991039" y="2878444"/>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m:t>
                      </m:r>
                    </m:oMath>
                  </m:oMathPara>
                </a14:m>
                <a:endParaRPr lang="en-IN" dirty="0">
                  <a:solidFill>
                    <a:schemeClr val="tx1"/>
                  </a:solidFill>
                </a:endParaRPr>
              </a:p>
            </p:txBody>
          </p:sp>
        </mc:Choice>
        <mc:Fallback xmlns="">
          <p:sp>
            <p:nvSpPr>
              <p:cNvPr id="52" name="TextBox 51"/>
              <p:cNvSpPr txBox="1">
                <a:spLocks noRot="1" noChangeAspect="1" noMove="1" noResize="1" noEditPoints="1" noAdjustHandles="1" noChangeArrowheads="1" noChangeShapeType="1" noTextEdit="1"/>
              </p:cNvSpPr>
              <p:nvPr/>
            </p:nvSpPr>
            <p:spPr>
              <a:xfrm>
                <a:off x="1991039" y="2878444"/>
                <a:ext cx="181139" cy="276999"/>
              </a:xfrm>
              <a:prstGeom prst="rect">
                <a:avLst/>
              </a:prstGeom>
              <a:blipFill rotWithShape="0">
                <a:blip r:embed="rId9"/>
                <a:stretch>
                  <a:fillRect l="-34483" r="-31034" b="-6522"/>
                </a:stretch>
              </a:blipFill>
            </p:spPr>
            <p:txBody>
              <a:bodyPr/>
              <a:lstStyle/>
              <a:p>
                <a:r>
                  <a:rPr lang="en-IN">
                    <a:noFill/>
                  </a:rPr>
                  <a:t> </a:t>
                </a:r>
              </a:p>
            </p:txBody>
          </p:sp>
        </mc:Fallback>
      </mc:AlternateContent>
      <p:pic>
        <p:nvPicPr>
          <p:cNvPr id="43" name="Picture 4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8913" y="5598241"/>
            <a:ext cx="746306" cy="746306"/>
          </a:xfrm>
          <a:prstGeom prst="rect">
            <a:avLst/>
          </a:prstGeom>
        </p:spPr>
      </p:pic>
      <p:cxnSp>
        <p:nvCxnSpPr>
          <p:cNvPr id="54" name="Straight Arrow Connector 53"/>
          <p:cNvCxnSpPr>
            <a:endCxn id="97" idx="1"/>
          </p:cNvCxnSpPr>
          <p:nvPr/>
        </p:nvCxnSpPr>
        <p:spPr>
          <a:xfrm flipV="1">
            <a:off x="2474259" y="3858947"/>
            <a:ext cx="1125933" cy="2112447"/>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2060163" y="5258277"/>
            <a:ext cx="0" cy="344968"/>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5" name="TextBox 64"/>
              <p:cNvSpPr txBox="1"/>
              <p:nvPr/>
            </p:nvSpPr>
            <p:spPr>
              <a:xfrm>
                <a:off x="1990027" y="4979431"/>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IN" dirty="0"/>
              </a:p>
            </p:txBody>
          </p:sp>
        </mc:Choice>
        <mc:Fallback xmlns="">
          <p:sp>
            <p:nvSpPr>
              <p:cNvPr id="65" name="TextBox 64"/>
              <p:cNvSpPr txBox="1">
                <a:spLocks noRot="1" noChangeAspect="1" noMove="1" noResize="1" noEditPoints="1" noAdjustHandles="1" noChangeArrowheads="1" noChangeShapeType="1" noTextEdit="1"/>
              </p:cNvSpPr>
              <p:nvPr/>
            </p:nvSpPr>
            <p:spPr>
              <a:xfrm>
                <a:off x="1990027" y="4979431"/>
                <a:ext cx="181139" cy="276999"/>
              </a:xfrm>
              <a:prstGeom prst="rect">
                <a:avLst/>
              </a:prstGeom>
              <a:blipFill rotWithShape="0">
                <a:blip r:embed="rId10"/>
                <a:stretch>
                  <a:fillRect l="-30000" r="-30000" b="-6667"/>
                </a:stretch>
              </a:blipFill>
            </p:spPr>
            <p:txBody>
              <a:bodyPr/>
              <a:lstStyle/>
              <a:p>
                <a:r>
                  <a:rPr lang="en-IN">
                    <a:noFill/>
                  </a:rPr>
                  <a:t> </a:t>
                </a:r>
              </a:p>
            </p:txBody>
          </p:sp>
        </mc:Fallback>
      </mc:AlternateContent>
      <p:cxnSp>
        <p:nvCxnSpPr>
          <p:cNvPr id="70" name="Straight Arrow Connector 69"/>
          <p:cNvCxnSpPr/>
          <p:nvPr/>
        </p:nvCxnSpPr>
        <p:spPr>
          <a:xfrm>
            <a:off x="739588" y="1744041"/>
            <a:ext cx="1089212" cy="3984406"/>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a:off x="711987" y="2457833"/>
            <a:ext cx="996219" cy="3483689"/>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a:off x="820271" y="4020670"/>
            <a:ext cx="900953" cy="1963271"/>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grpSp>
        <p:nvGrpSpPr>
          <p:cNvPr id="83" name="Group 82"/>
          <p:cNvGrpSpPr/>
          <p:nvPr/>
        </p:nvGrpSpPr>
        <p:grpSpPr>
          <a:xfrm>
            <a:off x="2076475" y="4432863"/>
            <a:ext cx="36000" cy="340800"/>
            <a:chOff x="2731586" y="4043627"/>
            <a:chExt cx="36000" cy="340800"/>
          </a:xfrm>
        </p:grpSpPr>
        <p:sp>
          <p:nvSpPr>
            <p:cNvPr id="84" name="Oval 83"/>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Oval 84"/>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6" name="Oval 85"/>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87" name="TextBox 86"/>
              <p:cNvSpPr txBox="1"/>
              <p:nvPr/>
            </p:nvSpPr>
            <p:spPr>
              <a:xfrm>
                <a:off x="1766724" y="5921306"/>
                <a:ext cx="6972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𝑔</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m:t>
                      </m:r>
                    </m:oMath>
                  </m:oMathPara>
                </a14:m>
                <a:endParaRPr lang="en-IN" sz="2400" dirty="0"/>
              </a:p>
            </p:txBody>
          </p:sp>
        </mc:Choice>
        <mc:Fallback xmlns="">
          <p:sp>
            <p:nvSpPr>
              <p:cNvPr id="87" name="TextBox 86"/>
              <p:cNvSpPr txBox="1">
                <a:spLocks noRot="1" noChangeAspect="1" noMove="1" noResize="1" noEditPoints="1" noAdjustHandles="1" noChangeArrowheads="1" noChangeShapeType="1" noTextEdit="1"/>
              </p:cNvSpPr>
              <p:nvPr/>
            </p:nvSpPr>
            <p:spPr>
              <a:xfrm>
                <a:off x="1766724" y="5921306"/>
                <a:ext cx="697242" cy="369332"/>
              </a:xfrm>
              <a:prstGeom prst="rect">
                <a:avLst/>
              </a:prstGeom>
              <a:blipFill rotWithShape="0">
                <a:blip r:embed="rId11"/>
                <a:stretch>
                  <a:fillRect l="-10526" r="-14912" b="-3442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p:cNvSpPr txBox="1"/>
              <p:nvPr/>
            </p:nvSpPr>
            <p:spPr>
              <a:xfrm>
                <a:off x="1789142" y="3805368"/>
                <a:ext cx="6972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𝑔</m:t>
                      </m:r>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𝑎</m:t>
                      </m:r>
                      <m:r>
                        <a:rPr lang="en-US" sz="2400" b="0" i="1" smtClean="0">
                          <a:solidFill>
                            <a:schemeClr val="tx1"/>
                          </a:solidFill>
                          <a:latin typeface="Cambria Math" panose="02040503050406030204" pitchFamily="18" charset="0"/>
                          <a:ea typeface="Cambria Math" panose="02040503050406030204" pitchFamily="18" charset="0"/>
                        </a:rPr>
                        <m:t>)</m:t>
                      </m:r>
                    </m:oMath>
                  </m:oMathPara>
                </a14:m>
                <a:endParaRPr lang="en-IN" sz="2400" dirty="0">
                  <a:solidFill>
                    <a:schemeClr val="tx1"/>
                  </a:solidFill>
                </a:endParaRPr>
              </a:p>
            </p:txBody>
          </p:sp>
        </mc:Choice>
        <mc:Fallback xmlns="">
          <p:sp>
            <p:nvSpPr>
              <p:cNvPr id="88" name="TextBox 87"/>
              <p:cNvSpPr txBox="1">
                <a:spLocks noRot="1" noChangeAspect="1" noMove="1" noResize="1" noEditPoints="1" noAdjustHandles="1" noChangeArrowheads="1" noChangeShapeType="1" noTextEdit="1"/>
              </p:cNvSpPr>
              <p:nvPr/>
            </p:nvSpPr>
            <p:spPr>
              <a:xfrm>
                <a:off x="1789142" y="3805368"/>
                <a:ext cx="697242" cy="369332"/>
              </a:xfrm>
              <a:prstGeom prst="rect">
                <a:avLst/>
              </a:prstGeom>
              <a:blipFill rotWithShape="0">
                <a:blip r:embed="rId12"/>
                <a:stretch>
                  <a:fillRect l="-10435" r="-14783" b="-34426"/>
                </a:stretch>
              </a:blipFill>
            </p:spPr>
            <p:txBody>
              <a:bodyPr/>
              <a:lstStyle/>
              <a:p>
                <a:r>
                  <a:rPr lang="en-IN">
                    <a:noFill/>
                  </a:rPr>
                  <a:t> </a:t>
                </a:r>
              </a:p>
            </p:txBody>
          </p:sp>
        </mc:Fallback>
      </mc:AlternateContent>
      <p:grpSp>
        <p:nvGrpSpPr>
          <p:cNvPr id="89" name="Group 88"/>
          <p:cNvGrpSpPr/>
          <p:nvPr/>
        </p:nvGrpSpPr>
        <p:grpSpPr>
          <a:xfrm>
            <a:off x="398360" y="3066249"/>
            <a:ext cx="36000" cy="340800"/>
            <a:chOff x="2731586" y="4043627"/>
            <a:chExt cx="36000" cy="340800"/>
          </a:xfrm>
        </p:grpSpPr>
        <p:sp>
          <p:nvSpPr>
            <p:cNvPr id="90" name="Oval 89"/>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1" name="Oval 90"/>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2" name="Oval 91"/>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 name="Left Brace 5"/>
          <p:cNvSpPr/>
          <p:nvPr/>
        </p:nvSpPr>
        <p:spPr>
          <a:xfrm rot="5400000">
            <a:off x="396234" y="984685"/>
            <a:ext cx="252624" cy="9497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 name="TextBox 6"/>
          <p:cNvSpPr txBox="1"/>
          <p:nvPr/>
        </p:nvSpPr>
        <p:spPr>
          <a:xfrm>
            <a:off x="-28641" y="921212"/>
            <a:ext cx="1238737" cy="369332"/>
          </a:xfrm>
          <a:prstGeom prst="rect">
            <a:avLst/>
          </a:prstGeom>
          <a:noFill/>
        </p:spPr>
        <p:txBody>
          <a:bodyPr wrap="none" rtlCol="0">
            <a:spAutoFit/>
          </a:bodyPr>
          <a:lstStyle/>
          <a:p>
            <a:r>
              <a:rPr lang="en-US" dirty="0">
                <a:solidFill>
                  <a:srgbClr val="FF0000"/>
                </a:solidFill>
              </a:rPr>
              <a:t>Input Layer</a:t>
            </a:r>
            <a:endParaRPr lang="en-IN" dirty="0">
              <a:solidFill>
                <a:srgbClr val="FF0000"/>
              </a:solidFill>
            </a:endParaRPr>
          </a:p>
        </p:txBody>
      </p:sp>
      <p:sp>
        <p:nvSpPr>
          <p:cNvPr id="95" name="Left Brace 94"/>
          <p:cNvSpPr/>
          <p:nvPr/>
        </p:nvSpPr>
        <p:spPr>
          <a:xfrm rot="5400000">
            <a:off x="1977684" y="990505"/>
            <a:ext cx="252624" cy="9497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96" name="TextBox 95"/>
          <p:cNvSpPr txBox="1"/>
          <p:nvPr/>
        </p:nvSpPr>
        <p:spPr>
          <a:xfrm>
            <a:off x="1552809" y="927032"/>
            <a:ext cx="1416670" cy="369332"/>
          </a:xfrm>
          <a:prstGeom prst="rect">
            <a:avLst/>
          </a:prstGeom>
          <a:noFill/>
        </p:spPr>
        <p:txBody>
          <a:bodyPr wrap="none" rtlCol="0">
            <a:spAutoFit/>
          </a:bodyPr>
          <a:lstStyle/>
          <a:p>
            <a:r>
              <a:rPr lang="en-US" dirty="0">
                <a:solidFill>
                  <a:srgbClr val="FF0000"/>
                </a:solidFill>
              </a:rPr>
              <a:t>Hidden Layer</a:t>
            </a:r>
            <a:endParaRPr lang="en-IN" dirty="0">
              <a:solidFill>
                <a:srgbClr val="FF0000"/>
              </a:solidFill>
            </a:endParaRPr>
          </a:p>
        </p:txBody>
      </p:sp>
      <p:pic>
        <p:nvPicPr>
          <p:cNvPr id="97" name="Picture 9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0192" y="3485794"/>
            <a:ext cx="746306" cy="746306"/>
          </a:xfrm>
          <a:prstGeom prst="rect">
            <a:avLst/>
          </a:prstGeom>
          <a:noFill/>
        </p:spPr>
      </p:pic>
      <mc:AlternateContent xmlns:mc="http://schemas.openxmlformats.org/markup-compatibility/2006" xmlns:a14="http://schemas.microsoft.com/office/drawing/2010/main">
        <mc:Choice Requires="a14">
          <p:sp>
            <p:nvSpPr>
              <p:cNvPr id="60" name="TextBox 59"/>
              <p:cNvSpPr txBox="1"/>
              <p:nvPr/>
            </p:nvSpPr>
            <p:spPr>
              <a:xfrm>
                <a:off x="3649256" y="3802402"/>
                <a:ext cx="597408" cy="369332"/>
              </a:xfrm>
              <a:prstGeom prst="rect">
                <a:avLst/>
              </a:prstGeom>
              <a:noFill/>
            </p:spPr>
            <p:txBody>
              <a:bodyPr wrap="none" lIns="0" tIns="0" rIns="0" bIns="0" rtlCol="0">
                <a:spAutoFit/>
              </a:bodyPr>
              <a:lstStyle/>
              <a:p>
                <a:r>
                  <a:rPr lang="en-US" sz="2400" b="0" dirty="0">
                    <a:solidFill>
                      <a:schemeClr val="tx1"/>
                    </a:solidFill>
                    <a:ea typeface="Cambria Math" panose="02040503050406030204" pitchFamily="18" charset="0"/>
                  </a:rPr>
                  <a:t>o</a:t>
                </a:r>
                <a14:m>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𝑎</m:t>
                    </m:r>
                    <m:r>
                      <a:rPr lang="en-US" sz="2400" b="0" i="1" smtClean="0">
                        <a:solidFill>
                          <a:schemeClr val="tx1"/>
                        </a:solidFill>
                        <a:latin typeface="Cambria Math" panose="02040503050406030204" pitchFamily="18" charset="0"/>
                        <a:ea typeface="Cambria Math" panose="02040503050406030204" pitchFamily="18" charset="0"/>
                      </a:rPr>
                      <m:t>)</m:t>
                    </m:r>
                  </m:oMath>
                </a14:m>
                <a:endParaRPr lang="en-IN" sz="2400" dirty="0">
                  <a:solidFill>
                    <a:schemeClr val="tx1"/>
                  </a:solidFill>
                </a:endParaRPr>
              </a:p>
            </p:txBody>
          </p:sp>
        </mc:Choice>
        <mc:Fallback xmlns="">
          <p:sp>
            <p:nvSpPr>
              <p:cNvPr id="60" name="TextBox 59"/>
              <p:cNvSpPr txBox="1">
                <a:spLocks noRot="1" noChangeAspect="1" noMove="1" noResize="1" noEditPoints="1" noAdjustHandles="1" noChangeArrowheads="1" noChangeShapeType="1" noTextEdit="1"/>
              </p:cNvSpPr>
              <p:nvPr/>
            </p:nvSpPr>
            <p:spPr>
              <a:xfrm>
                <a:off x="3649256" y="3802402"/>
                <a:ext cx="597408" cy="369332"/>
              </a:xfrm>
              <a:prstGeom prst="rect">
                <a:avLst/>
              </a:prstGeom>
              <a:blipFill rotWithShape="0">
                <a:blip r:embed="rId13"/>
                <a:stretch>
                  <a:fillRect l="-31633" t="-26667" r="-22449" b="-50000"/>
                </a:stretch>
              </a:blipFill>
            </p:spPr>
            <p:txBody>
              <a:bodyPr/>
              <a:lstStyle/>
              <a:p>
                <a:r>
                  <a:rPr lang="en-IN">
                    <a:noFill/>
                  </a:rPr>
                  <a:t> </a:t>
                </a:r>
              </a:p>
            </p:txBody>
          </p:sp>
        </mc:Fallback>
      </mc:AlternateContent>
      <p:cxnSp>
        <p:nvCxnSpPr>
          <p:cNvPr id="64" name="Straight Arrow Connector 63"/>
          <p:cNvCxnSpPr/>
          <p:nvPr/>
        </p:nvCxnSpPr>
        <p:spPr>
          <a:xfrm>
            <a:off x="4320045" y="3860118"/>
            <a:ext cx="338016" cy="1877"/>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TextBox 65"/>
              <p:cNvSpPr txBox="1"/>
              <p:nvPr/>
            </p:nvSpPr>
            <p:spPr>
              <a:xfrm>
                <a:off x="4598256" y="3571794"/>
                <a:ext cx="28828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oMath>
                  </m:oMathPara>
                </a14:m>
                <a:endParaRPr lang="en-IN" sz="2800" dirty="0"/>
              </a:p>
            </p:txBody>
          </p:sp>
        </mc:Choice>
        <mc:Fallback xmlns="">
          <p:sp>
            <p:nvSpPr>
              <p:cNvPr id="66" name="TextBox 65"/>
              <p:cNvSpPr txBox="1">
                <a:spLocks noRot="1" noChangeAspect="1" noMove="1" noResize="1" noEditPoints="1" noAdjustHandles="1" noChangeArrowheads="1" noChangeShapeType="1" noTextEdit="1"/>
              </p:cNvSpPr>
              <p:nvPr/>
            </p:nvSpPr>
            <p:spPr>
              <a:xfrm>
                <a:off x="4598256" y="3571794"/>
                <a:ext cx="288284" cy="430887"/>
              </a:xfrm>
              <a:prstGeom prst="rect">
                <a:avLst/>
              </a:prstGeom>
              <a:blipFill rotWithShape="0">
                <a:blip r:embed="rId14"/>
                <a:stretch>
                  <a:fillRect/>
                </a:stretch>
              </a:blipFill>
            </p:spPr>
            <p:txBody>
              <a:bodyPr/>
              <a:lstStyle/>
              <a:p>
                <a:r>
                  <a:rPr lang="en-IN">
                    <a:noFill/>
                  </a:rPr>
                  <a:t> </a:t>
                </a:r>
              </a:p>
            </p:txBody>
          </p:sp>
        </mc:Fallback>
      </mc:AlternateContent>
      <p:sp>
        <p:nvSpPr>
          <p:cNvPr id="71" name="Left Brace 70"/>
          <p:cNvSpPr/>
          <p:nvPr/>
        </p:nvSpPr>
        <p:spPr>
          <a:xfrm rot="5400000">
            <a:off x="3836544" y="2821655"/>
            <a:ext cx="252624" cy="9497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3" name="TextBox 72"/>
          <p:cNvSpPr txBox="1"/>
          <p:nvPr/>
        </p:nvSpPr>
        <p:spPr>
          <a:xfrm>
            <a:off x="3411669" y="2758182"/>
            <a:ext cx="1410258" cy="369332"/>
          </a:xfrm>
          <a:prstGeom prst="rect">
            <a:avLst/>
          </a:prstGeom>
          <a:noFill/>
        </p:spPr>
        <p:txBody>
          <a:bodyPr wrap="none" rtlCol="0">
            <a:spAutoFit/>
          </a:bodyPr>
          <a:lstStyle/>
          <a:p>
            <a:r>
              <a:rPr lang="en-US" dirty="0">
                <a:solidFill>
                  <a:srgbClr val="FF0000"/>
                </a:solidFill>
              </a:rPr>
              <a:t>Output Layer</a:t>
            </a:r>
            <a:endParaRPr lang="en-IN" dirty="0">
              <a:solidFill>
                <a:srgbClr val="FF0000"/>
              </a:solidFill>
            </a:endParaRPr>
          </a:p>
        </p:txBody>
      </p:sp>
      <p:sp>
        <p:nvSpPr>
          <p:cNvPr id="75" name="TextBox 74"/>
          <p:cNvSpPr txBox="1"/>
          <p:nvPr/>
        </p:nvSpPr>
        <p:spPr>
          <a:xfrm>
            <a:off x="8251115" y="2991332"/>
            <a:ext cx="3700632" cy="1200329"/>
          </a:xfrm>
          <a:prstGeom prst="rect">
            <a:avLst/>
          </a:prstGeom>
          <a:noFill/>
        </p:spPr>
        <p:txBody>
          <a:bodyPr wrap="square" rtlCol="0">
            <a:spAutoFit/>
          </a:bodyPr>
          <a:lstStyle/>
          <a:p>
            <a:r>
              <a:rPr lang="en-US" u="sng" dirty="0"/>
              <a:t>Intuition</a:t>
            </a:r>
            <a:r>
              <a:rPr lang="en-US" dirty="0"/>
              <a:t>:-</a:t>
            </a:r>
          </a:p>
          <a:p>
            <a:r>
              <a:rPr lang="en-US" dirty="0">
                <a:solidFill>
                  <a:srgbClr val="FF0000"/>
                </a:solidFill>
              </a:rPr>
              <a:t>Hidden Layer: </a:t>
            </a:r>
            <a:r>
              <a:rPr lang="en-US" dirty="0"/>
              <a:t>Extracts better representation of the input data</a:t>
            </a:r>
          </a:p>
          <a:p>
            <a:r>
              <a:rPr lang="en-US" dirty="0">
                <a:solidFill>
                  <a:srgbClr val="FF0000"/>
                </a:solidFill>
              </a:rPr>
              <a:t>Output layer: </a:t>
            </a:r>
            <a:r>
              <a:rPr lang="en-US" dirty="0"/>
              <a:t>Does the classification</a:t>
            </a:r>
            <a:endParaRPr lang="en-IN" dirty="0"/>
          </a:p>
        </p:txBody>
      </p:sp>
    </p:spTree>
    <p:extLst>
      <p:ext uri="{BB962C8B-B14F-4D97-AF65-F5344CB8AC3E}">
        <p14:creationId xmlns:p14="http://schemas.microsoft.com/office/powerpoint/2010/main" val="39344623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3394564" y="832857"/>
            <a:ext cx="5179280"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solidFill>
                  <a:srgbClr val="434343"/>
                </a:solidFill>
              </a:rPr>
              <a:t>Multilayer Neural Network</a:t>
            </a:r>
            <a:endParaRPr sz="2800" dirty="0">
              <a:solidFill>
                <a:srgbClr val="434343"/>
              </a:solidFill>
            </a:endParaRPr>
          </a:p>
        </p:txBody>
      </p:sp>
      <p:sp>
        <p:nvSpPr>
          <p:cNvPr id="3" name="Footer Placeholder 2"/>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21" name="Slide Number Placeholder 20"/>
          <p:cNvSpPr>
            <a:spLocks noGrp="1"/>
          </p:cNvSpPr>
          <p:nvPr>
            <p:ph type="sldNum" sz="quarter" idx="4"/>
          </p:nvPr>
        </p:nvSpPr>
        <p:spPr>
          <a:xfrm>
            <a:off x="10569844" y="6356350"/>
            <a:ext cx="783956" cy="365125"/>
          </a:xfrm>
        </p:spPr>
        <p:txBody>
          <a:bodyPr/>
          <a:lstStyle/>
          <a:p>
            <a:fld id="{683B8651-0143-4140-839E-3D36292080E8}" type="slidenum">
              <a:rPr lang="en-US" smtClean="0"/>
              <a:t>20</a:t>
            </a:fld>
            <a:endParaRPr lang="en-US"/>
          </a:p>
        </p:txBody>
      </p:sp>
      <p:pic>
        <p:nvPicPr>
          <p:cNvPr id="29" name="Picture 2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2067" y="2125313"/>
            <a:ext cx="746306" cy="746306"/>
          </a:xfrm>
          <a:prstGeom prst="rect">
            <a:avLst/>
          </a:prstGeom>
        </p:spPr>
      </p:pic>
      <p:sp>
        <p:nvSpPr>
          <p:cNvPr id="55" name="Google Shape;119;p14"/>
          <p:cNvSpPr/>
          <p:nvPr/>
        </p:nvSpPr>
        <p:spPr>
          <a:xfrm>
            <a:off x="336842" y="1615227"/>
            <a:ext cx="167400" cy="332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Narrow"/>
              <a:ea typeface="Arial Narrow"/>
              <a:cs typeface="Arial Narrow"/>
              <a:sym typeface="Arial Narrow"/>
            </a:endParaRPr>
          </a:p>
        </p:txBody>
      </p:sp>
      <p:cxnSp>
        <p:nvCxnSpPr>
          <p:cNvPr id="56" name="Straight Arrow Connector 55"/>
          <p:cNvCxnSpPr/>
          <p:nvPr/>
        </p:nvCxnSpPr>
        <p:spPr>
          <a:xfrm>
            <a:off x="726323" y="1691956"/>
            <a:ext cx="1113565" cy="556303"/>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726323" y="2502846"/>
            <a:ext cx="1008112" cy="0"/>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793415" y="2757433"/>
            <a:ext cx="1046473" cy="1249612"/>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2094475" y="1796659"/>
            <a:ext cx="0" cy="344968"/>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p:grpSp>
        <p:nvGrpSpPr>
          <p:cNvPr id="62" name="Group 61"/>
          <p:cNvGrpSpPr/>
          <p:nvPr/>
        </p:nvGrpSpPr>
        <p:grpSpPr>
          <a:xfrm>
            <a:off x="1202581" y="2913849"/>
            <a:ext cx="36000" cy="340800"/>
            <a:chOff x="2731586" y="4043627"/>
            <a:chExt cx="36000" cy="340800"/>
          </a:xfrm>
        </p:grpSpPr>
        <p:sp>
          <p:nvSpPr>
            <p:cNvPr id="63" name="Oval 62"/>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Oval 63"/>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Oval 65"/>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67" name="TextBox 66"/>
              <p:cNvSpPr txBox="1"/>
              <p:nvPr/>
            </p:nvSpPr>
            <p:spPr>
              <a:xfrm>
                <a:off x="249973" y="1361814"/>
                <a:ext cx="50853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1</m:t>
                          </m:r>
                        </m:sub>
                      </m:sSub>
                    </m:oMath>
                  </m:oMathPara>
                </a14:m>
                <a:endParaRPr lang="en-US" sz="3200" b="0" dirty="0"/>
              </a:p>
            </p:txBody>
          </p:sp>
        </mc:Choice>
        <mc:Fallback xmlns="">
          <p:sp>
            <p:nvSpPr>
              <p:cNvPr id="67" name="TextBox 66"/>
              <p:cNvSpPr txBox="1">
                <a:spLocks noRot="1" noChangeAspect="1" noMove="1" noResize="1" noEditPoints="1" noAdjustHandles="1" noChangeArrowheads="1" noChangeShapeType="1" noTextEdit="1"/>
              </p:cNvSpPr>
              <p:nvPr/>
            </p:nvSpPr>
            <p:spPr>
              <a:xfrm>
                <a:off x="249973" y="1361814"/>
                <a:ext cx="508537" cy="492443"/>
              </a:xfrm>
              <a:prstGeom prst="rect">
                <a:avLst/>
              </a:prstGeom>
              <a:blipFill rotWithShape="0">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49973" y="2170588"/>
                <a:ext cx="51802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2</m:t>
                          </m:r>
                        </m:sub>
                      </m:sSub>
                    </m:oMath>
                  </m:oMathPara>
                </a14:m>
                <a:endParaRPr lang="en-US" sz="3200" b="0" dirty="0"/>
              </a:p>
            </p:txBody>
          </p:sp>
        </mc:Choice>
        <mc:Fallback xmlns="">
          <p:sp>
            <p:nvSpPr>
              <p:cNvPr id="68" name="TextBox 67"/>
              <p:cNvSpPr txBox="1">
                <a:spLocks noRot="1" noChangeAspect="1" noMove="1" noResize="1" noEditPoints="1" noAdjustHandles="1" noChangeArrowheads="1" noChangeShapeType="1" noTextEdit="1"/>
              </p:cNvSpPr>
              <p:nvPr/>
            </p:nvSpPr>
            <p:spPr>
              <a:xfrm>
                <a:off x="249973" y="2170588"/>
                <a:ext cx="518027" cy="492443"/>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a:off x="249973" y="3627993"/>
                <a:ext cx="54514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𝑑</m:t>
                          </m:r>
                        </m:sub>
                      </m:sSub>
                    </m:oMath>
                  </m:oMathPara>
                </a14:m>
                <a:endParaRPr lang="en-US" sz="3200" b="0" dirty="0"/>
              </a:p>
            </p:txBody>
          </p:sp>
        </mc:Choice>
        <mc:Fallback xmlns="">
          <p:sp>
            <p:nvSpPr>
              <p:cNvPr id="69" name="TextBox 68"/>
              <p:cNvSpPr txBox="1">
                <a:spLocks noRot="1" noChangeAspect="1" noMove="1" noResize="1" noEditPoints="1" noAdjustHandles="1" noChangeArrowheads="1" noChangeShapeType="1" noTextEdit="1"/>
              </p:cNvSpPr>
              <p:nvPr/>
            </p:nvSpPr>
            <p:spPr>
              <a:xfrm>
                <a:off x="249973" y="3627993"/>
                <a:ext cx="545149" cy="492443"/>
              </a:xfrm>
              <a:prstGeom prst="rect">
                <a:avLst/>
              </a:prstGeom>
              <a:blipFill rotWithShape="0">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3" name="TextBox 72"/>
              <p:cNvSpPr txBox="1"/>
              <p:nvPr/>
            </p:nvSpPr>
            <p:spPr>
              <a:xfrm>
                <a:off x="2012197" y="1467042"/>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IN" dirty="0"/>
              </a:p>
            </p:txBody>
          </p:sp>
        </mc:Choice>
        <mc:Fallback xmlns="">
          <p:sp>
            <p:nvSpPr>
              <p:cNvPr id="73" name="TextBox 72"/>
              <p:cNvSpPr txBox="1">
                <a:spLocks noRot="1" noChangeAspect="1" noMove="1" noResize="1" noEditPoints="1" noAdjustHandles="1" noChangeArrowheads="1" noChangeShapeType="1" noTextEdit="1"/>
              </p:cNvSpPr>
              <p:nvPr/>
            </p:nvSpPr>
            <p:spPr>
              <a:xfrm>
                <a:off x="2012197" y="1467042"/>
                <a:ext cx="181139" cy="276999"/>
              </a:xfrm>
              <a:prstGeom prst="rect">
                <a:avLst/>
              </a:prstGeom>
              <a:blipFill rotWithShape="0">
                <a:blip r:embed="rId7"/>
                <a:stretch>
                  <a:fillRect l="-30000" r="-30000" b="-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3087305" y="2245622"/>
                <a:ext cx="574260" cy="4612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400" i="1" smtClean="0">
                              <a:latin typeface="Cambria Math" panose="02040503050406030204" pitchFamily="18" charset="0"/>
                            </a:rPr>
                          </m:ctrlPr>
                        </m:sSubSupPr>
                        <m:e>
                          <m:r>
                            <a:rPr lang="en-US" sz="2400" b="0" i="1" smtClean="0">
                              <a:latin typeface="Cambria Math" panose="02040503050406030204" pitchFamily="18" charset="0"/>
                            </a:rPr>
                            <m:t>h</m:t>
                          </m:r>
                        </m:e>
                        <m:sub>
                          <m:r>
                            <a:rPr lang="en-US" sz="2400" b="0" i="1" smtClean="0">
                              <a:latin typeface="Cambria Math" panose="02040503050406030204" pitchFamily="18" charset="0"/>
                            </a:rPr>
                            <m:t>1</m:t>
                          </m:r>
                        </m:sub>
                        <m:sup>
                          <m:r>
                            <a:rPr lang="en-US" sz="2400" b="0" i="1" smtClean="0">
                              <a:latin typeface="Cambria Math" panose="02040503050406030204" pitchFamily="18" charset="0"/>
                            </a:rPr>
                            <m:t>(1)</m:t>
                          </m:r>
                        </m:sup>
                      </m:sSubSup>
                    </m:oMath>
                  </m:oMathPara>
                </a14:m>
                <a:endParaRPr lang="en-IN" sz="2400" dirty="0"/>
              </a:p>
            </p:txBody>
          </p:sp>
        </mc:Choice>
        <mc:Fallback xmlns="">
          <p:sp>
            <p:nvSpPr>
              <p:cNvPr id="81" name="TextBox 80"/>
              <p:cNvSpPr txBox="1">
                <a:spLocks noRot="1" noChangeAspect="1" noMove="1" noResize="1" noEditPoints="1" noAdjustHandles="1" noChangeArrowheads="1" noChangeShapeType="1" noTextEdit="1"/>
              </p:cNvSpPr>
              <p:nvPr/>
            </p:nvSpPr>
            <p:spPr>
              <a:xfrm>
                <a:off x="3087305" y="2245622"/>
                <a:ext cx="574260" cy="461280"/>
              </a:xfrm>
              <a:prstGeom prst="rect">
                <a:avLst/>
              </a:prstGeom>
              <a:blipFill rotWithShape="0">
                <a:blip r:embed="rId8"/>
                <a:stretch>
                  <a:fillRect/>
                </a:stretch>
              </a:blipFill>
            </p:spPr>
            <p:txBody>
              <a:bodyPr/>
              <a:lstStyle/>
              <a:p>
                <a:r>
                  <a:rPr lang="en-IN">
                    <a:noFill/>
                  </a:rPr>
                  <a:t> </a:t>
                </a:r>
              </a:p>
            </p:txBody>
          </p:sp>
        </mc:Fallback>
      </mc:AlternateContent>
      <p:cxnSp>
        <p:nvCxnSpPr>
          <p:cNvPr id="82" name="Straight Arrow Connector 81"/>
          <p:cNvCxnSpPr/>
          <p:nvPr/>
        </p:nvCxnSpPr>
        <p:spPr>
          <a:xfrm>
            <a:off x="2476115" y="2504609"/>
            <a:ext cx="622884" cy="2489"/>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p:cNvSpPr txBox="1"/>
              <p:nvPr/>
            </p:nvSpPr>
            <p:spPr>
              <a:xfrm>
                <a:off x="1063865" y="1425011"/>
                <a:ext cx="536044" cy="409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latin typeface="Cambria Math" panose="02040503050406030204" pitchFamily="18" charset="0"/>
                            </a:rPr>
                          </m:ctrlPr>
                        </m:sSubSupPr>
                        <m:e>
                          <m:r>
                            <a:rPr lang="en-US" sz="2000" b="0" i="1" smtClean="0">
                              <a:latin typeface="Cambria Math" panose="02040503050406030204" pitchFamily="18" charset="0"/>
                            </a:rPr>
                            <m:t>𝑤</m:t>
                          </m:r>
                        </m:e>
                        <m:sub>
                          <m:r>
                            <a:rPr lang="en-US" sz="2000" b="0" i="1" smtClean="0">
                              <a:latin typeface="Cambria Math" panose="02040503050406030204" pitchFamily="18" charset="0"/>
                            </a:rPr>
                            <m:t>1,1</m:t>
                          </m:r>
                        </m:sub>
                        <m:sup>
                          <m:r>
                            <a:rPr lang="en-US" sz="2000" b="0" i="1" smtClean="0">
                              <a:latin typeface="Cambria Math" panose="02040503050406030204" pitchFamily="18" charset="0"/>
                            </a:rPr>
                            <m:t>(1)</m:t>
                          </m:r>
                        </m:sup>
                      </m:sSubSup>
                    </m:oMath>
                  </m:oMathPara>
                </a14:m>
                <a:endParaRPr lang="en-IN" sz="2000" dirty="0"/>
              </a:p>
            </p:txBody>
          </p:sp>
        </mc:Choice>
        <mc:Fallback xmlns="">
          <p:sp>
            <p:nvSpPr>
              <p:cNvPr id="2" name="TextBox 1"/>
              <p:cNvSpPr txBox="1">
                <a:spLocks noRot="1" noChangeAspect="1" noMove="1" noResize="1" noEditPoints="1" noAdjustHandles="1" noChangeArrowheads="1" noChangeShapeType="1" noTextEdit="1"/>
              </p:cNvSpPr>
              <p:nvPr/>
            </p:nvSpPr>
            <p:spPr>
              <a:xfrm>
                <a:off x="1063865" y="1425011"/>
                <a:ext cx="536044" cy="409536"/>
              </a:xfrm>
              <a:prstGeom prst="rect">
                <a:avLst/>
              </a:prstGeom>
              <a:blipFill rotWithShape="0">
                <a:blip r:embed="rId9"/>
                <a:stretch>
                  <a:fillRect l="-6897" t="-4478" r="-11494" b="-895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p:cNvSpPr txBox="1"/>
              <p:nvPr/>
            </p:nvSpPr>
            <p:spPr>
              <a:xfrm>
                <a:off x="1028135" y="2051031"/>
                <a:ext cx="536044" cy="409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latin typeface="Cambria Math" panose="02040503050406030204" pitchFamily="18" charset="0"/>
                            </a:rPr>
                          </m:ctrlPr>
                        </m:sSubSupPr>
                        <m:e>
                          <m:r>
                            <a:rPr lang="en-US" sz="2000" b="0" i="1" smtClean="0">
                              <a:latin typeface="Cambria Math" panose="02040503050406030204" pitchFamily="18" charset="0"/>
                            </a:rPr>
                            <m:t>𝑤</m:t>
                          </m:r>
                        </m:e>
                        <m:sub>
                          <m:r>
                            <a:rPr lang="en-US" sz="2000" b="0" i="1" smtClean="0">
                              <a:latin typeface="Cambria Math" panose="02040503050406030204" pitchFamily="18" charset="0"/>
                            </a:rPr>
                            <m:t>1,2</m:t>
                          </m:r>
                        </m:sub>
                        <m:sup>
                          <m:r>
                            <a:rPr lang="en-US" sz="2000" b="0" i="1" smtClean="0">
                              <a:latin typeface="Cambria Math" panose="02040503050406030204" pitchFamily="18" charset="0"/>
                            </a:rPr>
                            <m:t>(1)</m:t>
                          </m:r>
                        </m:sup>
                      </m:sSubSup>
                    </m:oMath>
                  </m:oMathPara>
                </a14:m>
                <a:endParaRPr lang="en-IN" sz="2000" dirty="0"/>
              </a:p>
            </p:txBody>
          </p:sp>
        </mc:Choice>
        <mc:Fallback xmlns="">
          <p:sp>
            <p:nvSpPr>
              <p:cNvPr id="60" name="TextBox 59"/>
              <p:cNvSpPr txBox="1">
                <a:spLocks noRot="1" noChangeAspect="1" noMove="1" noResize="1" noEditPoints="1" noAdjustHandles="1" noChangeArrowheads="1" noChangeShapeType="1" noTextEdit="1"/>
              </p:cNvSpPr>
              <p:nvPr/>
            </p:nvSpPr>
            <p:spPr>
              <a:xfrm>
                <a:off x="1028135" y="2051031"/>
                <a:ext cx="536044" cy="409536"/>
              </a:xfrm>
              <a:prstGeom prst="rect">
                <a:avLst/>
              </a:prstGeom>
              <a:blipFill rotWithShape="0">
                <a:blip r:embed="rId10"/>
                <a:stretch>
                  <a:fillRect l="-6818" t="-2941" r="-10227" b="-88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1014363" y="3649614"/>
                <a:ext cx="536044" cy="409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latin typeface="Cambria Math" panose="02040503050406030204" pitchFamily="18" charset="0"/>
                            </a:rPr>
                          </m:ctrlPr>
                        </m:sSubSupPr>
                        <m:e>
                          <m:r>
                            <a:rPr lang="en-US" sz="2000" b="0" i="1" smtClean="0">
                              <a:latin typeface="Cambria Math" panose="02040503050406030204" pitchFamily="18" charset="0"/>
                            </a:rPr>
                            <m:t>𝑤</m:t>
                          </m:r>
                        </m:e>
                        <m:sub>
                          <m:r>
                            <a:rPr lang="en-US" sz="2000" b="0" i="1" smtClean="0">
                              <a:latin typeface="Cambria Math" panose="02040503050406030204" pitchFamily="18" charset="0"/>
                            </a:rPr>
                            <m:t>1,</m:t>
                          </m:r>
                          <m:r>
                            <a:rPr lang="en-US" sz="2000" b="0" i="1" smtClean="0">
                              <a:latin typeface="Cambria Math" panose="02040503050406030204" pitchFamily="18" charset="0"/>
                            </a:rPr>
                            <m:t>𝑑</m:t>
                          </m:r>
                        </m:sub>
                        <m:sup>
                          <m:r>
                            <a:rPr lang="en-US" sz="2000" b="0" i="1" smtClean="0">
                              <a:latin typeface="Cambria Math" panose="02040503050406030204" pitchFamily="18" charset="0"/>
                            </a:rPr>
                            <m:t>(1)</m:t>
                          </m:r>
                        </m:sup>
                      </m:sSubSup>
                    </m:oMath>
                  </m:oMathPara>
                </a14:m>
                <a:endParaRPr lang="en-IN" sz="2000" dirty="0"/>
              </a:p>
            </p:txBody>
          </p:sp>
        </mc:Choice>
        <mc:Fallback xmlns="">
          <p:sp>
            <p:nvSpPr>
              <p:cNvPr id="75" name="TextBox 74"/>
              <p:cNvSpPr txBox="1">
                <a:spLocks noRot="1" noChangeAspect="1" noMove="1" noResize="1" noEditPoints="1" noAdjustHandles="1" noChangeArrowheads="1" noChangeShapeType="1" noTextEdit="1"/>
              </p:cNvSpPr>
              <p:nvPr/>
            </p:nvSpPr>
            <p:spPr>
              <a:xfrm>
                <a:off x="1014363" y="3649614"/>
                <a:ext cx="536044" cy="409536"/>
              </a:xfrm>
              <a:prstGeom prst="rect">
                <a:avLst/>
              </a:prstGeom>
              <a:blipFill rotWithShape="0">
                <a:blip r:embed="rId11"/>
                <a:stretch>
                  <a:fillRect b="-149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6" name="TextBox 75"/>
              <p:cNvSpPr txBox="1"/>
              <p:nvPr/>
            </p:nvSpPr>
            <p:spPr>
              <a:xfrm>
                <a:off x="2142348" y="1679073"/>
                <a:ext cx="1290418" cy="4098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latin typeface="Cambria Math" panose="02040503050406030204" pitchFamily="18" charset="0"/>
                            </a:rPr>
                          </m:ctrlPr>
                        </m:sSubSupPr>
                        <m:e>
                          <m:r>
                            <a:rPr lang="en-US" sz="2000" b="0" i="1" smtClean="0">
                              <a:latin typeface="Cambria Math" panose="02040503050406030204" pitchFamily="18" charset="0"/>
                            </a:rPr>
                            <m:t>𝑤</m:t>
                          </m:r>
                        </m:e>
                        <m:sub>
                          <m:r>
                            <a:rPr lang="en-US" sz="2000" b="0" i="1" smtClean="0">
                              <a:latin typeface="Cambria Math" panose="02040503050406030204" pitchFamily="18" charset="0"/>
                            </a:rPr>
                            <m:t>1,0</m:t>
                          </m:r>
                        </m:sub>
                        <m:sup>
                          <m:r>
                            <a:rPr lang="en-US" sz="2000" b="0" i="1" smtClean="0">
                              <a:latin typeface="Cambria Math" panose="02040503050406030204" pitchFamily="18" charset="0"/>
                            </a:rPr>
                            <m:t>(1)</m:t>
                          </m:r>
                        </m:sup>
                      </m:sSubSup>
                      <m:r>
                        <a:rPr lang="en-US" sz="2000" b="0" i="1" smtClean="0">
                          <a:latin typeface="Cambria Math" panose="02040503050406030204" pitchFamily="18" charset="0"/>
                        </a:rPr>
                        <m:t>=</m:t>
                      </m:r>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𝑏</m:t>
                          </m:r>
                        </m:e>
                        <m:sub>
                          <m:r>
                            <a:rPr lang="en-US" sz="2000" b="0" i="1" smtClean="0">
                              <a:latin typeface="Cambria Math" panose="02040503050406030204" pitchFamily="18" charset="0"/>
                            </a:rPr>
                            <m:t>1</m:t>
                          </m:r>
                        </m:sub>
                        <m:sup>
                          <m:r>
                            <a:rPr lang="en-US" sz="2000" b="0" i="1" smtClean="0">
                              <a:latin typeface="Cambria Math" panose="02040503050406030204" pitchFamily="18" charset="0"/>
                            </a:rPr>
                            <m:t>(1)</m:t>
                          </m:r>
                        </m:sup>
                      </m:sSubSup>
                    </m:oMath>
                  </m:oMathPara>
                </a14:m>
                <a:endParaRPr lang="en-IN" sz="2000" dirty="0"/>
              </a:p>
            </p:txBody>
          </p:sp>
        </mc:Choice>
        <mc:Fallback xmlns="">
          <p:sp>
            <p:nvSpPr>
              <p:cNvPr id="76" name="TextBox 75"/>
              <p:cNvSpPr txBox="1">
                <a:spLocks noRot="1" noChangeAspect="1" noMove="1" noResize="1" noEditPoints="1" noAdjustHandles="1" noChangeArrowheads="1" noChangeShapeType="1" noTextEdit="1"/>
              </p:cNvSpPr>
              <p:nvPr/>
            </p:nvSpPr>
            <p:spPr>
              <a:xfrm>
                <a:off x="2142348" y="1679073"/>
                <a:ext cx="1290418" cy="409856"/>
              </a:xfrm>
              <a:prstGeom prst="rect">
                <a:avLst/>
              </a:prstGeom>
              <a:blipFill rotWithShape="0">
                <a:blip r:embed="rId12"/>
                <a:stretch>
                  <a:fillRect l="-1887" t="-2941" r="-3774" b="-88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1731976" y="2416839"/>
                <a:ext cx="6972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𝑔</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m:t>
                      </m:r>
                    </m:oMath>
                  </m:oMathPara>
                </a14:m>
                <a:endParaRPr lang="en-IN" sz="2400" dirty="0"/>
              </a:p>
            </p:txBody>
          </p:sp>
        </mc:Choice>
        <mc:Fallback xmlns="">
          <p:sp>
            <p:nvSpPr>
              <p:cNvPr id="27" name="TextBox 26"/>
              <p:cNvSpPr txBox="1">
                <a:spLocks noRot="1" noChangeAspect="1" noMove="1" noResize="1" noEditPoints="1" noAdjustHandles="1" noChangeArrowheads="1" noChangeShapeType="1" noTextEdit="1"/>
              </p:cNvSpPr>
              <p:nvPr/>
            </p:nvSpPr>
            <p:spPr>
              <a:xfrm>
                <a:off x="1731976" y="2416839"/>
                <a:ext cx="697242" cy="369332"/>
              </a:xfrm>
              <a:prstGeom prst="rect">
                <a:avLst/>
              </a:prstGeom>
              <a:blipFill rotWithShape="0">
                <a:blip r:embed="rId13"/>
                <a:stretch>
                  <a:fillRect l="-10526" r="-15789" b="-3442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5753531" y="1331293"/>
                <a:ext cx="5489708" cy="9587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200" b="0" i="1" smtClean="0">
                              <a:latin typeface="Cambria Math" panose="02040503050406030204" pitchFamily="18" charset="0"/>
                            </a:rPr>
                          </m:ctrlPr>
                        </m:sSubSupPr>
                        <m:e>
                          <m:r>
                            <a:rPr lang="en-IN" sz="2200" b="0" i="1" smtClean="0">
                              <a:latin typeface="Cambria Math" panose="02040503050406030204" pitchFamily="18" charset="0"/>
                            </a:rPr>
                            <m:t>𝑎</m:t>
                          </m:r>
                        </m:e>
                        <m:sub>
                          <m:r>
                            <a:rPr lang="en-IN" sz="2200" b="0" i="1" smtClean="0">
                              <a:latin typeface="Cambria Math" panose="02040503050406030204" pitchFamily="18" charset="0"/>
                            </a:rPr>
                            <m:t>1</m:t>
                          </m:r>
                        </m:sub>
                        <m:sup>
                          <m:d>
                            <m:dPr>
                              <m:ctrlPr>
                                <a:rPr lang="en-IN" sz="2200" b="0" i="1" smtClean="0">
                                  <a:latin typeface="Cambria Math" panose="02040503050406030204" pitchFamily="18" charset="0"/>
                                </a:rPr>
                              </m:ctrlPr>
                            </m:dPr>
                            <m:e>
                              <m:r>
                                <a:rPr lang="en-IN" sz="2200" b="0" i="1" smtClean="0">
                                  <a:latin typeface="Cambria Math" panose="02040503050406030204" pitchFamily="18" charset="0"/>
                                </a:rPr>
                                <m:t>1</m:t>
                              </m:r>
                            </m:e>
                          </m:d>
                        </m:sup>
                      </m:sSubSup>
                      <m:r>
                        <a:rPr lang="en-IN" sz="2200" b="0" i="1" smtClean="0">
                          <a:latin typeface="Cambria Math" panose="02040503050406030204" pitchFamily="18" charset="0"/>
                        </a:rPr>
                        <m:t>(</m:t>
                      </m:r>
                      <m:r>
                        <a:rPr lang="en-IN" sz="2200" b="1" i="1" smtClean="0">
                          <a:latin typeface="Cambria Math" panose="02040503050406030204" pitchFamily="18" charset="0"/>
                        </a:rPr>
                        <m:t>𝒙</m:t>
                      </m:r>
                      <m:r>
                        <a:rPr lang="en-IN" sz="2200" b="0" i="1" smtClean="0">
                          <a:latin typeface="Cambria Math" panose="02040503050406030204" pitchFamily="18" charset="0"/>
                        </a:rPr>
                        <m:t>)</m:t>
                      </m:r>
                      <m:r>
                        <a:rPr lang="en-US" sz="2200" b="0" i="1" smtClean="0">
                          <a:latin typeface="Cambria Math" panose="02040503050406030204" pitchFamily="18" charset="0"/>
                        </a:rPr>
                        <m:t>=</m:t>
                      </m:r>
                      <m:sSubSup>
                        <m:sSubSupPr>
                          <m:ctrlPr>
                            <a:rPr lang="en-US" sz="2200" i="1">
                              <a:solidFill>
                                <a:prstClr val="black"/>
                              </a:solidFill>
                              <a:latin typeface="Cambria Math" panose="02040503050406030204" pitchFamily="18" charset="0"/>
                            </a:rPr>
                          </m:ctrlPr>
                        </m:sSubSupPr>
                        <m:e>
                          <m:r>
                            <a:rPr lang="en-US" sz="2200" i="1">
                              <a:solidFill>
                                <a:prstClr val="black"/>
                              </a:solidFill>
                              <a:latin typeface="Cambria Math" panose="02040503050406030204" pitchFamily="18" charset="0"/>
                            </a:rPr>
                            <m:t>𝑏</m:t>
                          </m:r>
                        </m:e>
                        <m:sub>
                          <m:r>
                            <a:rPr lang="en-US" sz="2200" i="1">
                              <a:solidFill>
                                <a:prstClr val="black"/>
                              </a:solidFill>
                              <a:latin typeface="Cambria Math" panose="02040503050406030204" pitchFamily="18" charset="0"/>
                            </a:rPr>
                            <m:t>1</m:t>
                          </m:r>
                        </m:sub>
                        <m:sup>
                          <m:r>
                            <a:rPr lang="en-US" sz="2200" i="1">
                              <a:solidFill>
                                <a:prstClr val="black"/>
                              </a:solidFill>
                              <a:latin typeface="Cambria Math" panose="02040503050406030204" pitchFamily="18" charset="0"/>
                            </a:rPr>
                            <m:t>(1)</m:t>
                          </m:r>
                        </m:sup>
                      </m:sSubSup>
                      <m:r>
                        <a:rPr lang="en-US" sz="2200" b="0" i="1" smtClean="0">
                          <a:latin typeface="Cambria Math" panose="02040503050406030204" pitchFamily="18" charset="0"/>
                        </a:rPr>
                        <m:t>+ </m:t>
                      </m:r>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=1</m:t>
                          </m:r>
                        </m:sub>
                        <m:sup>
                          <m:r>
                            <a:rPr lang="en-US" sz="2200" b="0" i="1" smtClean="0">
                              <a:latin typeface="Cambria Math" panose="02040503050406030204" pitchFamily="18" charset="0"/>
                            </a:rPr>
                            <m:t>𝑑</m:t>
                          </m:r>
                        </m:sup>
                        <m:e>
                          <m:sSubSup>
                            <m:sSubSupPr>
                              <m:ctrlPr>
                                <a:rPr lang="en-IN" sz="2200" i="1">
                                  <a:latin typeface="Cambria Math" panose="02040503050406030204" pitchFamily="18" charset="0"/>
                                </a:rPr>
                              </m:ctrlPr>
                            </m:sSubSupPr>
                            <m:e>
                              <m:r>
                                <a:rPr lang="en-US" sz="2200" i="1">
                                  <a:latin typeface="Cambria Math" panose="02040503050406030204" pitchFamily="18" charset="0"/>
                                </a:rPr>
                                <m:t>𝑤</m:t>
                              </m:r>
                            </m:e>
                            <m:sub>
                              <m:r>
                                <a:rPr lang="en-US" sz="2200" i="1">
                                  <a:latin typeface="Cambria Math" panose="02040503050406030204" pitchFamily="18" charset="0"/>
                                </a:rPr>
                                <m:t>1,</m:t>
                              </m:r>
                              <m:r>
                                <a:rPr lang="en-IN" sz="2200" b="0" i="1" smtClean="0">
                                  <a:latin typeface="Cambria Math" panose="02040503050406030204" pitchFamily="18" charset="0"/>
                                </a:rPr>
                                <m:t>𝑖</m:t>
                              </m:r>
                            </m:sub>
                            <m:sup>
                              <m:r>
                                <a:rPr lang="en-US" sz="2200" i="1">
                                  <a:latin typeface="Cambria Math" panose="02040503050406030204" pitchFamily="18" charset="0"/>
                                </a:rPr>
                                <m:t>(1)</m:t>
                              </m:r>
                            </m:sup>
                          </m:sSubSup>
                          <m:r>
                            <m:rPr>
                              <m:nor/>
                            </m:rPr>
                            <a:rPr lang="en-IN" sz="2200" dirty="0"/>
                            <m:t> </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e>
                      </m:nary>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sSubSup>
                            <m:sSubSupPr>
                              <m:ctrlPr>
                                <a:rPr lang="en-US" sz="2200" b="0" i="1" smtClean="0">
                                  <a:latin typeface="Cambria Math" panose="02040503050406030204" pitchFamily="18" charset="0"/>
                                </a:rPr>
                              </m:ctrlPr>
                            </m:sSubSupPr>
                            <m:e>
                              <m:r>
                                <a:rPr lang="en-IN" sz="2200" b="1" i="1" smtClean="0">
                                  <a:latin typeface="Cambria Math" panose="02040503050406030204" pitchFamily="18" charset="0"/>
                                </a:rPr>
                                <m:t>𝒘</m:t>
                              </m:r>
                            </m:e>
                            <m:sub>
                              <m:r>
                                <a:rPr lang="en-IN" sz="2200" b="0" i="1" smtClean="0">
                                  <a:latin typeface="Cambria Math" panose="02040503050406030204" pitchFamily="18" charset="0"/>
                                </a:rPr>
                                <m:t>1</m:t>
                              </m:r>
                            </m:sub>
                            <m:sup>
                              <m:r>
                                <a:rPr lang="en-IN" sz="2200" b="0" i="1" smtClean="0">
                                  <a:latin typeface="Cambria Math" panose="02040503050406030204" pitchFamily="18" charset="0"/>
                                </a:rPr>
                                <m:t>(1)</m:t>
                              </m:r>
                            </m:sup>
                          </m:sSubSup>
                          <m:sSubSup>
                            <m:sSubSupPr>
                              <m:ctrlPr>
                                <a:rPr lang="en-US" sz="2200" i="1">
                                  <a:solidFill>
                                    <a:prstClr val="black"/>
                                  </a:solidFill>
                                  <a:latin typeface="Cambria Math" panose="02040503050406030204" pitchFamily="18" charset="0"/>
                                </a:rPr>
                              </m:ctrlPr>
                            </m:sSubSupPr>
                            <m:e>
                              <m:r>
                                <a:rPr lang="en-US" sz="2200" i="1">
                                  <a:solidFill>
                                    <a:prstClr val="black"/>
                                  </a:solidFill>
                                  <a:latin typeface="Cambria Math" panose="02040503050406030204" pitchFamily="18" charset="0"/>
                                </a:rPr>
                                <m:t>𝑏</m:t>
                              </m:r>
                            </m:e>
                            <m:sub>
                              <m:r>
                                <a:rPr lang="en-US" sz="2200" i="1">
                                  <a:solidFill>
                                    <a:prstClr val="black"/>
                                  </a:solidFill>
                                  <a:latin typeface="Cambria Math" panose="02040503050406030204" pitchFamily="18" charset="0"/>
                                </a:rPr>
                                <m:t>1</m:t>
                              </m:r>
                            </m:sub>
                            <m:sup>
                              <m:r>
                                <a:rPr lang="en-US" sz="2200" i="1">
                                  <a:solidFill>
                                    <a:prstClr val="black"/>
                                  </a:solidFill>
                                  <a:latin typeface="Cambria Math" panose="02040503050406030204" pitchFamily="18" charset="0"/>
                                </a:rPr>
                                <m:t>(1)</m:t>
                              </m:r>
                            </m:sup>
                          </m:sSubSup>
                        </m:e>
                      </m:d>
                      <m:d>
                        <m:dPr>
                          <m:begChr m:val="["/>
                          <m:endChr m:val="]"/>
                          <m:ctrlPr>
                            <a:rPr lang="en-US" sz="2200" b="0" i="1" smtClean="0">
                              <a:latin typeface="Cambria Math" panose="02040503050406030204" pitchFamily="18" charset="0"/>
                            </a:rPr>
                          </m:ctrlPr>
                        </m:dPr>
                        <m:e>
                          <m:m>
                            <m:mPr>
                              <m:mcs>
                                <m:mc>
                                  <m:mcPr>
                                    <m:count m:val="1"/>
                                    <m:mcJc m:val="center"/>
                                  </m:mcPr>
                                </m:mc>
                              </m:mcs>
                              <m:ctrlPr>
                                <a:rPr lang="en-US" sz="2200" b="0" i="1" smtClean="0">
                                  <a:latin typeface="Cambria Math" panose="02040503050406030204" pitchFamily="18" charset="0"/>
                                </a:rPr>
                              </m:ctrlPr>
                            </m:mPr>
                            <m:mr>
                              <m:e>
                                <m:r>
                                  <m:rPr>
                                    <m:brk m:alnAt="7"/>
                                  </m:rPr>
                                  <a:rPr lang="en-IN" sz="2200" b="0" i="1" smtClean="0">
                                    <a:latin typeface="Cambria Math" panose="02040503050406030204" pitchFamily="18" charset="0"/>
                                  </a:rPr>
                                  <m:t> </m:t>
                                </m:r>
                                <m:r>
                                  <m:rPr>
                                    <m:brk m:alnAt="7"/>
                                  </m:rPr>
                                  <a:rPr lang="en-US" sz="2200" b="1" i="1" smtClean="0">
                                    <a:latin typeface="Cambria Math" panose="02040503050406030204" pitchFamily="18" charset="0"/>
                                  </a:rPr>
                                  <m:t>𝒙</m:t>
                                </m:r>
                                <m:r>
                                  <a:rPr lang="en-IN" sz="2200" b="1" i="1" smtClean="0">
                                    <a:latin typeface="Cambria Math" panose="02040503050406030204" pitchFamily="18" charset="0"/>
                                  </a:rPr>
                                  <m:t> </m:t>
                                </m:r>
                              </m:e>
                            </m:mr>
                            <m:mr>
                              <m:e>
                                <m:r>
                                  <a:rPr lang="en-IN" sz="2200" b="1" i="1" smtClean="0">
                                    <a:latin typeface="Cambria Math" panose="02040503050406030204" pitchFamily="18" charset="0"/>
                                  </a:rPr>
                                  <m:t> </m:t>
                                </m:r>
                                <m:r>
                                  <a:rPr lang="en-US" sz="2200" b="0" i="1" smtClean="0">
                                    <a:latin typeface="Cambria Math" panose="02040503050406030204" pitchFamily="18" charset="0"/>
                                  </a:rPr>
                                  <m:t>1</m:t>
                                </m:r>
                                <m:r>
                                  <a:rPr lang="en-IN" sz="2200" b="0" i="1" smtClean="0">
                                    <a:latin typeface="Cambria Math" panose="02040503050406030204" pitchFamily="18" charset="0"/>
                                  </a:rPr>
                                  <m:t> </m:t>
                                </m:r>
                              </m:e>
                            </m:mr>
                          </m:m>
                        </m:e>
                      </m:d>
                    </m:oMath>
                  </m:oMathPara>
                </a14:m>
                <a:endParaRPr lang="en-IN" sz="2200" dirty="0"/>
              </a:p>
            </p:txBody>
          </p:sp>
        </mc:Choice>
        <mc:Fallback xmlns="">
          <p:sp>
            <p:nvSpPr>
              <p:cNvPr id="31" name="TextBox 30"/>
              <p:cNvSpPr txBox="1">
                <a:spLocks noRot="1" noChangeAspect="1" noMove="1" noResize="1" noEditPoints="1" noAdjustHandles="1" noChangeArrowheads="1" noChangeShapeType="1" noTextEdit="1"/>
              </p:cNvSpPr>
              <p:nvPr/>
            </p:nvSpPr>
            <p:spPr>
              <a:xfrm>
                <a:off x="5753531" y="1331293"/>
                <a:ext cx="5489708" cy="958789"/>
              </a:xfrm>
              <a:prstGeom prst="rect">
                <a:avLst/>
              </a:prstGeom>
              <a:blipFill rotWithShape="0">
                <a:blip r:embed="rId14"/>
                <a:stretch>
                  <a:fillRect/>
                </a:stretch>
              </a:blipFill>
            </p:spPr>
            <p:txBody>
              <a:bodyPr/>
              <a:lstStyle/>
              <a:p>
                <a:r>
                  <a:rPr lang="en-IN">
                    <a:noFill/>
                  </a:rPr>
                  <a:t> </a:t>
                </a:r>
              </a:p>
            </p:txBody>
          </p:sp>
        </mc:Fallback>
      </mc:AlternateContent>
      <p:sp>
        <p:nvSpPr>
          <p:cNvPr id="6" name="Rectangle 5"/>
          <p:cNvSpPr/>
          <p:nvPr/>
        </p:nvSpPr>
        <p:spPr>
          <a:xfrm>
            <a:off x="9574304" y="1575989"/>
            <a:ext cx="522000" cy="522000"/>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32" name="Rectangle 31"/>
          <p:cNvSpPr/>
          <p:nvPr/>
        </p:nvSpPr>
        <p:spPr>
          <a:xfrm>
            <a:off x="10811434" y="1488557"/>
            <a:ext cx="285557" cy="344220"/>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7" name="TextBox 6"/>
          <p:cNvSpPr txBox="1"/>
          <p:nvPr/>
        </p:nvSpPr>
        <p:spPr>
          <a:xfrm>
            <a:off x="7677054" y="2495817"/>
            <a:ext cx="1235723" cy="369332"/>
          </a:xfrm>
          <a:prstGeom prst="rect">
            <a:avLst/>
          </a:prstGeom>
          <a:noFill/>
        </p:spPr>
        <p:txBody>
          <a:bodyPr wrap="none" rtlCol="0">
            <a:spAutoFit/>
          </a:bodyPr>
          <a:lstStyle/>
          <a:p>
            <a:r>
              <a:rPr lang="en-IN" dirty="0"/>
              <a:t>Row vector</a:t>
            </a:r>
          </a:p>
        </p:txBody>
      </p:sp>
      <p:sp>
        <p:nvSpPr>
          <p:cNvPr id="9" name="TextBox 8"/>
          <p:cNvSpPr txBox="1"/>
          <p:nvPr/>
        </p:nvSpPr>
        <p:spPr>
          <a:xfrm>
            <a:off x="5647764" y="2974489"/>
            <a:ext cx="65" cy="276999"/>
          </a:xfrm>
          <a:prstGeom prst="rect">
            <a:avLst/>
          </a:prstGeom>
          <a:noFill/>
        </p:spPr>
        <p:txBody>
          <a:bodyPr wrap="none" lIns="0" tIns="0" rIns="0" bIns="0" rtlCol="0">
            <a:spAutoFit/>
          </a:bodyPr>
          <a:lstStyle/>
          <a:p>
            <a:endParaRPr lang="en-IN" dirty="0"/>
          </a:p>
        </p:txBody>
      </p:sp>
      <mc:AlternateContent xmlns:mc="http://schemas.openxmlformats.org/markup-compatibility/2006" xmlns:a14="http://schemas.microsoft.com/office/drawing/2010/main">
        <mc:Choice Requires="a14">
          <p:sp>
            <p:nvSpPr>
              <p:cNvPr id="10" name="TextBox 9"/>
              <p:cNvSpPr txBox="1"/>
              <p:nvPr/>
            </p:nvSpPr>
            <p:spPr>
              <a:xfrm>
                <a:off x="8797486" y="2474240"/>
                <a:ext cx="2013948" cy="4124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IN" b="0" i="1">
                                  <a:latin typeface="Cambria Math" panose="02040503050406030204" pitchFamily="18" charset="0"/>
                                </a:rPr>
                                <m:t>𝑤</m:t>
                              </m:r>
                            </m:e>
                            <m:sub>
                              <m:r>
                                <a:rPr lang="en-IN" i="1">
                                  <a:latin typeface="Cambria Math" panose="02040503050406030204" pitchFamily="18" charset="0"/>
                                </a:rPr>
                                <m:t>1</m:t>
                              </m:r>
                              <m:r>
                                <a:rPr lang="en-IN" b="0" i="1" smtClean="0">
                                  <a:latin typeface="Cambria Math" panose="02040503050406030204" pitchFamily="18" charset="0"/>
                                </a:rPr>
                                <m:t>, 1</m:t>
                              </m:r>
                            </m:sub>
                            <m:sup>
                              <m:r>
                                <a:rPr lang="en-IN" i="1">
                                  <a:latin typeface="Cambria Math" panose="02040503050406030204" pitchFamily="18" charset="0"/>
                                </a:rPr>
                                <m:t>(1)</m:t>
                              </m:r>
                            </m:sup>
                          </m:sSubSup>
                          <m:r>
                            <a:rPr lang="en-IN" b="0" i="1" smtClean="0">
                              <a:latin typeface="Cambria Math" panose="02040503050406030204" pitchFamily="18" charset="0"/>
                            </a:rPr>
                            <m:t>,</m:t>
                          </m:r>
                          <m:sSubSup>
                            <m:sSubSupPr>
                              <m:ctrlPr>
                                <a:rPr lang="en-US" i="1">
                                  <a:latin typeface="Cambria Math" panose="02040503050406030204" pitchFamily="18" charset="0"/>
                                </a:rPr>
                              </m:ctrlPr>
                            </m:sSubSupPr>
                            <m:e>
                              <m:r>
                                <a:rPr lang="en-IN" i="1">
                                  <a:latin typeface="Cambria Math" panose="02040503050406030204" pitchFamily="18" charset="0"/>
                                </a:rPr>
                                <m:t>𝑤</m:t>
                              </m:r>
                            </m:e>
                            <m:sub>
                              <m:r>
                                <a:rPr lang="en-IN" i="1">
                                  <a:latin typeface="Cambria Math" panose="02040503050406030204" pitchFamily="18" charset="0"/>
                                </a:rPr>
                                <m:t>1, </m:t>
                              </m:r>
                              <m:r>
                                <a:rPr lang="en-IN" b="0" i="1" smtClean="0">
                                  <a:latin typeface="Cambria Math" panose="02040503050406030204" pitchFamily="18" charset="0"/>
                                </a:rPr>
                                <m:t>2</m:t>
                              </m:r>
                            </m:sub>
                            <m:sup>
                              <m:r>
                                <a:rPr lang="en-IN" i="1">
                                  <a:latin typeface="Cambria Math" panose="02040503050406030204" pitchFamily="18" charset="0"/>
                                </a:rPr>
                                <m:t>(1)</m:t>
                              </m:r>
                            </m:sup>
                          </m:sSubSup>
                          <m:r>
                            <a:rPr lang="en-IN" b="0" i="1" smtClean="0">
                              <a:latin typeface="Cambria Math" panose="02040503050406030204" pitchFamily="18" charset="0"/>
                            </a:rPr>
                            <m:t>, ⋯,</m:t>
                          </m:r>
                          <m:sSubSup>
                            <m:sSubSupPr>
                              <m:ctrlPr>
                                <a:rPr lang="en-US" i="1">
                                  <a:latin typeface="Cambria Math" panose="02040503050406030204" pitchFamily="18" charset="0"/>
                                </a:rPr>
                              </m:ctrlPr>
                            </m:sSubSupPr>
                            <m:e>
                              <m:r>
                                <a:rPr lang="en-IN" i="1">
                                  <a:latin typeface="Cambria Math" panose="02040503050406030204" pitchFamily="18" charset="0"/>
                                </a:rPr>
                                <m:t>𝑤</m:t>
                              </m:r>
                            </m:e>
                            <m:sub>
                              <m:r>
                                <a:rPr lang="en-IN" i="1">
                                  <a:latin typeface="Cambria Math" panose="02040503050406030204" pitchFamily="18" charset="0"/>
                                </a:rPr>
                                <m:t>1, </m:t>
                              </m:r>
                              <m:r>
                                <a:rPr lang="en-IN" b="0" i="1" smtClean="0">
                                  <a:latin typeface="Cambria Math" panose="02040503050406030204" pitchFamily="18" charset="0"/>
                                </a:rPr>
                                <m:t>𝑑</m:t>
                              </m:r>
                            </m:sub>
                            <m:sup>
                              <m:r>
                                <a:rPr lang="en-IN" i="1">
                                  <a:latin typeface="Cambria Math" panose="02040503050406030204" pitchFamily="18" charset="0"/>
                                </a:rPr>
                                <m:t>(1)</m:t>
                              </m:r>
                            </m:sup>
                          </m:sSubSup>
                        </m:e>
                      </m:d>
                    </m:oMath>
                  </m:oMathPara>
                </a14:m>
                <a:endParaRPr lang="en-IN" dirty="0"/>
              </a:p>
            </p:txBody>
          </p:sp>
        </mc:Choice>
        <mc:Fallback xmlns="">
          <p:sp>
            <p:nvSpPr>
              <p:cNvPr id="10" name="TextBox 9"/>
              <p:cNvSpPr txBox="1">
                <a:spLocks noRot="1" noChangeAspect="1" noMove="1" noResize="1" noEditPoints="1" noAdjustHandles="1" noChangeArrowheads="1" noChangeShapeType="1" noTextEdit="1"/>
              </p:cNvSpPr>
              <p:nvPr/>
            </p:nvSpPr>
            <p:spPr>
              <a:xfrm>
                <a:off x="8797486" y="2474240"/>
                <a:ext cx="2013948" cy="412485"/>
              </a:xfrm>
              <a:prstGeom prst="rect">
                <a:avLst/>
              </a:prstGeom>
              <a:blipFill rotWithShape="0">
                <a:blip r:embed="rId15"/>
                <a:stretch>
                  <a:fillRect b="-1471"/>
                </a:stretch>
              </a:blipFill>
            </p:spPr>
            <p:txBody>
              <a:bodyPr/>
              <a:lstStyle/>
              <a:p>
                <a:r>
                  <a:rPr lang="en-IN">
                    <a:noFill/>
                  </a:rPr>
                  <a:t> </a:t>
                </a:r>
              </a:p>
            </p:txBody>
          </p:sp>
        </mc:Fallback>
      </mc:AlternateContent>
      <p:cxnSp>
        <p:nvCxnSpPr>
          <p:cNvPr id="12" name="Straight Arrow Connector 11"/>
          <p:cNvCxnSpPr/>
          <p:nvPr/>
        </p:nvCxnSpPr>
        <p:spPr>
          <a:xfrm>
            <a:off x="9835304" y="2106595"/>
            <a:ext cx="7943" cy="408005"/>
          </a:xfrm>
          <a:prstGeom prst="straightConnector1">
            <a:avLst/>
          </a:prstGeom>
          <a:ln w="22225">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9358883" y="3083611"/>
            <a:ext cx="1555554" cy="369332"/>
          </a:xfrm>
          <a:prstGeom prst="rect">
            <a:avLst/>
          </a:prstGeom>
          <a:noFill/>
        </p:spPr>
        <p:txBody>
          <a:bodyPr wrap="none" rtlCol="0">
            <a:spAutoFit/>
          </a:bodyPr>
          <a:lstStyle/>
          <a:p>
            <a:r>
              <a:rPr lang="en-IN" dirty="0"/>
              <a:t>Column vector</a:t>
            </a:r>
          </a:p>
        </p:txBody>
      </p:sp>
      <mc:AlternateContent xmlns:mc="http://schemas.openxmlformats.org/markup-compatibility/2006" xmlns:a14="http://schemas.microsoft.com/office/drawing/2010/main">
        <mc:Choice Requires="a14">
          <p:sp>
            <p:nvSpPr>
              <p:cNvPr id="41" name="TextBox 40"/>
              <p:cNvSpPr txBox="1"/>
              <p:nvPr/>
            </p:nvSpPr>
            <p:spPr>
              <a:xfrm>
                <a:off x="10842082" y="3124634"/>
                <a:ext cx="132985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𝑑</m:t>
                                  </m:r>
                                </m:sub>
                              </m:sSub>
                            </m:e>
                          </m:d>
                        </m:e>
                        <m:sup>
                          <m:r>
                            <a:rPr lang="en-US" i="1">
                              <a:latin typeface="Cambria Math" panose="02040503050406030204" pitchFamily="18" charset="0"/>
                            </a:rPr>
                            <m:t>𝑇</m:t>
                          </m:r>
                        </m:sup>
                      </m:sSup>
                    </m:oMath>
                  </m:oMathPara>
                </a14:m>
                <a:endParaRPr lang="en-IN" dirty="0"/>
              </a:p>
            </p:txBody>
          </p:sp>
        </mc:Choice>
        <mc:Fallback xmlns="">
          <p:sp>
            <p:nvSpPr>
              <p:cNvPr id="41" name="TextBox 40"/>
              <p:cNvSpPr txBox="1">
                <a:spLocks noRot="1" noChangeAspect="1" noMove="1" noResize="1" noEditPoints="1" noAdjustHandles="1" noChangeArrowheads="1" noChangeShapeType="1" noTextEdit="1"/>
              </p:cNvSpPr>
              <p:nvPr/>
            </p:nvSpPr>
            <p:spPr>
              <a:xfrm>
                <a:off x="10842082" y="3124634"/>
                <a:ext cx="1329851" cy="276999"/>
              </a:xfrm>
              <a:prstGeom prst="rect">
                <a:avLst/>
              </a:prstGeom>
              <a:blipFill rotWithShape="0">
                <a:blip r:embed="rId16"/>
                <a:stretch>
                  <a:fillRect t="-4444" r="-917" b="-17778"/>
                </a:stretch>
              </a:blipFill>
            </p:spPr>
            <p:txBody>
              <a:bodyPr/>
              <a:lstStyle/>
              <a:p>
                <a:r>
                  <a:rPr lang="en-IN">
                    <a:noFill/>
                  </a:rPr>
                  <a:t> </a:t>
                </a:r>
              </a:p>
            </p:txBody>
          </p:sp>
        </mc:Fallback>
      </mc:AlternateContent>
      <p:cxnSp>
        <p:nvCxnSpPr>
          <p:cNvPr id="42" name="Straight Arrow Connector 41"/>
          <p:cNvCxnSpPr/>
          <p:nvPr/>
        </p:nvCxnSpPr>
        <p:spPr>
          <a:xfrm>
            <a:off x="11630810" y="1744041"/>
            <a:ext cx="0" cy="1344427"/>
          </a:xfrm>
          <a:prstGeom prst="straightConnector1">
            <a:avLst/>
          </a:prstGeom>
          <a:ln w="22225">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V="1">
            <a:off x="11117053" y="1744040"/>
            <a:ext cx="519816" cy="1"/>
          </a:xfrm>
          <a:prstGeom prst="straightConnector1">
            <a:avLst/>
          </a:prstGeom>
          <a:ln w="22225">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p:cNvSpPr txBox="1"/>
              <p:nvPr/>
            </p:nvSpPr>
            <p:spPr>
              <a:xfrm>
                <a:off x="5758550" y="3452943"/>
                <a:ext cx="2317879" cy="5987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200" i="1" smtClean="0">
                              <a:latin typeface="Cambria Math" panose="02040503050406030204" pitchFamily="18" charset="0"/>
                            </a:rPr>
                          </m:ctrlPr>
                        </m:sSubSupPr>
                        <m:e>
                          <m:r>
                            <a:rPr lang="en-US" sz="2200" b="0" i="1" smtClean="0">
                              <a:latin typeface="Cambria Math" panose="02040503050406030204" pitchFamily="18" charset="0"/>
                            </a:rPr>
                            <m:t>h</m:t>
                          </m:r>
                        </m:e>
                        <m:sub>
                          <m:r>
                            <a:rPr lang="en-US" sz="2200" b="0" i="1" smtClean="0">
                              <a:latin typeface="Cambria Math" panose="02040503050406030204" pitchFamily="18" charset="0"/>
                            </a:rPr>
                            <m:t>1</m:t>
                          </m:r>
                        </m:sub>
                        <m:sup>
                          <m:r>
                            <a:rPr lang="en-US" sz="2200" b="0" i="1" smtClean="0">
                              <a:latin typeface="Cambria Math" panose="02040503050406030204" pitchFamily="18" charset="0"/>
                            </a:rPr>
                            <m:t>(1)</m:t>
                          </m:r>
                        </m:sup>
                      </m:sSubSup>
                      <m:r>
                        <a:rPr lang="en-IN" sz="2200" b="0" i="1" smtClean="0">
                          <a:latin typeface="Cambria Math" panose="02040503050406030204" pitchFamily="18" charset="0"/>
                        </a:rPr>
                        <m:t>=</m:t>
                      </m:r>
                      <m:r>
                        <a:rPr lang="en-IN" sz="2200" b="0" i="1" smtClean="0">
                          <a:latin typeface="Cambria Math" panose="02040503050406030204" pitchFamily="18" charset="0"/>
                        </a:rPr>
                        <m:t>𝑔</m:t>
                      </m:r>
                      <m:d>
                        <m:dPr>
                          <m:ctrlPr>
                            <a:rPr lang="en-IN" sz="2200" b="0" i="1" smtClean="0">
                              <a:latin typeface="Cambria Math" panose="02040503050406030204" pitchFamily="18" charset="0"/>
                            </a:rPr>
                          </m:ctrlPr>
                        </m:dPr>
                        <m:e>
                          <m:sSubSup>
                            <m:sSubSupPr>
                              <m:ctrlPr>
                                <a:rPr lang="en-US" sz="2200" i="1">
                                  <a:latin typeface="Cambria Math" panose="02040503050406030204" pitchFamily="18" charset="0"/>
                                </a:rPr>
                              </m:ctrlPr>
                            </m:sSubSupPr>
                            <m:e>
                              <m:r>
                                <a:rPr lang="en-IN" sz="2200" i="1">
                                  <a:latin typeface="Cambria Math" panose="02040503050406030204" pitchFamily="18" charset="0"/>
                                </a:rPr>
                                <m:t>𝑎</m:t>
                              </m:r>
                            </m:e>
                            <m:sub>
                              <m:r>
                                <a:rPr lang="en-IN" sz="2200" i="1">
                                  <a:latin typeface="Cambria Math" panose="02040503050406030204" pitchFamily="18" charset="0"/>
                                </a:rPr>
                                <m:t>1</m:t>
                              </m:r>
                            </m:sub>
                            <m:sup>
                              <m:d>
                                <m:dPr>
                                  <m:ctrlPr>
                                    <a:rPr lang="en-IN" sz="2200" i="1">
                                      <a:latin typeface="Cambria Math" panose="02040503050406030204" pitchFamily="18" charset="0"/>
                                    </a:rPr>
                                  </m:ctrlPr>
                                </m:dPr>
                                <m:e>
                                  <m:r>
                                    <a:rPr lang="en-IN" sz="2200" i="1">
                                      <a:latin typeface="Cambria Math" panose="02040503050406030204" pitchFamily="18" charset="0"/>
                                    </a:rPr>
                                    <m:t>1</m:t>
                                  </m:r>
                                </m:e>
                              </m:d>
                            </m:sup>
                          </m:sSubSup>
                          <m:d>
                            <m:dPr>
                              <m:ctrlPr>
                                <a:rPr lang="en-IN" sz="2200" i="1">
                                  <a:latin typeface="Cambria Math" panose="02040503050406030204" pitchFamily="18" charset="0"/>
                                </a:rPr>
                              </m:ctrlPr>
                            </m:dPr>
                            <m:e>
                              <m:r>
                                <a:rPr lang="en-IN" sz="2200" b="1" i="1">
                                  <a:latin typeface="Cambria Math" panose="02040503050406030204" pitchFamily="18" charset="0"/>
                                </a:rPr>
                                <m:t>𝒙</m:t>
                              </m:r>
                            </m:e>
                          </m:d>
                        </m:e>
                      </m:d>
                      <m:r>
                        <a:rPr lang="en-IN" sz="2200" b="0" i="1" smtClean="0">
                          <a:latin typeface="Cambria Math" panose="02040503050406030204" pitchFamily="18" charset="0"/>
                        </a:rPr>
                        <m:t> </m:t>
                      </m:r>
                    </m:oMath>
                  </m:oMathPara>
                </a14:m>
                <a:endParaRPr lang="en-IN" sz="2200" dirty="0"/>
              </a:p>
            </p:txBody>
          </p:sp>
        </mc:Choice>
        <mc:Fallback xmlns="">
          <p:sp>
            <p:nvSpPr>
              <p:cNvPr id="46" name="TextBox 45"/>
              <p:cNvSpPr txBox="1">
                <a:spLocks noRot="1" noChangeAspect="1" noMove="1" noResize="1" noEditPoints="1" noAdjustHandles="1" noChangeArrowheads="1" noChangeShapeType="1" noTextEdit="1"/>
              </p:cNvSpPr>
              <p:nvPr/>
            </p:nvSpPr>
            <p:spPr>
              <a:xfrm>
                <a:off x="5758550" y="3452943"/>
                <a:ext cx="2317879" cy="598754"/>
              </a:xfrm>
              <a:prstGeom prst="rect">
                <a:avLst/>
              </a:prstGeom>
              <a:blipFill rotWithShape="0">
                <a:blip r:embed="rId17"/>
                <a:stretch>
                  <a:fillRect/>
                </a:stretch>
              </a:blipFill>
            </p:spPr>
            <p:txBody>
              <a:bodyPr/>
              <a:lstStyle/>
              <a:p>
                <a:r>
                  <a:rPr lang="en-IN">
                    <a:noFill/>
                  </a:rPr>
                  <a:t> </a:t>
                </a:r>
              </a:p>
            </p:txBody>
          </p:sp>
        </mc:Fallback>
      </mc:AlternateContent>
      <p:sp>
        <p:nvSpPr>
          <p:cNvPr id="47" name="Left Brace 46"/>
          <p:cNvSpPr/>
          <p:nvPr/>
        </p:nvSpPr>
        <p:spPr>
          <a:xfrm rot="5400000">
            <a:off x="396234" y="984685"/>
            <a:ext cx="252624" cy="9497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8" name="TextBox 47"/>
          <p:cNvSpPr txBox="1"/>
          <p:nvPr/>
        </p:nvSpPr>
        <p:spPr>
          <a:xfrm>
            <a:off x="-28641" y="921212"/>
            <a:ext cx="1238737" cy="369332"/>
          </a:xfrm>
          <a:prstGeom prst="rect">
            <a:avLst/>
          </a:prstGeom>
          <a:noFill/>
        </p:spPr>
        <p:txBody>
          <a:bodyPr wrap="none" rtlCol="0">
            <a:spAutoFit/>
          </a:bodyPr>
          <a:lstStyle/>
          <a:p>
            <a:r>
              <a:rPr lang="en-US" dirty="0">
                <a:solidFill>
                  <a:srgbClr val="FF0000"/>
                </a:solidFill>
              </a:rPr>
              <a:t>Input Layer</a:t>
            </a:r>
            <a:endParaRPr lang="en-IN" dirty="0">
              <a:solidFill>
                <a:srgbClr val="FF0000"/>
              </a:solidFill>
            </a:endParaRPr>
          </a:p>
        </p:txBody>
      </p:sp>
      <p:sp>
        <p:nvSpPr>
          <p:cNvPr id="49" name="Left Brace 48"/>
          <p:cNvSpPr/>
          <p:nvPr/>
        </p:nvSpPr>
        <p:spPr>
          <a:xfrm rot="5400000">
            <a:off x="1977684" y="990505"/>
            <a:ext cx="252624" cy="9497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0" name="TextBox 49"/>
          <p:cNvSpPr txBox="1"/>
          <p:nvPr/>
        </p:nvSpPr>
        <p:spPr>
          <a:xfrm>
            <a:off x="1552809" y="927032"/>
            <a:ext cx="1416670" cy="369332"/>
          </a:xfrm>
          <a:prstGeom prst="rect">
            <a:avLst/>
          </a:prstGeom>
          <a:noFill/>
        </p:spPr>
        <p:txBody>
          <a:bodyPr wrap="none" rtlCol="0">
            <a:spAutoFit/>
          </a:bodyPr>
          <a:lstStyle/>
          <a:p>
            <a:r>
              <a:rPr lang="en-US" dirty="0">
                <a:solidFill>
                  <a:srgbClr val="FF0000"/>
                </a:solidFill>
              </a:rPr>
              <a:t>Hidden Layer</a:t>
            </a:r>
            <a:endParaRPr lang="en-IN" dirty="0">
              <a:solidFill>
                <a:srgbClr val="FF0000"/>
              </a:solidFill>
            </a:endParaRPr>
          </a:p>
        </p:txBody>
      </p:sp>
    </p:spTree>
    <p:extLst>
      <p:ext uri="{BB962C8B-B14F-4D97-AF65-F5344CB8AC3E}">
        <p14:creationId xmlns:p14="http://schemas.microsoft.com/office/powerpoint/2010/main" val="37576267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33" name="Picture 3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2067" y="2125313"/>
            <a:ext cx="746306" cy="746306"/>
          </a:xfrm>
          <a:prstGeom prst="rect">
            <a:avLst/>
          </a:prstGeom>
          <a:solidFill>
            <a:schemeClr val="bg1">
              <a:alpha val="25000"/>
            </a:schemeClr>
          </a:solidFill>
        </p:spPr>
      </p:pic>
      <p:sp>
        <p:nvSpPr>
          <p:cNvPr id="100" name="Google Shape;100;p14"/>
          <p:cNvSpPr txBox="1"/>
          <p:nvPr/>
        </p:nvSpPr>
        <p:spPr>
          <a:xfrm>
            <a:off x="3394564" y="832857"/>
            <a:ext cx="5179280"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solidFill>
                  <a:srgbClr val="434343"/>
                </a:solidFill>
              </a:rPr>
              <a:t>Multilayer Neural Network</a:t>
            </a:r>
            <a:endParaRPr sz="2800" dirty="0">
              <a:solidFill>
                <a:srgbClr val="434343"/>
              </a:solidFill>
            </a:endParaRPr>
          </a:p>
        </p:txBody>
      </p:sp>
      <p:sp>
        <p:nvSpPr>
          <p:cNvPr id="3" name="Footer Placeholder 2"/>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21" name="Slide Number Placeholder 20"/>
          <p:cNvSpPr>
            <a:spLocks noGrp="1"/>
          </p:cNvSpPr>
          <p:nvPr>
            <p:ph type="sldNum" sz="quarter" idx="4"/>
          </p:nvPr>
        </p:nvSpPr>
        <p:spPr>
          <a:xfrm>
            <a:off x="10569844" y="6356350"/>
            <a:ext cx="783956" cy="365125"/>
          </a:xfrm>
        </p:spPr>
        <p:txBody>
          <a:bodyPr/>
          <a:lstStyle/>
          <a:p>
            <a:fld id="{683B8651-0143-4140-839E-3D36292080E8}" type="slidenum">
              <a:rPr lang="en-US" smtClean="0"/>
              <a:t>21</a:t>
            </a:fld>
            <a:endParaRPr lang="en-US"/>
          </a:p>
        </p:txBody>
      </p:sp>
      <p:pic>
        <p:nvPicPr>
          <p:cNvPr id="29" name="Picture 2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2067" y="3480790"/>
            <a:ext cx="746306" cy="746306"/>
          </a:xfrm>
          <a:prstGeom prst="rect">
            <a:avLst/>
          </a:prstGeom>
        </p:spPr>
      </p:pic>
      <p:sp>
        <p:nvSpPr>
          <p:cNvPr id="55" name="Google Shape;119;p14"/>
          <p:cNvSpPr/>
          <p:nvPr/>
        </p:nvSpPr>
        <p:spPr>
          <a:xfrm>
            <a:off x="336842" y="1615227"/>
            <a:ext cx="167400" cy="332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Narrow"/>
              <a:ea typeface="Arial Narrow"/>
              <a:cs typeface="Arial Narrow"/>
              <a:sym typeface="Arial Narrow"/>
            </a:endParaRPr>
          </a:p>
        </p:txBody>
      </p:sp>
      <p:cxnSp>
        <p:nvCxnSpPr>
          <p:cNvPr id="56" name="Straight Arrow Connector 55"/>
          <p:cNvCxnSpPr/>
          <p:nvPr/>
        </p:nvCxnSpPr>
        <p:spPr>
          <a:xfrm>
            <a:off x="726323" y="1691956"/>
            <a:ext cx="1113565" cy="556303"/>
          </a:xfrm>
          <a:prstGeom prst="straightConnector1">
            <a:avLst/>
          </a:prstGeom>
          <a:ln w="38100">
            <a:solidFill>
              <a:schemeClr val="accent5">
                <a:lumMod val="40000"/>
                <a:lumOff val="6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726323" y="2502846"/>
            <a:ext cx="1008112" cy="0"/>
          </a:xfrm>
          <a:prstGeom prst="straightConnector1">
            <a:avLst/>
          </a:prstGeom>
          <a:ln w="38100">
            <a:solidFill>
              <a:schemeClr val="accent5">
                <a:lumMod val="40000"/>
                <a:lumOff val="6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793415" y="2757433"/>
            <a:ext cx="1046473" cy="1249612"/>
          </a:xfrm>
          <a:prstGeom prst="straightConnector1">
            <a:avLst/>
          </a:prstGeom>
          <a:ln w="38100">
            <a:solidFill>
              <a:schemeClr val="accent5">
                <a:lumMod val="40000"/>
                <a:lumOff val="60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62" name="Group 61"/>
          <p:cNvGrpSpPr/>
          <p:nvPr/>
        </p:nvGrpSpPr>
        <p:grpSpPr>
          <a:xfrm>
            <a:off x="1202581" y="2913849"/>
            <a:ext cx="36000" cy="340800"/>
            <a:chOff x="2731586" y="4043627"/>
            <a:chExt cx="36000" cy="340800"/>
          </a:xfrm>
        </p:grpSpPr>
        <p:sp>
          <p:nvSpPr>
            <p:cNvPr id="63" name="Oval 62"/>
            <p:cNvSpPr/>
            <p:nvPr/>
          </p:nvSpPr>
          <p:spPr>
            <a:xfrm>
              <a:off x="2731586" y="4043627"/>
              <a:ext cx="36000" cy="3600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Oval 63"/>
            <p:cNvSpPr/>
            <p:nvPr/>
          </p:nvSpPr>
          <p:spPr>
            <a:xfrm>
              <a:off x="2731586" y="4196027"/>
              <a:ext cx="36000" cy="3600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Oval 65"/>
            <p:cNvSpPr/>
            <p:nvPr/>
          </p:nvSpPr>
          <p:spPr>
            <a:xfrm>
              <a:off x="2731586" y="4348427"/>
              <a:ext cx="36000" cy="3600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67" name="TextBox 66"/>
              <p:cNvSpPr txBox="1"/>
              <p:nvPr/>
            </p:nvSpPr>
            <p:spPr>
              <a:xfrm>
                <a:off x="249973" y="1361814"/>
                <a:ext cx="50853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1</m:t>
                          </m:r>
                        </m:sub>
                      </m:sSub>
                    </m:oMath>
                  </m:oMathPara>
                </a14:m>
                <a:endParaRPr lang="en-US" sz="3200" b="0" dirty="0"/>
              </a:p>
            </p:txBody>
          </p:sp>
        </mc:Choice>
        <mc:Fallback xmlns="">
          <p:sp>
            <p:nvSpPr>
              <p:cNvPr id="67" name="TextBox 66"/>
              <p:cNvSpPr txBox="1">
                <a:spLocks noRot="1" noChangeAspect="1" noMove="1" noResize="1" noEditPoints="1" noAdjustHandles="1" noChangeArrowheads="1" noChangeShapeType="1" noTextEdit="1"/>
              </p:cNvSpPr>
              <p:nvPr/>
            </p:nvSpPr>
            <p:spPr>
              <a:xfrm>
                <a:off x="249973" y="1361814"/>
                <a:ext cx="508537" cy="492443"/>
              </a:xfrm>
              <a:prstGeom prst="rect">
                <a:avLst/>
              </a:prstGeom>
              <a:blipFill rotWithShape="0">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49973" y="2170588"/>
                <a:ext cx="51802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2</m:t>
                          </m:r>
                        </m:sub>
                      </m:sSub>
                    </m:oMath>
                  </m:oMathPara>
                </a14:m>
                <a:endParaRPr lang="en-US" sz="3200" b="0" dirty="0"/>
              </a:p>
            </p:txBody>
          </p:sp>
        </mc:Choice>
        <mc:Fallback xmlns="">
          <p:sp>
            <p:nvSpPr>
              <p:cNvPr id="68" name="TextBox 67"/>
              <p:cNvSpPr txBox="1">
                <a:spLocks noRot="1" noChangeAspect="1" noMove="1" noResize="1" noEditPoints="1" noAdjustHandles="1" noChangeArrowheads="1" noChangeShapeType="1" noTextEdit="1"/>
              </p:cNvSpPr>
              <p:nvPr/>
            </p:nvSpPr>
            <p:spPr>
              <a:xfrm>
                <a:off x="249973" y="2170588"/>
                <a:ext cx="518027" cy="492443"/>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a:off x="249973" y="3627993"/>
                <a:ext cx="54514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𝑑</m:t>
                          </m:r>
                        </m:sub>
                      </m:sSub>
                    </m:oMath>
                  </m:oMathPara>
                </a14:m>
                <a:endParaRPr lang="en-US" sz="3200" b="0" dirty="0"/>
              </a:p>
            </p:txBody>
          </p:sp>
        </mc:Choice>
        <mc:Fallback xmlns="">
          <p:sp>
            <p:nvSpPr>
              <p:cNvPr id="69" name="TextBox 68"/>
              <p:cNvSpPr txBox="1">
                <a:spLocks noRot="1" noChangeAspect="1" noMove="1" noResize="1" noEditPoints="1" noAdjustHandles="1" noChangeArrowheads="1" noChangeShapeType="1" noTextEdit="1"/>
              </p:cNvSpPr>
              <p:nvPr/>
            </p:nvSpPr>
            <p:spPr>
              <a:xfrm>
                <a:off x="249973" y="3627993"/>
                <a:ext cx="545149" cy="492443"/>
              </a:xfrm>
              <a:prstGeom prst="rect">
                <a:avLst/>
              </a:prstGeom>
              <a:blipFill rotWithShape="0">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3087305" y="3601099"/>
                <a:ext cx="574260" cy="478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400" i="1" smtClean="0">
                              <a:latin typeface="Cambria Math" panose="02040503050406030204" pitchFamily="18" charset="0"/>
                            </a:rPr>
                          </m:ctrlPr>
                        </m:sSubSupPr>
                        <m:e>
                          <m:r>
                            <a:rPr lang="en-US" sz="2400" b="0" i="1" smtClean="0">
                              <a:latin typeface="Cambria Math" panose="02040503050406030204" pitchFamily="18" charset="0"/>
                            </a:rPr>
                            <m:t>h</m:t>
                          </m:r>
                        </m:e>
                        <m:sub>
                          <m:r>
                            <a:rPr lang="en-US" sz="2400" b="0" i="1" smtClean="0">
                              <a:latin typeface="Cambria Math" panose="02040503050406030204" pitchFamily="18" charset="0"/>
                            </a:rPr>
                            <m:t>2</m:t>
                          </m:r>
                        </m:sub>
                        <m:sup>
                          <m:r>
                            <a:rPr lang="en-US" sz="2400" b="0" i="1" smtClean="0">
                              <a:latin typeface="Cambria Math" panose="02040503050406030204" pitchFamily="18" charset="0"/>
                            </a:rPr>
                            <m:t>(1)</m:t>
                          </m:r>
                        </m:sup>
                      </m:sSubSup>
                    </m:oMath>
                  </m:oMathPara>
                </a14:m>
                <a:endParaRPr lang="en-IN" sz="2400" dirty="0"/>
              </a:p>
            </p:txBody>
          </p:sp>
        </mc:Choice>
        <mc:Fallback xmlns="">
          <p:sp>
            <p:nvSpPr>
              <p:cNvPr id="81" name="TextBox 80"/>
              <p:cNvSpPr txBox="1">
                <a:spLocks noRot="1" noChangeAspect="1" noMove="1" noResize="1" noEditPoints="1" noAdjustHandles="1" noChangeArrowheads="1" noChangeShapeType="1" noTextEdit="1"/>
              </p:cNvSpPr>
              <p:nvPr/>
            </p:nvSpPr>
            <p:spPr>
              <a:xfrm>
                <a:off x="3087305" y="3601099"/>
                <a:ext cx="574260" cy="478016"/>
              </a:xfrm>
              <a:prstGeom prst="rect">
                <a:avLst/>
              </a:prstGeom>
              <a:blipFill rotWithShape="0">
                <a:blip r:embed="rId7"/>
                <a:stretch>
                  <a:fillRect/>
                </a:stretch>
              </a:blipFill>
            </p:spPr>
            <p:txBody>
              <a:bodyPr/>
              <a:lstStyle/>
              <a:p>
                <a:r>
                  <a:rPr lang="en-IN">
                    <a:noFill/>
                  </a:rPr>
                  <a:t> </a:t>
                </a:r>
              </a:p>
            </p:txBody>
          </p:sp>
        </mc:Fallback>
      </mc:AlternateContent>
      <p:cxnSp>
        <p:nvCxnSpPr>
          <p:cNvPr id="82" name="Straight Arrow Connector 81"/>
          <p:cNvCxnSpPr/>
          <p:nvPr/>
        </p:nvCxnSpPr>
        <p:spPr>
          <a:xfrm>
            <a:off x="2476115" y="3860086"/>
            <a:ext cx="622884" cy="2489"/>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p:cNvSpPr txBox="1"/>
              <p:nvPr/>
            </p:nvSpPr>
            <p:spPr>
              <a:xfrm>
                <a:off x="1063865" y="1425011"/>
                <a:ext cx="536044" cy="409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solidFill>
                                <a:schemeClr val="bg1">
                                  <a:lumMod val="65000"/>
                                </a:schemeClr>
                              </a:solidFill>
                              <a:latin typeface="Cambria Math" panose="02040503050406030204" pitchFamily="18" charset="0"/>
                            </a:rPr>
                          </m:ctrlPr>
                        </m:sSubSupPr>
                        <m:e>
                          <m:r>
                            <a:rPr lang="en-US" sz="2000" b="0" i="1" smtClean="0">
                              <a:solidFill>
                                <a:schemeClr val="bg1">
                                  <a:lumMod val="65000"/>
                                </a:schemeClr>
                              </a:solidFill>
                              <a:latin typeface="Cambria Math" panose="02040503050406030204" pitchFamily="18" charset="0"/>
                            </a:rPr>
                            <m:t>𝑤</m:t>
                          </m:r>
                        </m:e>
                        <m:sub>
                          <m:r>
                            <a:rPr lang="en-US" sz="2000" b="0" i="1" smtClean="0">
                              <a:solidFill>
                                <a:schemeClr val="bg1">
                                  <a:lumMod val="65000"/>
                                </a:schemeClr>
                              </a:solidFill>
                              <a:latin typeface="Cambria Math" panose="02040503050406030204" pitchFamily="18" charset="0"/>
                            </a:rPr>
                            <m:t>1,1</m:t>
                          </m:r>
                        </m:sub>
                        <m:sup>
                          <m:r>
                            <a:rPr lang="en-US" sz="2000" b="0" i="1" smtClean="0">
                              <a:solidFill>
                                <a:schemeClr val="bg1">
                                  <a:lumMod val="65000"/>
                                </a:schemeClr>
                              </a:solidFill>
                              <a:latin typeface="Cambria Math" panose="02040503050406030204" pitchFamily="18" charset="0"/>
                            </a:rPr>
                            <m:t>(1)</m:t>
                          </m:r>
                        </m:sup>
                      </m:sSubSup>
                    </m:oMath>
                  </m:oMathPara>
                </a14:m>
                <a:endParaRPr lang="en-IN" sz="2000" dirty="0">
                  <a:solidFill>
                    <a:schemeClr val="bg1">
                      <a:lumMod val="65000"/>
                    </a:schemeClr>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1063865" y="1425011"/>
                <a:ext cx="536044" cy="409536"/>
              </a:xfrm>
              <a:prstGeom prst="rect">
                <a:avLst/>
              </a:prstGeom>
              <a:blipFill rotWithShape="0">
                <a:blip r:embed="rId8"/>
                <a:stretch>
                  <a:fillRect l="-6897" t="-4478" r="-11494" b="-895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p:cNvSpPr txBox="1"/>
              <p:nvPr/>
            </p:nvSpPr>
            <p:spPr>
              <a:xfrm>
                <a:off x="1028135" y="2051031"/>
                <a:ext cx="536044" cy="409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solidFill>
                                <a:schemeClr val="bg1">
                                  <a:lumMod val="65000"/>
                                </a:schemeClr>
                              </a:solidFill>
                              <a:latin typeface="Cambria Math" panose="02040503050406030204" pitchFamily="18" charset="0"/>
                            </a:rPr>
                          </m:ctrlPr>
                        </m:sSubSupPr>
                        <m:e>
                          <m:r>
                            <a:rPr lang="en-US" sz="2000" b="0" i="1" smtClean="0">
                              <a:solidFill>
                                <a:schemeClr val="bg1">
                                  <a:lumMod val="65000"/>
                                </a:schemeClr>
                              </a:solidFill>
                              <a:latin typeface="Cambria Math" panose="02040503050406030204" pitchFamily="18" charset="0"/>
                            </a:rPr>
                            <m:t>𝑤</m:t>
                          </m:r>
                        </m:e>
                        <m:sub>
                          <m:r>
                            <a:rPr lang="en-US" sz="2000" b="0" i="1" smtClean="0">
                              <a:solidFill>
                                <a:schemeClr val="bg1">
                                  <a:lumMod val="65000"/>
                                </a:schemeClr>
                              </a:solidFill>
                              <a:latin typeface="Cambria Math" panose="02040503050406030204" pitchFamily="18" charset="0"/>
                            </a:rPr>
                            <m:t>1,2</m:t>
                          </m:r>
                        </m:sub>
                        <m:sup>
                          <m:r>
                            <a:rPr lang="en-US" sz="2000" b="0" i="1" smtClean="0">
                              <a:solidFill>
                                <a:schemeClr val="bg1">
                                  <a:lumMod val="65000"/>
                                </a:schemeClr>
                              </a:solidFill>
                              <a:latin typeface="Cambria Math" panose="02040503050406030204" pitchFamily="18" charset="0"/>
                            </a:rPr>
                            <m:t>(1)</m:t>
                          </m:r>
                        </m:sup>
                      </m:sSubSup>
                    </m:oMath>
                  </m:oMathPara>
                </a14:m>
                <a:endParaRPr lang="en-IN" sz="2000" dirty="0">
                  <a:solidFill>
                    <a:schemeClr val="bg1">
                      <a:lumMod val="65000"/>
                    </a:schemeClr>
                  </a:solidFill>
                </a:endParaRPr>
              </a:p>
            </p:txBody>
          </p:sp>
        </mc:Choice>
        <mc:Fallback xmlns="">
          <p:sp>
            <p:nvSpPr>
              <p:cNvPr id="60" name="TextBox 59"/>
              <p:cNvSpPr txBox="1">
                <a:spLocks noRot="1" noChangeAspect="1" noMove="1" noResize="1" noEditPoints="1" noAdjustHandles="1" noChangeArrowheads="1" noChangeShapeType="1" noTextEdit="1"/>
              </p:cNvSpPr>
              <p:nvPr/>
            </p:nvSpPr>
            <p:spPr>
              <a:xfrm>
                <a:off x="1028135" y="2051031"/>
                <a:ext cx="536044" cy="409536"/>
              </a:xfrm>
              <a:prstGeom prst="rect">
                <a:avLst/>
              </a:prstGeom>
              <a:blipFill rotWithShape="0">
                <a:blip r:embed="rId9"/>
                <a:stretch>
                  <a:fillRect l="-6818" t="-2941" r="-10227" b="-88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1014363" y="3649614"/>
                <a:ext cx="536044" cy="409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solidFill>
                                <a:schemeClr val="bg1">
                                  <a:lumMod val="65000"/>
                                </a:schemeClr>
                              </a:solidFill>
                              <a:latin typeface="Cambria Math" panose="02040503050406030204" pitchFamily="18" charset="0"/>
                            </a:rPr>
                          </m:ctrlPr>
                        </m:sSubSupPr>
                        <m:e>
                          <m:r>
                            <a:rPr lang="en-US" sz="2000" b="0" i="1" smtClean="0">
                              <a:solidFill>
                                <a:schemeClr val="bg1">
                                  <a:lumMod val="65000"/>
                                </a:schemeClr>
                              </a:solidFill>
                              <a:latin typeface="Cambria Math" panose="02040503050406030204" pitchFamily="18" charset="0"/>
                            </a:rPr>
                            <m:t>𝑤</m:t>
                          </m:r>
                        </m:e>
                        <m:sub>
                          <m:r>
                            <a:rPr lang="en-US" sz="2000" b="0" i="1" smtClean="0">
                              <a:solidFill>
                                <a:schemeClr val="bg1">
                                  <a:lumMod val="65000"/>
                                </a:schemeClr>
                              </a:solidFill>
                              <a:latin typeface="Cambria Math" panose="02040503050406030204" pitchFamily="18" charset="0"/>
                            </a:rPr>
                            <m:t>1,</m:t>
                          </m:r>
                          <m:r>
                            <a:rPr lang="en-US" sz="2000" b="0" i="1" smtClean="0">
                              <a:solidFill>
                                <a:schemeClr val="bg1">
                                  <a:lumMod val="65000"/>
                                </a:schemeClr>
                              </a:solidFill>
                              <a:latin typeface="Cambria Math" panose="02040503050406030204" pitchFamily="18" charset="0"/>
                            </a:rPr>
                            <m:t>𝑑</m:t>
                          </m:r>
                        </m:sub>
                        <m:sup>
                          <m:r>
                            <a:rPr lang="en-US" sz="2000" b="0" i="1" smtClean="0">
                              <a:solidFill>
                                <a:schemeClr val="bg1">
                                  <a:lumMod val="65000"/>
                                </a:schemeClr>
                              </a:solidFill>
                              <a:latin typeface="Cambria Math" panose="02040503050406030204" pitchFamily="18" charset="0"/>
                            </a:rPr>
                            <m:t>(1)</m:t>
                          </m:r>
                        </m:sup>
                      </m:sSubSup>
                    </m:oMath>
                  </m:oMathPara>
                </a14:m>
                <a:endParaRPr lang="en-IN" sz="2000" dirty="0">
                  <a:solidFill>
                    <a:schemeClr val="bg1">
                      <a:lumMod val="65000"/>
                    </a:schemeClr>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1014363" y="3649614"/>
                <a:ext cx="536044" cy="409536"/>
              </a:xfrm>
              <a:prstGeom prst="rect">
                <a:avLst/>
              </a:prstGeom>
              <a:blipFill rotWithShape="0">
                <a:blip r:embed="rId10"/>
                <a:stretch>
                  <a:fillRect b="-149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3087305" y="2245622"/>
                <a:ext cx="574260" cy="4612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400" i="1" smtClean="0">
                              <a:solidFill>
                                <a:schemeClr val="bg1">
                                  <a:lumMod val="65000"/>
                                </a:schemeClr>
                              </a:solidFill>
                              <a:latin typeface="Cambria Math" panose="02040503050406030204" pitchFamily="18" charset="0"/>
                            </a:rPr>
                          </m:ctrlPr>
                        </m:sSubSupPr>
                        <m:e>
                          <m:r>
                            <a:rPr lang="en-US" sz="2400" b="0" i="1" smtClean="0">
                              <a:solidFill>
                                <a:schemeClr val="bg1">
                                  <a:lumMod val="65000"/>
                                </a:schemeClr>
                              </a:solidFill>
                              <a:latin typeface="Cambria Math" panose="02040503050406030204" pitchFamily="18" charset="0"/>
                            </a:rPr>
                            <m:t>h</m:t>
                          </m:r>
                        </m:e>
                        <m:sub>
                          <m:r>
                            <a:rPr lang="en-US" sz="2400" b="0" i="1" smtClean="0">
                              <a:solidFill>
                                <a:schemeClr val="bg1">
                                  <a:lumMod val="65000"/>
                                </a:schemeClr>
                              </a:solidFill>
                              <a:latin typeface="Cambria Math" panose="02040503050406030204" pitchFamily="18" charset="0"/>
                            </a:rPr>
                            <m:t>1</m:t>
                          </m:r>
                        </m:sub>
                        <m:sup>
                          <m:r>
                            <a:rPr lang="en-US" sz="2400" b="0" i="1" smtClean="0">
                              <a:solidFill>
                                <a:schemeClr val="bg1">
                                  <a:lumMod val="65000"/>
                                </a:schemeClr>
                              </a:solidFill>
                              <a:latin typeface="Cambria Math" panose="02040503050406030204" pitchFamily="18" charset="0"/>
                            </a:rPr>
                            <m:t>(1)</m:t>
                          </m:r>
                        </m:sup>
                      </m:sSubSup>
                    </m:oMath>
                  </m:oMathPara>
                </a14:m>
                <a:endParaRPr lang="en-IN" sz="2400" dirty="0">
                  <a:solidFill>
                    <a:schemeClr val="bg1">
                      <a:lumMod val="65000"/>
                    </a:schemeClr>
                  </a:solidFill>
                </a:endParaRPr>
              </a:p>
            </p:txBody>
          </p:sp>
        </mc:Choice>
        <mc:Fallback xmlns="">
          <p:sp>
            <p:nvSpPr>
              <p:cNvPr id="30" name="TextBox 29"/>
              <p:cNvSpPr txBox="1">
                <a:spLocks noRot="1" noChangeAspect="1" noMove="1" noResize="1" noEditPoints="1" noAdjustHandles="1" noChangeArrowheads="1" noChangeShapeType="1" noTextEdit="1"/>
              </p:cNvSpPr>
              <p:nvPr/>
            </p:nvSpPr>
            <p:spPr>
              <a:xfrm>
                <a:off x="3087305" y="2245622"/>
                <a:ext cx="574260" cy="461280"/>
              </a:xfrm>
              <a:prstGeom prst="rect">
                <a:avLst/>
              </a:prstGeom>
              <a:blipFill rotWithShape="0">
                <a:blip r:embed="rId11"/>
                <a:stretch>
                  <a:fillRect/>
                </a:stretch>
              </a:blipFill>
            </p:spPr>
            <p:txBody>
              <a:bodyPr/>
              <a:lstStyle/>
              <a:p>
                <a:r>
                  <a:rPr lang="en-IN">
                    <a:noFill/>
                  </a:rPr>
                  <a:t> </a:t>
                </a:r>
              </a:p>
            </p:txBody>
          </p:sp>
        </mc:Fallback>
      </mc:AlternateContent>
      <p:cxnSp>
        <p:nvCxnSpPr>
          <p:cNvPr id="31" name="Straight Arrow Connector 30"/>
          <p:cNvCxnSpPr/>
          <p:nvPr/>
        </p:nvCxnSpPr>
        <p:spPr>
          <a:xfrm>
            <a:off x="2476115" y="2504609"/>
            <a:ext cx="622884" cy="2489"/>
          </a:xfrm>
          <a:prstGeom prst="straightConnector1">
            <a:avLst/>
          </a:prstGeom>
          <a:ln w="38100">
            <a:solidFill>
              <a:schemeClr val="accent5">
                <a:lumMod val="40000"/>
                <a:lumOff val="6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2094475" y="1796659"/>
            <a:ext cx="0" cy="344968"/>
          </a:xfrm>
          <a:prstGeom prst="straightConnector1">
            <a:avLst/>
          </a:prstGeom>
          <a:ln w="38100">
            <a:solidFill>
              <a:schemeClr val="accent2">
                <a:alpha val="25000"/>
              </a:schemeClr>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p:cNvSpPr txBox="1"/>
              <p:nvPr/>
            </p:nvSpPr>
            <p:spPr>
              <a:xfrm>
                <a:off x="2012197" y="1467042"/>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65000"/>
                            </a:schemeClr>
                          </a:solidFill>
                          <a:latin typeface="Cambria Math" panose="02040503050406030204" pitchFamily="18" charset="0"/>
                        </a:rPr>
                        <m:t>1</m:t>
                      </m:r>
                    </m:oMath>
                  </m:oMathPara>
                </a14:m>
                <a:endParaRPr lang="en-IN" dirty="0">
                  <a:solidFill>
                    <a:schemeClr val="bg1">
                      <a:lumMod val="65000"/>
                    </a:schemeClr>
                  </a:solidFill>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2012197" y="1467042"/>
                <a:ext cx="181139" cy="276999"/>
              </a:xfrm>
              <a:prstGeom prst="rect">
                <a:avLst/>
              </a:prstGeom>
              <a:blipFill rotWithShape="0">
                <a:blip r:embed="rId12"/>
                <a:stretch>
                  <a:fillRect l="-30000" r="-30000" b="-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2196138" y="1679073"/>
                <a:ext cx="1290418" cy="4098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solidFill>
                                <a:schemeClr val="bg1">
                                  <a:lumMod val="65000"/>
                                </a:schemeClr>
                              </a:solidFill>
                              <a:latin typeface="Cambria Math" panose="02040503050406030204" pitchFamily="18" charset="0"/>
                            </a:rPr>
                          </m:ctrlPr>
                        </m:sSubSupPr>
                        <m:e>
                          <m:r>
                            <a:rPr lang="en-US" sz="2000" b="0" i="1" smtClean="0">
                              <a:solidFill>
                                <a:schemeClr val="bg1">
                                  <a:lumMod val="65000"/>
                                </a:schemeClr>
                              </a:solidFill>
                              <a:latin typeface="Cambria Math" panose="02040503050406030204" pitchFamily="18" charset="0"/>
                            </a:rPr>
                            <m:t>𝑤</m:t>
                          </m:r>
                        </m:e>
                        <m:sub>
                          <m:r>
                            <a:rPr lang="en-US" sz="2000" b="0" i="1" smtClean="0">
                              <a:solidFill>
                                <a:schemeClr val="bg1">
                                  <a:lumMod val="65000"/>
                                </a:schemeClr>
                              </a:solidFill>
                              <a:latin typeface="Cambria Math" panose="02040503050406030204" pitchFamily="18" charset="0"/>
                            </a:rPr>
                            <m:t>1,0</m:t>
                          </m:r>
                        </m:sub>
                        <m:sup>
                          <m:r>
                            <a:rPr lang="en-US" sz="2000" b="0" i="1" smtClean="0">
                              <a:solidFill>
                                <a:schemeClr val="bg1">
                                  <a:lumMod val="65000"/>
                                </a:schemeClr>
                              </a:solidFill>
                              <a:latin typeface="Cambria Math" panose="02040503050406030204" pitchFamily="18" charset="0"/>
                            </a:rPr>
                            <m:t>(1)</m:t>
                          </m:r>
                        </m:sup>
                      </m:sSubSup>
                      <m:r>
                        <a:rPr lang="en-US" sz="2000" b="0" i="1" smtClean="0">
                          <a:solidFill>
                            <a:schemeClr val="bg1">
                              <a:lumMod val="65000"/>
                            </a:schemeClr>
                          </a:solidFill>
                          <a:latin typeface="Cambria Math" panose="02040503050406030204" pitchFamily="18" charset="0"/>
                        </a:rPr>
                        <m:t>=</m:t>
                      </m:r>
                      <m:sSubSup>
                        <m:sSubSupPr>
                          <m:ctrlPr>
                            <a:rPr lang="en-US" sz="2000" b="0" i="1" smtClean="0">
                              <a:solidFill>
                                <a:schemeClr val="bg1">
                                  <a:lumMod val="65000"/>
                                </a:schemeClr>
                              </a:solidFill>
                              <a:latin typeface="Cambria Math" panose="02040503050406030204" pitchFamily="18" charset="0"/>
                            </a:rPr>
                          </m:ctrlPr>
                        </m:sSubSupPr>
                        <m:e>
                          <m:r>
                            <a:rPr lang="en-US" sz="2000" b="0" i="1" smtClean="0">
                              <a:solidFill>
                                <a:schemeClr val="bg1">
                                  <a:lumMod val="65000"/>
                                </a:schemeClr>
                              </a:solidFill>
                              <a:latin typeface="Cambria Math" panose="02040503050406030204" pitchFamily="18" charset="0"/>
                            </a:rPr>
                            <m:t>𝑏</m:t>
                          </m:r>
                        </m:e>
                        <m:sub>
                          <m:r>
                            <a:rPr lang="en-US" sz="2000" b="0" i="1" smtClean="0">
                              <a:solidFill>
                                <a:schemeClr val="bg1">
                                  <a:lumMod val="65000"/>
                                </a:schemeClr>
                              </a:solidFill>
                              <a:latin typeface="Cambria Math" panose="02040503050406030204" pitchFamily="18" charset="0"/>
                            </a:rPr>
                            <m:t>1</m:t>
                          </m:r>
                        </m:sub>
                        <m:sup>
                          <m:r>
                            <a:rPr lang="en-US" sz="2000" b="0" i="1" smtClean="0">
                              <a:solidFill>
                                <a:schemeClr val="bg1">
                                  <a:lumMod val="65000"/>
                                </a:schemeClr>
                              </a:solidFill>
                              <a:latin typeface="Cambria Math" panose="02040503050406030204" pitchFamily="18" charset="0"/>
                            </a:rPr>
                            <m:t>(1)</m:t>
                          </m:r>
                        </m:sup>
                      </m:sSubSup>
                    </m:oMath>
                  </m:oMathPara>
                </a14:m>
                <a:endParaRPr lang="en-IN" sz="2000" dirty="0">
                  <a:solidFill>
                    <a:schemeClr val="bg1">
                      <a:lumMod val="65000"/>
                    </a:schemeClr>
                  </a:solidFill>
                </a:endParaRPr>
              </a:p>
            </p:txBody>
          </p:sp>
        </mc:Choice>
        <mc:Fallback xmlns="">
          <p:sp>
            <p:nvSpPr>
              <p:cNvPr id="36" name="TextBox 35"/>
              <p:cNvSpPr txBox="1">
                <a:spLocks noRot="1" noChangeAspect="1" noMove="1" noResize="1" noEditPoints="1" noAdjustHandles="1" noChangeArrowheads="1" noChangeShapeType="1" noTextEdit="1"/>
              </p:cNvSpPr>
              <p:nvPr/>
            </p:nvSpPr>
            <p:spPr>
              <a:xfrm>
                <a:off x="2196138" y="1679073"/>
                <a:ext cx="1290418" cy="409856"/>
              </a:xfrm>
              <a:prstGeom prst="rect">
                <a:avLst/>
              </a:prstGeom>
              <a:blipFill rotWithShape="0">
                <a:blip r:embed="rId13"/>
                <a:stretch>
                  <a:fillRect l="-1887" t="-2941" r="-3774" b="-88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1731976" y="2416839"/>
                <a:ext cx="6972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bg1">
                              <a:lumMod val="65000"/>
                            </a:schemeClr>
                          </a:solidFill>
                          <a:latin typeface="Cambria Math" panose="02040503050406030204" pitchFamily="18" charset="0"/>
                          <a:ea typeface="Cambria Math" panose="02040503050406030204" pitchFamily="18" charset="0"/>
                        </a:rPr>
                        <m:t>𝑔</m:t>
                      </m:r>
                      <m:r>
                        <a:rPr lang="en-US" sz="2400" b="0" i="1" smtClean="0">
                          <a:solidFill>
                            <a:schemeClr val="bg1">
                              <a:lumMod val="65000"/>
                            </a:schemeClr>
                          </a:solidFill>
                          <a:latin typeface="Cambria Math" panose="02040503050406030204" pitchFamily="18" charset="0"/>
                          <a:ea typeface="Cambria Math" panose="02040503050406030204" pitchFamily="18" charset="0"/>
                        </a:rPr>
                        <m:t>(</m:t>
                      </m:r>
                      <m:r>
                        <a:rPr lang="en-US" sz="2400" b="0" i="1" smtClean="0">
                          <a:solidFill>
                            <a:schemeClr val="bg1">
                              <a:lumMod val="65000"/>
                            </a:schemeClr>
                          </a:solidFill>
                          <a:latin typeface="Cambria Math" panose="02040503050406030204" pitchFamily="18" charset="0"/>
                          <a:ea typeface="Cambria Math" panose="02040503050406030204" pitchFamily="18" charset="0"/>
                        </a:rPr>
                        <m:t>𝑎</m:t>
                      </m:r>
                      <m:r>
                        <a:rPr lang="en-US" sz="2400" b="0" i="1" smtClean="0">
                          <a:solidFill>
                            <a:schemeClr val="bg1">
                              <a:lumMod val="65000"/>
                            </a:schemeClr>
                          </a:solidFill>
                          <a:latin typeface="Cambria Math" panose="02040503050406030204" pitchFamily="18" charset="0"/>
                          <a:ea typeface="Cambria Math" panose="02040503050406030204" pitchFamily="18" charset="0"/>
                        </a:rPr>
                        <m:t>)</m:t>
                      </m:r>
                    </m:oMath>
                  </m:oMathPara>
                </a14:m>
                <a:endParaRPr lang="en-IN" sz="2400" dirty="0">
                  <a:solidFill>
                    <a:schemeClr val="bg1">
                      <a:lumMod val="65000"/>
                    </a:schemeClr>
                  </a:solidFill>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1731976" y="2416839"/>
                <a:ext cx="697242" cy="369332"/>
              </a:xfrm>
              <a:prstGeom prst="rect">
                <a:avLst/>
              </a:prstGeom>
              <a:blipFill rotWithShape="0">
                <a:blip r:embed="rId14"/>
                <a:stretch>
                  <a:fillRect l="-10526" r="-15789" b="-34426"/>
                </a:stretch>
              </a:blipFill>
            </p:spPr>
            <p:txBody>
              <a:bodyPr/>
              <a:lstStyle/>
              <a:p>
                <a:r>
                  <a:rPr lang="en-IN">
                    <a:noFill/>
                  </a:rPr>
                  <a:t> </a:t>
                </a:r>
              </a:p>
            </p:txBody>
          </p:sp>
        </mc:Fallback>
      </mc:AlternateContent>
      <p:cxnSp>
        <p:nvCxnSpPr>
          <p:cNvPr id="38" name="Straight Arrow Connector 37"/>
          <p:cNvCxnSpPr/>
          <p:nvPr/>
        </p:nvCxnSpPr>
        <p:spPr>
          <a:xfrm>
            <a:off x="739588" y="1680882"/>
            <a:ext cx="1100300" cy="1947111"/>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p:cNvSpPr txBox="1"/>
              <p:nvPr/>
            </p:nvSpPr>
            <p:spPr>
              <a:xfrm>
                <a:off x="1150675" y="2121663"/>
                <a:ext cx="536044" cy="409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latin typeface="Cambria Math" panose="02040503050406030204" pitchFamily="18" charset="0"/>
                            </a:rPr>
                          </m:ctrlPr>
                        </m:sSubSupPr>
                        <m:e>
                          <m:r>
                            <a:rPr lang="en-US" sz="2000" b="0" i="1" smtClean="0">
                              <a:latin typeface="Cambria Math" panose="02040503050406030204" pitchFamily="18" charset="0"/>
                            </a:rPr>
                            <m:t>𝑤</m:t>
                          </m:r>
                        </m:e>
                        <m:sub>
                          <m:r>
                            <a:rPr lang="en-US" sz="2000" b="0" i="1" smtClean="0">
                              <a:latin typeface="Cambria Math" panose="02040503050406030204" pitchFamily="18" charset="0"/>
                            </a:rPr>
                            <m:t>2,1</m:t>
                          </m:r>
                        </m:sub>
                        <m:sup>
                          <m:r>
                            <a:rPr lang="en-US" sz="2000" b="0" i="1" smtClean="0">
                              <a:latin typeface="Cambria Math" panose="02040503050406030204" pitchFamily="18" charset="0"/>
                            </a:rPr>
                            <m:t>(1)</m:t>
                          </m:r>
                        </m:sup>
                      </m:sSubSup>
                    </m:oMath>
                  </m:oMathPara>
                </a14:m>
                <a:endParaRPr lang="en-IN" sz="2000" dirty="0"/>
              </a:p>
            </p:txBody>
          </p:sp>
        </mc:Choice>
        <mc:Fallback xmlns="">
          <p:sp>
            <p:nvSpPr>
              <p:cNvPr id="39" name="TextBox 38"/>
              <p:cNvSpPr txBox="1">
                <a:spLocks noRot="1" noChangeAspect="1" noMove="1" noResize="1" noEditPoints="1" noAdjustHandles="1" noChangeArrowheads="1" noChangeShapeType="1" noTextEdit="1"/>
              </p:cNvSpPr>
              <p:nvPr/>
            </p:nvSpPr>
            <p:spPr>
              <a:xfrm>
                <a:off x="1150675" y="2121663"/>
                <a:ext cx="536044" cy="409536"/>
              </a:xfrm>
              <a:prstGeom prst="rect">
                <a:avLst/>
              </a:prstGeom>
              <a:blipFill rotWithShape="0">
                <a:blip r:embed="rId15"/>
                <a:stretch>
                  <a:fillRect l="-6818" t="-4478" r="-10227" b="-10448"/>
                </a:stretch>
              </a:blipFill>
            </p:spPr>
            <p:txBody>
              <a:bodyPr/>
              <a:lstStyle/>
              <a:p>
                <a:r>
                  <a:rPr lang="en-IN">
                    <a:noFill/>
                  </a:rPr>
                  <a:t> </a:t>
                </a:r>
              </a:p>
            </p:txBody>
          </p:sp>
        </mc:Fallback>
      </mc:AlternateContent>
      <p:cxnSp>
        <p:nvCxnSpPr>
          <p:cNvPr id="40" name="Straight Arrow Connector 39"/>
          <p:cNvCxnSpPr>
            <a:endCxn id="29" idx="1"/>
          </p:cNvCxnSpPr>
          <p:nvPr/>
        </p:nvCxnSpPr>
        <p:spPr>
          <a:xfrm>
            <a:off x="746007" y="2518386"/>
            <a:ext cx="976060" cy="1335557"/>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endCxn id="29" idx="1"/>
          </p:cNvCxnSpPr>
          <p:nvPr/>
        </p:nvCxnSpPr>
        <p:spPr>
          <a:xfrm flipV="1">
            <a:off x="817950" y="3853943"/>
            <a:ext cx="904117" cy="133125"/>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grpSp>
        <p:nvGrpSpPr>
          <p:cNvPr id="45" name="Group 44"/>
          <p:cNvGrpSpPr/>
          <p:nvPr/>
        </p:nvGrpSpPr>
        <p:grpSpPr>
          <a:xfrm>
            <a:off x="1021605" y="3188300"/>
            <a:ext cx="36000" cy="340800"/>
            <a:chOff x="2731586" y="4043627"/>
            <a:chExt cx="36000" cy="340800"/>
          </a:xfrm>
        </p:grpSpPr>
        <p:sp>
          <p:nvSpPr>
            <p:cNvPr id="46" name="Oval 45"/>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Oval 46"/>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Oval 47"/>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49" name="TextBox 48"/>
              <p:cNvSpPr txBox="1"/>
              <p:nvPr/>
            </p:nvSpPr>
            <p:spPr>
              <a:xfrm>
                <a:off x="478319" y="2862395"/>
                <a:ext cx="536044" cy="409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latin typeface="Cambria Math" panose="02040503050406030204" pitchFamily="18" charset="0"/>
                            </a:rPr>
                          </m:ctrlPr>
                        </m:sSubSupPr>
                        <m:e>
                          <m:r>
                            <a:rPr lang="en-US" sz="2000" b="0" i="1" smtClean="0">
                              <a:latin typeface="Cambria Math" panose="02040503050406030204" pitchFamily="18" charset="0"/>
                            </a:rPr>
                            <m:t>𝑤</m:t>
                          </m:r>
                        </m:e>
                        <m:sub>
                          <m:r>
                            <a:rPr lang="en-US" sz="2000" b="0" i="1" smtClean="0">
                              <a:latin typeface="Cambria Math" panose="02040503050406030204" pitchFamily="18" charset="0"/>
                            </a:rPr>
                            <m:t>2,2</m:t>
                          </m:r>
                        </m:sub>
                        <m:sup>
                          <m:r>
                            <a:rPr lang="en-US" sz="2000" b="0" i="1" smtClean="0">
                              <a:latin typeface="Cambria Math" panose="02040503050406030204" pitchFamily="18" charset="0"/>
                            </a:rPr>
                            <m:t>(1)</m:t>
                          </m:r>
                        </m:sup>
                      </m:sSubSup>
                    </m:oMath>
                  </m:oMathPara>
                </a14:m>
                <a:endParaRPr lang="en-IN" sz="2000" dirty="0"/>
              </a:p>
            </p:txBody>
          </p:sp>
        </mc:Choice>
        <mc:Fallback xmlns="">
          <p:sp>
            <p:nvSpPr>
              <p:cNvPr id="49" name="TextBox 48"/>
              <p:cNvSpPr txBox="1">
                <a:spLocks noRot="1" noChangeAspect="1" noMove="1" noResize="1" noEditPoints="1" noAdjustHandles="1" noChangeArrowheads="1" noChangeShapeType="1" noTextEdit="1"/>
              </p:cNvSpPr>
              <p:nvPr/>
            </p:nvSpPr>
            <p:spPr>
              <a:xfrm>
                <a:off x="478319" y="2862395"/>
                <a:ext cx="536044" cy="409536"/>
              </a:xfrm>
              <a:prstGeom prst="rect">
                <a:avLst/>
              </a:prstGeom>
              <a:blipFill rotWithShape="0">
                <a:blip r:embed="rId16"/>
                <a:stretch>
                  <a:fillRect l="-5682" t="-4478" r="-10227" b="-895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901224" y="3480790"/>
                <a:ext cx="536044" cy="409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latin typeface="Cambria Math" panose="02040503050406030204" pitchFamily="18" charset="0"/>
                            </a:rPr>
                          </m:ctrlPr>
                        </m:sSubSupPr>
                        <m:e>
                          <m:r>
                            <a:rPr lang="en-US" sz="2000" b="0" i="1" smtClean="0">
                              <a:latin typeface="Cambria Math" panose="02040503050406030204" pitchFamily="18" charset="0"/>
                            </a:rPr>
                            <m:t>𝑤</m:t>
                          </m:r>
                        </m:e>
                        <m:sub>
                          <m:r>
                            <a:rPr lang="en-US" sz="2000" b="0" i="1" smtClean="0">
                              <a:latin typeface="Cambria Math" panose="02040503050406030204" pitchFamily="18" charset="0"/>
                            </a:rPr>
                            <m:t>2,3</m:t>
                          </m:r>
                        </m:sub>
                        <m:sup>
                          <m:r>
                            <a:rPr lang="en-US" sz="2000" b="0" i="1" smtClean="0">
                              <a:latin typeface="Cambria Math" panose="02040503050406030204" pitchFamily="18" charset="0"/>
                            </a:rPr>
                            <m:t>(1)</m:t>
                          </m:r>
                        </m:sup>
                      </m:sSubSup>
                    </m:oMath>
                  </m:oMathPara>
                </a14:m>
                <a:endParaRPr lang="en-IN" sz="2000" dirty="0"/>
              </a:p>
            </p:txBody>
          </p:sp>
        </mc:Choice>
        <mc:Fallback xmlns="">
          <p:sp>
            <p:nvSpPr>
              <p:cNvPr id="50" name="TextBox 49"/>
              <p:cNvSpPr txBox="1">
                <a:spLocks noRot="1" noChangeAspect="1" noMove="1" noResize="1" noEditPoints="1" noAdjustHandles="1" noChangeArrowheads="1" noChangeShapeType="1" noTextEdit="1"/>
              </p:cNvSpPr>
              <p:nvPr/>
            </p:nvSpPr>
            <p:spPr>
              <a:xfrm>
                <a:off x="901224" y="3480790"/>
                <a:ext cx="536044" cy="409536"/>
              </a:xfrm>
              <a:prstGeom prst="rect">
                <a:avLst/>
              </a:prstGeom>
              <a:blipFill rotWithShape="0">
                <a:blip r:embed="rId17"/>
                <a:stretch>
                  <a:fillRect l="-6818" t="-4478" r="-10227" b="-8955"/>
                </a:stretch>
              </a:blipFill>
            </p:spPr>
            <p:txBody>
              <a:bodyPr/>
              <a:lstStyle/>
              <a:p>
                <a:r>
                  <a:rPr lang="en-IN">
                    <a:noFill/>
                  </a:rPr>
                  <a:t> </a:t>
                </a:r>
              </a:p>
            </p:txBody>
          </p:sp>
        </mc:Fallback>
      </mc:AlternateContent>
      <p:cxnSp>
        <p:nvCxnSpPr>
          <p:cNvPr id="51" name="Straight Arrow Connector 50"/>
          <p:cNvCxnSpPr/>
          <p:nvPr/>
        </p:nvCxnSpPr>
        <p:spPr>
          <a:xfrm>
            <a:off x="2073317" y="3140826"/>
            <a:ext cx="0" cy="344968"/>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p:cNvSpPr txBox="1"/>
              <p:nvPr/>
            </p:nvSpPr>
            <p:spPr>
              <a:xfrm>
                <a:off x="1991039" y="2878444"/>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IN" dirty="0"/>
              </a:p>
            </p:txBody>
          </p:sp>
        </mc:Choice>
        <mc:Fallback xmlns="">
          <p:sp>
            <p:nvSpPr>
              <p:cNvPr id="52" name="TextBox 51"/>
              <p:cNvSpPr txBox="1">
                <a:spLocks noRot="1" noChangeAspect="1" noMove="1" noResize="1" noEditPoints="1" noAdjustHandles="1" noChangeArrowheads="1" noChangeShapeType="1" noTextEdit="1"/>
              </p:cNvSpPr>
              <p:nvPr/>
            </p:nvSpPr>
            <p:spPr>
              <a:xfrm>
                <a:off x="1991039" y="2878444"/>
                <a:ext cx="181139" cy="276999"/>
              </a:xfrm>
              <a:prstGeom prst="rect">
                <a:avLst/>
              </a:prstGeom>
              <a:blipFill rotWithShape="0">
                <a:blip r:embed="rId18"/>
                <a:stretch>
                  <a:fillRect l="-34483" r="-31034" b="-652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2121190" y="3023240"/>
                <a:ext cx="1290418" cy="4098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latin typeface="Cambria Math" panose="02040503050406030204" pitchFamily="18" charset="0"/>
                            </a:rPr>
                          </m:ctrlPr>
                        </m:sSubSupPr>
                        <m:e>
                          <m:r>
                            <a:rPr lang="en-US" sz="2000" b="0" i="1" smtClean="0">
                              <a:latin typeface="Cambria Math" panose="02040503050406030204" pitchFamily="18" charset="0"/>
                            </a:rPr>
                            <m:t>𝑤</m:t>
                          </m:r>
                        </m:e>
                        <m:sub>
                          <m:r>
                            <a:rPr lang="en-US" sz="2000" b="0" i="1" smtClean="0">
                              <a:latin typeface="Cambria Math" panose="02040503050406030204" pitchFamily="18" charset="0"/>
                            </a:rPr>
                            <m:t>2,0</m:t>
                          </m:r>
                        </m:sub>
                        <m:sup>
                          <m:r>
                            <a:rPr lang="en-US" sz="2000" b="0" i="1" smtClean="0">
                              <a:latin typeface="Cambria Math" panose="02040503050406030204" pitchFamily="18" charset="0"/>
                            </a:rPr>
                            <m:t>(1)</m:t>
                          </m:r>
                        </m:sup>
                      </m:sSubSup>
                      <m:r>
                        <a:rPr lang="en-US" sz="2000" b="0" i="1" smtClean="0">
                          <a:latin typeface="Cambria Math" panose="02040503050406030204" pitchFamily="18" charset="0"/>
                        </a:rPr>
                        <m:t>=</m:t>
                      </m:r>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𝑏</m:t>
                          </m:r>
                        </m:e>
                        <m:sub>
                          <m:r>
                            <a:rPr lang="en-US" sz="2000" b="0" i="1" smtClean="0">
                              <a:latin typeface="Cambria Math" panose="02040503050406030204" pitchFamily="18" charset="0"/>
                            </a:rPr>
                            <m:t>2</m:t>
                          </m:r>
                        </m:sub>
                        <m:sup>
                          <m:r>
                            <a:rPr lang="en-US" sz="2000" b="0" i="1" smtClean="0">
                              <a:latin typeface="Cambria Math" panose="02040503050406030204" pitchFamily="18" charset="0"/>
                            </a:rPr>
                            <m:t>(1)</m:t>
                          </m:r>
                        </m:sup>
                      </m:sSubSup>
                    </m:oMath>
                  </m:oMathPara>
                </a14:m>
                <a:endParaRPr lang="en-IN" sz="2000" dirty="0"/>
              </a:p>
            </p:txBody>
          </p:sp>
        </mc:Choice>
        <mc:Fallback xmlns="">
          <p:sp>
            <p:nvSpPr>
              <p:cNvPr id="53" name="TextBox 52"/>
              <p:cNvSpPr txBox="1">
                <a:spLocks noRot="1" noChangeAspect="1" noMove="1" noResize="1" noEditPoints="1" noAdjustHandles="1" noChangeArrowheads="1" noChangeShapeType="1" noTextEdit="1"/>
              </p:cNvSpPr>
              <p:nvPr/>
            </p:nvSpPr>
            <p:spPr>
              <a:xfrm>
                <a:off x="2121190" y="3023240"/>
                <a:ext cx="1290418" cy="409856"/>
              </a:xfrm>
              <a:prstGeom prst="rect">
                <a:avLst/>
              </a:prstGeom>
              <a:blipFill rotWithShape="0">
                <a:blip r:embed="rId19"/>
                <a:stretch>
                  <a:fillRect l="-2358" t="-4478" r="-3774" b="-895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1789142" y="3805368"/>
                <a:ext cx="6972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𝑔</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m:t>
                      </m:r>
                    </m:oMath>
                  </m:oMathPara>
                </a14:m>
                <a:endParaRPr lang="en-IN" sz="2400" dirty="0"/>
              </a:p>
            </p:txBody>
          </p:sp>
        </mc:Choice>
        <mc:Fallback xmlns="">
          <p:sp>
            <p:nvSpPr>
              <p:cNvPr id="54" name="TextBox 53"/>
              <p:cNvSpPr txBox="1">
                <a:spLocks noRot="1" noChangeAspect="1" noMove="1" noResize="1" noEditPoints="1" noAdjustHandles="1" noChangeArrowheads="1" noChangeShapeType="1" noTextEdit="1"/>
              </p:cNvSpPr>
              <p:nvPr/>
            </p:nvSpPr>
            <p:spPr>
              <a:xfrm>
                <a:off x="1789142" y="3805368"/>
                <a:ext cx="697242" cy="369332"/>
              </a:xfrm>
              <a:prstGeom prst="rect">
                <a:avLst/>
              </a:prstGeom>
              <a:blipFill rotWithShape="0">
                <a:blip r:embed="rId20"/>
                <a:stretch>
                  <a:fillRect l="-10435" r="-14783" b="-3442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p:cNvSpPr txBox="1"/>
              <p:nvPr/>
            </p:nvSpPr>
            <p:spPr>
              <a:xfrm>
                <a:off x="5753531" y="1331293"/>
                <a:ext cx="5489708" cy="9587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200" b="0" i="1" smtClean="0">
                              <a:latin typeface="Cambria Math" panose="02040503050406030204" pitchFamily="18" charset="0"/>
                            </a:rPr>
                          </m:ctrlPr>
                        </m:sSubSupPr>
                        <m:e>
                          <m:r>
                            <a:rPr lang="en-IN" sz="2200" b="0" i="1" smtClean="0">
                              <a:latin typeface="Cambria Math" panose="02040503050406030204" pitchFamily="18" charset="0"/>
                            </a:rPr>
                            <m:t>𝑎</m:t>
                          </m:r>
                        </m:e>
                        <m:sub>
                          <m:r>
                            <a:rPr lang="en-IN" sz="2200" b="0" i="1" smtClean="0">
                              <a:latin typeface="Cambria Math" panose="02040503050406030204" pitchFamily="18" charset="0"/>
                            </a:rPr>
                            <m:t>1</m:t>
                          </m:r>
                        </m:sub>
                        <m:sup>
                          <m:d>
                            <m:dPr>
                              <m:ctrlPr>
                                <a:rPr lang="en-IN" sz="2200" b="0" i="1" smtClean="0">
                                  <a:latin typeface="Cambria Math" panose="02040503050406030204" pitchFamily="18" charset="0"/>
                                </a:rPr>
                              </m:ctrlPr>
                            </m:dPr>
                            <m:e>
                              <m:r>
                                <a:rPr lang="en-IN" sz="2200" b="0" i="1" smtClean="0">
                                  <a:latin typeface="Cambria Math" panose="02040503050406030204" pitchFamily="18" charset="0"/>
                                </a:rPr>
                                <m:t>1</m:t>
                              </m:r>
                            </m:e>
                          </m:d>
                        </m:sup>
                      </m:sSubSup>
                      <m:r>
                        <a:rPr lang="en-IN" sz="2200" b="0" i="1" smtClean="0">
                          <a:latin typeface="Cambria Math" panose="02040503050406030204" pitchFamily="18" charset="0"/>
                        </a:rPr>
                        <m:t>(</m:t>
                      </m:r>
                      <m:r>
                        <a:rPr lang="en-IN" sz="2200" b="1" i="1" smtClean="0">
                          <a:latin typeface="Cambria Math" panose="02040503050406030204" pitchFamily="18" charset="0"/>
                        </a:rPr>
                        <m:t>𝒙</m:t>
                      </m:r>
                      <m:r>
                        <a:rPr lang="en-IN" sz="2200" b="0" i="1" smtClean="0">
                          <a:latin typeface="Cambria Math" panose="02040503050406030204" pitchFamily="18" charset="0"/>
                        </a:rPr>
                        <m:t>)</m:t>
                      </m:r>
                      <m:r>
                        <a:rPr lang="en-US" sz="2200" b="0" i="1" smtClean="0">
                          <a:latin typeface="Cambria Math" panose="02040503050406030204" pitchFamily="18" charset="0"/>
                        </a:rPr>
                        <m:t>=</m:t>
                      </m:r>
                      <m:sSubSup>
                        <m:sSubSupPr>
                          <m:ctrlPr>
                            <a:rPr lang="en-US" sz="2200" i="1">
                              <a:solidFill>
                                <a:prstClr val="black"/>
                              </a:solidFill>
                              <a:latin typeface="Cambria Math" panose="02040503050406030204" pitchFamily="18" charset="0"/>
                            </a:rPr>
                          </m:ctrlPr>
                        </m:sSubSupPr>
                        <m:e>
                          <m:r>
                            <a:rPr lang="en-US" sz="2200" i="1">
                              <a:solidFill>
                                <a:prstClr val="black"/>
                              </a:solidFill>
                              <a:latin typeface="Cambria Math" panose="02040503050406030204" pitchFamily="18" charset="0"/>
                            </a:rPr>
                            <m:t>𝑏</m:t>
                          </m:r>
                        </m:e>
                        <m:sub>
                          <m:r>
                            <a:rPr lang="en-US" sz="2200" i="1">
                              <a:solidFill>
                                <a:prstClr val="black"/>
                              </a:solidFill>
                              <a:latin typeface="Cambria Math" panose="02040503050406030204" pitchFamily="18" charset="0"/>
                            </a:rPr>
                            <m:t>1</m:t>
                          </m:r>
                        </m:sub>
                        <m:sup>
                          <m:r>
                            <a:rPr lang="en-US" sz="2200" i="1">
                              <a:solidFill>
                                <a:prstClr val="black"/>
                              </a:solidFill>
                              <a:latin typeface="Cambria Math" panose="02040503050406030204" pitchFamily="18" charset="0"/>
                            </a:rPr>
                            <m:t>(1)</m:t>
                          </m:r>
                        </m:sup>
                      </m:sSubSup>
                      <m:r>
                        <a:rPr lang="en-US" sz="2200" b="0" i="1" smtClean="0">
                          <a:latin typeface="Cambria Math" panose="02040503050406030204" pitchFamily="18" charset="0"/>
                        </a:rPr>
                        <m:t>+ </m:t>
                      </m:r>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=1</m:t>
                          </m:r>
                        </m:sub>
                        <m:sup>
                          <m:r>
                            <a:rPr lang="en-US" sz="2200" b="0" i="1" smtClean="0">
                              <a:latin typeface="Cambria Math" panose="02040503050406030204" pitchFamily="18" charset="0"/>
                            </a:rPr>
                            <m:t>𝑑</m:t>
                          </m:r>
                        </m:sup>
                        <m:e>
                          <m:sSubSup>
                            <m:sSubSupPr>
                              <m:ctrlPr>
                                <a:rPr lang="en-IN" sz="2200" i="1">
                                  <a:latin typeface="Cambria Math" panose="02040503050406030204" pitchFamily="18" charset="0"/>
                                </a:rPr>
                              </m:ctrlPr>
                            </m:sSubSupPr>
                            <m:e>
                              <m:r>
                                <a:rPr lang="en-US" sz="2200" i="1">
                                  <a:latin typeface="Cambria Math" panose="02040503050406030204" pitchFamily="18" charset="0"/>
                                </a:rPr>
                                <m:t>𝑤</m:t>
                              </m:r>
                            </m:e>
                            <m:sub>
                              <m:r>
                                <a:rPr lang="en-US" sz="2200" i="1">
                                  <a:latin typeface="Cambria Math" panose="02040503050406030204" pitchFamily="18" charset="0"/>
                                </a:rPr>
                                <m:t>1,</m:t>
                              </m:r>
                              <m:r>
                                <a:rPr lang="en-IN" sz="2200" b="0" i="1" smtClean="0">
                                  <a:latin typeface="Cambria Math" panose="02040503050406030204" pitchFamily="18" charset="0"/>
                                </a:rPr>
                                <m:t>𝑖</m:t>
                              </m:r>
                            </m:sub>
                            <m:sup>
                              <m:r>
                                <a:rPr lang="en-US" sz="2200" i="1">
                                  <a:latin typeface="Cambria Math" panose="02040503050406030204" pitchFamily="18" charset="0"/>
                                </a:rPr>
                                <m:t>(1)</m:t>
                              </m:r>
                            </m:sup>
                          </m:sSubSup>
                          <m:r>
                            <m:rPr>
                              <m:nor/>
                            </m:rPr>
                            <a:rPr lang="en-IN" sz="2200" dirty="0"/>
                            <m:t> </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e>
                      </m:nary>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sSubSup>
                            <m:sSubSupPr>
                              <m:ctrlPr>
                                <a:rPr lang="en-US" sz="2200" b="0" i="1" smtClean="0">
                                  <a:latin typeface="Cambria Math" panose="02040503050406030204" pitchFamily="18" charset="0"/>
                                </a:rPr>
                              </m:ctrlPr>
                            </m:sSubSupPr>
                            <m:e>
                              <m:r>
                                <a:rPr lang="en-IN" sz="2200" b="1" i="1" smtClean="0">
                                  <a:latin typeface="Cambria Math" panose="02040503050406030204" pitchFamily="18" charset="0"/>
                                </a:rPr>
                                <m:t>𝒘</m:t>
                              </m:r>
                            </m:e>
                            <m:sub>
                              <m:r>
                                <a:rPr lang="en-IN" sz="2200" b="0" i="1" smtClean="0">
                                  <a:latin typeface="Cambria Math" panose="02040503050406030204" pitchFamily="18" charset="0"/>
                                </a:rPr>
                                <m:t>1</m:t>
                              </m:r>
                            </m:sub>
                            <m:sup>
                              <m:r>
                                <a:rPr lang="en-IN" sz="2200" b="0" i="1" smtClean="0">
                                  <a:latin typeface="Cambria Math" panose="02040503050406030204" pitchFamily="18" charset="0"/>
                                </a:rPr>
                                <m:t>(1)</m:t>
                              </m:r>
                            </m:sup>
                          </m:sSubSup>
                          <m:sSubSup>
                            <m:sSubSupPr>
                              <m:ctrlPr>
                                <a:rPr lang="en-US" sz="2200" i="1">
                                  <a:solidFill>
                                    <a:prstClr val="black"/>
                                  </a:solidFill>
                                  <a:latin typeface="Cambria Math" panose="02040503050406030204" pitchFamily="18" charset="0"/>
                                </a:rPr>
                              </m:ctrlPr>
                            </m:sSubSupPr>
                            <m:e>
                              <m:r>
                                <a:rPr lang="en-US" sz="2200" i="1">
                                  <a:solidFill>
                                    <a:prstClr val="black"/>
                                  </a:solidFill>
                                  <a:latin typeface="Cambria Math" panose="02040503050406030204" pitchFamily="18" charset="0"/>
                                </a:rPr>
                                <m:t>𝑏</m:t>
                              </m:r>
                            </m:e>
                            <m:sub>
                              <m:r>
                                <a:rPr lang="en-US" sz="2200" i="1">
                                  <a:solidFill>
                                    <a:prstClr val="black"/>
                                  </a:solidFill>
                                  <a:latin typeface="Cambria Math" panose="02040503050406030204" pitchFamily="18" charset="0"/>
                                </a:rPr>
                                <m:t>1</m:t>
                              </m:r>
                            </m:sub>
                            <m:sup>
                              <m:r>
                                <a:rPr lang="en-US" sz="2200" i="1">
                                  <a:solidFill>
                                    <a:prstClr val="black"/>
                                  </a:solidFill>
                                  <a:latin typeface="Cambria Math" panose="02040503050406030204" pitchFamily="18" charset="0"/>
                                </a:rPr>
                                <m:t>(1)</m:t>
                              </m:r>
                            </m:sup>
                          </m:sSubSup>
                        </m:e>
                      </m:d>
                      <m:d>
                        <m:dPr>
                          <m:begChr m:val="["/>
                          <m:endChr m:val="]"/>
                          <m:ctrlPr>
                            <a:rPr lang="en-US" sz="2200" b="0" i="1" smtClean="0">
                              <a:latin typeface="Cambria Math" panose="02040503050406030204" pitchFamily="18" charset="0"/>
                            </a:rPr>
                          </m:ctrlPr>
                        </m:dPr>
                        <m:e>
                          <m:m>
                            <m:mPr>
                              <m:mcs>
                                <m:mc>
                                  <m:mcPr>
                                    <m:count m:val="1"/>
                                    <m:mcJc m:val="center"/>
                                  </m:mcPr>
                                </m:mc>
                              </m:mcs>
                              <m:ctrlPr>
                                <a:rPr lang="en-US" sz="2200" b="0" i="1" smtClean="0">
                                  <a:latin typeface="Cambria Math" panose="02040503050406030204" pitchFamily="18" charset="0"/>
                                </a:rPr>
                              </m:ctrlPr>
                            </m:mPr>
                            <m:mr>
                              <m:e>
                                <m:r>
                                  <m:rPr>
                                    <m:brk m:alnAt="7"/>
                                  </m:rPr>
                                  <a:rPr lang="en-IN" sz="2200" b="0" i="1" smtClean="0">
                                    <a:latin typeface="Cambria Math" panose="02040503050406030204" pitchFamily="18" charset="0"/>
                                  </a:rPr>
                                  <m:t> </m:t>
                                </m:r>
                                <m:r>
                                  <m:rPr>
                                    <m:brk m:alnAt="7"/>
                                  </m:rPr>
                                  <a:rPr lang="en-US" sz="2200" b="1" i="1" smtClean="0">
                                    <a:latin typeface="Cambria Math" panose="02040503050406030204" pitchFamily="18" charset="0"/>
                                  </a:rPr>
                                  <m:t>𝒙</m:t>
                                </m:r>
                                <m:r>
                                  <a:rPr lang="en-IN" sz="2200" b="1" i="1" smtClean="0">
                                    <a:latin typeface="Cambria Math" panose="02040503050406030204" pitchFamily="18" charset="0"/>
                                  </a:rPr>
                                  <m:t> </m:t>
                                </m:r>
                              </m:e>
                            </m:mr>
                            <m:mr>
                              <m:e>
                                <m:r>
                                  <a:rPr lang="en-IN" sz="2200" b="1" i="1" smtClean="0">
                                    <a:latin typeface="Cambria Math" panose="02040503050406030204" pitchFamily="18" charset="0"/>
                                  </a:rPr>
                                  <m:t> </m:t>
                                </m:r>
                                <m:r>
                                  <a:rPr lang="en-US" sz="2200" b="0" i="1" smtClean="0">
                                    <a:latin typeface="Cambria Math" panose="02040503050406030204" pitchFamily="18" charset="0"/>
                                  </a:rPr>
                                  <m:t>1</m:t>
                                </m:r>
                                <m:r>
                                  <a:rPr lang="en-IN" sz="2200" b="0" i="1" smtClean="0">
                                    <a:latin typeface="Cambria Math" panose="02040503050406030204" pitchFamily="18" charset="0"/>
                                  </a:rPr>
                                  <m:t> </m:t>
                                </m:r>
                              </m:e>
                            </m:mr>
                          </m:m>
                        </m:e>
                      </m:d>
                    </m:oMath>
                  </m:oMathPara>
                </a14:m>
                <a:endParaRPr lang="en-IN" sz="2200" dirty="0"/>
              </a:p>
            </p:txBody>
          </p:sp>
        </mc:Choice>
        <mc:Fallback xmlns="">
          <p:sp>
            <p:nvSpPr>
              <p:cNvPr id="61" name="TextBox 60"/>
              <p:cNvSpPr txBox="1">
                <a:spLocks noRot="1" noChangeAspect="1" noMove="1" noResize="1" noEditPoints="1" noAdjustHandles="1" noChangeArrowheads="1" noChangeShapeType="1" noTextEdit="1"/>
              </p:cNvSpPr>
              <p:nvPr/>
            </p:nvSpPr>
            <p:spPr>
              <a:xfrm>
                <a:off x="5753531" y="1331293"/>
                <a:ext cx="5489708" cy="958789"/>
              </a:xfrm>
              <a:prstGeom prst="rect">
                <a:avLst/>
              </a:prstGeom>
              <a:blipFill rotWithShape="0">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p:cNvSpPr txBox="1"/>
              <p:nvPr/>
            </p:nvSpPr>
            <p:spPr>
              <a:xfrm>
                <a:off x="5758550" y="2405790"/>
                <a:ext cx="2317879" cy="5987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200" i="1" smtClean="0">
                              <a:latin typeface="Cambria Math" panose="02040503050406030204" pitchFamily="18" charset="0"/>
                            </a:rPr>
                          </m:ctrlPr>
                        </m:sSubSupPr>
                        <m:e>
                          <m:r>
                            <a:rPr lang="en-US" sz="2200" b="0" i="1" smtClean="0">
                              <a:latin typeface="Cambria Math" panose="02040503050406030204" pitchFamily="18" charset="0"/>
                            </a:rPr>
                            <m:t>h</m:t>
                          </m:r>
                        </m:e>
                        <m:sub>
                          <m:r>
                            <a:rPr lang="en-US" sz="2200" b="0" i="1" smtClean="0">
                              <a:latin typeface="Cambria Math" panose="02040503050406030204" pitchFamily="18" charset="0"/>
                            </a:rPr>
                            <m:t>1</m:t>
                          </m:r>
                        </m:sub>
                        <m:sup>
                          <m:r>
                            <a:rPr lang="en-US" sz="2200" b="0" i="1" smtClean="0">
                              <a:latin typeface="Cambria Math" panose="02040503050406030204" pitchFamily="18" charset="0"/>
                            </a:rPr>
                            <m:t>(1)</m:t>
                          </m:r>
                        </m:sup>
                      </m:sSubSup>
                      <m:r>
                        <a:rPr lang="en-IN" sz="2200" b="0" i="1" smtClean="0">
                          <a:latin typeface="Cambria Math" panose="02040503050406030204" pitchFamily="18" charset="0"/>
                        </a:rPr>
                        <m:t>=</m:t>
                      </m:r>
                      <m:r>
                        <a:rPr lang="en-IN" sz="2200" b="0" i="1" smtClean="0">
                          <a:latin typeface="Cambria Math" panose="02040503050406030204" pitchFamily="18" charset="0"/>
                        </a:rPr>
                        <m:t>𝑔</m:t>
                      </m:r>
                      <m:d>
                        <m:dPr>
                          <m:ctrlPr>
                            <a:rPr lang="en-IN" sz="2200" b="0" i="1" smtClean="0">
                              <a:latin typeface="Cambria Math" panose="02040503050406030204" pitchFamily="18" charset="0"/>
                            </a:rPr>
                          </m:ctrlPr>
                        </m:dPr>
                        <m:e>
                          <m:sSubSup>
                            <m:sSubSupPr>
                              <m:ctrlPr>
                                <a:rPr lang="en-US" sz="2200" i="1">
                                  <a:latin typeface="Cambria Math" panose="02040503050406030204" pitchFamily="18" charset="0"/>
                                </a:rPr>
                              </m:ctrlPr>
                            </m:sSubSupPr>
                            <m:e>
                              <m:r>
                                <a:rPr lang="en-IN" sz="2200" i="1">
                                  <a:latin typeface="Cambria Math" panose="02040503050406030204" pitchFamily="18" charset="0"/>
                                </a:rPr>
                                <m:t>𝑎</m:t>
                              </m:r>
                            </m:e>
                            <m:sub>
                              <m:r>
                                <a:rPr lang="en-IN" sz="2200" i="1">
                                  <a:latin typeface="Cambria Math" panose="02040503050406030204" pitchFamily="18" charset="0"/>
                                </a:rPr>
                                <m:t>1</m:t>
                              </m:r>
                            </m:sub>
                            <m:sup>
                              <m:d>
                                <m:dPr>
                                  <m:ctrlPr>
                                    <a:rPr lang="en-IN" sz="2200" i="1">
                                      <a:latin typeface="Cambria Math" panose="02040503050406030204" pitchFamily="18" charset="0"/>
                                    </a:rPr>
                                  </m:ctrlPr>
                                </m:dPr>
                                <m:e>
                                  <m:r>
                                    <a:rPr lang="en-IN" sz="2200" i="1">
                                      <a:latin typeface="Cambria Math" panose="02040503050406030204" pitchFamily="18" charset="0"/>
                                    </a:rPr>
                                    <m:t>1</m:t>
                                  </m:r>
                                </m:e>
                              </m:d>
                            </m:sup>
                          </m:sSubSup>
                          <m:d>
                            <m:dPr>
                              <m:ctrlPr>
                                <a:rPr lang="en-IN" sz="2200" i="1">
                                  <a:latin typeface="Cambria Math" panose="02040503050406030204" pitchFamily="18" charset="0"/>
                                </a:rPr>
                              </m:ctrlPr>
                            </m:dPr>
                            <m:e>
                              <m:r>
                                <a:rPr lang="en-IN" sz="2200" b="1" i="1">
                                  <a:latin typeface="Cambria Math" panose="02040503050406030204" pitchFamily="18" charset="0"/>
                                </a:rPr>
                                <m:t>𝒙</m:t>
                              </m:r>
                            </m:e>
                          </m:d>
                        </m:e>
                      </m:d>
                      <m:r>
                        <a:rPr lang="en-IN" sz="2200" b="0" i="1" smtClean="0">
                          <a:latin typeface="Cambria Math" panose="02040503050406030204" pitchFamily="18" charset="0"/>
                        </a:rPr>
                        <m:t> </m:t>
                      </m:r>
                    </m:oMath>
                  </m:oMathPara>
                </a14:m>
                <a:endParaRPr lang="en-IN" sz="2200" dirty="0"/>
              </a:p>
            </p:txBody>
          </p:sp>
        </mc:Choice>
        <mc:Fallback xmlns="">
          <p:sp>
            <p:nvSpPr>
              <p:cNvPr id="65" name="TextBox 64"/>
              <p:cNvSpPr txBox="1">
                <a:spLocks noRot="1" noChangeAspect="1" noMove="1" noResize="1" noEditPoints="1" noAdjustHandles="1" noChangeArrowheads="1" noChangeShapeType="1" noTextEdit="1"/>
              </p:cNvSpPr>
              <p:nvPr/>
            </p:nvSpPr>
            <p:spPr>
              <a:xfrm>
                <a:off x="5758550" y="2405790"/>
                <a:ext cx="2317879" cy="598754"/>
              </a:xfrm>
              <a:prstGeom prst="rect">
                <a:avLst/>
              </a:prstGeom>
              <a:blipFill rotWithShape="0">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5753531" y="2903786"/>
                <a:ext cx="5489708" cy="9587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200" b="0" i="1" smtClean="0">
                              <a:latin typeface="Cambria Math" panose="02040503050406030204" pitchFamily="18" charset="0"/>
                            </a:rPr>
                          </m:ctrlPr>
                        </m:sSubSupPr>
                        <m:e>
                          <m:r>
                            <a:rPr lang="en-IN" sz="2200" b="0" i="1" smtClean="0">
                              <a:latin typeface="Cambria Math" panose="02040503050406030204" pitchFamily="18" charset="0"/>
                            </a:rPr>
                            <m:t>𝑎</m:t>
                          </m:r>
                        </m:e>
                        <m:sub>
                          <m:r>
                            <a:rPr lang="en-IN" sz="2200" b="0" i="1" smtClean="0">
                              <a:latin typeface="Cambria Math" panose="02040503050406030204" pitchFamily="18" charset="0"/>
                            </a:rPr>
                            <m:t>2</m:t>
                          </m:r>
                        </m:sub>
                        <m:sup>
                          <m:d>
                            <m:dPr>
                              <m:ctrlPr>
                                <a:rPr lang="en-IN" sz="2200" b="0" i="1" smtClean="0">
                                  <a:latin typeface="Cambria Math" panose="02040503050406030204" pitchFamily="18" charset="0"/>
                                </a:rPr>
                              </m:ctrlPr>
                            </m:dPr>
                            <m:e>
                              <m:r>
                                <a:rPr lang="en-IN" sz="2200" b="0" i="1" smtClean="0">
                                  <a:latin typeface="Cambria Math" panose="02040503050406030204" pitchFamily="18" charset="0"/>
                                </a:rPr>
                                <m:t>1</m:t>
                              </m:r>
                            </m:e>
                          </m:d>
                        </m:sup>
                      </m:sSubSup>
                      <m:r>
                        <a:rPr lang="en-IN" sz="2200" b="0" i="1" smtClean="0">
                          <a:latin typeface="Cambria Math" panose="02040503050406030204" pitchFamily="18" charset="0"/>
                        </a:rPr>
                        <m:t>(</m:t>
                      </m:r>
                      <m:r>
                        <a:rPr lang="en-IN" sz="2200" b="1" i="1" smtClean="0">
                          <a:latin typeface="Cambria Math" panose="02040503050406030204" pitchFamily="18" charset="0"/>
                        </a:rPr>
                        <m:t>𝒙</m:t>
                      </m:r>
                      <m:r>
                        <a:rPr lang="en-IN" sz="2200" b="0" i="1" smtClean="0">
                          <a:latin typeface="Cambria Math" panose="02040503050406030204" pitchFamily="18" charset="0"/>
                        </a:rPr>
                        <m:t>)</m:t>
                      </m:r>
                      <m:r>
                        <a:rPr lang="en-US" sz="2200" b="0" i="1" smtClean="0">
                          <a:latin typeface="Cambria Math" panose="02040503050406030204" pitchFamily="18" charset="0"/>
                        </a:rPr>
                        <m:t>=</m:t>
                      </m:r>
                      <m:sSubSup>
                        <m:sSubSupPr>
                          <m:ctrlPr>
                            <a:rPr lang="en-US" sz="2200" i="1">
                              <a:solidFill>
                                <a:prstClr val="black"/>
                              </a:solidFill>
                              <a:latin typeface="Cambria Math" panose="02040503050406030204" pitchFamily="18" charset="0"/>
                            </a:rPr>
                          </m:ctrlPr>
                        </m:sSubSupPr>
                        <m:e>
                          <m:r>
                            <a:rPr lang="en-US" sz="2200" i="1">
                              <a:solidFill>
                                <a:prstClr val="black"/>
                              </a:solidFill>
                              <a:latin typeface="Cambria Math" panose="02040503050406030204" pitchFamily="18" charset="0"/>
                            </a:rPr>
                            <m:t>𝑏</m:t>
                          </m:r>
                        </m:e>
                        <m:sub>
                          <m:r>
                            <a:rPr lang="en-IN" sz="2200" b="0" i="1" smtClean="0">
                              <a:solidFill>
                                <a:prstClr val="black"/>
                              </a:solidFill>
                              <a:latin typeface="Cambria Math" panose="02040503050406030204" pitchFamily="18" charset="0"/>
                            </a:rPr>
                            <m:t>2</m:t>
                          </m:r>
                        </m:sub>
                        <m:sup>
                          <m:r>
                            <a:rPr lang="en-US" sz="2200" i="1">
                              <a:solidFill>
                                <a:prstClr val="black"/>
                              </a:solidFill>
                              <a:latin typeface="Cambria Math" panose="02040503050406030204" pitchFamily="18" charset="0"/>
                            </a:rPr>
                            <m:t>(1)</m:t>
                          </m:r>
                        </m:sup>
                      </m:sSubSup>
                      <m:r>
                        <a:rPr lang="en-US" sz="2200" b="0" i="1" smtClean="0">
                          <a:latin typeface="Cambria Math" panose="02040503050406030204" pitchFamily="18" charset="0"/>
                        </a:rPr>
                        <m:t>+ </m:t>
                      </m:r>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=1</m:t>
                          </m:r>
                        </m:sub>
                        <m:sup>
                          <m:r>
                            <a:rPr lang="en-US" sz="2200" b="0" i="1" smtClean="0">
                              <a:latin typeface="Cambria Math" panose="02040503050406030204" pitchFamily="18" charset="0"/>
                            </a:rPr>
                            <m:t>𝑑</m:t>
                          </m:r>
                        </m:sup>
                        <m:e>
                          <m:sSubSup>
                            <m:sSubSupPr>
                              <m:ctrlPr>
                                <a:rPr lang="en-IN" sz="2200" i="1">
                                  <a:latin typeface="Cambria Math" panose="02040503050406030204" pitchFamily="18" charset="0"/>
                                </a:rPr>
                              </m:ctrlPr>
                            </m:sSubSupPr>
                            <m:e>
                              <m:r>
                                <a:rPr lang="en-US" sz="2200" i="1">
                                  <a:latin typeface="Cambria Math" panose="02040503050406030204" pitchFamily="18" charset="0"/>
                                </a:rPr>
                                <m:t>𝑤</m:t>
                              </m:r>
                            </m:e>
                            <m:sub>
                              <m:r>
                                <a:rPr lang="en-IN" sz="2200" b="0" i="1" smtClean="0">
                                  <a:latin typeface="Cambria Math" panose="02040503050406030204" pitchFamily="18" charset="0"/>
                                </a:rPr>
                                <m:t>2</m:t>
                              </m:r>
                              <m:r>
                                <a:rPr lang="en-US" sz="2200" i="1">
                                  <a:latin typeface="Cambria Math" panose="02040503050406030204" pitchFamily="18" charset="0"/>
                                </a:rPr>
                                <m:t>,</m:t>
                              </m:r>
                              <m:r>
                                <a:rPr lang="en-IN" sz="2200" b="0" i="1" smtClean="0">
                                  <a:latin typeface="Cambria Math" panose="02040503050406030204" pitchFamily="18" charset="0"/>
                                </a:rPr>
                                <m:t>𝑖</m:t>
                              </m:r>
                            </m:sub>
                            <m:sup>
                              <m:r>
                                <a:rPr lang="en-US" sz="2200" i="1">
                                  <a:latin typeface="Cambria Math" panose="02040503050406030204" pitchFamily="18" charset="0"/>
                                </a:rPr>
                                <m:t>(1)</m:t>
                              </m:r>
                            </m:sup>
                          </m:sSubSup>
                          <m:r>
                            <m:rPr>
                              <m:nor/>
                            </m:rPr>
                            <a:rPr lang="en-IN" sz="2200" dirty="0"/>
                            <m:t> </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e>
                      </m:nary>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sSubSup>
                            <m:sSubSupPr>
                              <m:ctrlPr>
                                <a:rPr lang="en-US" sz="2200" b="0" i="1" smtClean="0">
                                  <a:latin typeface="Cambria Math" panose="02040503050406030204" pitchFamily="18" charset="0"/>
                                </a:rPr>
                              </m:ctrlPr>
                            </m:sSubSupPr>
                            <m:e>
                              <m:r>
                                <a:rPr lang="en-IN" sz="2200" b="1" i="1" smtClean="0">
                                  <a:latin typeface="Cambria Math" panose="02040503050406030204" pitchFamily="18" charset="0"/>
                                </a:rPr>
                                <m:t>𝒘</m:t>
                              </m:r>
                            </m:e>
                            <m:sub>
                              <m:r>
                                <a:rPr lang="en-IN" sz="2200" b="0" i="1" smtClean="0">
                                  <a:latin typeface="Cambria Math" panose="02040503050406030204" pitchFamily="18" charset="0"/>
                                </a:rPr>
                                <m:t>2</m:t>
                              </m:r>
                            </m:sub>
                            <m:sup>
                              <m:r>
                                <a:rPr lang="en-IN" sz="2200" b="0" i="1" smtClean="0">
                                  <a:latin typeface="Cambria Math" panose="02040503050406030204" pitchFamily="18" charset="0"/>
                                </a:rPr>
                                <m:t>(1)</m:t>
                              </m:r>
                            </m:sup>
                          </m:sSubSup>
                          <m:sSubSup>
                            <m:sSubSupPr>
                              <m:ctrlPr>
                                <a:rPr lang="en-US" sz="2200" i="1">
                                  <a:solidFill>
                                    <a:prstClr val="black"/>
                                  </a:solidFill>
                                  <a:latin typeface="Cambria Math" panose="02040503050406030204" pitchFamily="18" charset="0"/>
                                </a:rPr>
                              </m:ctrlPr>
                            </m:sSubSupPr>
                            <m:e>
                              <m:r>
                                <a:rPr lang="en-US" sz="2200" i="1">
                                  <a:solidFill>
                                    <a:prstClr val="black"/>
                                  </a:solidFill>
                                  <a:latin typeface="Cambria Math" panose="02040503050406030204" pitchFamily="18" charset="0"/>
                                </a:rPr>
                                <m:t>𝑏</m:t>
                              </m:r>
                            </m:e>
                            <m:sub>
                              <m:r>
                                <a:rPr lang="en-IN" sz="2200" b="0" i="1" smtClean="0">
                                  <a:solidFill>
                                    <a:prstClr val="black"/>
                                  </a:solidFill>
                                  <a:latin typeface="Cambria Math" panose="02040503050406030204" pitchFamily="18" charset="0"/>
                                </a:rPr>
                                <m:t>2</m:t>
                              </m:r>
                            </m:sub>
                            <m:sup>
                              <m:r>
                                <a:rPr lang="en-US" sz="2200" i="1">
                                  <a:solidFill>
                                    <a:prstClr val="black"/>
                                  </a:solidFill>
                                  <a:latin typeface="Cambria Math" panose="02040503050406030204" pitchFamily="18" charset="0"/>
                                </a:rPr>
                                <m:t>(1)</m:t>
                              </m:r>
                            </m:sup>
                          </m:sSubSup>
                        </m:e>
                      </m:d>
                      <m:d>
                        <m:dPr>
                          <m:begChr m:val="["/>
                          <m:endChr m:val="]"/>
                          <m:ctrlPr>
                            <a:rPr lang="en-US" sz="2200" b="0" i="1" smtClean="0">
                              <a:latin typeface="Cambria Math" panose="02040503050406030204" pitchFamily="18" charset="0"/>
                            </a:rPr>
                          </m:ctrlPr>
                        </m:dPr>
                        <m:e>
                          <m:m>
                            <m:mPr>
                              <m:mcs>
                                <m:mc>
                                  <m:mcPr>
                                    <m:count m:val="1"/>
                                    <m:mcJc m:val="center"/>
                                  </m:mcPr>
                                </m:mc>
                              </m:mcs>
                              <m:ctrlPr>
                                <a:rPr lang="en-US" sz="2200" b="0" i="1" smtClean="0">
                                  <a:latin typeface="Cambria Math" panose="02040503050406030204" pitchFamily="18" charset="0"/>
                                </a:rPr>
                              </m:ctrlPr>
                            </m:mPr>
                            <m:mr>
                              <m:e>
                                <m:r>
                                  <m:rPr>
                                    <m:brk m:alnAt="7"/>
                                  </m:rPr>
                                  <a:rPr lang="en-IN" sz="2200" b="0" i="1" smtClean="0">
                                    <a:latin typeface="Cambria Math" panose="02040503050406030204" pitchFamily="18" charset="0"/>
                                  </a:rPr>
                                  <m:t> </m:t>
                                </m:r>
                                <m:r>
                                  <m:rPr>
                                    <m:brk m:alnAt="7"/>
                                  </m:rPr>
                                  <a:rPr lang="en-US" sz="2200" b="1" i="1" smtClean="0">
                                    <a:latin typeface="Cambria Math" panose="02040503050406030204" pitchFamily="18" charset="0"/>
                                  </a:rPr>
                                  <m:t>𝒙</m:t>
                                </m:r>
                                <m:r>
                                  <a:rPr lang="en-IN" sz="2200" b="1" i="1" smtClean="0">
                                    <a:latin typeface="Cambria Math" panose="02040503050406030204" pitchFamily="18" charset="0"/>
                                  </a:rPr>
                                  <m:t> </m:t>
                                </m:r>
                              </m:e>
                            </m:mr>
                            <m:mr>
                              <m:e>
                                <m:r>
                                  <a:rPr lang="en-IN" sz="2200" b="1" i="1" smtClean="0">
                                    <a:latin typeface="Cambria Math" panose="02040503050406030204" pitchFamily="18" charset="0"/>
                                  </a:rPr>
                                  <m:t> </m:t>
                                </m:r>
                                <m:r>
                                  <a:rPr lang="en-US" sz="2200" b="0" i="1" smtClean="0">
                                    <a:latin typeface="Cambria Math" panose="02040503050406030204" pitchFamily="18" charset="0"/>
                                  </a:rPr>
                                  <m:t>1</m:t>
                                </m:r>
                                <m:r>
                                  <a:rPr lang="en-IN" sz="2200" b="0" i="1" smtClean="0">
                                    <a:latin typeface="Cambria Math" panose="02040503050406030204" pitchFamily="18" charset="0"/>
                                  </a:rPr>
                                  <m:t> </m:t>
                                </m:r>
                              </m:e>
                            </m:mr>
                          </m:m>
                        </m:e>
                      </m:d>
                    </m:oMath>
                  </m:oMathPara>
                </a14:m>
                <a:endParaRPr lang="en-IN" sz="2200" dirty="0"/>
              </a:p>
            </p:txBody>
          </p:sp>
        </mc:Choice>
        <mc:Fallback xmlns="">
          <p:sp>
            <p:nvSpPr>
              <p:cNvPr id="70" name="TextBox 69"/>
              <p:cNvSpPr txBox="1">
                <a:spLocks noRot="1" noChangeAspect="1" noMove="1" noResize="1" noEditPoints="1" noAdjustHandles="1" noChangeArrowheads="1" noChangeShapeType="1" noTextEdit="1"/>
              </p:cNvSpPr>
              <p:nvPr/>
            </p:nvSpPr>
            <p:spPr>
              <a:xfrm>
                <a:off x="5753531" y="2903786"/>
                <a:ext cx="5489708" cy="958789"/>
              </a:xfrm>
              <a:prstGeom prst="rect">
                <a:avLst/>
              </a:prstGeom>
              <a:blipFill rotWithShape="0">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5758550" y="3978283"/>
                <a:ext cx="2317879" cy="5987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200" i="1" smtClean="0">
                              <a:latin typeface="Cambria Math" panose="02040503050406030204" pitchFamily="18" charset="0"/>
                            </a:rPr>
                          </m:ctrlPr>
                        </m:sSubSupPr>
                        <m:e>
                          <m:r>
                            <a:rPr lang="en-US" sz="2200" b="0" i="1" smtClean="0">
                              <a:latin typeface="Cambria Math" panose="02040503050406030204" pitchFamily="18" charset="0"/>
                            </a:rPr>
                            <m:t>h</m:t>
                          </m:r>
                        </m:e>
                        <m:sub>
                          <m:r>
                            <a:rPr lang="en-IN" sz="2200" b="0" i="1" smtClean="0">
                              <a:latin typeface="Cambria Math" panose="02040503050406030204" pitchFamily="18" charset="0"/>
                            </a:rPr>
                            <m:t>2</m:t>
                          </m:r>
                        </m:sub>
                        <m:sup>
                          <m:r>
                            <a:rPr lang="en-US" sz="2200" b="0" i="1" smtClean="0">
                              <a:latin typeface="Cambria Math" panose="02040503050406030204" pitchFamily="18" charset="0"/>
                            </a:rPr>
                            <m:t>(1)</m:t>
                          </m:r>
                        </m:sup>
                      </m:sSubSup>
                      <m:r>
                        <a:rPr lang="en-IN" sz="2200" b="0" i="1" smtClean="0">
                          <a:latin typeface="Cambria Math" panose="02040503050406030204" pitchFamily="18" charset="0"/>
                        </a:rPr>
                        <m:t>=</m:t>
                      </m:r>
                      <m:r>
                        <a:rPr lang="en-IN" sz="2200" b="0" i="1" smtClean="0">
                          <a:latin typeface="Cambria Math" panose="02040503050406030204" pitchFamily="18" charset="0"/>
                        </a:rPr>
                        <m:t>𝑔</m:t>
                      </m:r>
                      <m:d>
                        <m:dPr>
                          <m:ctrlPr>
                            <a:rPr lang="en-IN" sz="2200" b="0" i="1" smtClean="0">
                              <a:latin typeface="Cambria Math" panose="02040503050406030204" pitchFamily="18" charset="0"/>
                            </a:rPr>
                          </m:ctrlPr>
                        </m:dPr>
                        <m:e>
                          <m:sSubSup>
                            <m:sSubSupPr>
                              <m:ctrlPr>
                                <a:rPr lang="en-US" sz="2200" i="1">
                                  <a:latin typeface="Cambria Math" panose="02040503050406030204" pitchFamily="18" charset="0"/>
                                </a:rPr>
                              </m:ctrlPr>
                            </m:sSubSupPr>
                            <m:e>
                              <m:r>
                                <a:rPr lang="en-IN" sz="2200" i="1">
                                  <a:latin typeface="Cambria Math" panose="02040503050406030204" pitchFamily="18" charset="0"/>
                                </a:rPr>
                                <m:t>𝑎</m:t>
                              </m:r>
                            </m:e>
                            <m:sub>
                              <m:r>
                                <a:rPr lang="en-IN" sz="2200" b="0" i="1" smtClean="0">
                                  <a:latin typeface="Cambria Math" panose="02040503050406030204" pitchFamily="18" charset="0"/>
                                </a:rPr>
                                <m:t>2</m:t>
                              </m:r>
                            </m:sub>
                            <m:sup>
                              <m:d>
                                <m:dPr>
                                  <m:ctrlPr>
                                    <a:rPr lang="en-IN" sz="2200" i="1">
                                      <a:latin typeface="Cambria Math" panose="02040503050406030204" pitchFamily="18" charset="0"/>
                                    </a:rPr>
                                  </m:ctrlPr>
                                </m:dPr>
                                <m:e>
                                  <m:r>
                                    <a:rPr lang="en-IN" sz="2200" i="1">
                                      <a:latin typeface="Cambria Math" panose="02040503050406030204" pitchFamily="18" charset="0"/>
                                    </a:rPr>
                                    <m:t>1</m:t>
                                  </m:r>
                                </m:e>
                              </m:d>
                            </m:sup>
                          </m:sSubSup>
                          <m:d>
                            <m:dPr>
                              <m:ctrlPr>
                                <a:rPr lang="en-IN" sz="2200" i="1">
                                  <a:latin typeface="Cambria Math" panose="02040503050406030204" pitchFamily="18" charset="0"/>
                                </a:rPr>
                              </m:ctrlPr>
                            </m:dPr>
                            <m:e>
                              <m:r>
                                <a:rPr lang="en-IN" sz="2200" b="1" i="1">
                                  <a:latin typeface="Cambria Math" panose="02040503050406030204" pitchFamily="18" charset="0"/>
                                </a:rPr>
                                <m:t>𝒙</m:t>
                              </m:r>
                            </m:e>
                          </m:d>
                        </m:e>
                      </m:d>
                      <m:r>
                        <a:rPr lang="en-IN" sz="2200" b="0" i="1" smtClean="0">
                          <a:latin typeface="Cambria Math" panose="02040503050406030204" pitchFamily="18" charset="0"/>
                        </a:rPr>
                        <m:t> </m:t>
                      </m:r>
                    </m:oMath>
                  </m:oMathPara>
                </a14:m>
                <a:endParaRPr lang="en-IN" sz="2200" dirty="0"/>
              </a:p>
            </p:txBody>
          </p:sp>
        </mc:Choice>
        <mc:Fallback xmlns="">
          <p:sp>
            <p:nvSpPr>
              <p:cNvPr id="71" name="TextBox 70"/>
              <p:cNvSpPr txBox="1">
                <a:spLocks noRot="1" noChangeAspect="1" noMove="1" noResize="1" noEditPoints="1" noAdjustHandles="1" noChangeArrowheads="1" noChangeShapeType="1" noTextEdit="1"/>
              </p:cNvSpPr>
              <p:nvPr/>
            </p:nvSpPr>
            <p:spPr>
              <a:xfrm>
                <a:off x="5758550" y="3978283"/>
                <a:ext cx="2317879" cy="598754"/>
              </a:xfrm>
              <a:prstGeom prst="rect">
                <a:avLst/>
              </a:prstGeom>
              <a:blipFill rotWithShape="0">
                <a:blip r:embed="rId24"/>
                <a:stretch>
                  <a:fillRect/>
                </a:stretch>
              </a:blipFill>
            </p:spPr>
            <p:txBody>
              <a:bodyPr/>
              <a:lstStyle/>
              <a:p>
                <a:r>
                  <a:rPr lang="en-IN">
                    <a:noFill/>
                  </a:rPr>
                  <a:t> </a:t>
                </a:r>
              </a:p>
            </p:txBody>
          </p:sp>
        </mc:Fallback>
      </mc:AlternateContent>
      <p:sp>
        <p:nvSpPr>
          <p:cNvPr id="72" name="Left Brace 71"/>
          <p:cNvSpPr/>
          <p:nvPr/>
        </p:nvSpPr>
        <p:spPr>
          <a:xfrm rot="5400000">
            <a:off x="396234" y="984685"/>
            <a:ext cx="252624" cy="9497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4" name="TextBox 73"/>
          <p:cNvSpPr txBox="1"/>
          <p:nvPr/>
        </p:nvSpPr>
        <p:spPr>
          <a:xfrm>
            <a:off x="-28641" y="921212"/>
            <a:ext cx="1238737" cy="369332"/>
          </a:xfrm>
          <a:prstGeom prst="rect">
            <a:avLst/>
          </a:prstGeom>
          <a:noFill/>
        </p:spPr>
        <p:txBody>
          <a:bodyPr wrap="none" rtlCol="0">
            <a:spAutoFit/>
          </a:bodyPr>
          <a:lstStyle/>
          <a:p>
            <a:r>
              <a:rPr lang="en-US" dirty="0">
                <a:solidFill>
                  <a:srgbClr val="FF0000"/>
                </a:solidFill>
              </a:rPr>
              <a:t>Input Layer</a:t>
            </a:r>
            <a:endParaRPr lang="en-IN" dirty="0">
              <a:solidFill>
                <a:srgbClr val="FF0000"/>
              </a:solidFill>
            </a:endParaRPr>
          </a:p>
        </p:txBody>
      </p:sp>
      <p:sp>
        <p:nvSpPr>
          <p:cNvPr id="77" name="Left Brace 76"/>
          <p:cNvSpPr/>
          <p:nvPr/>
        </p:nvSpPr>
        <p:spPr>
          <a:xfrm rot="5400000">
            <a:off x="1977684" y="990505"/>
            <a:ext cx="252624" cy="9497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8" name="TextBox 77"/>
          <p:cNvSpPr txBox="1"/>
          <p:nvPr/>
        </p:nvSpPr>
        <p:spPr>
          <a:xfrm>
            <a:off x="1552809" y="927032"/>
            <a:ext cx="1416670" cy="369332"/>
          </a:xfrm>
          <a:prstGeom prst="rect">
            <a:avLst/>
          </a:prstGeom>
          <a:noFill/>
        </p:spPr>
        <p:txBody>
          <a:bodyPr wrap="none" rtlCol="0">
            <a:spAutoFit/>
          </a:bodyPr>
          <a:lstStyle/>
          <a:p>
            <a:r>
              <a:rPr lang="en-US" dirty="0">
                <a:solidFill>
                  <a:srgbClr val="FF0000"/>
                </a:solidFill>
              </a:rPr>
              <a:t>Hidden Layer</a:t>
            </a:r>
            <a:endParaRPr lang="en-IN" dirty="0">
              <a:solidFill>
                <a:srgbClr val="FF0000"/>
              </a:solidFill>
            </a:endParaRPr>
          </a:p>
        </p:txBody>
      </p:sp>
    </p:spTree>
    <p:extLst>
      <p:ext uri="{BB962C8B-B14F-4D97-AF65-F5344CB8AC3E}">
        <p14:creationId xmlns:p14="http://schemas.microsoft.com/office/powerpoint/2010/main" val="2717265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33" name="Picture 3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2067" y="2125313"/>
            <a:ext cx="746306" cy="746306"/>
          </a:xfrm>
          <a:prstGeom prst="rect">
            <a:avLst/>
          </a:prstGeom>
          <a:noFill/>
        </p:spPr>
      </p:pic>
      <p:sp>
        <p:nvSpPr>
          <p:cNvPr id="100" name="Google Shape;100;p14"/>
          <p:cNvSpPr txBox="1"/>
          <p:nvPr/>
        </p:nvSpPr>
        <p:spPr>
          <a:xfrm>
            <a:off x="3394564" y="832857"/>
            <a:ext cx="5179280"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solidFill>
                  <a:srgbClr val="434343"/>
                </a:solidFill>
              </a:rPr>
              <a:t>Multilayer Neural Network</a:t>
            </a:r>
            <a:endParaRPr sz="2800" dirty="0">
              <a:solidFill>
                <a:srgbClr val="434343"/>
              </a:solidFill>
            </a:endParaRPr>
          </a:p>
        </p:txBody>
      </p:sp>
      <p:sp>
        <p:nvSpPr>
          <p:cNvPr id="3" name="Footer Placeholder 2"/>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21" name="Slide Number Placeholder 20"/>
          <p:cNvSpPr>
            <a:spLocks noGrp="1"/>
          </p:cNvSpPr>
          <p:nvPr>
            <p:ph type="sldNum" sz="quarter" idx="4"/>
          </p:nvPr>
        </p:nvSpPr>
        <p:spPr>
          <a:xfrm>
            <a:off x="10569844" y="6356350"/>
            <a:ext cx="783956" cy="365125"/>
          </a:xfrm>
        </p:spPr>
        <p:txBody>
          <a:bodyPr/>
          <a:lstStyle/>
          <a:p>
            <a:fld id="{683B8651-0143-4140-839E-3D36292080E8}" type="slidenum">
              <a:rPr lang="en-US" smtClean="0"/>
              <a:t>22</a:t>
            </a:fld>
            <a:endParaRPr lang="en-US"/>
          </a:p>
        </p:txBody>
      </p:sp>
      <p:pic>
        <p:nvPicPr>
          <p:cNvPr id="29" name="Picture 2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2067" y="3480790"/>
            <a:ext cx="746306" cy="746306"/>
          </a:xfrm>
          <a:prstGeom prst="rect">
            <a:avLst/>
          </a:prstGeom>
        </p:spPr>
      </p:pic>
      <p:sp>
        <p:nvSpPr>
          <p:cNvPr id="55" name="Google Shape;119;p14"/>
          <p:cNvSpPr/>
          <p:nvPr/>
        </p:nvSpPr>
        <p:spPr>
          <a:xfrm>
            <a:off x="336842" y="1615227"/>
            <a:ext cx="167400" cy="332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Narrow"/>
              <a:ea typeface="Arial Narrow"/>
              <a:cs typeface="Arial Narrow"/>
              <a:sym typeface="Arial Narrow"/>
            </a:endParaRPr>
          </a:p>
        </p:txBody>
      </p:sp>
      <p:cxnSp>
        <p:nvCxnSpPr>
          <p:cNvPr id="56" name="Straight Arrow Connector 55"/>
          <p:cNvCxnSpPr/>
          <p:nvPr/>
        </p:nvCxnSpPr>
        <p:spPr>
          <a:xfrm>
            <a:off x="726323" y="1691956"/>
            <a:ext cx="1113565" cy="556303"/>
          </a:xfrm>
          <a:prstGeom prst="straightConnector1">
            <a:avLst/>
          </a:prstGeom>
          <a:ln w="38100">
            <a:solidFill>
              <a:schemeClr val="accent5">
                <a:lumMod val="40000"/>
                <a:lumOff val="6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726323" y="2502846"/>
            <a:ext cx="1008112" cy="0"/>
          </a:xfrm>
          <a:prstGeom prst="straightConnector1">
            <a:avLst/>
          </a:prstGeom>
          <a:ln w="38100">
            <a:solidFill>
              <a:schemeClr val="accent5">
                <a:lumMod val="40000"/>
                <a:lumOff val="6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793415" y="2757433"/>
            <a:ext cx="1046473" cy="1249612"/>
          </a:xfrm>
          <a:prstGeom prst="straightConnector1">
            <a:avLst/>
          </a:prstGeom>
          <a:ln w="38100">
            <a:solidFill>
              <a:schemeClr val="accent5">
                <a:lumMod val="40000"/>
                <a:lumOff val="60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62" name="Group 61"/>
          <p:cNvGrpSpPr/>
          <p:nvPr/>
        </p:nvGrpSpPr>
        <p:grpSpPr>
          <a:xfrm>
            <a:off x="1202581" y="2913849"/>
            <a:ext cx="36000" cy="340800"/>
            <a:chOff x="2731586" y="4043627"/>
            <a:chExt cx="36000" cy="340800"/>
          </a:xfrm>
        </p:grpSpPr>
        <p:sp>
          <p:nvSpPr>
            <p:cNvPr id="63" name="Oval 62"/>
            <p:cNvSpPr/>
            <p:nvPr/>
          </p:nvSpPr>
          <p:spPr>
            <a:xfrm>
              <a:off x="2731586" y="4043627"/>
              <a:ext cx="36000" cy="3600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Oval 63"/>
            <p:cNvSpPr/>
            <p:nvPr/>
          </p:nvSpPr>
          <p:spPr>
            <a:xfrm>
              <a:off x="2731586" y="4196027"/>
              <a:ext cx="36000" cy="3600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Oval 65"/>
            <p:cNvSpPr/>
            <p:nvPr/>
          </p:nvSpPr>
          <p:spPr>
            <a:xfrm>
              <a:off x="2731586" y="4348427"/>
              <a:ext cx="36000" cy="3600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67" name="TextBox 66"/>
              <p:cNvSpPr txBox="1"/>
              <p:nvPr/>
            </p:nvSpPr>
            <p:spPr>
              <a:xfrm>
                <a:off x="249973" y="1361814"/>
                <a:ext cx="50853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1</m:t>
                          </m:r>
                        </m:sub>
                      </m:sSub>
                    </m:oMath>
                  </m:oMathPara>
                </a14:m>
                <a:endParaRPr lang="en-US" sz="3200" b="0" dirty="0"/>
              </a:p>
            </p:txBody>
          </p:sp>
        </mc:Choice>
        <mc:Fallback xmlns="">
          <p:sp>
            <p:nvSpPr>
              <p:cNvPr id="67" name="TextBox 66"/>
              <p:cNvSpPr txBox="1">
                <a:spLocks noRot="1" noChangeAspect="1" noMove="1" noResize="1" noEditPoints="1" noAdjustHandles="1" noChangeArrowheads="1" noChangeShapeType="1" noTextEdit="1"/>
              </p:cNvSpPr>
              <p:nvPr/>
            </p:nvSpPr>
            <p:spPr>
              <a:xfrm>
                <a:off x="249973" y="1361814"/>
                <a:ext cx="508537" cy="492443"/>
              </a:xfrm>
              <a:prstGeom prst="rect">
                <a:avLst/>
              </a:prstGeom>
              <a:blipFill rotWithShape="0">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49973" y="2170588"/>
                <a:ext cx="51802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2</m:t>
                          </m:r>
                        </m:sub>
                      </m:sSub>
                    </m:oMath>
                  </m:oMathPara>
                </a14:m>
                <a:endParaRPr lang="en-US" sz="3200" b="0" dirty="0"/>
              </a:p>
            </p:txBody>
          </p:sp>
        </mc:Choice>
        <mc:Fallback xmlns="">
          <p:sp>
            <p:nvSpPr>
              <p:cNvPr id="68" name="TextBox 67"/>
              <p:cNvSpPr txBox="1">
                <a:spLocks noRot="1" noChangeAspect="1" noMove="1" noResize="1" noEditPoints="1" noAdjustHandles="1" noChangeArrowheads="1" noChangeShapeType="1" noTextEdit="1"/>
              </p:cNvSpPr>
              <p:nvPr/>
            </p:nvSpPr>
            <p:spPr>
              <a:xfrm>
                <a:off x="249973" y="2170588"/>
                <a:ext cx="518027" cy="492443"/>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a:off x="249973" y="3627993"/>
                <a:ext cx="54514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𝑑</m:t>
                          </m:r>
                        </m:sub>
                      </m:sSub>
                    </m:oMath>
                  </m:oMathPara>
                </a14:m>
                <a:endParaRPr lang="en-US" sz="3200" b="0" dirty="0"/>
              </a:p>
            </p:txBody>
          </p:sp>
        </mc:Choice>
        <mc:Fallback xmlns="">
          <p:sp>
            <p:nvSpPr>
              <p:cNvPr id="69" name="TextBox 68"/>
              <p:cNvSpPr txBox="1">
                <a:spLocks noRot="1" noChangeAspect="1" noMove="1" noResize="1" noEditPoints="1" noAdjustHandles="1" noChangeArrowheads="1" noChangeShapeType="1" noTextEdit="1"/>
              </p:cNvSpPr>
              <p:nvPr/>
            </p:nvSpPr>
            <p:spPr>
              <a:xfrm>
                <a:off x="249973" y="3627993"/>
                <a:ext cx="545149" cy="492443"/>
              </a:xfrm>
              <a:prstGeom prst="rect">
                <a:avLst/>
              </a:prstGeom>
              <a:blipFill rotWithShape="0">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3087305" y="3601099"/>
                <a:ext cx="574260" cy="478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400" i="1" smtClean="0">
                              <a:solidFill>
                                <a:schemeClr val="bg1">
                                  <a:lumMod val="65000"/>
                                </a:schemeClr>
                              </a:solidFill>
                              <a:latin typeface="Cambria Math" panose="02040503050406030204" pitchFamily="18" charset="0"/>
                            </a:rPr>
                          </m:ctrlPr>
                        </m:sSubSupPr>
                        <m:e>
                          <m:r>
                            <a:rPr lang="en-US" sz="2400" b="0" i="1" smtClean="0">
                              <a:solidFill>
                                <a:schemeClr val="bg1">
                                  <a:lumMod val="65000"/>
                                </a:schemeClr>
                              </a:solidFill>
                              <a:latin typeface="Cambria Math" panose="02040503050406030204" pitchFamily="18" charset="0"/>
                            </a:rPr>
                            <m:t>h</m:t>
                          </m:r>
                        </m:e>
                        <m:sub>
                          <m:r>
                            <a:rPr lang="en-US" sz="2400" b="0" i="1" smtClean="0">
                              <a:solidFill>
                                <a:schemeClr val="bg1">
                                  <a:lumMod val="65000"/>
                                </a:schemeClr>
                              </a:solidFill>
                              <a:latin typeface="Cambria Math" panose="02040503050406030204" pitchFamily="18" charset="0"/>
                            </a:rPr>
                            <m:t>2</m:t>
                          </m:r>
                        </m:sub>
                        <m:sup>
                          <m:r>
                            <a:rPr lang="en-US" sz="2400" b="0" i="1" smtClean="0">
                              <a:solidFill>
                                <a:schemeClr val="bg1">
                                  <a:lumMod val="65000"/>
                                </a:schemeClr>
                              </a:solidFill>
                              <a:latin typeface="Cambria Math" panose="02040503050406030204" pitchFamily="18" charset="0"/>
                            </a:rPr>
                            <m:t>(1)</m:t>
                          </m:r>
                        </m:sup>
                      </m:sSubSup>
                    </m:oMath>
                  </m:oMathPara>
                </a14:m>
                <a:endParaRPr lang="en-IN" sz="2400" dirty="0">
                  <a:solidFill>
                    <a:schemeClr val="bg1">
                      <a:lumMod val="65000"/>
                    </a:schemeClr>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3087305" y="3601099"/>
                <a:ext cx="574260" cy="478016"/>
              </a:xfrm>
              <a:prstGeom prst="rect">
                <a:avLst/>
              </a:prstGeom>
              <a:blipFill rotWithShape="0">
                <a:blip r:embed="rId7"/>
                <a:stretch>
                  <a:fillRect/>
                </a:stretch>
              </a:blipFill>
            </p:spPr>
            <p:txBody>
              <a:bodyPr/>
              <a:lstStyle/>
              <a:p>
                <a:r>
                  <a:rPr lang="en-IN">
                    <a:noFill/>
                  </a:rPr>
                  <a:t> </a:t>
                </a:r>
              </a:p>
            </p:txBody>
          </p:sp>
        </mc:Fallback>
      </mc:AlternateContent>
      <p:cxnSp>
        <p:nvCxnSpPr>
          <p:cNvPr id="82" name="Straight Arrow Connector 81"/>
          <p:cNvCxnSpPr/>
          <p:nvPr/>
        </p:nvCxnSpPr>
        <p:spPr>
          <a:xfrm>
            <a:off x="2476115" y="3860086"/>
            <a:ext cx="622884" cy="2489"/>
          </a:xfrm>
          <a:prstGeom prst="straightConnector1">
            <a:avLst/>
          </a:prstGeom>
          <a:ln w="38100">
            <a:solidFill>
              <a:schemeClr val="accent5">
                <a:lumMod val="40000"/>
                <a:lumOff val="60000"/>
              </a:schemeClr>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p:cNvSpPr txBox="1"/>
              <p:nvPr/>
            </p:nvSpPr>
            <p:spPr>
              <a:xfrm>
                <a:off x="1063865" y="1425011"/>
                <a:ext cx="536044" cy="409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solidFill>
                                <a:schemeClr val="bg1">
                                  <a:lumMod val="65000"/>
                                </a:schemeClr>
                              </a:solidFill>
                              <a:latin typeface="Cambria Math" panose="02040503050406030204" pitchFamily="18" charset="0"/>
                            </a:rPr>
                          </m:ctrlPr>
                        </m:sSubSupPr>
                        <m:e>
                          <m:r>
                            <a:rPr lang="en-US" sz="2000" b="0" i="1" smtClean="0">
                              <a:solidFill>
                                <a:schemeClr val="bg1">
                                  <a:lumMod val="65000"/>
                                </a:schemeClr>
                              </a:solidFill>
                              <a:latin typeface="Cambria Math" panose="02040503050406030204" pitchFamily="18" charset="0"/>
                            </a:rPr>
                            <m:t>𝑤</m:t>
                          </m:r>
                        </m:e>
                        <m:sub>
                          <m:r>
                            <a:rPr lang="en-US" sz="2000" b="0" i="1" smtClean="0">
                              <a:solidFill>
                                <a:schemeClr val="bg1">
                                  <a:lumMod val="65000"/>
                                </a:schemeClr>
                              </a:solidFill>
                              <a:latin typeface="Cambria Math" panose="02040503050406030204" pitchFamily="18" charset="0"/>
                            </a:rPr>
                            <m:t>1,1</m:t>
                          </m:r>
                        </m:sub>
                        <m:sup>
                          <m:r>
                            <a:rPr lang="en-US" sz="2000" b="0" i="1" smtClean="0">
                              <a:solidFill>
                                <a:schemeClr val="bg1">
                                  <a:lumMod val="65000"/>
                                </a:schemeClr>
                              </a:solidFill>
                              <a:latin typeface="Cambria Math" panose="02040503050406030204" pitchFamily="18" charset="0"/>
                            </a:rPr>
                            <m:t>(1)</m:t>
                          </m:r>
                        </m:sup>
                      </m:sSubSup>
                    </m:oMath>
                  </m:oMathPara>
                </a14:m>
                <a:endParaRPr lang="en-IN" sz="2000" dirty="0">
                  <a:solidFill>
                    <a:schemeClr val="bg1">
                      <a:lumMod val="65000"/>
                    </a:schemeClr>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1063865" y="1425011"/>
                <a:ext cx="536044" cy="409536"/>
              </a:xfrm>
              <a:prstGeom prst="rect">
                <a:avLst/>
              </a:prstGeom>
              <a:blipFill rotWithShape="0">
                <a:blip r:embed="rId8"/>
                <a:stretch>
                  <a:fillRect l="-6897" t="-4478" r="-11494" b="-895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p:cNvSpPr txBox="1"/>
              <p:nvPr/>
            </p:nvSpPr>
            <p:spPr>
              <a:xfrm>
                <a:off x="1028135" y="2051031"/>
                <a:ext cx="536044" cy="409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solidFill>
                                <a:schemeClr val="bg1">
                                  <a:lumMod val="65000"/>
                                </a:schemeClr>
                              </a:solidFill>
                              <a:latin typeface="Cambria Math" panose="02040503050406030204" pitchFamily="18" charset="0"/>
                            </a:rPr>
                          </m:ctrlPr>
                        </m:sSubSupPr>
                        <m:e>
                          <m:r>
                            <a:rPr lang="en-US" sz="2000" b="0" i="1" smtClean="0">
                              <a:solidFill>
                                <a:schemeClr val="bg1">
                                  <a:lumMod val="65000"/>
                                </a:schemeClr>
                              </a:solidFill>
                              <a:latin typeface="Cambria Math" panose="02040503050406030204" pitchFamily="18" charset="0"/>
                            </a:rPr>
                            <m:t>𝑤</m:t>
                          </m:r>
                        </m:e>
                        <m:sub>
                          <m:r>
                            <a:rPr lang="en-US" sz="2000" b="0" i="1" smtClean="0">
                              <a:solidFill>
                                <a:schemeClr val="bg1">
                                  <a:lumMod val="65000"/>
                                </a:schemeClr>
                              </a:solidFill>
                              <a:latin typeface="Cambria Math" panose="02040503050406030204" pitchFamily="18" charset="0"/>
                            </a:rPr>
                            <m:t>1,2</m:t>
                          </m:r>
                        </m:sub>
                        <m:sup>
                          <m:r>
                            <a:rPr lang="en-US" sz="2000" b="0" i="1" smtClean="0">
                              <a:solidFill>
                                <a:schemeClr val="bg1">
                                  <a:lumMod val="65000"/>
                                </a:schemeClr>
                              </a:solidFill>
                              <a:latin typeface="Cambria Math" panose="02040503050406030204" pitchFamily="18" charset="0"/>
                            </a:rPr>
                            <m:t>(1)</m:t>
                          </m:r>
                        </m:sup>
                      </m:sSubSup>
                    </m:oMath>
                  </m:oMathPara>
                </a14:m>
                <a:endParaRPr lang="en-IN" sz="2000" dirty="0">
                  <a:solidFill>
                    <a:schemeClr val="bg1">
                      <a:lumMod val="65000"/>
                    </a:schemeClr>
                  </a:solidFill>
                </a:endParaRPr>
              </a:p>
            </p:txBody>
          </p:sp>
        </mc:Choice>
        <mc:Fallback xmlns="">
          <p:sp>
            <p:nvSpPr>
              <p:cNvPr id="60" name="TextBox 59"/>
              <p:cNvSpPr txBox="1">
                <a:spLocks noRot="1" noChangeAspect="1" noMove="1" noResize="1" noEditPoints="1" noAdjustHandles="1" noChangeArrowheads="1" noChangeShapeType="1" noTextEdit="1"/>
              </p:cNvSpPr>
              <p:nvPr/>
            </p:nvSpPr>
            <p:spPr>
              <a:xfrm>
                <a:off x="1028135" y="2051031"/>
                <a:ext cx="536044" cy="409536"/>
              </a:xfrm>
              <a:prstGeom prst="rect">
                <a:avLst/>
              </a:prstGeom>
              <a:blipFill rotWithShape="0">
                <a:blip r:embed="rId9"/>
                <a:stretch>
                  <a:fillRect l="-6818" t="-2941" r="-10227" b="-88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1014363" y="3649614"/>
                <a:ext cx="536044" cy="409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solidFill>
                                <a:schemeClr val="bg1">
                                  <a:lumMod val="65000"/>
                                </a:schemeClr>
                              </a:solidFill>
                              <a:latin typeface="Cambria Math" panose="02040503050406030204" pitchFamily="18" charset="0"/>
                            </a:rPr>
                          </m:ctrlPr>
                        </m:sSubSupPr>
                        <m:e>
                          <m:r>
                            <a:rPr lang="en-US" sz="2000" b="0" i="1" smtClean="0">
                              <a:solidFill>
                                <a:schemeClr val="bg1">
                                  <a:lumMod val="65000"/>
                                </a:schemeClr>
                              </a:solidFill>
                              <a:latin typeface="Cambria Math" panose="02040503050406030204" pitchFamily="18" charset="0"/>
                            </a:rPr>
                            <m:t>𝑤</m:t>
                          </m:r>
                        </m:e>
                        <m:sub>
                          <m:r>
                            <a:rPr lang="en-US" sz="2000" b="0" i="1" smtClean="0">
                              <a:solidFill>
                                <a:schemeClr val="bg1">
                                  <a:lumMod val="65000"/>
                                </a:schemeClr>
                              </a:solidFill>
                              <a:latin typeface="Cambria Math" panose="02040503050406030204" pitchFamily="18" charset="0"/>
                            </a:rPr>
                            <m:t>1,</m:t>
                          </m:r>
                          <m:r>
                            <a:rPr lang="en-US" sz="2000" b="0" i="1" smtClean="0">
                              <a:solidFill>
                                <a:schemeClr val="bg1">
                                  <a:lumMod val="65000"/>
                                </a:schemeClr>
                              </a:solidFill>
                              <a:latin typeface="Cambria Math" panose="02040503050406030204" pitchFamily="18" charset="0"/>
                            </a:rPr>
                            <m:t>𝑑</m:t>
                          </m:r>
                        </m:sub>
                        <m:sup>
                          <m:r>
                            <a:rPr lang="en-US" sz="2000" b="0" i="1" smtClean="0">
                              <a:solidFill>
                                <a:schemeClr val="bg1">
                                  <a:lumMod val="65000"/>
                                </a:schemeClr>
                              </a:solidFill>
                              <a:latin typeface="Cambria Math" panose="02040503050406030204" pitchFamily="18" charset="0"/>
                            </a:rPr>
                            <m:t>(1)</m:t>
                          </m:r>
                        </m:sup>
                      </m:sSubSup>
                    </m:oMath>
                  </m:oMathPara>
                </a14:m>
                <a:endParaRPr lang="en-IN" sz="2000" dirty="0">
                  <a:solidFill>
                    <a:schemeClr val="bg1">
                      <a:lumMod val="65000"/>
                    </a:schemeClr>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1014363" y="3649614"/>
                <a:ext cx="536044" cy="409536"/>
              </a:xfrm>
              <a:prstGeom prst="rect">
                <a:avLst/>
              </a:prstGeom>
              <a:blipFill rotWithShape="0">
                <a:blip r:embed="rId10"/>
                <a:stretch>
                  <a:fillRect b="-149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3087305" y="2245622"/>
                <a:ext cx="574260" cy="4612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400" i="1" smtClean="0">
                              <a:solidFill>
                                <a:schemeClr val="bg1">
                                  <a:lumMod val="65000"/>
                                </a:schemeClr>
                              </a:solidFill>
                              <a:latin typeface="Cambria Math" panose="02040503050406030204" pitchFamily="18" charset="0"/>
                            </a:rPr>
                          </m:ctrlPr>
                        </m:sSubSupPr>
                        <m:e>
                          <m:r>
                            <a:rPr lang="en-US" sz="2400" b="0" i="1" smtClean="0">
                              <a:solidFill>
                                <a:schemeClr val="bg1">
                                  <a:lumMod val="65000"/>
                                </a:schemeClr>
                              </a:solidFill>
                              <a:latin typeface="Cambria Math" panose="02040503050406030204" pitchFamily="18" charset="0"/>
                            </a:rPr>
                            <m:t>h</m:t>
                          </m:r>
                        </m:e>
                        <m:sub>
                          <m:r>
                            <a:rPr lang="en-US" sz="2400" b="0" i="1" smtClean="0">
                              <a:solidFill>
                                <a:schemeClr val="bg1">
                                  <a:lumMod val="65000"/>
                                </a:schemeClr>
                              </a:solidFill>
                              <a:latin typeface="Cambria Math" panose="02040503050406030204" pitchFamily="18" charset="0"/>
                            </a:rPr>
                            <m:t>1</m:t>
                          </m:r>
                        </m:sub>
                        <m:sup>
                          <m:r>
                            <a:rPr lang="en-US" sz="2400" b="0" i="1" smtClean="0">
                              <a:solidFill>
                                <a:schemeClr val="bg1">
                                  <a:lumMod val="65000"/>
                                </a:schemeClr>
                              </a:solidFill>
                              <a:latin typeface="Cambria Math" panose="02040503050406030204" pitchFamily="18" charset="0"/>
                            </a:rPr>
                            <m:t>(1)</m:t>
                          </m:r>
                        </m:sup>
                      </m:sSubSup>
                    </m:oMath>
                  </m:oMathPara>
                </a14:m>
                <a:endParaRPr lang="en-IN" sz="2400" dirty="0">
                  <a:solidFill>
                    <a:schemeClr val="bg1">
                      <a:lumMod val="65000"/>
                    </a:schemeClr>
                  </a:solidFill>
                </a:endParaRPr>
              </a:p>
            </p:txBody>
          </p:sp>
        </mc:Choice>
        <mc:Fallback xmlns="">
          <p:sp>
            <p:nvSpPr>
              <p:cNvPr id="30" name="TextBox 29"/>
              <p:cNvSpPr txBox="1">
                <a:spLocks noRot="1" noChangeAspect="1" noMove="1" noResize="1" noEditPoints="1" noAdjustHandles="1" noChangeArrowheads="1" noChangeShapeType="1" noTextEdit="1"/>
              </p:cNvSpPr>
              <p:nvPr/>
            </p:nvSpPr>
            <p:spPr>
              <a:xfrm>
                <a:off x="3087305" y="2245622"/>
                <a:ext cx="574260" cy="461280"/>
              </a:xfrm>
              <a:prstGeom prst="rect">
                <a:avLst/>
              </a:prstGeom>
              <a:blipFill rotWithShape="0">
                <a:blip r:embed="rId11"/>
                <a:stretch>
                  <a:fillRect/>
                </a:stretch>
              </a:blipFill>
            </p:spPr>
            <p:txBody>
              <a:bodyPr/>
              <a:lstStyle/>
              <a:p>
                <a:r>
                  <a:rPr lang="en-IN">
                    <a:noFill/>
                  </a:rPr>
                  <a:t> </a:t>
                </a:r>
              </a:p>
            </p:txBody>
          </p:sp>
        </mc:Fallback>
      </mc:AlternateContent>
      <p:cxnSp>
        <p:nvCxnSpPr>
          <p:cNvPr id="31" name="Straight Arrow Connector 30"/>
          <p:cNvCxnSpPr/>
          <p:nvPr/>
        </p:nvCxnSpPr>
        <p:spPr>
          <a:xfrm>
            <a:off x="2476115" y="2504609"/>
            <a:ext cx="622884" cy="2489"/>
          </a:xfrm>
          <a:prstGeom prst="straightConnector1">
            <a:avLst/>
          </a:prstGeom>
          <a:ln w="38100">
            <a:solidFill>
              <a:schemeClr val="accent5">
                <a:lumMod val="40000"/>
                <a:lumOff val="6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2094475" y="1796659"/>
            <a:ext cx="0" cy="344968"/>
          </a:xfrm>
          <a:prstGeom prst="straightConnector1">
            <a:avLst/>
          </a:prstGeom>
          <a:ln w="38100">
            <a:solidFill>
              <a:schemeClr val="accent2">
                <a:alpha val="25000"/>
              </a:schemeClr>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p:cNvSpPr txBox="1"/>
              <p:nvPr/>
            </p:nvSpPr>
            <p:spPr>
              <a:xfrm>
                <a:off x="2012197" y="1467042"/>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65000"/>
                            </a:schemeClr>
                          </a:solidFill>
                          <a:latin typeface="Cambria Math" panose="02040503050406030204" pitchFamily="18" charset="0"/>
                        </a:rPr>
                        <m:t>1</m:t>
                      </m:r>
                    </m:oMath>
                  </m:oMathPara>
                </a14:m>
                <a:endParaRPr lang="en-IN" dirty="0">
                  <a:solidFill>
                    <a:schemeClr val="bg1">
                      <a:lumMod val="65000"/>
                    </a:schemeClr>
                  </a:solidFill>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2012197" y="1467042"/>
                <a:ext cx="181139" cy="276999"/>
              </a:xfrm>
              <a:prstGeom prst="rect">
                <a:avLst/>
              </a:prstGeom>
              <a:blipFill rotWithShape="0">
                <a:blip r:embed="rId12"/>
                <a:stretch>
                  <a:fillRect l="-30000" r="-30000" b="-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2196138" y="1679073"/>
                <a:ext cx="1290418" cy="4098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solidFill>
                                <a:schemeClr val="bg1">
                                  <a:lumMod val="65000"/>
                                </a:schemeClr>
                              </a:solidFill>
                              <a:latin typeface="Cambria Math" panose="02040503050406030204" pitchFamily="18" charset="0"/>
                            </a:rPr>
                          </m:ctrlPr>
                        </m:sSubSupPr>
                        <m:e>
                          <m:r>
                            <a:rPr lang="en-US" sz="2000" b="0" i="1" smtClean="0">
                              <a:solidFill>
                                <a:schemeClr val="bg1">
                                  <a:lumMod val="65000"/>
                                </a:schemeClr>
                              </a:solidFill>
                              <a:latin typeface="Cambria Math" panose="02040503050406030204" pitchFamily="18" charset="0"/>
                            </a:rPr>
                            <m:t>𝑤</m:t>
                          </m:r>
                        </m:e>
                        <m:sub>
                          <m:r>
                            <a:rPr lang="en-US" sz="2000" b="0" i="1" smtClean="0">
                              <a:solidFill>
                                <a:schemeClr val="bg1">
                                  <a:lumMod val="65000"/>
                                </a:schemeClr>
                              </a:solidFill>
                              <a:latin typeface="Cambria Math" panose="02040503050406030204" pitchFamily="18" charset="0"/>
                            </a:rPr>
                            <m:t>1,0</m:t>
                          </m:r>
                        </m:sub>
                        <m:sup>
                          <m:r>
                            <a:rPr lang="en-US" sz="2000" b="0" i="1" smtClean="0">
                              <a:solidFill>
                                <a:schemeClr val="bg1">
                                  <a:lumMod val="65000"/>
                                </a:schemeClr>
                              </a:solidFill>
                              <a:latin typeface="Cambria Math" panose="02040503050406030204" pitchFamily="18" charset="0"/>
                            </a:rPr>
                            <m:t>(1)</m:t>
                          </m:r>
                        </m:sup>
                      </m:sSubSup>
                      <m:r>
                        <a:rPr lang="en-US" sz="2000" b="0" i="1" smtClean="0">
                          <a:solidFill>
                            <a:schemeClr val="bg1">
                              <a:lumMod val="65000"/>
                            </a:schemeClr>
                          </a:solidFill>
                          <a:latin typeface="Cambria Math" panose="02040503050406030204" pitchFamily="18" charset="0"/>
                        </a:rPr>
                        <m:t>=</m:t>
                      </m:r>
                      <m:sSubSup>
                        <m:sSubSupPr>
                          <m:ctrlPr>
                            <a:rPr lang="en-US" sz="2000" b="0" i="1" smtClean="0">
                              <a:solidFill>
                                <a:schemeClr val="bg1">
                                  <a:lumMod val="65000"/>
                                </a:schemeClr>
                              </a:solidFill>
                              <a:latin typeface="Cambria Math" panose="02040503050406030204" pitchFamily="18" charset="0"/>
                            </a:rPr>
                          </m:ctrlPr>
                        </m:sSubSupPr>
                        <m:e>
                          <m:r>
                            <a:rPr lang="en-US" sz="2000" b="0" i="1" smtClean="0">
                              <a:solidFill>
                                <a:schemeClr val="bg1">
                                  <a:lumMod val="65000"/>
                                </a:schemeClr>
                              </a:solidFill>
                              <a:latin typeface="Cambria Math" panose="02040503050406030204" pitchFamily="18" charset="0"/>
                            </a:rPr>
                            <m:t>𝑏</m:t>
                          </m:r>
                        </m:e>
                        <m:sub>
                          <m:r>
                            <a:rPr lang="en-US" sz="2000" b="0" i="1" smtClean="0">
                              <a:solidFill>
                                <a:schemeClr val="bg1">
                                  <a:lumMod val="65000"/>
                                </a:schemeClr>
                              </a:solidFill>
                              <a:latin typeface="Cambria Math" panose="02040503050406030204" pitchFamily="18" charset="0"/>
                            </a:rPr>
                            <m:t>1</m:t>
                          </m:r>
                        </m:sub>
                        <m:sup>
                          <m:r>
                            <a:rPr lang="en-US" sz="2000" b="0" i="1" smtClean="0">
                              <a:solidFill>
                                <a:schemeClr val="bg1">
                                  <a:lumMod val="65000"/>
                                </a:schemeClr>
                              </a:solidFill>
                              <a:latin typeface="Cambria Math" panose="02040503050406030204" pitchFamily="18" charset="0"/>
                            </a:rPr>
                            <m:t>(1)</m:t>
                          </m:r>
                        </m:sup>
                      </m:sSubSup>
                    </m:oMath>
                  </m:oMathPara>
                </a14:m>
                <a:endParaRPr lang="en-IN" sz="2000" dirty="0">
                  <a:solidFill>
                    <a:schemeClr val="bg1">
                      <a:lumMod val="65000"/>
                    </a:schemeClr>
                  </a:solidFill>
                </a:endParaRPr>
              </a:p>
            </p:txBody>
          </p:sp>
        </mc:Choice>
        <mc:Fallback xmlns="">
          <p:sp>
            <p:nvSpPr>
              <p:cNvPr id="36" name="TextBox 35"/>
              <p:cNvSpPr txBox="1">
                <a:spLocks noRot="1" noChangeAspect="1" noMove="1" noResize="1" noEditPoints="1" noAdjustHandles="1" noChangeArrowheads="1" noChangeShapeType="1" noTextEdit="1"/>
              </p:cNvSpPr>
              <p:nvPr/>
            </p:nvSpPr>
            <p:spPr>
              <a:xfrm>
                <a:off x="2196138" y="1679073"/>
                <a:ext cx="1290418" cy="409856"/>
              </a:xfrm>
              <a:prstGeom prst="rect">
                <a:avLst/>
              </a:prstGeom>
              <a:blipFill rotWithShape="0">
                <a:blip r:embed="rId13"/>
                <a:stretch>
                  <a:fillRect l="-1887" t="-2941" r="-3774" b="-88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1731976" y="2416839"/>
                <a:ext cx="6972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bg1">
                              <a:lumMod val="65000"/>
                            </a:schemeClr>
                          </a:solidFill>
                          <a:latin typeface="Cambria Math" panose="02040503050406030204" pitchFamily="18" charset="0"/>
                          <a:ea typeface="Cambria Math" panose="02040503050406030204" pitchFamily="18" charset="0"/>
                        </a:rPr>
                        <m:t>𝑔</m:t>
                      </m:r>
                      <m:r>
                        <a:rPr lang="en-US" sz="2400" b="0" i="1" smtClean="0">
                          <a:solidFill>
                            <a:schemeClr val="bg1">
                              <a:lumMod val="65000"/>
                            </a:schemeClr>
                          </a:solidFill>
                          <a:latin typeface="Cambria Math" panose="02040503050406030204" pitchFamily="18" charset="0"/>
                          <a:ea typeface="Cambria Math" panose="02040503050406030204" pitchFamily="18" charset="0"/>
                        </a:rPr>
                        <m:t>(</m:t>
                      </m:r>
                      <m:r>
                        <a:rPr lang="en-US" sz="2400" b="0" i="1" smtClean="0">
                          <a:solidFill>
                            <a:schemeClr val="bg1">
                              <a:lumMod val="65000"/>
                            </a:schemeClr>
                          </a:solidFill>
                          <a:latin typeface="Cambria Math" panose="02040503050406030204" pitchFamily="18" charset="0"/>
                          <a:ea typeface="Cambria Math" panose="02040503050406030204" pitchFamily="18" charset="0"/>
                        </a:rPr>
                        <m:t>𝑎</m:t>
                      </m:r>
                      <m:r>
                        <a:rPr lang="en-US" sz="2400" b="0" i="1" smtClean="0">
                          <a:solidFill>
                            <a:schemeClr val="bg1">
                              <a:lumMod val="65000"/>
                            </a:schemeClr>
                          </a:solidFill>
                          <a:latin typeface="Cambria Math" panose="02040503050406030204" pitchFamily="18" charset="0"/>
                          <a:ea typeface="Cambria Math" panose="02040503050406030204" pitchFamily="18" charset="0"/>
                        </a:rPr>
                        <m:t>)</m:t>
                      </m:r>
                    </m:oMath>
                  </m:oMathPara>
                </a14:m>
                <a:endParaRPr lang="en-IN" sz="2400" dirty="0">
                  <a:solidFill>
                    <a:schemeClr val="bg1">
                      <a:lumMod val="65000"/>
                    </a:schemeClr>
                  </a:solidFill>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1731976" y="2416839"/>
                <a:ext cx="697242" cy="369332"/>
              </a:xfrm>
              <a:prstGeom prst="rect">
                <a:avLst/>
              </a:prstGeom>
              <a:blipFill rotWithShape="0">
                <a:blip r:embed="rId14"/>
                <a:stretch>
                  <a:fillRect l="-10526" r="-15789" b="-34426"/>
                </a:stretch>
              </a:blipFill>
            </p:spPr>
            <p:txBody>
              <a:bodyPr/>
              <a:lstStyle/>
              <a:p>
                <a:r>
                  <a:rPr lang="en-IN">
                    <a:noFill/>
                  </a:rPr>
                  <a:t> </a:t>
                </a:r>
              </a:p>
            </p:txBody>
          </p:sp>
        </mc:Fallback>
      </mc:AlternateContent>
      <p:cxnSp>
        <p:nvCxnSpPr>
          <p:cNvPr id="38" name="Straight Arrow Connector 37"/>
          <p:cNvCxnSpPr/>
          <p:nvPr/>
        </p:nvCxnSpPr>
        <p:spPr>
          <a:xfrm>
            <a:off x="739588" y="1680882"/>
            <a:ext cx="1100300" cy="1947111"/>
          </a:xfrm>
          <a:prstGeom prst="straightConnector1">
            <a:avLst/>
          </a:prstGeom>
          <a:ln w="38100">
            <a:solidFill>
              <a:schemeClr val="accent5">
                <a:lumMod val="40000"/>
                <a:lumOff val="60000"/>
              </a:schemeClr>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p:cNvSpPr txBox="1"/>
              <p:nvPr/>
            </p:nvSpPr>
            <p:spPr>
              <a:xfrm>
                <a:off x="1150675" y="2121663"/>
                <a:ext cx="536044" cy="409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solidFill>
                                <a:schemeClr val="bg1">
                                  <a:lumMod val="65000"/>
                                </a:schemeClr>
                              </a:solidFill>
                              <a:latin typeface="Cambria Math" panose="02040503050406030204" pitchFamily="18" charset="0"/>
                            </a:rPr>
                          </m:ctrlPr>
                        </m:sSubSupPr>
                        <m:e>
                          <m:r>
                            <a:rPr lang="en-US" sz="2000" b="0" i="1" smtClean="0">
                              <a:solidFill>
                                <a:schemeClr val="bg1">
                                  <a:lumMod val="65000"/>
                                </a:schemeClr>
                              </a:solidFill>
                              <a:latin typeface="Cambria Math" panose="02040503050406030204" pitchFamily="18" charset="0"/>
                            </a:rPr>
                            <m:t>𝑤</m:t>
                          </m:r>
                        </m:e>
                        <m:sub>
                          <m:r>
                            <a:rPr lang="en-US" sz="2000" b="0" i="1" smtClean="0">
                              <a:solidFill>
                                <a:schemeClr val="bg1">
                                  <a:lumMod val="65000"/>
                                </a:schemeClr>
                              </a:solidFill>
                              <a:latin typeface="Cambria Math" panose="02040503050406030204" pitchFamily="18" charset="0"/>
                            </a:rPr>
                            <m:t>2,1</m:t>
                          </m:r>
                        </m:sub>
                        <m:sup>
                          <m:r>
                            <a:rPr lang="en-US" sz="2000" b="0" i="1" smtClean="0">
                              <a:solidFill>
                                <a:schemeClr val="bg1">
                                  <a:lumMod val="65000"/>
                                </a:schemeClr>
                              </a:solidFill>
                              <a:latin typeface="Cambria Math" panose="02040503050406030204" pitchFamily="18" charset="0"/>
                            </a:rPr>
                            <m:t>(1)</m:t>
                          </m:r>
                        </m:sup>
                      </m:sSubSup>
                    </m:oMath>
                  </m:oMathPara>
                </a14:m>
                <a:endParaRPr lang="en-IN" sz="2000" dirty="0">
                  <a:solidFill>
                    <a:schemeClr val="bg1">
                      <a:lumMod val="65000"/>
                    </a:schemeClr>
                  </a:solidFill>
                </a:endParaRPr>
              </a:p>
            </p:txBody>
          </p:sp>
        </mc:Choice>
        <mc:Fallback xmlns="">
          <p:sp>
            <p:nvSpPr>
              <p:cNvPr id="39" name="TextBox 38"/>
              <p:cNvSpPr txBox="1">
                <a:spLocks noRot="1" noChangeAspect="1" noMove="1" noResize="1" noEditPoints="1" noAdjustHandles="1" noChangeArrowheads="1" noChangeShapeType="1" noTextEdit="1"/>
              </p:cNvSpPr>
              <p:nvPr/>
            </p:nvSpPr>
            <p:spPr>
              <a:xfrm>
                <a:off x="1150675" y="2121663"/>
                <a:ext cx="536044" cy="409536"/>
              </a:xfrm>
              <a:prstGeom prst="rect">
                <a:avLst/>
              </a:prstGeom>
              <a:blipFill rotWithShape="0">
                <a:blip r:embed="rId15"/>
                <a:stretch>
                  <a:fillRect l="-6818" t="-4478" r="-10227" b="-10448"/>
                </a:stretch>
              </a:blipFill>
            </p:spPr>
            <p:txBody>
              <a:bodyPr/>
              <a:lstStyle/>
              <a:p>
                <a:r>
                  <a:rPr lang="en-IN">
                    <a:noFill/>
                  </a:rPr>
                  <a:t> </a:t>
                </a:r>
              </a:p>
            </p:txBody>
          </p:sp>
        </mc:Fallback>
      </mc:AlternateContent>
      <p:cxnSp>
        <p:nvCxnSpPr>
          <p:cNvPr id="40" name="Straight Arrow Connector 39"/>
          <p:cNvCxnSpPr>
            <a:endCxn id="29" idx="1"/>
          </p:cNvCxnSpPr>
          <p:nvPr/>
        </p:nvCxnSpPr>
        <p:spPr>
          <a:xfrm>
            <a:off x="746007" y="2518386"/>
            <a:ext cx="976060" cy="1335557"/>
          </a:xfrm>
          <a:prstGeom prst="straightConnector1">
            <a:avLst/>
          </a:prstGeom>
          <a:ln w="38100">
            <a:solidFill>
              <a:schemeClr val="accent5">
                <a:lumMod val="40000"/>
                <a:lumOff val="6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endCxn id="29" idx="1"/>
          </p:cNvCxnSpPr>
          <p:nvPr/>
        </p:nvCxnSpPr>
        <p:spPr>
          <a:xfrm flipV="1">
            <a:off x="817950" y="3853943"/>
            <a:ext cx="904117" cy="133125"/>
          </a:xfrm>
          <a:prstGeom prst="straightConnector1">
            <a:avLst/>
          </a:prstGeom>
          <a:ln w="38100">
            <a:solidFill>
              <a:schemeClr val="accent5">
                <a:lumMod val="40000"/>
                <a:lumOff val="60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45" name="Group 44"/>
          <p:cNvGrpSpPr/>
          <p:nvPr/>
        </p:nvGrpSpPr>
        <p:grpSpPr>
          <a:xfrm>
            <a:off x="1021605" y="3188300"/>
            <a:ext cx="36000" cy="340800"/>
            <a:chOff x="2731586" y="4043627"/>
            <a:chExt cx="36000" cy="340800"/>
          </a:xfrm>
        </p:grpSpPr>
        <p:sp>
          <p:nvSpPr>
            <p:cNvPr id="46" name="Oval 45"/>
            <p:cNvSpPr/>
            <p:nvPr/>
          </p:nvSpPr>
          <p:spPr>
            <a:xfrm>
              <a:off x="2731586" y="4043627"/>
              <a:ext cx="36000" cy="3600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Oval 46"/>
            <p:cNvSpPr/>
            <p:nvPr/>
          </p:nvSpPr>
          <p:spPr>
            <a:xfrm>
              <a:off x="2731586" y="4196027"/>
              <a:ext cx="36000" cy="3600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Oval 47"/>
            <p:cNvSpPr/>
            <p:nvPr/>
          </p:nvSpPr>
          <p:spPr>
            <a:xfrm>
              <a:off x="2731586" y="4348427"/>
              <a:ext cx="36000" cy="3600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49" name="TextBox 48"/>
              <p:cNvSpPr txBox="1"/>
              <p:nvPr/>
            </p:nvSpPr>
            <p:spPr>
              <a:xfrm>
                <a:off x="478319" y="2862395"/>
                <a:ext cx="536044" cy="409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solidFill>
                                <a:schemeClr val="bg1">
                                  <a:lumMod val="65000"/>
                                </a:schemeClr>
                              </a:solidFill>
                              <a:latin typeface="Cambria Math" panose="02040503050406030204" pitchFamily="18" charset="0"/>
                            </a:rPr>
                          </m:ctrlPr>
                        </m:sSubSupPr>
                        <m:e>
                          <m:r>
                            <a:rPr lang="en-US" sz="2000" b="0" i="1" smtClean="0">
                              <a:solidFill>
                                <a:schemeClr val="bg1">
                                  <a:lumMod val="65000"/>
                                </a:schemeClr>
                              </a:solidFill>
                              <a:latin typeface="Cambria Math" panose="02040503050406030204" pitchFamily="18" charset="0"/>
                            </a:rPr>
                            <m:t>𝑤</m:t>
                          </m:r>
                        </m:e>
                        <m:sub>
                          <m:r>
                            <a:rPr lang="en-US" sz="2000" b="0" i="1" smtClean="0">
                              <a:solidFill>
                                <a:schemeClr val="bg1">
                                  <a:lumMod val="65000"/>
                                </a:schemeClr>
                              </a:solidFill>
                              <a:latin typeface="Cambria Math" panose="02040503050406030204" pitchFamily="18" charset="0"/>
                            </a:rPr>
                            <m:t>2,2</m:t>
                          </m:r>
                        </m:sub>
                        <m:sup>
                          <m:r>
                            <a:rPr lang="en-US" sz="2000" b="0" i="1" smtClean="0">
                              <a:solidFill>
                                <a:schemeClr val="bg1">
                                  <a:lumMod val="65000"/>
                                </a:schemeClr>
                              </a:solidFill>
                              <a:latin typeface="Cambria Math" panose="02040503050406030204" pitchFamily="18" charset="0"/>
                            </a:rPr>
                            <m:t>(1)</m:t>
                          </m:r>
                        </m:sup>
                      </m:sSubSup>
                    </m:oMath>
                  </m:oMathPara>
                </a14:m>
                <a:endParaRPr lang="en-IN" sz="2000" dirty="0">
                  <a:solidFill>
                    <a:schemeClr val="bg1">
                      <a:lumMod val="65000"/>
                    </a:schemeClr>
                  </a:solidFill>
                </a:endParaRPr>
              </a:p>
            </p:txBody>
          </p:sp>
        </mc:Choice>
        <mc:Fallback xmlns="">
          <p:sp>
            <p:nvSpPr>
              <p:cNvPr id="49" name="TextBox 48"/>
              <p:cNvSpPr txBox="1">
                <a:spLocks noRot="1" noChangeAspect="1" noMove="1" noResize="1" noEditPoints="1" noAdjustHandles="1" noChangeArrowheads="1" noChangeShapeType="1" noTextEdit="1"/>
              </p:cNvSpPr>
              <p:nvPr/>
            </p:nvSpPr>
            <p:spPr>
              <a:xfrm>
                <a:off x="478319" y="2862395"/>
                <a:ext cx="536044" cy="409536"/>
              </a:xfrm>
              <a:prstGeom prst="rect">
                <a:avLst/>
              </a:prstGeom>
              <a:blipFill rotWithShape="0">
                <a:blip r:embed="rId16"/>
                <a:stretch>
                  <a:fillRect l="-5682" t="-4478" r="-10227" b="-895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901224" y="3480790"/>
                <a:ext cx="536044" cy="409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solidFill>
                                <a:schemeClr val="bg1">
                                  <a:lumMod val="65000"/>
                                </a:schemeClr>
                              </a:solidFill>
                              <a:latin typeface="Cambria Math" panose="02040503050406030204" pitchFamily="18" charset="0"/>
                            </a:rPr>
                          </m:ctrlPr>
                        </m:sSubSupPr>
                        <m:e>
                          <m:r>
                            <a:rPr lang="en-US" sz="2000" b="0" i="1" smtClean="0">
                              <a:solidFill>
                                <a:schemeClr val="bg1">
                                  <a:lumMod val="65000"/>
                                </a:schemeClr>
                              </a:solidFill>
                              <a:latin typeface="Cambria Math" panose="02040503050406030204" pitchFamily="18" charset="0"/>
                            </a:rPr>
                            <m:t>𝑤</m:t>
                          </m:r>
                        </m:e>
                        <m:sub>
                          <m:r>
                            <a:rPr lang="en-US" sz="2000" b="0" i="1" smtClean="0">
                              <a:solidFill>
                                <a:schemeClr val="bg1">
                                  <a:lumMod val="65000"/>
                                </a:schemeClr>
                              </a:solidFill>
                              <a:latin typeface="Cambria Math" panose="02040503050406030204" pitchFamily="18" charset="0"/>
                            </a:rPr>
                            <m:t>2,3</m:t>
                          </m:r>
                        </m:sub>
                        <m:sup>
                          <m:r>
                            <a:rPr lang="en-US" sz="2000" b="0" i="1" smtClean="0">
                              <a:solidFill>
                                <a:schemeClr val="bg1">
                                  <a:lumMod val="65000"/>
                                </a:schemeClr>
                              </a:solidFill>
                              <a:latin typeface="Cambria Math" panose="02040503050406030204" pitchFamily="18" charset="0"/>
                            </a:rPr>
                            <m:t>(1)</m:t>
                          </m:r>
                        </m:sup>
                      </m:sSubSup>
                    </m:oMath>
                  </m:oMathPara>
                </a14:m>
                <a:endParaRPr lang="en-IN" sz="2000" dirty="0">
                  <a:solidFill>
                    <a:schemeClr val="bg1">
                      <a:lumMod val="65000"/>
                    </a:schemeClr>
                  </a:solidFill>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901224" y="3480790"/>
                <a:ext cx="536044" cy="409536"/>
              </a:xfrm>
              <a:prstGeom prst="rect">
                <a:avLst/>
              </a:prstGeom>
              <a:blipFill rotWithShape="0">
                <a:blip r:embed="rId17"/>
                <a:stretch>
                  <a:fillRect l="-6818" t="-4478" r="-10227" b="-8955"/>
                </a:stretch>
              </a:blipFill>
            </p:spPr>
            <p:txBody>
              <a:bodyPr/>
              <a:lstStyle/>
              <a:p>
                <a:r>
                  <a:rPr lang="en-IN">
                    <a:noFill/>
                  </a:rPr>
                  <a:t> </a:t>
                </a:r>
              </a:p>
            </p:txBody>
          </p:sp>
        </mc:Fallback>
      </mc:AlternateContent>
      <p:cxnSp>
        <p:nvCxnSpPr>
          <p:cNvPr id="51" name="Straight Arrow Connector 50"/>
          <p:cNvCxnSpPr/>
          <p:nvPr/>
        </p:nvCxnSpPr>
        <p:spPr>
          <a:xfrm>
            <a:off x="2073317" y="3140826"/>
            <a:ext cx="0" cy="344968"/>
          </a:xfrm>
          <a:prstGeom prst="straightConnector1">
            <a:avLst/>
          </a:prstGeom>
          <a:ln w="38100">
            <a:solidFill>
              <a:schemeClr val="accent2">
                <a:alpha val="25000"/>
              </a:schemeClr>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p:cNvSpPr txBox="1"/>
              <p:nvPr/>
            </p:nvSpPr>
            <p:spPr>
              <a:xfrm>
                <a:off x="1991039" y="2878444"/>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65000"/>
                            </a:schemeClr>
                          </a:solidFill>
                          <a:latin typeface="Cambria Math" panose="02040503050406030204" pitchFamily="18" charset="0"/>
                        </a:rPr>
                        <m:t>1</m:t>
                      </m:r>
                    </m:oMath>
                  </m:oMathPara>
                </a14:m>
                <a:endParaRPr lang="en-IN" dirty="0">
                  <a:solidFill>
                    <a:schemeClr val="bg1">
                      <a:lumMod val="65000"/>
                    </a:schemeClr>
                  </a:solidFill>
                </a:endParaRPr>
              </a:p>
            </p:txBody>
          </p:sp>
        </mc:Choice>
        <mc:Fallback xmlns="">
          <p:sp>
            <p:nvSpPr>
              <p:cNvPr id="52" name="TextBox 51"/>
              <p:cNvSpPr txBox="1">
                <a:spLocks noRot="1" noChangeAspect="1" noMove="1" noResize="1" noEditPoints="1" noAdjustHandles="1" noChangeArrowheads="1" noChangeShapeType="1" noTextEdit="1"/>
              </p:cNvSpPr>
              <p:nvPr/>
            </p:nvSpPr>
            <p:spPr>
              <a:xfrm>
                <a:off x="1991039" y="2878444"/>
                <a:ext cx="181139" cy="276999"/>
              </a:xfrm>
              <a:prstGeom prst="rect">
                <a:avLst/>
              </a:prstGeom>
              <a:blipFill rotWithShape="0">
                <a:blip r:embed="rId18"/>
                <a:stretch>
                  <a:fillRect l="-34483" r="-31034" b="-652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2121190" y="3023240"/>
                <a:ext cx="1290418" cy="4098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solidFill>
                                <a:schemeClr val="bg1">
                                  <a:lumMod val="65000"/>
                                </a:schemeClr>
                              </a:solidFill>
                              <a:latin typeface="Cambria Math" panose="02040503050406030204" pitchFamily="18" charset="0"/>
                            </a:rPr>
                          </m:ctrlPr>
                        </m:sSubSupPr>
                        <m:e>
                          <m:r>
                            <a:rPr lang="en-US" sz="2000" b="0" i="1" smtClean="0">
                              <a:solidFill>
                                <a:schemeClr val="bg1">
                                  <a:lumMod val="65000"/>
                                </a:schemeClr>
                              </a:solidFill>
                              <a:latin typeface="Cambria Math" panose="02040503050406030204" pitchFamily="18" charset="0"/>
                            </a:rPr>
                            <m:t>𝑤</m:t>
                          </m:r>
                        </m:e>
                        <m:sub>
                          <m:r>
                            <a:rPr lang="en-US" sz="2000" b="0" i="1" smtClean="0">
                              <a:solidFill>
                                <a:schemeClr val="bg1">
                                  <a:lumMod val="65000"/>
                                </a:schemeClr>
                              </a:solidFill>
                              <a:latin typeface="Cambria Math" panose="02040503050406030204" pitchFamily="18" charset="0"/>
                            </a:rPr>
                            <m:t>2,0</m:t>
                          </m:r>
                        </m:sub>
                        <m:sup>
                          <m:r>
                            <a:rPr lang="en-US" sz="2000" b="0" i="1" smtClean="0">
                              <a:solidFill>
                                <a:schemeClr val="bg1">
                                  <a:lumMod val="65000"/>
                                </a:schemeClr>
                              </a:solidFill>
                              <a:latin typeface="Cambria Math" panose="02040503050406030204" pitchFamily="18" charset="0"/>
                            </a:rPr>
                            <m:t>(1)</m:t>
                          </m:r>
                        </m:sup>
                      </m:sSubSup>
                      <m:r>
                        <a:rPr lang="en-US" sz="2000" b="0" i="1" smtClean="0">
                          <a:solidFill>
                            <a:schemeClr val="bg1">
                              <a:lumMod val="65000"/>
                            </a:schemeClr>
                          </a:solidFill>
                          <a:latin typeface="Cambria Math" panose="02040503050406030204" pitchFamily="18" charset="0"/>
                        </a:rPr>
                        <m:t>=</m:t>
                      </m:r>
                      <m:sSubSup>
                        <m:sSubSupPr>
                          <m:ctrlPr>
                            <a:rPr lang="en-US" sz="2000" b="0" i="1" smtClean="0">
                              <a:solidFill>
                                <a:schemeClr val="bg1">
                                  <a:lumMod val="65000"/>
                                </a:schemeClr>
                              </a:solidFill>
                              <a:latin typeface="Cambria Math" panose="02040503050406030204" pitchFamily="18" charset="0"/>
                            </a:rPr>
                          </m:ctrlPr>
                        </m:sSubSupPr>
                        <m:e>
                          <m:r>
                            <a:rPr lang="en-US" sz="2000" b="0" i="1" smtClean="0">
                              <a:solidFill>
                                <a:schemeClr val="bg1">
                                  <a:lumMod val="65000"/>
                                </a:schemeClr>
                              </a:solidFill>
                              <a:latin typeface="Cambria Math" panose="02040503050406030204" pitchFamily="18" charset="0"/>
                            </a:rPr>
                            <m:t>𝑏</m:t>
                          </m:r>
                        </m:e>
                        <m:sub>
                          <m:r>
                            <a:rPr lang="en-US" sz="2000" b="0" i="1" smtClean="0">
                              <a:solidFill>
                                <a:schemeClr val="bg1">
                                  <a:lumMod val="65000"/>
                                </a:schemeClr>
                              </a:solidFill>
                              <a:latin typeface="Cambria Math" panose="02040503050406030204" pitchFamily="18" charset="0"/>
                            </a:rPr>
                            <m:t>2</m:t>
                          </m:r>
                        </m:sub>
                        <m:sup>
                          <m:r>
                            <a:rPr lang="en-US" sz="2000" b="0" i="1" smtClean="0">
                              <a:solidFill>
                                <a:schemeClr val="bg1">
                                  <a:lumMod val="65000"/>
                                </a:schemeClr>
                              </a:solidFill>
                              <a:latin typeface="Cambria Math" panose="02040503050406030204" pitchFamily="18" charset="0"/>
                            </a:rPr>
                            <m:t>(1)</m:t>
                          </m:r>
                        </m:sup>
                      </m:sSubSup>
                    </m:oMath>
                  </m:oMathPara>
                </a14:m>
                <a:endParaRPr lang="en-IN" sz="2000" dirty="0">
                  <a:solidFill>
                    <a:schemeClr val="bg1">
                      <a:lumMod val="65000"/>
                    </a:schemeClr>
                  </a:solidFill>
                </a:endParaRPr>
              </a:p>
            </p:txBody>
          </p:sp>
        </mc:Choice>
        <mc:Fallback xmlns="">
          <p:sp>
            <p:nvSpPr>
              <p:cNvPr id="53" name="TextBox 52"/>
              <p:cNvSpPr txBox="1">
                <a:spLocks noRot="1" noChangeAspect="1" noMove="1" noResize="1" noEditPoints="1" noAdjustHandles="1" noChangeArrowheads="1" noChangeShapeType="1" noTextEdit="1"/>
              </p:cNvSpPr>
              <p:nvPr/>
            </p:nvSpPr>
            <p:spPr>
              <a:xfrm>
                <a:off x="2121190" y="3023240"/>
                <a:ext cx="1290418" cy="409856"/>
              </a:xfrm>
              <a:prstGeom prst="rect">
                <a:avLst/>
              </a:prstGeom>
              <a:blipFill rotWithShape="0">
                <a:blip r:embed="rId19"/>
                <a:stretch>
                  <a:fillRect l="-2358" t="-4478" r="-3774" b="-8955"/>
                </a:stretch>
              </a:blipFill>
            </p:spPr>
            <p:txBody>
              <a:bodyPr/>
              <a:lstStyle/>
              <a:p>
                <a:r>
                  <a:rPr lang="en-IN">
                    <a:noFill/>
                  </a:rPr>
                  <a:t> </a:t>
                </a:r>
              </a:p>
            </p:txBody>
          </p:sp>
        </mc:Fallback>
      </mc:AlternateContent>
      <p:pic>
        <p:nvPicPr>
          <p:cNvPr id="43" name="Picture 4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8913" y="5598241"/>
            <a:ext cx="746306" cy="746306"/>
          </a:xfrm>
          <a:prstGeom prst="rect">
            <a:avLst/>
          </a:prstGeom>
        </p:spPr>
      </p:pic>
      <mc:AlternateContent xmlns:mc="http://schemas.openxmlformats.org/markup-compatibility/2006" xmlns:a14="http://schemas.microsoft.com/office/drawing/2010/main">
        <mc:Choice Requires="a14">
          <p:sp>
            <p:nvSpPr>
              <p:cNvPr id="44" name="TextBox 43"/>
              <p:cNvSpPr txBox="1"/>
              <p:nvPr/>
            </p:nvSpPr>
            <p:spPr>
              <a:xfrm>
                <a:off x="3074151" y="5718550"/>
                <a:ext cx="574260" cy="478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400" i="1" smtClean="0">
                              <a:latin typeface="Cambria Math" panose="02040503050406030204" pitchFamily="18" charset="0"/>
                            </a:rPr>
                          </m:ctrlPr>
                        </m:sSubSupPr>
                        <m:e>
                          <m:r>
                            <a:rPr lang="en-US" sz="2400" b="0" i="1" smtClean="0">
                              <a:latin typeface="Cambria Math" panose="02040503050406030204" pitchFamily="18" charset="0"/>
                            </a:rPr>
                            <m:t>h</m:t>
                          </m:r>
                        </m:e>
                        <m:sub>
                          <m:r>
                            <a:rPr lang="en-IN" sz="2400" b="0" i="1" smtClean="0">
                              <a:latin typeface="Cambria Math" panose="02040503050406030204" pitchFamily="18" charset="0"/>
                            </a:rPr>
                            <m:t>𝑀</m:t>
                          </m:r>
                        </m:sub>
                        <m:sup>
                          <m:r>
                            <a:rPr lang="en-US" sz="2400" b="0" i="1" smtClean="0">
                              <a:latin typeface="Cambria Math" panose="02040503050406030204" pitchFamily="18" charset="0"/>
                            </a:rPr>
                            <m:t>(1)</m:t>
                          </m:r>
                        </m:sup>
                      </m:sSubSup>
                    </m:oMath>
                  </m:oMathPara>
                </a14:m>
                <a:endParaRPr lang="en-IN" sz="2400" dirty="0"/>
              </a:p>
            </p:txBody>
          </p:sp>
        </mc:Choice>
        <mc:Fallback xmlns="">
          <p:sp>
            <p:nvSpPr>
              <p:cNvPr id="44" name="TextBox 43"/>
              <p:cNvSpPr txBox="1">
                <a:spLocks noRot="1" noChangeAspect="1" noMove="1" noResize="1" noEditPoints="1" noAdjustHandles="1" noChangeArrowheads="1" noChangeShapeType="1" noTextEdit="1"/>
              </p:cNvSpPr>
              <p:nvPr/>
            </p:nvSpPr>
            <p:spPr>
              <a:xfrm>
                <a:off x="3074151" y="5718550"/>
                <a:ext cx="574260" cy="478016"/>
              </a:xfrm>
              <a:prstGeom prst="rect">
                <a:avLst/>
              </a:prstGeom>
              <a:blipFill rotWithShape="0">
                <a:blip r:embed="rId20"/>
                <a:stretch>
                  <a:fillRect/>
                </a:stretch>
              </a:blipFill>
            </p:spPr>
            <p:txBody>
              <a:bodyPr/>
              <a:lstStyle/>
              <a:p>
                <a:r>
                  <a:rPr lang="en-IN">
                    <a:noFill/>
                  </a:rPr>
                  <a:t> </a:t>
                </a:r>
              </a:p>
            </p:txBody>
          </p:sp>
        </mc:Fallback>
      </mc:AlternateContent>
      <p:cxnSp>
        <p:nvCxnSpPr>
          <p:cNvPr id="54" name="Straight Arrow Connector 53"/>
          <p:cNvCxnSpPr/>
          <p:nvPr/>
        </p:nvCxnSpPr>
        <p:spPr>
          <a:xfrm>
            <a:off x="2462961" y="5977537"/>
            <a:ext cx="622884" cy="2489"/>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2060163" y="5258277"/>
            <a:ext cx="0" cy="344968"/>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TextBox 60"/>
              <p:cNvSpPr txBox="1"/>
              <p:nvPr/>
            </p:nvSpPr>
            <p:spPr>
              <a:xfrm>
                <a:off x="2108036" y="5140691"/>
                <a:ext cx="1312731" cy="4099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latin typeface="Cambria Math" panose="02040503050406030204" pitchFamily="18" charset="0"/>
                            </a:rPr>
                          </m:ctrlPr>
                        </m:sSubSupPr>
                        <m:e>
                          <m:r>
                            <a:rPr lang="en-US" sz="2000" b="0" i="1" smtClean="0">
                              <a:latin typeface="Cambria Math" panose="02040503050406030204" pitchFamily="18" charset="0"/>
                            </a:rPr>
                            <m:t>𝑤</m:t>
                          </m:r>
                        </m:e>
                        <m:sub>
                          <m:r>
                            <a:rPr lang="en-IN" sz="2000" b="0" i="1" smtClean="0">
                              <a:latin typeface="Cambria Math" panose="02040503050406030204" pitchFamily="18" charset="0"/>
                            </a:rPr>
                            <m:t>𝑀</m:t>
                          </m:r>
                          <m:r>
                            <a:rPr lang="en-US" sz="2000" b="0" i="1" smtClean="0">
                              <a:latin typeface="Cambria Math" panose="02040503050406030204" pitchFamily="18" charset="0"/>
                            </a:rPr>
                            <m:t>,0</m:t>
                          </m:r>
                        </m:sub>
                        <m:sup>
                          <m:r>
                            <a:rPr lang="en-US" sz="2000" b="0" i="1" smtClean="0">
                              <a:latin typeface="Cambria Math" panose="02040503050406030204" pitchFamily="18" charset="0"/>
                            </a:rPr>
                            <m:t>(1)</m:t>
                          </m:r>
                        </m:sup>
                      </m:sSubSup>
                      <m:r>
                        <a:rPr lang="en-US" sz="2000" b="0" i="1" smtClean="0">
                          <a:latin typeface="Cambria Math" panose="02040503050406030204" pitchFamily="18" charset="0"/>
                        </a:rPr>
                        <m:t>=</m:t>
                      </m:r>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𝑏</m:t>
                          </m:r>
                        </m:e>
                        <m:sub>
                          <m:r>
                            <a:rPr lang="en-IN" sz="2000" b="0" i="1" smtClean="0">
                              <a:latin typeface="Cambria Math" panose="02040503050406030204" pitchFamily="18" charset="0"/>
                            </a:rPr>
                            <m:t>𝑀</m:t>
                          </m:r>
                        </m:sub>
                        <m:sup>
                          <m:r>
                            <a:rPr lang="en-US" sz="2000" b="0" i="1" smtClean="0">
                              <a:latin typeface="Cambria Math" panose="02040503050406030204" pitchFamily="18" charset="0"/>
                            </a:rPr>
                            <m:t>(1)</m:t>
                          </m:r>
                        </m:sup>
                      </m:sSubSup>
                    </m:oMath>
                  </m:oMathPara>
                </a14:m>
                <a:endParaRPr lang="en-IN" sz="2000" dirty="0"/>
              </a:p>
            </p:txBody>
          </p:sp>
        </mc:Choice>
        <mc:Fallback xmlns="">
          <p:sp>
            <p:nvSpPr>
              <p:cNvPr id="61" name="TextBox 60"/>
              <p:cNvSpPr txBox="1">
                <a:spLocks noRot="1" noChangeAspect="1" noMove="1" noResize="1" noEditPoints="1" noAdjustHandles="1" noChangeArrowheads="1" noChangeShapeType="1" noTextEdit="1"/>
              </p:cNvSpPr>
              <p:nvPr/>
            </p:nvSpPr>
            <p:spPr>
              <a:xfrm>
                <a:off x="2108036" y="5140691"/>
                <a:ext cx="1312731" cy="409984"/>
              </a:xfrm>
              <a:prstGeom prst="rect">
                <a:avLst/>
              </a:prstGeom>
              <a:blipFill rotWithShape="0">
                <a:blip r:embed="rId21"/>
                <a:stretch>
                  <a:fillRect l="-2326" t="-2941" r="-4186" b="-88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p:cNvSpPr txBox="1"/>
              <p:nvPr/>
            </p:nvSpPr>
            <p:spPr>
              <a:xfrm>
                <a:off x="1990027" y="4979431"/>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IN" dirty="0"/>
              </a:p>
            </p:txBody>
          </p:sp>
        </mc:Choice>
        <mc:Fallback xmlns="">
          <p:sp>
            <p:nvSpPr>
              <p:cNvPr id="65" name="TextBox 64"/>
              <p:cNvSpPr txBox="1">
                <a:spLocks noRot="1" noChangeAspect="1" noMove="1" noResize="1" noEditPoints="1" noAdjustHandles="1" noChangeArrowheads="1" noChangeShapeType="1" noTextEdit="1"/>
              </p:cNvSpPr>
              <p:nvPr/>
            </p:nvSpPr>
            <p:spPr>
              <a:xfrm>
                <a:off x="1990027" y="4979431"/>
                <a:ext cx="181139" cy="276999"/>
              </a:xfrm>
              <a:prstGeom prst="rect">
                <a:avLst/>
              </a:prstGeom>
              <a:blipFill rotWithShape="0">
                <a:blip r:embed="rId22"/>
                <a:stretch>
                  <a:fillRect l="-30000" r="-30000" b="-6667"/>
                </a:stretch>
              </a:blipFill>
            </p:spPr>
            <p:txBody>
              <a:bodyPr/>
              <a:lstStyle/>
              <a:p>
                <a:r>
                  <a:rPr lang="en-IN">
                    <a:noFill/>
                  </a:rPr>
                  <a:t> </a:t>
                </a:r>
              </a:p>
            </p:txBody>
          </p:sp>
        </mc:Fallback>
      </mc:AlternateContent>
      <p:cxnSp>
        <p:nvCxnSpPr>
          <p:cNvPr id="70" name="Straight Arrow Connector 69"/>
          <p:cNvCxnSpPr/>
          <p:nvPr/>
        </p:nvCxnSpPr>
        <p:spPr>
          <a:xfrm>
            <a:off x="739588" y="1744041"/>
            <a:ext cx="1089212" cy="3984406"/>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TextBox 70"/>
              <p:cNvSpPr txBox="1"/>
              <p:nvPr/>
            </p:nvSpPr>
            <p:spPr>
              <a:xfrm>
                <a:off x="1575913" y="4453046"/>
                <a:ext cx="558358" cy="4099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latin typeface="Cambria Math" panose="02040503050406030204" pitchFamily="18" charset="0"/>
                            </a:rPr>
                          </m:ctrlPr>
                        </m:sSubSupPr>
                        <m:e>
                          <m:r>
                            <a:rPr lang="en-US" sz="2000" b="0" i="1" smtClean="0">
                              <a:latin typeface="Cambria Math" panose="02040503050406030204" pitchFamily="18" charset="0"/>
                            </a:rPr>
                            <m:t>𝑤</m:t>
                          </m:r>
                        </m:e>
                        <m:sub>
                          <m:r>
                            <a:rPr lang="en-IN" sz="2000" b="0" i="1" smtClean="0">
                              <a:latin typeface="Cambria Math" panose="02040503050406030204" pitchFamily="18" charset="0"/>
                            </a:rPr>
                            <m:t>𝑀</m:t>
                          </m:r>
                          <m:r>
                            <a:rPr lang="en-US" sz="2000" b="0" i="1" smtClean="0">
                              <a:latin typeface="Cambria Math" panose="02040503050406030204" pitchFamily="18" charset="0"/>
                            </a:rPr>
                            <m:t>,1</m:t>
                          </m:r>
                        </m:sub>
                        <m:sup>
                          <m:r>
                            <a:rPr lang="en-US" sz="2000" b="0" i="1" smtClean="0">
                              <a:latin typeface="Cambria Math" panose="02040503050406030204" pitchFamily="18" charset="0"/>
                            </a:rPr>
                            <m:t>(1)</m:t>
                          </m:r>
                        </m:sup>
                      </m:sSubSup>
                    </m:oMath>
                  </m:oMathPara>
                </a14:m>
                <a:endParaRPr lang="en-IN" sz="2000" dirty="0"/>
              </a:p>
            </p:txBody>
          </p:sp>
        </mc:Choice>
        <mc:Fallback xmlns="">
          <p:sp>
            <p:nvSpPr>
              <p:cNvPr id="71" name="TextBox 70"/>
              <p:cNvSpPr txBox="1">
                <a:spLocks noRot="1" noChangeAspect="1" noMove="1" noResize="1" noEditPoints="1" noAdjustHandles="1" noChangeArrowheads="1" noChangeShapeType="1" noTextEdit="1"/>
              </p:cNvSpPr>
              <p:nvPr/>
            </p:nvSpPr>
            <p:spPr>
              <a:xfrm>
                <a:off x="1575913" y="4453046"/>
                <a:ext cx="558358" cy="409984"/>
              </a:xfrm>
              <a:prstGeom prst="rect">
                <a:avLst/>
              </a:prstGeom>
              <a:blipFill rotWithShape="0">
                <a:blip r:embed="rId23"/>
                <a:stretch>
                  <a:fillRect l="-6593" t="-2941" r="-6593" b="-8824"/>
                </a:stretch>
              </a:blipFill>
            </p:spPr>
            <p:txBody>
              <a:bodyPr/>
              <a:lstStyle/>
              <a:p>
                <a:r>
                  <a:rPr lang="en-IN">
                    <a:noFill/>
                  </a:rPr>
                  <a:t> </a:t>
                </a:r>
              </a:p>
            </p:txBody>
          </p:sp>
        </mc:Fallback>
      </mc:AlternateContent>
      <p:cxnSp>
        <p:nvCxnSpPr>
          <p:cNvPr id="72" name="Straight Arrow Connector 71"/>
          <p:cNvCxnSpPr/>
          <p:nvPr/>
        </p:nvCxnSpPr>
        <p:spPr>
          <a:xfrm>
            <a:off x="711987" y="2457833"/>
            <a:ext cx="996219" cy="3483689"/>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3" name="TextBox 72"/>
              <p:cNvSpPr txBox="1"/>
              <p:nvPr/>
            </p:nvSpPr>
            <p:spPr>
              <a:xfrm>
                <a:off x="447630" y="3236649"/>
                <a:ext cx="558358" cy="4099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latin typeface="Cambria Math" panose="02040503050406030204" pitchFamily="18" charset="0"/>
                            </a:rPr>
                          </m:ctrlPr>
                        </m:sSubSupPr>
                        <m:e>
                          <m:r>
                            <a:rPr lang="en-US" sz="2000" b="0" i="1" smtClean="0">
                              <a:latin typeface="Cambria Math" panose="02040503050406030204" pitchFamily="18" charset="0"/>
                            </a:rPr>
                            <m:t>𝑤</m:t>
                          </m:r>
                        </m:e>
                        <m:sub>
                          <m:r>
                            <a:rPr lang="en-IN" sz="2000" b="0" i="1" smtClean="0">
                              <a:latin typeface="Cambria Math" panose="02040503050406030204" pitchFamily="18" charset="0"/>
                            </a:rPr>
                            <m:t>𝑀</m:t>
                          </m:r>
                          <m:r>
                            <a:rPr lang="en-US" sz="2000" b="0" i="1" smtClean="0">
                              <a:latin typeface="Cambria Math" panose="02040503050406030204" pitchFamily="18" charset="0"/>
                            </a:rPr>
                            <m:t>,2</m:t>
                          </m:r>
                        </m:sub>
                        <m:sup>
                          <m:r>
                            <a:rPr lang="en-US" sz="2000" b="0" i="1" smtClean="0">
                              <a:latin typeface="Cambria Math" panose="02040503050406030204" pitchFamily="18" charset="0"/>
                            </a:rPr>
                            <m:t>(1)</m:t>
                          </m:r>
                        </m:sup>
                      </m:sSubSup>
                    </m:oMath>
                  </m:oMathPara>
                </a14:m>
                <a:endParaRPr lang="en-IN" sz="2000" dirty="0"/>
              </a:p>
            </p:txBody>
          </p:sp>
        </mc:Choice>
        <mc:Fallback xmlns="">
          <p:sp>
            <p:nvSpPr>
              <p:cNvPr id="73" name="TextBox 72"/>
              <p:cNvSpPr txBox="1">
                <a:spLocks noRot="1" noChangeAspect="1" noMove="1" noResize="1" noEditPoints="1" noAdjustHandles="1" noChangeArrowheads="1" noChangeShapeType="1" noTextEdit="1"/>
              </p:cNvSpPr>
              <p:nvPr/>
            </p:nvSpPr>
            <p:spPr>
              <a:xfrm>
                <a:off x="447630" y="3236649"/>
                <a:ext cx="558358" cy="409984"/>
              </a:xfrm>
              <a:prstGeom prst="rect">
                <a:avLst/>
              </a:prstGeom>
              <a:blipFill rotWithShape="0">
                <a:blip r:embed="rId24"/>
                <a:stretch>
                  <a:fillRect l="-5435" t="-4478" r="-5435" b="-8955"/>
                </a:stretch>
              </a:blipFill>
            </p:spPr>
            <p:txBody>
              <a:bodyPr/>
              <a:lstStyle/>
              <a:p>
                <a:r>
                  <a:rPr lang="en-IN">
                    <a:noFill/>
                  </a:rPr>
                  <a:t> </a:t>
                </a:r>
              </a:p>
            </p:txBody>
          </p:sp>
        </mc:Fallback>
      </mc:AlternateContent>
      <p:cxnSp>
        <p:nvCxnSpPr>
          <p:cNvPr id="74" name="Straight Arrow Connector 73"/>
          <p:cNvCxnSpPr/>
          <p:nvPr/>
        </p:nvCxnSpPr>
        <p:spPr>
          <a:xfrm>
            <a:off x="820271" y="4020670"/>
            <a:ext cx="900953" cy="1963271"/>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TextBox 75"/>
              <p:cNvSpPr txBox="1"/>
              <p:nvPr/>
            </p:nvSpPr>
            <p:spPr>
              <a:xfrm>
                <a:off x="753583" y="5024673"/>
                <a:ext cx="558358" cy="4099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latin typeface="Cambria Math" panose="02040503050406030204" pitchFamily="18" charset="0"/>
                            </a:rPr>
                          </m:ctrlPr>
                        </m:sSubSupPr>
                        <m:e>
                          <m:r>
                            <a:rPr lang="en-US" sz="2000" b="0" i="1" smtClean="0">
                              <a:latin typeface="Cambria Math" panose="02040503050406030204" pitchFamily="18" charset="0"/>
                            </a:rPr>
                            <m:t>𝑤</m:t>
                          </m:r>
                        </m:e>
                        <m:sub>
                          <m:r>
                            <a:rPr lang="en-IN" sz="2000" b="0" i="1" smtClean="0">
                              <a:latin typeface="Cambria Math" panose="02040503050406030204" pitchFamily="18" charset="0"/>
                            </a:rPr>
                            <m:t>𝑀</m:t>
                          </m:r>
                          <m:r>
                            <a:rPr lang="en-US" sz="2000" b="0" i="1" smtClean="0">
                              <a:latin typeface="Cambria Math" panose="02040503050406030204" pitchFamily="18" charset="0"/>
                            </a:rPr>
                            <m:t>,3</m:t>
                          </m:r>
                        </m:sub>
                        <m:sup>
                          <m:r>
                            <a:rPr lang="en-US" sz="2000" b="0" i="1" smtClean="0">
                              <a:latin typeface="Cambria Math" panose="02040503050406030204" pitchFamily="18" charset="0"/>
                            </a:rPr>
                            <m:t>(1)</m:t>
                          </m:r>
                        </m:sup>
                      </m:sSubSup>
                    </m:oMath>
                  </m:oMathPara>
                </a14:m>
                <a:endParaRPr lang="en-IN" sz="2000" dirty="0"/>
              </a:p>
            </p:txBody>
          </p:sp>
        </mc:Choice>
        <mc:Fallback xmlns="">
          <p:sp>
            <p:nvSpPr>
              <p:cNvPr id="76" name="TextBox 75"/>
              <p:cNvSpPr txBox="1">
                <a:spLocks noRot="1" noChangeAspect="1" noMove="1" noResize="1" noEditPoints="1" noAdjustHandles="1" noChangeArrowheads="1" noChangeShapeType="1" noTextEdit="1"/>
              </p:cNvSpPr>
              <p:nvPr/>
            </p:nvSpPr>
            <p:spPr>
              <a:xfrm>
                <a:off x="753583" y="5024673"/>
                <a:ext cx="558358" cy="409984"/>
              </a:xfrm>
              <a:prstGeom prst="rect">
                <a:avLst/>
              </a:prstGeom>
              <a:blipFill rotWithShape="0">
                <a:blip r:embed="rId25"/>
                <a:stretch>
                  <a:fillRect l="-6593" t="-2941" r="-6593" b="-8824"/>
                </a:stretch>
              </a:blipFill>
            </p:spPr>
            <p:txBody>
              <a:bodyPr/>
              <a:lstStyle/>
              <a:p>
                <a:r>
                  <a:rPr lang="en-IN">
                    <a:noFill/>
                  </a:rPr>
                  <a:t> </a:t>
                </a:r>
              </a:p>
            </p:txBody>
          </p:sp>
        </mc:Fallback>
      </mc:AlternateContent>
      <p:grpSp>
        <p:nvGrpSpPr>
          <p:cNvPr id="77" name="Group 76"/>
          <p:cNvGrpSpPr/>
          <p:nvPr/>
        </p:nvGrpSpPr>
        <p:grpSpPr>
          <a:xfrm>
            <a:off x="1039593" y="4067773"/>
            <a:ext cx="36000" cy="340800"/>
            <a:chOff x="2731586" y="4043627"/>
            <a:chExt cx="36000" cy="340800"/>
          </a:xfrm>
        </p:grpSpPr>
        <p:sp>
          <p:nvSpPr>
            <p:cNvPr id="78" name="Oval 77"/>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Oval 78"/>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Oval 79"/>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83" name="Group 82"/>
          <p:cNvGrpSpPr/>
          <p:nvPr/>
        </p:nvGrpSpPr>
        <p:grpSpPr>
          <a:xfrm>
            <a:off x="2102766" y="4405352"/>
            <a:ext cx="36000" cy="340800"/>
            <a:chOff x="2731586" y="4043627"/>
            <a:chExt cx="36000" cy="340800"/>
          </a:xfrm>
        </p:grpSpPr>
        <p:sp>
          <p:nvSpPr>
            <p:cNvPr id="84" name="Oval 83"/>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Oval 84"/>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6" name="Oval 85"/>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87" name="TextBox 86"/>
              <p:cNvSpPr txBox="1"/>
              <p:nvPr/>
            </p:nvSpPr>
            <p:spPr>
              <a:xfrm>
                <a:off x="1789142" y="3805368"/>
                <a:ext cx="6972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bg1">
                              <a:lumMod val="65000"/>
                            </a:schemeClr>
                          </a:solidFill>
                          <a:latin typeface="Cambria Math" panose="02040503050406030204" pitchFamily="18" charset="0"/>
                          <a:ea typeface="Cambria Math" panose="02040503050406030204" pitchFamily="18" charset="0"/>
                        </a:rPr>
                        <m:t>𝑔</m:t>
                      </m:r>
                      <m:r>
                        <a:rPr lang="en-US" sz="2400" b="0" i="1" smtClean="0">
                          <a:solidFill>
                            <a:schemeClr val="bg1">
                              <a:lumMod val="65000"/>
                            </a:schemeClr>
                          </a:solidFill>
                          <a:latin typeface="Cambria Math" panose="02040503050406030204" pitchFamily="18" charset="0"/>
                          <a:ea typeface="Cambria Math" panose="02040503050406030204" pitchFamily="18" charset="0"/>
                        </a:rPr>
                        <m:t>(</m:t>
                      </m:r>
                      <m:r>
                        <a:rPr lang="en-US" sz="2400" b="0" i="1" smtClean="0">
                          <a:solidFill>
                            <a:schemeClr val="bg1">
                              <a:lumMod val="65000"/>
                            </a:schemeClr>
                          </a:solidFill>
                          <a:latin typeface="Cambria Math" panose="02040503050406030204" pitchFamily="18" charset="0"/>
                          <a:ea typeface="Cambria Math" panose="02040503050406030204" pitchFamily="18" charset="0"/>
                        </a:rPr>
                        <m:t>𝑎</m:t>
                      </m:r>
                      <m:r>
                        <a:rPr lang="en-US" sz="2400" b="0" i="1" smtClean="0">
                          <a:solidFill>
                            <a:schemeClr val="bg1">
                              <a:lumMod val="65000"/>
                            </a:schemeClr>
                          </a:solidFill>
                          <a:latin typeface="Cambria Math" panose="02040503050406030204" pitchFamily="18" charset="0"/>
                          <a:ea typeface="Cambria Math" panose="02040503050406030204" pitchFamily="18" charset="0"/>
                        </a:rPr>
                        <m:t>)</m:t>
                      </m:r>
                    </m:oMath>
                  </m:oMathPara>
                </a14:m>
                <a:endParaRPr lang="en-IN" sz="2400" dirty="0">
                  <a:solidFill>
                    <a:schemeClr val="bg1">
                      <a:lumMod val="65000"/>
                    </a:schemeClr>
                  </a:solidFill>
                </a:endParaRPr>
              </a:p>
            </p:txBody>
          </p:sp>
        </mc:Choice>
        <mc:Fallback xmlns="">
          <p:sp>
            <p:nvSpPr>
              <p:cNvPr id="87" name="TextBox 86"/>
              <p:cNvSpPr txBox="1">
                <a:spLocks noRot="1" noChangeAspect="1" noMove="1" noResize="1" noEditPoints="1" noAdjustHandles="1" noChangeArrowheads="1" noChangeShapeType="1" noTextEdit="1"/>
              </p:cNvSpPr>
              <p:nvPr/>
            </p:nvSpPr>
            <p:spPr>
              <a:xfrm>
                <a:off x="1789142" y="3805368"/>
                <a:ext cx="697242" cy="369332"/>
              </a:xfrm>
              <a:prstGeom prst="rect">
                <a:avLst/>
              </a:prstGeom>
              <a:blipFill rotWithShape="0">
                <a:blip r:embed="rId26"/>
                <a:stretch>
                  <a:fillRect l="-10435" r="-14783" b="-3442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p:cNvSpPr txBox="1"/>
              <p:nvPr/>
            </p:nvSpPr>
            <p:spPr>
              <a:xfrm>
                <a:off x="1766724" y="5921306"/>
                <a:ext cx="6972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𝑔</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m:t>
                      </m:r>
                    </m:oMath>
                  </m:oMathPara>
                </a14:m>
                <a:endParaRPr lang="en-IN" sz="2400" dirty="0"/>
              </a:p>
            </p:txBody>
          </p:sp>
        </mc:Choice>
        <mc:Fallback xmlns="">
          <p:sp>
            <p:nvSpPr>
              <p:cNvPr id="88" name="TextBox 87"/>
              <p:cNvSpPr txBox="1">
                <a:spLocks noRot="1" noChangeAspect="1" noMove="1" noResize="1" noEditPoints="1" noAdjustHandles="1" noChangeArrowheads="1" noChangeShapeType="1" noTextEdit="1"/>
              </p:cNvSpPr>
              <p:nvPr/>
            </p:nvSpPr>
            <p:spPr>
              <a:xfrm>
                <a:off x="1766724" y="5921306"/>
                <a:ext cx="697242" cy="369332"/>
              </a:xfrm>
              <a:prstGeom prst="rect">
                <a:avLst/>
              </a:prstGeom>
              <a:blipFill rotWithShape="0">
                <a:blip r:embed="rId27"/>
                <a:stretch>
                  <a:fillRect l="-10526" r="-14912" b="-3442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9" name="TextBox 88"/>
              <p:cNvSpPr txBox="1"/>
              <p:nvPr/>
            </p:nvSpPr>
            <p:spPr>
              <a:xfrm>
                <a:off x="5753531" y="1331293"/>
                <a:ext cx="5489708" cy="9587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200" b="0" i="1" smtClean="0">
                              <a:latin typeface="Cambria Math" panose="02040503050406030204" pitchFamily="18" charset="0"/>
                            </a:rPr>
                          </m:ctrlPr>
                        </m:sSubSupPr>
                        <m:e>
                          <m:r>
                            <a:rPr lang="en-IN" sz="2200" b="0" i="1" smtClean="0">
                              <a:latin typeface="Cambria Math" panose="02040503050406030204" pitchFamily="18" charset="0"/>
                            </a:rPr>
                            <m:t>𝑎</m:t>
                          </m:r>
                        </m:e>
                        <m:sub>
                          <m:r>
                            <a:rPr lang="en-IN" sz="2200" b="0" i="1" smtClean="0">
                              <a:latin typeface="Cambria Math" panose="02040503050406030204" pitchFamily="18" charset="0"/>
                            </a:rPr>
                            <m:t>1</m:t>
                          </m:r>
                        </m:sub>
                        <m:sup>
                          <m:d>
                            <m:dPr>
                              <m:ctrlPr>
                                <a:rPr lang="en-IN" sz="2200" b="0" i="1" smtClean="0">
                                  <a:latin typeface="Cambria Math" panose="02040503050406030204" pitchFamily="18" charset="0"/>
                                </a:rPr>
                              </m:ctrlPr>
                            </m:dPr>
                            <m:e>
                              <m:r>
                                <a:rPr lang="en-IN" sz="2200" b="0" i="1" smtClean="0">
                                  <a:latin typeface="Cambria Math" panose="02040503050406030204" pitchFamily="18" charset="0"/>
                                </a:rPr>
                                <m:t>1</m:t>
                              </m:r>
                            </m:e>
                          </m:d>
                        </m:sup>
                      </m:sSubSup>
                      <m:r>
                        <a:rPr lang="en-IN" sz="2200" b="0" i="1" smtClean="0">
                          <a:latin typeface="Cambria Math" panose="02040503050406030204" pitchFamily="18" charset="0"/>
                        </a:rPr>
                        <m:t>(</m:t>
                      </m:r>
                      <m:r>
                        <a:rPr lang="en-IN" sz="2200" b="1" i="1" smtClean="0">
                          <a:latin typeface="Cambria Math" panose="02040503050406030204" pitchFamily="18" charset="0"/>
                        </a:rPr>
                        <m:t>𝒙</m:t>
                      </m:r>
                      <m:r>
                        <a:rPr lang="en-IN" sz="2200" b="0" i="1" smtClean="0">
                          <a:latin typeface="Cambria Math" panose="02040503050406030204" pitchFamily="18" charset="0"/>
                        </a:rPr>
                        <m:t>)</m:t>
                      </m:r>
                      <m:r>
                        <a:rPr lang="en-US" sz="2200" b="0" i="1" smtClean="0">
                          <a:latin typeface="Cambria Math" panose="02040503050406030204" pitchFamily="18" charset="0"/>
                        </a:rPr>
                        <m:t>=</m:t>
                      </m:r>
                      <m:sSubSup>
                        <m:sSubSupPr>
                          <m:ctrlPr>
                            <a:rPr lang="en-US" sz="2200" i="1">
                              <a:solidFill>
                                <a:prstClr val="black"/>
                              </a:solidFill>
                              <a:latin typeface="Cambria Math" panose="02040503050406030204" pitchFamily="18" charset="0"/>
                            </a:rPr>
                          </m:ctrlPr>
                        </m:sSubSupPr>
                        <m:e>
                          <m:r>
                            <a:rPr lang="en-US" sz="2200" i="1">
                              <a:solidFill>
                                <a:prstClr val="black"/>
                              </a:solidFill>
                              <a:latin typeface="Cambria Math" panose="02040503050406030204" pitchFamily="18" charset="0"/>
                            </a:rPr>
                            <m:t>𝑏</m:t>
                          </m:r>
                        </m:e>
                        <m:sub>
                          <m:r>
                            <a:rPr lang="en-US" sz="2200" i="1">
                              <a:solidFill>
                                <a:prstClr val="black"/>
                              </a:solidFill>
                              <a:latin typeface="Cambria Math" panose="02040503050406030204" pitchFamily="18" charset="0"/>
                            </a:rPr>
                            <m:t>1</m:t>
                          </m:r>
                        </m:sub>
                        <m:sup>
                          <m:r>
                            <a:rPr lang="en-US" sz="2200" i="1">
                              <a:solidFill>
                                <a:prstClr val="black"/>
                              </a:solidFill>
                              <a:latin typeface="Cambria Math" panose="02040503050406030204" pitchFamily="18" charset="0"/>
                            </a:rPr>
                            <m:t>(1)</m:t>
                          </m:r>
                        </m:sup>
                      </m:sSubSup>
                      <m:r>
                        <a:rPr lang="en-US" sz="2200" b="0" i="1" smtClean="0">
                          <a:latin typeface="Cambria Math" panose="02040503050406030204" pitchFamily="18" charset="0"/>
                        </a:rPr>
                        <m:t>+ </m:t>
                      </m:r>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=1</m:t>
                          </m:r>
                        </m:sub>
                        <m:sup>
                          <m:r>
                            <a:rPr lang="en-US" sz="2200" b="0" i="1" smtClean="0">
                              <a:latin typeface="Cambria Math" panose="02040503050406030204" pitchFamily="18" charset="0"/>
                            </a:rPr>
                            <m:t>𝑑</m:t>
                          </m:r>
                        </m:sup>
                        <m:e>
                          <m:sSubSup>
                            <m:sSubSupPr>
                              <m:ctrlPr>
                                <a:rPr lang="en-IN" sz="2200" i="1">
                                  <a:latin typeface="Cambria Math" panose="02040503050406030204" pitchFamily="18" charset="0"/>
                                </a:rPr>
                              </m:ctrlPr>
                            </m:sSubSupPr>
                            <m:e>
                              <m:r>
                                <a:rPr lang="en-US" sz="2200" i="1">
                                  <a:latin typeface="Cambria Math" panose="02040503050406030204" pitchFamily="18" charset="0"/>
                                </a:rPr>
                                <m:t>𝑤</m:t>
                              </m:r>
                            </m:e>
                            <m:sub>
                              <m:r>
                                <a:rPr lang="en-US" sz="2200" i="1">
                                  <a:latin typeface="Cambria Math" panose="02040503050406030204" pitchFamily="18" charset="0"/>
                                </a:rPr>
                                <m:t>1,</m:t>
                              </m:r>
                              <m:r>
                                <a:rPr lang="en-IN" sz="2200" b="0" i="1" smtClean="0">
                                  <a:latin typeface="Cambria Math" panose="02040503050406030204" pitchFamily="18" charset="0"/>
                                </a:rPr>
                                <m:t>𝑖</m:t>
                              </m:r>
                            </m:sub>
                            <m:sup>
                              <m:r>
                                <a:rPr lang="en-US" sz="2200" i="1">
                                  <a:latin typeface="Cambria Math" panose="02040503050406030204" pitchFamily="18" charset="0"/>
                                </a:rPr>
                                <m:t>(1)</m:t>
                              </m:r>
                            </m:sup>
                          </m:sSubSup>
                          <m:r>
                            <m:rPr>
                              <m:nor/>
                            </m:rPr>
                            <a:rPr lang="en-IN" sz="2200" dirty="0"/>
                            <m:t> </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e>
                      </m:nary>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sSubSup>
                            <m:sSubSupPr>
                              <m:ctrlPr>
                                <a:rPr lang="en-US" sz="2200" b="0" i="1" smtClean="0">
                                  <a:latin typeface="Cambria Math" panose="02040503050406030204" pitchFamily="18" charset="0"/>
                                </a:rPr>
                              </m:ctrlPr>
                            </m:sSubSupPr>
                            <m:e>
                              <m:r>
                                <a:rPr lang="en-IN" sz="2200" b="1" i="1" smtClean="0">
                                  <a:latin typeface="Cambria Math" panose="02040503050406030204" pitchFamily="18" charset="0"/>
                                </a:rPr>
                                <m:t>𝒘</m:t>
                              </m:r>
                            </m:e>
                            <m:sub>
                              <m:r>
                                <a:rPr lang="en-IN" sz="2200" b="0" i="1" smtClean="0">
                                  <a:latin typeface="Cambria Math" panose="02040503050406030204" pitchFamily="18" charset="0"/>
                                </a:rPr>
                                <m:t>1</m:t>
                              </m:r>
                            </m:sub>
                            <m:sup>
                              <m:r>
                                <a:rPr lang="en-IN" sz="2200" b="0" i="1" smtClean="0">
                                  <a:latin typeface="Cambria Math" panose="02040503050406030204" pitchFamily="18" charset="0"/>
                                </a:rPr>
                                <m:t>(1)</m:t>
                              </m:r>
                            </m:sup>
                          </m:sSubSup>
                          <m:sSubSup>
                            <m:sSubSupPr>
                              <m:ctrlPr>
                                <a:rPr lang="en-US" sz="2200" i="1">
                                  <a:solidFill>
                                    <a:prstClr val="black"/>
                                  </a:solidFill>
                                  <a:latin typeface="Cambria Math" panose="02040503050406030204" pitchFamily="18" charset="0"/>
                                </a:rPr>
                              </m:ctrlPr>
                            </m:sSubSupPr>
                            <m:e>
                              <m:r>
                                <a:rPr lang="en-US" sz="2200" i="1">
                                  <a:solidFill>
                                    <a:prstClr val="black"/>
                                  </a:solidFill>
                                  <a:latin typeface="Cambria Math" panose="02040503050406030204" pitchFamily="18" charset="0"/>
                                </a:rPr>
                                <m:t>𝑏</m:t>
                              </m:r>
                            </m:e>
                            <m:sub>
                              <m:r>
                                <a:rPr lang="en-US" sz="2200" i="1">
                                  <a:solidFill>
                                    <a:prstClr val="black"/>
                                  </a:solidFill>
                                  <a:latin typeface="Cambria Math" panose="02040503050406030204" pitchFamily="18" charset="0"/>
                                </a:rPr>
                                <m:t>1</m:t>
                              </m:r>
                            </m:sub>
                            <m:sup>
                              <m:r>
                                <a:rPr lang="en-US" sz="2200" i="1">
                                  <a:solidFill>
                                    <a:prstClr val="black"/>
                                  </a:solidFill>
                                  <a:latin typeface="Cambria Math" panose="02040503050406030204" pitchFamily="18" charset="0"/>
                                </a:rPr>
                                <m:t>(1)</m:t>
                              </m:r>
                            </m:sup>
                          </m:sSubSup>
                        </m:e>
                      </m:d>
                      <m:d>
                        <m:dPr>
                          <m:begChr m:val="["/>
                          <m:endChr m:val="]"/>
                          <m:ctrlPr>
                            <a:rPr lang="en-US" sz="2200" b="0" i="1" smtClean="0">
                              <a:latin typeface="Cambria Math" panose="02040503050406030204" pitchFamily="18" charset="0"/>
                            </a:rPr>
                          </m:ctrlPr>
                        </m:dPr>
                        <m:e>
                          <m:m>
                            <m:mPr>
                              <m:mcs>
                                <m:mc>
                                  <m:mcPr>
                                    <m:count m:val="1"/>
                                    <m:mcJc m:val="center"/>
                                  </m:mcPr>
                                </m:mc>
                              </m:mcs>
                              <m:ctrlPr>
                                <a:rPr lang="en-US" sz="2200" b="0" i="1" smtClean="0">
                                  <a:latin typeface="Cambria Math" panose="02040503050406030204" pitchFamily="18" charset="0"/>
                                </a:rPr>
                              </m:ctrlPr>
                            </m:mPr>
                            <m:mr>
                              <m:e>
                                <m:r>
                                  <m:rPr>
                                    <m:brk m:alnAt="7"/>
                                  </m:rPr>
                                  <a:rPr lang="en-IN" sz="2200" b="0" i="1" smtClean="0">
                                    <a:latin typeface="Cambria Math" panose="02040503050406030204" pitchFamily="18" charset="0"/>
                                  </a:rPr>
                                  <m:t> </m:t>
                                </m:r>
                                <m:r>
                                  <m:rPr>
                                    <m:brk m:alnAt="7"/>
                                  </m:rPr>
                                  <a:rPr lang="en-US" sz="2200" b="1" i="1" smtClean="0">
                                    <a:latin typeface="Cambria Math" panose="02040503050406030204" pitchFamily="18" charset="0"/>
                                  </a:rPr>
                                  <m:t>𝒙</m:t>
                                </m:r>
                                <m:r>
                                  <a:rPr lang="en-IN" sz="2200" b="1" i="1" smtClean="0">
                                    <a:latin typeface="Cambria Math" panose="02040503050406030204" pitchFamily="18" charset="0"/>
                                  </a:rPr>
                                  <m:t> </m:t>
                                </m:r>
                              </m:e>
                            </m:mr>
                            <m:mr>
                              <m:e>
                                <m:r>
                                  <a:rPr lang="en-IN" sz="2200" b="1" i="1" smtClean="0">
                                    <a:latin typeface="Cambria Math" panose="02040503050406030204" pitchFamily="18" charset="0"/>
                                  </a:rPr>
                                  <m:t> </m:t>
                                </m:r>
                                <m:r>
                                  <a:rPr lang="en-US" sz="2200" b="0" i="1" smtClean="0">
                                    <a:latin typeface="Cambria Math" panose="02040503050406030204" pitchFamily="18" charset="0"/>
                                  </a:rPr>
                                  <m:t>1</m:t>
                                </m:r>
                                <m:r>
                                  <a:rPr lang="en-IN" sz="2200" b="0" i="1" smtClean="0">
                                    <a:latin typeface="Cambria Math" panose="02040503050406030204" pitchFamily="18" charset="0"/>
                                  </a:rPr>
                                  <m:t> </m:t>
                                </m:r>
                              </m:e>
                            </m:mr>
                          </m:m>
                        </m:e>
                      </m:d>
                    </m:oMath>
                  </m:oMathPara>
                </a14:m>
                <a:endParaRPr lang="en-IN" sz="2200" dirty="0"/>
              </a:p>
            </p:txBody>
          </p:sp>
        </mc:Choice>
        <mc:Fallback xmlns="">
          <p:sp>
            <p:nvSpPr>
              <p:cNvPr id="89" name="TextBox 88"/>
              <p:cNvSpPr txBox="1">
                <a:spLocks noRot="1" noChangeAspect="1" noMove="1" noResize="1" noEditPoints="1" noAdjustHandles="1" noChangeArrowheads="1" noChangeShapeType="1" noTextEdit="1"/>
              </p:cNvSpPr>
              <p:nvPr/>
            </p:nvSpPr>
            <p:spPr>
              <a:xfrm>
                <a:off x="5753531" y="1331293"/>
                <a:ext cx="5489708" cy="958789"/>
              </a:xfrm>
              <a:prstGeom prst="rect">
                <a:avLst/>
              </a:prstGeom>
              <a:blipFill rotWithShape="0">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0" name="TextBox 89"/>
              <p:cNvSpPr txBox="1"/>
              <p:nvPr/>
            </p:nvSpPr>
            <p:spPr>
              <a:xfrm>
                <a:off x="5758550" y="2405790"/>
                <a:ext cx="2317879" cy="5987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200" i="1" smtClean="0">
                              <a:latin typeface="Cambria Math" panose="02040503050406030204" pitchFamily="18" charset="0"/>
                            </a:rPr>
                          </m:ctrlPr>
                        </m:sSubSupPr>
                        <m:e>
                          <m:r>
                            <a:rPr lang="en-US" sz="2200" b="0" i="1" smtClean="0">
                              <a:latin typeface="Cambria Math" panose="02040503050406030204" pitchFamily="18" charset="0"/>
                            </a:rPr>
                            <m:t>h</m:t>
                          </m:r>
                        </m:e>
                        <m:sub>
                          <m:r>
                            <a:rPr lang="en-US" sz="2200" b="0" i="1" smtClean="0">
                              <a:latin typeface="Cambria Math" panose="02040503050406030204" pitchFamily="18" charset="0"/>
                            </a:rPr>
                            <m:t>1</m:t>
                          </m:r>
                        </m:sub>
                        <m:sup>
                          <m:r>
                            <a:rPr lang="en-US" sz="2200" b="0" i="1" smtClean="0">
                              <a:latin typeface="Cambria Math" panose="02040503050406030204" pitchFamily="18" charset="0"/>
                            </a:rPr>
                            <m:t>(1)</m:t>
                          </m:r>
                        </m:sup>
                      </m:sSubSup>
                      <m:r>
                        <a:rPr lang="en-IN" sz="2200" b="0" i="1" smtClean="0">
                          <a:latin typeface="Cambria Math" panose="02040503050406030204" pitchFamily="18" charset="0"/>
                        </a:rPr>
                        <m:t>=</m:t>
                      </m:r>
                      <m:r>
                        <a:rPr lang="en-IN" sz="2200" b="0" i="1" smtClean="0">
                          <a:latin typeface="Cambria Math" panose="02040503050406030204" pitchFamily="18" charset="0"/>
                        </a:rPr>
                        <m:t>𝑔</m:t>
                      </m:r>
                      <m:d>
                        <m:dPr>
                          <m:ctrlPr>
                            <a:rPr lang="en-IN" sz="2200" b="0" i="1" smtClean="0">
                              <a:latin typeface="Cambria Math" panose="02040503050406030204" pitchFamily="18" charset="0"/>
                            </a:rPr>
                          </m:ctrlPr>
                        </m:dPr>
                        <m:e>
                          <m:sSubSup>
                            <m:sSubSupPr>
                              <m:ctrlPr>
                                <a:rPr lang="en-US" sz="2200" i="1">
                                  <a:latin typeface="Cambria Math" panose="02040503050406030204" pitchFamily="18" charset="0"/>
                                </a:rPr>
                              </m:ctrlPr>
                            </m:sSubSupPr>
                            <m:e>
                              <m:r>
                                <a:rPr lang="en-IN" sz="2200" i="1">
                                  <a:latin typeface="Cambria Math" panose="02040503050406030204" pitchFamily="18" charset="0"/>
                                </a:rPr>
                                <m:t>𝑎</m:t>
                              </m:r>
                            </m:e>
                            <m:sub>
                              <m:r>
                                <a:rPr lang="en-IN" sz="2200" i="1">
                                  <a:latin typeface="Cambria Math" panose="02040503050406030204" pitchFamily="18" charset="0"/>
                                </a:rPr>
                                <m:t>1</m:t>
                              </m:r>
                            </m:sub>
                            <m:sup>
                              <m:d>
                                <m:dPr>
                                  <m:ctrlPr>
                                    <a:rPr lang="en-IN" sz="2200" i="1">
                                      <a:latin typeface="Cambria Math" panose="02040503050406030204" pitchFamily="18" charset="0"/>
                                    </a:rPr>
                                  </m:ctrlPr>
                                </m:dPr>
                                <m:e>
                                  <m:r>
                                    <a:rPr lang="en-IN" sz="2200" i="1">
                                      <a:latin typeface="Cambria Math" panose="02040503050406030204" pitchFamily="18" charset="0"/>
                                    </a:rPr>
                                    <m:t>1</m:t>
                                  </m:r>
                                </m:e>
                              </m:d>
                            </m:sup>
                          </m:sSubSup>
                          <m:d>
                            <m:dPr>
                              <m:ctrlPr>
                                <a:rPr lang="en-IN" sz="2200" i="1">
                                  <a:latin typeface="Cambria Math" panose="02040503050406030204" pitchFamily="18" charset="0"/>
                                </a:rPr>
                              </m:ctrlPr>
                            </m:dPr>
                            <m:e>
                              <m:r>
                                <a:rPr lang="en-IN" sz="2200" b="1" i="1">
                                  <a:latin typeface="Cambria Math" panose="02040503050406030204" pitchFamily="18" charset="0"/>
                                </a:rPr>
                                <m:t>𝒙</m:t>
                              </m:r>
                            </m:e>
                          </m:d>
                        </m:e>
                      </m:d>
                      <m:r>
                        <a:rPr lang="en-IN" sz="2200" b="0" i="1" smtClean="0">
                          <a:latin typeface="Cambria Math" panose="02040503050406030204" pitchFamily="18" charset="0"/>
                        </a:rPr>
                        <m:t> </m:t>
                      </m:r>
                    </m:oMath>
                  </m:oMathPara>
                </a14:m>
                <a:endParaRPr lang="en-IN" sz="2200" dirty="0"/>
              </a:p>
            </p:txBody>
          </p:sp>
        </mc:Choice>
        <mc:Fallback xmlns="">
          <p:sp>
            <p:nvSpPr>
              <p:cNvPr id="90" name="TextBox 89"/>
              <p:cNvSpPr txBox="1">
                <a:spLocks noRot="1" noChangeAspect="1" noMove="1" noResize="1" noEditPoints="1" noAdjustHandles="1" noChangeArrowheads="1" noChangeShapeType="1" noTextEdit="1"/>
              </p:cNvSpPr>
              <p:nvPr/>
            </p:nvSpPr>
            <p:spPr>
              <a:xfrm>
                <a:off x="5758550" y="2405790"/>
                <a:ext cx="2317879" cy="598754"/>
              </a:xfrm>
              <a:prstGeom prst="rect">
                <a:avLst/>
              </a:prstGeom>
              <a:blipFill rotWithShape="0">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1" name="TextBox 90"/>
              <p:cNvSpPr txBox="1"/>
              <p:nvPr/>
            </p:nvSpPr>
            <p:spPr>
              <a:xfrm>
                <a:off x="5753531" y="2903786"/>
                <a:ext cx="5489708" cy="9587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200" b="0" i="1" smtClean="0">
                              <a:latin typeface="Cambria Math" panose="02040503050406030204" pitchFamily="18" charset="0"/>
                            </a:rPr>
                          </m:ctrlPr>
                        </m:sSubSupPr>
                        <m:e>
                          <m:r>
                            <a:rPr lang="en-IN" sz="2200" b="0" i="1" smtClean="0">
                              <a:latin typeface="Cambria Math" panose="02040503050406030204" pitchFamily="18" charset="0"/>
                            </a:rPr>
                            <m:t>𝑎</m:t>
                          </m:r>
                        </m:e>
                        <m:sub>
                          <m:r>
                            <a:rPr lang="en-IN" sz="2200" b="0" i="1" smtClean="0">
                              <a:latin typeface="Cambria Math" panose="02040503050406030204" pitchFamily="18" charset="0"/>
                            </a:rPr>
                            <m:t>2</m:t>
                          </m:r>
                        </m:sub>
                        <m:sup>
                          <m:d>
                            <m:dPr>
                              <m:ctrlPr>
                                <a:rPr lang="en-IN" sz="2200" b="0" i="1" smtClean="0">
                                  <a:latin typeface="Cambria Math" panose="02040503050406030204" pitchFamily="18" charset="0"/>
                                </a:rPr>
                              </m:ctrlPr>
                            </m:dPr>
                            <m:e>
                              <m:r>
                                <a:rPr lang="en-IN" sz="2200" b="0" i="1" smtClean="0">
                                  <a:latin typeface="Cambria Math" panose="02040503050406030204" pitchFamily="18" charset="0"/>
                                </a:rPr>
                                <m:t>1</m:t>
                              </m:r>
                            </m:e>
                          </m:d>
                        </m:sup>
                      </m:sSubSup>
                      <m:r>
                        <a:rPr lang="en-IN" sz="2200" b="0" i="1" smtClean="0">
                          <a:latin typeface="Cambria Math" panose="02040503050406030204" pitchFamily="18" charset="0"/>
                        </a:rPr>
                        <m:t>(</m:t>
                      </m:r>
                      <m:r>
                        <a:rPr lang="en-IN" sz="2200" b="1" i="1" smtClean="0">
                          <a:latin typeface="Cambria Math" panose="02040503050406030204" pitchFamily="18" charset="0"/>
                        </a:rPr>
                        <m:t>𝒙</m:t>
                      </m:r>
                      <m:r>
                        <a:rPr lang="en-IN" sz="2200" b="0" i="1" smtClean="0">
                          <a:latin typeface="Cambria Math" panose="02040503050406030204" pitchFamily="18" charset="0"/>
                        </a:rPr>
                        <m:t>)</m:t>
                      </m:r>
                      <m:r>
                        <a:rPr lang="en-US" sz="2200" b="0" i="1" smtClean="0">
                          <a:latin typeface="Cambria Math" panose="02040503050406030204" pitchFamily="18" charset="0"/>
                        </a:rPr>
                        <m:t>=</m:t>
                      </m:r>
                      <m:sSubSup>
                        <m:sSubSupPr>
                          <m:ctrlPr>
                            <a:rPr lang="en-US" sz="2200" i="1">
                              <a:solidFill>
                                <a:prstClr val="black"/>
                              </a:solidFill>
                              <a:latin typeface="Cambria Math" panose="02040503050406030204" pitchFamily="18" charset="0"/>
                            </a:rPr>
                          </m:ctrlPr>
                        </m:sSubSupPr>
                        <m:e>
                          <m:r>
                            <a:rPr lang="en-US" sz="2200" i="1">
                              <a:solidFill>
                                <a:prstClr val="black"/>
                              </a:solidFill>
                              <a:latin typeface="Cambria Math" panose="02040503050406030204" pitchFamily="18" charset="0"/>
                            </a:rPr>
                            <m:t>𝑏</m:t>
                          </m:r>
                        </m:e>
                        <m:sub>
                          <m:r>
                            <a:rPr lang="en-IN" sz="2200" b="0" i="1" smtClean="0">
                              <a:solidFill>
                                <a:prstClr val="black"/>
                              </a:solidFill>
                              <a:latin typeface="Cambria Math" panose="02040503050406030204" pitchFamily="18" charset="0"/>
                            </a:rPr>
                            <m:t>2</m:t>
                          </m:r>
                        </m:sub>
                        <m:sup>
                          <m:r>
                            <a:rPr lang="en-US" sz="2200" i="1">
                              <a:solidFill>
                                <a:prstClr val="black"/>
                              </a:solidFill>
                              <a:latin typeface="Cambria Math" panose="02040503050406030204" pitchFamily="18" charset="0"/>
                            </a:rPr>
                            <m:t>(1)</m:t>
                          </m:r>
                        </m:sup>
                      </m:sSubSup>
                      <m:r>
                        <a:rPr lang="en-US" sz="2200" b="0" i="1" smtClean="0">
                          <a:latin typeface="Cambria Math" panose="02040503050406030204" pitchFamily="18" charset="0"/>
                        </a:rPr>
                        <m:t>+ </m:t>
                      </m:r>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=1</m:t>
                          </m:r>
                        </m:sub>
                        <m:sup>
                          <m:r>
                            <a:rPr lang="en-US" sz="2200" b="0" i="1" smtClean="0">
                              <a:latin typeface="Cambria Math" panose="02040503050406030204" pitchFamily="18" charset="0"/>
                            </a:rPr>
                            <m:t>𝑑</m:t>
                          </m:r>
                        </m:sup>
                        <m:e>
                          <m:sSubSup>
                            <m:sSubSupPr>
                              <m:ctrlPr>
                                <a:rPr lang="en-IN" sz="2200" i="1">
                                  <a:latin typeface="Cambria Math" panose="02040503050406030204" pitchFamily="18" charset="0"/>
                                </a:rPr>
                              </m:ctrlPr>
                            </m:sSubSupPr>
                            <m:e>
                              <m:r>
                                <a:rPr lang="en-US" sz="2200" i="1">
                                  <a:latin typeface="Cambria Math" panose="02040503050406030204" pitchFamily="18" charset="0"/>
                                </a:rPr>
                                <m:t>𝑤</m:t>
                              </m:r>
                            </m:e>
                            <m:sub>
                              <m:r>
                                <a:rPr lang="en-IN" sz="2200" b="0" i="1" smtClean="0">
                                  <a:latin typeface="Cambria Math" panose="02040503050406030204" pitchFamily="18" charset="0"/>
                                </a:rPr>
                                <m:t>2</m:t>
                              </m:r>
                              <m:r>
                                <a:rPr lang="en-US" sz="2200" i="1">
                                  <a:latin typeface="Cambria Math" panose="02040503050406030204" pitchFamily="18" charset="0"/>
                                </a:rPr>
                                <m:t>,</m:t>
                              </m:r>
                              <m:r>
                                <a:rPr lang="en-IN" sz="2200" b="0" i="1" smtClean="0">
                                  <a:latin typeface="Cambria Math" panose="02040503050406030204" pitchFamily="18" charset="0"/>
                                </a:rPr>
                                <m:t>𝑖</m:t>
                              </m:r>
                            </m:sub>
                            <m:sup>
                              <m:r>
                                <a:rPr lang="en-US" sz="2200" i="1">
                                  <a:latin typeface="Cambria Math" panose="02040503050406030204" pitchFamily="18" charset="0"/>
                                </a:rPr>
                                <m:t>(1)</m:t>
                              </m:r>
                            </m:sup>
                          </m:sSubSup>
                          <m:r>
                            <m:rPr>
                              <m:nor/>
                            </m:rPr>
                            <a:rPr lang="en-IN" sz="2200" dirty="0"/>
                            <m:t> </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e>
                      </m:nary>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sSubSup>
                            <m:sSubSupPr>
                              <m:ctrlPr>
                                <a:rPr lang="en-US" sz="2200" b="0" i="1" smtClean="0">
                                  <a:latin typeface="Cambria Math" panose="02040503050406030204" pitchFamily="18" charset="0"/>
                                </a:rPr>
                              </m:ctrlPr>
                            </m:sSubSupPr>
                            <m:e>
                              <m:r>
                                <a:rPr lang="en-IN" sz="2200" b="1" i="1" smtClean="0">
                                  <a:latin typeface="Cambria Math" panose="02040503050406030204" pitchFamily="18" charset="0"/>
                                </a:rPr>
                                <m:t>𝒘</m:t>
                              </m:r>
                            </m:e>
                            <m:sub>
                              <m:r>
                                <a:rPr lang="en-IN" sz="2200" b="0" i="1" smtClean="0">
                                  <a:latin typeface="Cambria Math" panose="02040503050406030204" pitchFamily="18" charset="0"/>
                                </a:rPr>
                                <m:t>2</m:t>
                              </m:r>
                            </m:sub>
                            <m:sup>
                              <m:r>
                                <a:rPr lang="en-IN" sz="2200" b="0" i="1" smtClean="0">
                                  <a:latin typeface="Cambria Math" panose="02040503050406030204" pitchFamily="18" charset="0"/>
                                </a:rPr>
                                <m:t>(1)</m:t>
                              </m:r>
                            </m:sup>
                          </m:sSubSup>
                          <m:sSubSup>
                            <m:sSubSupPr>
                              <m:ctrlPr>
                                <a:rPr lang="en-US" sz="2200" i="1">
                                  <a:solidFill>
                                    <a:prstClr val="black"/>
                                  </a:solidFill>
                                  <a:latin typeface="Cambria Math" panose="02040503050406030204" pitchFamily="18" charset="0"/>
                                </a:rPr>
                              </m:ctrlPr>
                            </m:sSubSupPr>
                            <m:e>
                              <m:r>
                                <a:rPr lang="en-US" sz="2200" i="1">
                                  <a:solidFill>
                                    <a:prstClr val="black"/>
                                  </a:solidFill>
                                  <a:latin typeface="Cambria Math" panose="02040503050406030204" pitchFamily="18" charset="0"/>
                                </a:rPr>
                                <m:t>𝑏</m:t>
                              </m:r>
                            </m:e>
                            <m:sub>
                              <m:r>
                                <a:rPr lang="en-IN" sz="2200" b="0" i="1" smtClean="0">
                                  <a:solidFill>
                                    <a:prstClr val="black"/>
                                  </a:solidFill>
                                  <a:latin typeface="Cambria Math" panose="02040503050406030204" pitchFamily="18" charset="0"/>
                                </a:rPr>
                                <m:t>2</m:t>
                              </m:r>
                            </m:sub>
                            <m:sup>
                              <m:r>
                                <a:rPr lang="en-US" sz="2200" i="1">
                                  <a:solidFill>
                                    <a:prstClr val="black"/>
                                  </a:solidFill>
                                  <a:latin typeface="Cambria Math" panose="02040503050406030204" pitchFamily="18" charset="0"/>
                                </a:rPr>
                                <m:t>(1)</m:t>
                              </m:r>
                            </m:sup>
                          </m:sSubSup>
                        </m:e>
                      </m:d>
                      <m:d>
                        <m:dPr>
                          <m:begChr m:val="["/>
                          <m:endChr m:val="]"/>
                          <m:ctrlPr>
                            <a:rPr lang="en-US" sz="2200" b="0" i="1" smtClean="0">
                              <a:latin typeface="Cambria Math" panose="02040503050406030204" pitchFamily="18" charset="0"/>
                            </a:rPr>
                          </m:ctrlPr>
                        </m:dPr>
                        <m:e>
                          <m:m>
                            <m:mPr>
                              <m:mcs>
                                <m:mc>
                                  <m:mcPr>
                                    <m:count m:val="1"/>
                                    <m:mcJc m:val="center"/>
                                  </m:mcPr>
                                </m:mc>
                              </m:mcs>
                              <m:ctrlPr>
                                <a:rPr lang="en-US" sz="2200" b="0" i="1" smtClean="0">
                                  <a:latin typeface="Cambria Math" panose="02040503050406030204" pitchFamily="18" charset="0"/>
                                </a:rPr>
                              </m:ctrlPr>
                            </m:mPr>
                            <m:mr>
                              <m:e>
                                <m:r>
                                  <m:rPr>
                                    <m:brk m:alnAt="7"/>
                                  </m:rPr>
                                  <a:rPr lang="en-IN" sz="2200" b="0" i="1" smtClean="0">
                                    <a:latin typeface="Cambria Math" panose="02040503050406030204" pitchFamily="18" charset="0"/>
                                  </a:rPr>
                                  <m:t> </m:t>
                                </m:r>
                                <m:r>
                                  <m:rPr>
                                    <m:brk m:alnAt="7"/>
                                  </m:rPr>
                                  <a:rPr lang="en-US" sz="2200" b="1" i="1" smtClean="0">
                                    <a:latin typeface="Cambria Math" panose="02040503050406030204" pitchFamily="18" charset="0"/>
                                  </a:rPr>
                                  <m:t>𝒙</m:t>
                                </m:r>
                                <m:r>
                                  <a:rPr lang="en-IN" sz="2200" b="1" i="1" smtClean="0">
                                    <a:latin typeface="Cambria Math" panose="02040503050406030204" pitchFamily="18" charset="0"/>
                                  </a:rPr>
                                  <m:t> </m:t>
                                </m:r>
                              </m:e>
                            </m:mr>
                            <m:mr>
                              <m:e>
                                <m:r>
                                  <a:rPr lang="en-IN" sz="2200" b="1" i="1" smtClean="0">
                                    <a:latin typeface="Cambria Math" panose="02040503050406030204" pitchFamily="18" charset="0"/>
                                  </a:rPr>
                                  <m:t> </m:t>
                                </m:r>
                                <m:r>
                                  <a:rPr lang="en-US" sz="2200" b="0" i="1" smtClean="0">
                                    <a:latin typeface="Cambria Math" panose="02040503050406030204" pitchFamily="18" charset="0"/>
                                  </a:rPr>
                                  <m:t>1</m:t>
                                </m:r>
                                <m:r>
                                  <a:rPr lang="en-IN" sz="2200" b="0" i="1" smtClean="0">
                                    <a:latin typeface="Cambria Math" panose="02040503050406030204" pitchFamily="18" charset="0"/>
                                  </a:rPr>
                                  <m:t> </m:t>
                                </m:r>
                              </m:e>
                            </m:mr>
                          </m:m>
                        </m:e>
                      </m:d>
                    </m:oMath>
                  </m:oMathPara>
                </a14:m>
                <a:endParaRPr lang="en-IN" sz="2200" dirty="0"/>
              </a:p>
            </p:txBody>
          </p:sp>
        </mc:Choice>
        <mc:Fallback xmlns="">
          <p:sp>
            <p:nvSpPr>
              <p:cNvPr id="91" name="TextBox 90"/>
              <p:cNvSpPr txBox="1">
                <a:spLocks noRot="1" noChangeAspect="1" noMove="1" noResize="1" noEditPoints="1" noAdjustHandles="1" noChangeArrowheads="1" noChangeShapeType="1" noTextEdit="1"/>
              </p:cNvSpPr>
              <p:nvPr/>
            </p:nvSpPr>
            <p:spPr>
              <a:xfrm>
                <a:off x="5753531" y="2903786"/>
                <a:ext cx="5489708" cy="958789"/>
              </a:xfrm>
              <a:prstGeom prst="rect">
                <a:avLst/>
              </a:prstGeom>
              <a:blipFill rotWithShape="0">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2" name="TextBox 91"/>
              <p:cNvSpPr txBox="1"/>
              <p:nvPr/>
            </p:nvSpPr>
            <p:spPr>
              <a:xfrm>
                <a:off x="5758550" y="3978283"/>
                <a:ext cx="2317879" cy="5987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200" i="1" smtClean="0">
                              <a:latin typeface="Cambria Math" panose="02040503050406030204" pitchFamily="18" charset="0"/>
                            </a:rPr>
                          </m:ctrlPr>
                        </m:sSubSupPr>
                        <m:e>
                          <m:r>
                            <a:rPr lang="en-US" sz="2200" b="0" i="1" smtClean="0">
                              <a:latin typeface="Cambria Math" panose="02040503050406030204" pitchFamily="18" charset="0"/>
                            </a:rPr>
                            <m:t>h</m:t>
                          </m:r>
                        </m:e>
                        <m:sub>
                          <m:r>
                            <a:rPr lang="en-IN" sz="2200" b="0" i="1" smtClean="0">
                              <a:latin typeface="Cambria Math" panose="02040503050406030204" pitchFamily="18" charset="0"/>
                            </a:rPr>
                            <m:t>2</m:t>
                          </m:r>
                        </m:sub>
                        <m:sup>
                          <m:r>
                            <a:rPr lang="en-US" sz="2200" b="0" i="1" smtClean="0">
                              <a:latin typeface="Cambria Math" panose="02040503050406030204" pitchFamily="18" charset="0"/>
                            </a:rPr>
                            <m:t>(1)</m:t>
                          </m:r>
                        </m:sup>
                      </m:sSubSup>
                      <m:r>
                        <a:rPr lang="en-IN" sz="2200" b="0" i="1" smtClean="0">
                          <a:latin typeface="Cambria Math" panose="02040503050406030204" pitchFamily="18" charset="0"/>
                        </a:rPr>
                        <m:t>=</m:t>
                      </m:r>
                      <m:r>
                        <a:rPr lang="en-IN" sz="2200" b="0" i="1" smtClean="0">
                          <a:latin typeface="Cambria Math" panose="02040503050406030204" pitchFamily="18" charset="0"/>
                        </a:rPr>
                        <m:t>𝑔</m:t>
                      </m:r>
                      <m:d>
                        <m:dPr>
                          <m:ctrlPr>
                            <a:rPr lang="en-IN" sz="2200" b="0" i="1" smtClean="0">
                              <a:latin typeface="Cambria Math" panose="02040503050406030204" pitchFamily="18" charset="0"/>
                            </a:rPr>
                          </m:ctrlPr>
                        </m:dPr>
                        <m:e>
                          <m:sSubSup>
                            <m:sSubSupPr>
                              <m:ctrlPr>
                                <a:rPr lang="en-US" sz="2200" i="1">
                                  <a:latin typeface="Cambria Math" panose="02040503050406030204" pitchFamily="18" charset="0"/>
                                </a:rPr>
                              </m:ctrlPr>
                            </m:sSubSupPr>
                            <m:e>
                              <m:r>
                                <a:rPr lang="en-IN" sz="2200" i="1">
                                  <a:latin typeface="Cambria Math" panose="02040503050406030204" pitchFamily="18" charset="0"/>
                                </a:rPr>
                                <m:t>𝑎</m:t>
                              </m:r>
                            </m:e>
                            <m:sub>
                              <m:r>
                                <a:rPr lang="en-IN" sz="2200" b="0" i="1" smtClean="0">
                                  <a:latin typeface="Cambria Math" panose="02040503050406030204" pitchFamily="18" charset="0"/>
                                </a:rPr>
                                <m:t>2</m:t>
                              </m:r>
                            </m:sub>
                            <m:sup>
                              <m:d>
                                <m:dPr>
                                  <m:ctrlPr>
                                    <a:rPr lang="en-IN" sz="2200" i="1">
                                      <a:latin typeface="Cambria Math" panose="02040503050406030204" pitchFamily="18" charset="0"/>
                                    </a:rPr>
                                  </m:ctrlPr>
                                </m:dPr>
                                <m:e>
                                  <m:r>
                                    <a:rPr lang="en-IN" sz="2200" i="1">
                                      <a:latin typeface="Cambria Math" panose="02040503050406030204" pitchFamily="18" charset="0"/>
                                    </a:rPr>
                                    <m:t>1</m:t>
                                  </m:r>
                                </m:e>
                              </m:d>
                            </m:sup>
                          </m:sSubSup>
                          <m:d>
                            <m:dPr>
                              <m:ctrlPr>
                                <a:rPr lang="en-IN" sz="2200" i="1">
                                  <a:latin typeface="Cambria Math" panose="02040503050406030204" pitchFamily="18" charset="0"/>
                                </a:rPr>
                              </m:ctrlPr>
                            </m:dPr>
                            <m:e>
                              <m:r>
                                <a:rPr lang="en-IN" sz="2200" b="1" i="1">
                                  <a:latin typeface="Cambria Math" panose="02040503050406030204" pitchFamily="18" charset="0"/>
                                </a:rPr>
                                <m:t>𝒙</m:t>
                              </m:r>
                            </m:e>
                          </m:d>
                        </m:e>
                      </m:d>
                      <m:r>
                        <a:rPr lang="en-IN" sz="2200" b="0" i="1" smtClean="0">
                          <a:latin typeface="Cambria Math" panose="02040503050406030204" pitchFamily="18" charset="0"/>
                        </a:rPr>
                        <m:t> </m:t>
                      </m:r>
                    </m:oMath>
                  </m:oMathPara>
                </a14:m>
                <a:endParaRPr lang="en-IN" sz="2200" dirty="0"/>
              </a:p>
            </p:txBody>
          </p:sp>
        </mc:Choice>
        <mc:Fallback xmlns="">
          <p:sp>
            <p:nvSpPr>
              <p:cNvPr id="92" name="TextBox 91"/>
              <p:cNvSpPr txBox="1">
                <a:spLocks noRot="1" noChangeAspect="1" noMove="1" noResize="1" noEditPoints="1" noAdjustHandles="1" noChangeArrowheads="1" noChangeShapeType="1" noTextEdit="1"/>
              </p:cNvSpPr>
              <p:nvPr/>
            </p:nvSpPr>
            <p:spPr>
              <a:xfrm>
                <a:off x="5758550" y="3978283"/>
                <a:ext cx="2317879" cy="598754"/>
              </a:xfrm>
              <a:prstGeom prst="rect">
                <a:avLst/>
              </a:prstGeom>
              <a:blipFill rotWithShape="0">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3" name="TextBox 92"/>
              <p:cNvSpPr txBox="1"/>
              <p:nvPr/>
            </p:nvSpPr>
            <p:spPr>
              <a:xfrm>
                <a:off x="5753531" y="4453387"/>
                <a:ext cx="5489708" cy="9587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200" b="0" i="1" smtClean="0">
                              <a:latin typeface="Cambria Math" panose="02040503050406030204" pitchFamily="18" charset="0"/>
                            </a:rPr>
                          </m:ctrlPr>
                        </m:sSubSupPr>
                        <m:e>
                          <m:r>
                            <a:rPr lang="en-IN" sz="2200" b="0" i="1" smtClean="0">
                              <a:latin typeface="Cambria Math" panose="02040503050406030204" pitchFamily="18" charset="0"/>
                            </a:rPr>
                            <m:t>𝑎</m:t>
                          </m:r>
                        </m:e>
                        <m:sub>
                          <m:r>
                            <a:rPr lang="en-IN" sz="2200" b="0" i="1" smtClean="0">
                              <a:latin typeface="Cambria Math" panose="02040503050406030204" pitchFamily="18" charset="0"/>
                            </a:rPr>
                            <m:t>𝑀</m:t>
                          </m:r>
                        </m:sub>
                        <m:sup>
                          <m:d>
                            <m:dPr>
                              <m:ctrlPr>
                                <a:rPr lang="en-IN" sz="2200" b="0" i="1" smtClean="0">
                                  <a:latin typeface="Cambria Math" panose="02040503050406030204" pitchFamily="18" charset="0"/>
                                </a:rPr>
                              </m:ctrlPr>
                            </m:dPr>
                            <m:e>
                              <m:r>
                                <a:rPr lang="en-IN" sz="2200" b="0" i="1" smtClean="0">
                                  <a:latin typeface="Cambria Math" panose="02040503050406030204" pitchFamily="18" charset="0"/>
                                </a:rPr>
                                <m:t>1</m:t>
                              </m:r>
                            </m:e>
                          </m:d>
                        </m:sup>
                      </m:sSubSup>
                      <m:r>
                        <a:rPr lang="en-IN" sz="2200" b="0" i="1" smtClean="0">
                          <a:latin typeface="Cambria Math" panose="02040503050406030204" pitchFamily="18" charset="0"/>
                        </a:rPr>
                        <m:t>(</m:t>
                      </m:r>
                      <m:r>
                        <a:rPr lang="en-IN" sz="2200" b="1" i="1" smtClean="0">
                          <a:latin typeface="Cambria Math" panose="02040503050406030204" pitchFamily="18" charset="0"/>
                        </a:rPr>
                        <m:t>𝒙</m:t>
                      </m:r>
                      <m:r>
                        <a:rPr lang="en-IN" sz="2200" b="0" i="1" smtClean="0">
                          <a:latin typeface="Cambria Math" panose="02040503050406030204" pitchFamily="18" charset="0"/>
                        </a:rPr>
                        <m:t>)</m:t>
                      </m:r>
                      <m:r>
                        <a:rPr lang="en-US" sz="2200" b="0" i="1" smtClean="0">
                          <a:latin typeface="Cambria Math" panose="02040503050406030204" pitchFamily="18" charset="0"/>
                        </a:rPr>
                        <m:t>=</m:t>
                      </m:r>
                      <m:sSubSup>
                        <m:sSubSupPr>
                          <m:ctrlPr>
                            <a:rPr lang="en-US" sz="2200" i="1">
                              <a:solidFill>
                                <a:prstClr val="black"/>
                              </a:solidFill>
                              <a:latin typeface="Cambria Math" panose="02040503050406030204" pitchFamily="18" charset="0"/>
                            </a:rPr>
                          </m:ctrlPr>
                        </m:sSubSupPr>
                        <m:e>
                          <m:r>
                            <a:rPr lang="en-US" sz="2200" i="1">
                              <a:solidFill>
                                <a:prstClr val="black"/>
                              </a:solidFill>
                              <a:latin typeface="Cambria Math" panose="02040503050406030204" pitchFamily="18" charset="0"/>
                            </a:rPr>
                            <m:t>𝑏</m:t>
                          </m:r>
                        </m:e>
                        <m:sub>
                          <m:r>
                            <a:rPr lang="en-IN" sz="2200" b="0" i="1" smtClean="0">
                              <a:solidFill>
                                <a:prstClr val="black"/>
                              </a:solidFill>
                              <a:latin typeface="Cambria Math" panose="02040503050406030204" pitchFamily="18" charset="0"/>
                            </a:rPr>
                            <m:t>𝑀</m:t>
                          </m:r>
                        </m:sub>
                        <m:sup>
                          <m:r>
                            <a:rPr lang="en-US" sz="2200" i="1">
                              <a:solidFill>
                                <a:prstClr val="black"/>
                              </a:solidFill>
                              <a:latin typeface="Cambria Math" panose="02040503050406030204" pitchFamily="18" charset="0"/>
                            </a:rPr>
                            <m:t>(1)</m:t>
                          </m:r>
                        </m:sup>
                      </m:sSubSup>
                      <m:r>
                        <a:rPr lang="en-US" sz="2200" b="0" i="1" smtClean="0">
                          <a:latin typeface="Cambria Math" panose="02040503050406030204" pitchFamily="18" charset="0"/>
                        </a:rPr>
                        <m:t>+ </m:t>
                      </m:r>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=1</m:t>
                          </m:r>
                        </m:sub>
                        <m:sup>
                          <m:r>
                            <a:rPr lang="en-US" sz="2200" b="0" i="1" smtClean="0">
                              <a:latin typeface="Cambria Math" panose="02040503050406030204" pitchFamily="18" charset="0"/>
                            </a:rPr>
                            <m:t>𝑑</m:t>
                          </m:r>
                        </m:sup>
                        <m:e>
                          <m:sSubSup>
                            <m:sSubSupPr>
                              <m:ctrlPr>
                                <a:rPr lang="en-IN" sz="2200" i="1">
                                  <a:latin typeface="Cambria Math" panose="02040503050406030204" pitchFamily="18" charset="0"/>
                                </a:rPr>
                              </m:ctrlPr>
                            </m:sSubSupPr>
                            <m:e>
                              <m:r>
                                <a:rPr lang="en-US" sz="2200" i="1">
                                  <a:latin typeface="Cambria Math" panose="02040503050406030204" pitchFamily="18" charset="0"/>
                                </a:rPr>
                                <m:t>𝑤</m:t>
                              </m:r>
                            </m:e>
                            <m:sub>
                              <m:r>
                                <a:rPr lang="en-IN" sz="2200" b="0" i="1" smtClean="0">
                                  <a:latin typeface="Cambria Math" panose="02040503050406030204" pitchFamily="18" charset="0"/>
                                </a:rPr>
                                <m:t>𝑀</m:t>
                              </m:r>
                              <m:r>
                                <a:rPr lang="en-US" sz="2200" i="1">
                                  <a:latin typeface="Cambria Math" panose="02040503050406030204" pitchFamily="18" charset="0"/>
                                </a:rPr>
                                <m:t>,</m:t>
                              </m:r>
                              <m:r>
                                <a:rPr lang="en-IN" sz="2200" b="0" i="1" smtClean="0">
                                  <a:latin typeface="Cambria Math" panose="02040503050406030204" pitchFamily="18" charset="0"/>
                                </a:rPr>
                                <m:t>𝑖</m:t>
                              </m:r>
                            </m:sub>
                            <m:sup>
                              <m:r>
                                <a:rPr lang="en-US" sz="2200" i="1">
                                  <a:latin typeface="Cambria Math" panose="02040503050406030204" pitchFamily="18" charset="0"/>
                                </a:rPr>
                                <m:t>(1)</m:t>
                              </m:r>
                            </m:sup>
                          </m:sSubSup>
                          <m:r>
                            <m:rPr>
                              <m:nor/>
                            </m:rPr>
                            <a:rPr lang="en-IN" sz="2200" dirty="0"/>
                            <m:t> </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e>
                      </m:nary>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sSubSup>
                            <m:sSubSupPr>
                              <m:ctrlPr>
                                <a:rPr lang="en-US" sz="2200" b="0" i="1" smtClean="0">
                                  <a:latin typeface="Cambria Math" panose="02040503050406030204" pitchFamily="18" charset="0"/>
                                </a:rPr>
                              </m:ctrlPr>
                            </m:sSubSupPr>
                            <m:e>
                              <m:r>
                                <a:rPr lang="en-IN" sz="2200" b="1" i="1" smtClean="0">
                                  <a:latin typeface="Cambria Math" panose="02040503050406030204" pitchFamily="18" charset="0"/>
                                </a:rPr>
                                <m:t>𝒘</m:t>
                              </m:r>
                            </m:e>
                            <m:sub>
                              <m:r>
                                <a:rPr lang="en-IN" sz="2200" b="0" i="1" smtClean="0">
                                  <a:latin typeface="Cambria Math" panose="02040503050406030204" pitchFamily="18" charset="0"/>
                                </a:rPr>
                                <m:t>𝑀</m:t>
                              </m:r>
                            </m:sub>
                            <m:sup>
                              <m:r>
                                <a:rPr lang="en-IN" sz="2200" b="0" i="1" smtClean="0">
                                  <a:latin typeface="Cambria Math" panose="02040503050406030204" pitchFamily="18" charset="0"/>
                                </a:rPr>
                                <m:t>(1)</m:t>
                              </m:r>
                            </m:sup>
                          </m:sSubSup>
                          <m:sSubSup>
                            <m:sSubSupPr>
                              <m:ctrlPr>
                                <a:rPr lang="en-US" sz="2200" i="1">
                                  <a:solidFill>
                                    <a:prstClr val="black"/>
                                  </a:solidFill>
                                  <a:latin typeface="Cambria Math" panose="02040503050406030204" pitchFamily="18" charset="0"/>
                                </a:rPr>
                              </m:ctrlPr>
                            </m:sSubSupPr>
                            <m:e>
                              <m:r>
                                <a:rPr lang="en-US" sz="2200" i="1">
                                  <a:solidFill>
                                    <a:prstClr val="black"/>
                                  </a:solidFill>
                                  <a:latin typeface="Cambria Math" panose="02040503050406030204" pitchFamily="18" charset="0"/>
                                </a:rPr>
                                <m:t>𝑏</m:t>
                              </m:r>
                            </m:e>
                            <m:sub>
                              <m:r>
                                <a:rPr lang="en-IN" sz="2200" b="0" i="1" smtClean="0">
                                  <a:solidFill>
                                    <a:prstClr val="black"/>
                                  </a:solidFill>
                                  <a:latin typeface="Cambria Math" panose="02040503050406030204" pitchFamily="18" charset="0"/>
                                </a:rPr>
                                <m:t>2</m:t>
                              </m:r>
                            </m:sub>
                            <m:sup>
                              <m:r>
                                <a:rPr lang="en-US" sz="2200" i="1">
                                  <a:solidFill>
                                    <a:prstClr val="black"/>
                                  </a:solidFill>
                                  <a:latin typeface="Cambria Math" panose="02040503050406030204" pitchFamily="18" charset="0"/>
                                </a:rPr>
                                <m:t>(1)</m:t>
                              </m:r>
                            </m:sup>
                          </m:sSubSup>
                        </m:e>
                      </m:d>
                      <m:d>
                        <m:dPr>
                          <m:begChr m:val="["/>
                          <m:endChr m:val="]"/>
                          <m:ctrlPr>
                            <a:rPr lang="en-US" sz="2200" b="0" i="1" smtClean="0">
                              <a:latin typeface="Cambria Math" panose="02040503050406030204" pitchFamily="18" charset="0"/>
                            </a:rPr>
                          </m:ctrlPr>
                        </m:dPr>
                        <m:e>
                          <m:m>
                            <m:mPr>
                              <m:mcs>
                                <m:mc>
                                  <m:mcPr>
                                    <m:count m:val="1"/>
                                    <m:mcJc m:val="center"/>
                                  </m:mcPr>
                                </m:mc>
                              </m:mcs>
                              <m:ctrlPr>
                                <a:rPr lang="en-US" sz="2200" b="0" i="1" smtClean="0">
                                  <a:latin typeface="Cambria Math" panose="02040503050406030204" pitchFamily="18" charset="0"/>
                                </a:rPr>
                              </m:ctrlPr>
                            </m:mPr>
                            <m:mr>
                              <m:e>
                                <m:r>
                                  <m:rPr>
                                    <m:brk m:alnAt="7"/>
                                  </m:rPr>
                                  <a:rPr lang="en-IN" sz="2200" b="0" i="1" smtClean="0">
                                    <a:latin typeface="Cambria Math" panose="02040503050406030204" pitchFamily="18" charset="0"/>
                                  </a:rPr>
                                  <m:t> </m:t>
                                </m:r>
                                <m:r>
                                  <m:rPr>
                                    <m:brk m:alnAt="7"/>
                                  </m:rPr>
                                  <a:rPr lang="en-US" sz="2200" b="1" i="1" smtClean="0">
                                    <a:latin typeface="Cambria Math" panose="02040503050406030204" pitchFamily="18" charset="0"/>
                                  </a:rPr>
                                  <m:t>𝒙</m:t>
                                </m:r>
                                <m:r>
                                  <a:rPr lang="en-IN" sz="2200" b="1" i="1" smtClean="0">
                                    <a:latin typeface="Cambria Math" panose="02040503050406030204" pitchFamily="18" charset="0"/>
                                  </a:rPr>
                                  <m:t> </m:t>
                                </m:r>
                              </m:e>
                            </m:mr>
                            <m:mr>
                              <m:e>
                                <m:r>
                                  <a:rPr lang="en-IN" sz="2200" b="1" i="1" smtClean="0">
                                    <a:latin typeface="Cambria Math" panose="02040503050406030204" pitchFamily="18" charset="0"/>
                                  </a:rPr>
                                  <m:t> </m:t>
                                </m:r>
                                <m:r>
                                  <a:rPr lang="en-US" sz="2200" b="0" i="1" smtClean="0">
                                    <a:latin typeface="Cambria Math" panose="02040503050406030204" pitchFamily="18" charset="0"/>
                                  </a:rPr>
                                  <m:t>1</m:t>
                                </m:r>
                                <m:r>
                                  <a:rPr lang="en-IN" sz="2200" b="0" i="1" smtClean="0">
                                    <a:latin typeface="Cambria Math" panose="02040503050406030204" pitchFamily="18" charset="0"/>
                                  </a:rPr>
                                  <m:t> </m:t>
                                </m:r>
                              </m:e>
                            </m:mr>
                          </m:m>
                        </m:e>
                      </m:d>
                    </m:oMath>
                  </m:oMathPara>
                </a14:m>
                <a:endParaRPr lang="en-IN" sz="2200" dirty="0"/>
              </a:p>
            </p:txBody>
          </p:sp>
        </mc:Choice>
        <mc:Fallback xmlns="">
          <p:sp>
            <p:nvSpPr>
              <p:cNvPr id="93" name="TextBox 92"/>
              <p:cNvSpPr txBox="1">
                <a:spLocks noRot="1" noChangeAspect="1" noMove="1" noResize="1" noEditPoints="1" noAdjustHandles="1" noChangeArrowheads="1" noChangeShapeType="1" noTextEdit="1"/>
              </p:cNvSpPr>
              <p:nvPr/>
            </p:nvSpPr>
            <p:spPr>
              <a:xfrm>
                <a:off x="5753531" y="4453387"/>
                <a:ext cx="5489708" cy="958789"/>
              </a:xfrm>
              <a:prstGeom prst="rect">
                <a:avLst/>
              </a:prstGeom>
              <a:blipFill rotWithShape="0">
                <a:blip r:embed="rId3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4" name="TextBox 93"/>
              <p:cNvSpPr txBox="1"/>
              <p:nvPr/>
            </p:nvSpPr>
            <p:spPr>
              <a:xfrm>
                <a:off x="5758550" y="5527884"/>
                <a:ext cx="2317879" cy="5987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200" i="1" smtClean="0">
                              <a:latin typeface="Cambria Math" panose="02040503050406030204" pitchFamily="18" charset="0"/>
                            </a:rPr>
                          </m:ctrlPr>
                        </m:sSubSupPr>
                        <m:e>
                          <m:r>
                            <a:rPr lang="en-US" sz="2200" b="0" i="1" smtClean="0">
                              <a:latin typeface="Cambria Math" panose="02040503050406030204" pitchFamily="18" charset="0"/>
                            </a:rPr>
                            <m:t>h</m:t>
                          </m:r>
                        </m:e>
                        <m:sub>
                          <m:r>
                            <a:rPr lang="en-IN" sz="2200" b="0" i="1" smtClean="0">
                              <a:latin typeface="Cambria Math" panose="02040503050406030204" pitchFamily="18" charset="0"/>
                            </a:rPr>
                            <m:t>𝑀</m:t>
                          </m:r>
                        </m:sub>
                        <m:sup>
                          <m:r>
                            <a:rPr lang="en-US" sz="2200" b="0" i="1" smtClean="0">
                              <a:latin typeface="Cambria Math" panose="02040503050406030204" pitchFamily="18" charset="0"/>
                            </a:rPr>
                            <m:t>(1)</m:t>
                          </m:r>
                        </m:sup>
                      </m:sSubSup>
                      <m:r>
                        <a:rPr lang="en-IN" sz="2200" b="0" i="1" smtClean="0">
                          <a:latin typeface="Cambria Math" panose="02040503050406030204" pitchFamily="18" charset="0"/>
                        </a:rPr>
                        <m:t>=</m:t>
                      </m:r>
                      <m:r>
                        <a:rPr lang="en-IN" sz="2200" b="0" i="1" smtClean="0">
                          <a:latin typeface="Cambria Math" panose="02040503050406030204" pitchFamily="18" charset="0"/>
                        </a:rPr>
                        <m:t>𝑔</m:t>
                      </m:r>
                      <m:d>
                        <m:dPr>
                          <m:ctrlPr>
                            <a:rPr lang="en-IN" sz="2200" b="0" i="1" smtClean="0">
                              <a:latin typeface="Cambria Math" panose="02040503050406030204" pitchFamily="18" charset="0"/>
                            </a:rPr>
                          </m:ctrlPr>
                        </m:dPr>
                        <m:e>
                          <m:sSubSup>
                            <m:sSubSupPr>
                              <m:ctrlPr>
                                <a:rPr lang="en-US" sz="2200" i="1">
                                  <a:latin typeface="Cambria Math" panose="02040503050406030204" pitchFamily="18" charset="0"/>
                                </a:rPr>
                              </m:ctrlPr>
                            </m:sSubSupPr>
                            <m:e>
                              <m:r>
                                <a:rPr lang="en-IN" sz="2200" i="1">
                                  <a:latin typeface="Cambria Math" panose="02040503050406030204" pitchFamily="18" charset="0"/>
                                </a:rPr>
                                <m:t>𝑎</m:t>
                              </m:r>
                            </m:e>
                            <m:sub>
                              <m:r>
                                <a:rPr lang="en-IN" sz="2200" b="0" i="1" smtClean="0">
                                  <a:latin typeface="Cambria Math" panose="02040503050406030204" pitchFamily="18" charset="0"/>
                                </a:rPr>
                                <m:t>𝑀</m:t>
                              </m:r>
                            </m:sub>
                            <m:sup>
                              <m:d>
                                <m:dPr>
                                  <m:ctrlPr>
                                    <a:rPr lang="en-IN" sz="2200" i="1">
                                      <a:latin typeface="Cambria Math" panose="02040503050406030204" pitchFamily="18" charset="0"/>
                                    </a:rPr>
                                  </m:ctrlPr>
                                </m:dPr>
                                <m:e>
                                  <m:r>
                                    <a:rPr lang="en-IN" sz="2200" i="1">
                                      <a:latin typeface="Cambria Math" panose="02040503050406030204" pitchFamily="18" charset="0"/>
                                    </a:rPr>
                                    <m:t>1</m:t>
                                  </m:r>
                                </m:e>
                              </m:d>
                            </m:sup>
                          </m:sSubSup>
                          <m:d>
                            <m:dPr>
                              <m:ctrlPr>
                                <a:rPr lang="en-IN" sz="2200" i="1">
                                  <a:latin typeface="Cambria Math" panose="02040503050406030204" pitchFamily="18" charset="0"/>
                                </a:rPr>
                              </m:ctrlPr>
                            </m:dPr>
                            <m:e>
                              <m:r>
                                <a:rPr lang="en-IN" sz="2200" b="1" i="1">
                                  <a:latin typeface="Cambria Math" panose="02040503050406030204" pitchFamily="18" charset="0"/>
                                </a:rPr>
                                <m:t>𝒙</m:t>
                              </m:r>
                            </m:e>
                          </m:d>
                        </m:e>
                      </m:d>
                      <m:r>
                        <a:rPr lang="en-IN" sz="2200" b="0" i="1" smtClean="0">
                          <a:latin typeface="Cambria Math" panose="02040503050406030204" pitchFamily="18" charset="0"/>
                        </a:rPr>
                        <m:t> </m:t>
                      </m:r>
                    </m:oMath>
                  </m:oMathPara>
                </a14:m>
                <a:endParaRPr lang="en-IN" sz="2200" dirty="0"/>
              </a:p>
            </p:txBody>
          </p:sp>
        </mc:Choice>
        <mc:Fallback xmlns="">
          <p:sp>
            <p:nvSpPr>
              <p:cNvPr id="94" name="TextBox 93"/>
              <p:cNvSpPr txBox="1">
                <a:spLocks noRot="1" noChangeAspect="1" noMove="1" noResize="1" noEditPoints="1" noAdjustHandles="1" noChangeArrowheads="1" noChangeShapeType="1" noTextEdit="1"/>
              </p:cNvSpPr>
              <p:nvPr/>
            </p:nvSpPr>
            <p:spPr>
              <a:xfrm>
                <a:off x="5758550" y="5527884"/>
                <a:ext cx="2317879" cy="598754"/>
              </a:xfrm>
              <a:prstGeom prst="rect">
                <a:avLst/>
              </a:prstGeom>
              <a:blipFill rotWithShape="0">
                <a:blip r:embed="rId33"/>
                <a:stretch>
                  <a:fillRect/>
                </a:stretch>
              </a:blipFill>
            </p:spPr>
            <p:txBody>
              <a:bodyPr/>
              <a:lstStyle/>
              <a:p>
                <a:r>
                  <a:rPr lang="en-IN">
                    <a:noFill/>
                  </a:rPr>
                  <a:t> </a:t>
                </a:r>
              </a:p>
            </p:txBody>
          </p:sp>
        </mc:Fallback>
      </mc:AlternateContent>
      <p:sp>
        <p:nvSpPr>
          <p:cNvPr id="95" name="Left Brace 94"/>
          <p:cNvSpPr/>
          <p:nvPr/>
        </p:nvSpPr>
        <p:spPr>
          <a:xfrm rot="5400000">
            <a:off x="396234" y="984685"/>
            <a:ext cx="252624" cy="9497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96" name="TextBox 95"/>
          <p:cNvSpPr txBox="1"/>
          <p:nvPr/>
        </p:nvSpPr>
        <p:spPr>
          <a:xfrm>
            <a:off x="-28641" y="921212"/>
            <a:ext cx="1238737" cy="369332"/>
          </a:xfrm>
          <a:prstGeom prst="rect">
            <a:avLst/>
          </a:prstGeom>
          <a:noFill/>
        </p:spPr>
        <p:txBody>
          <a:bodyPr wrap="none" rtlCol="0">
            <a:spAutoFit/>
          </a:bodyPr>
          <a:lstStyle/>
          <a:p>
            <a:r>
              <a:rPr lang="en-US" dirty="0">
                <a:solidFill>
                  <a:srgbClr val="FF0000"/>
                </a:solidFill>
              </a:rPr>
              <a:t>Input Layer</a:t>
            </a:r>
            <a:endParaRPr lang="en-IN" dirty="0">
              <a:solidFill>
                <a:srgbClr val="FF0000"/>
              </a:solidFill>
            </a:endParaRPr>
          </a:p>
        </p:txBody>
      </p:sp>
      <p:sp>
        <p:nvSpPr>
          <p:cNvPr id="97" name="Left Brace 96"/>
          <p:cNvSpPr/>
          <p:nvPr/>
        </p:nvSpPr>
        <p:spPr>
          <a:xfrm rot="5400000">
            <a:off x="1977684" y="990505"/>
            <a:ext cx="252624" cy="9497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98" name="TextBox 97"/>
          <p:cNvSpPr txBox="1"/>
          <p:nvPr/>
        </p:nvSpPr>
        <p:spPr>
          <a:xfrm>
            <a:off x="1552809" y="927032"/>
            <a:ext cx="1416670" cy="369332"/>
          </a:xfrm>
          <a:prstGeom prst="rect">
            <a:avLst/>
          </a:prstGeom>
          <a:noFill/>
        </p:spPr>
        <p:txBody>
          <a:bodyPr wrap="none" rtlCol="0">
            <a:spAutoFit/>
          </a:bodyPr>
          <a:lstStyle/>
          <a:p>
            <a:r>
              <a:rPr lang="en-US" dirty="0">
                <a:solidFill>
                  <a:srgbClr val="FF0000"/>
                </a:solidFill>
              </a:rPr>
              <a:t>Hidden Layer</a:t>
            </a:r>
            <a:endParaRPr lang="en-IN" dirty="0">
              <a:solidFill>
                <a:srgbClr val="FF0000"/>
              </a:solidFill>
            </a:endParaRPr>
          </a:p>
        </p:txBody>
      </p:sp>
    </p:spTree>
    <p:extLst>
      <p:ext uri="{BB962C8B-B14F-4D97-AF65-F5344CB8AC3E}">
        <p14:creationId xmlns:p14="http://schemas.microsoft.com/office/powerpoint/2010/main" val="34447751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33" name="Picture 3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2067" y="2125313"/>
            <a:ext cx="746306" cy="746306"/>
          </a:xfrm>
          <a:prstGeom prst="rect">
            <a:avLst/>
          </a:prstGeom>
          <a:noFill/>
        </p:spPr>
      </p:pic>
      <p:sp>
        <p:nvSpPr>
          <p:cNvPr id="100" name="Google Shape;100;p14"/>
          <p:cNvSpPr txBox="1"/>
          <p:nvPr/>
        </p:nvSpPr>
        <p:spPr>
          <a:xfrm>
            <a:off x="3394564" y="832857"/>
            <a:ext cx="5179280"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solidFill>
                  <a:srgbClr val="434343"/>
                </a:solidFill>
              </a:rPr>
              <a:t>Multilayer Neural Network</a:t>
            </a:r>
            <a:endParaRPr sz="2800" dirty="0">
              <a:solidFill>
                <a:srgbClr val="434343"/>
              </a:solidFill>
            </a:endParaRPr>
          </a:p>
        </p:txBody>
      </p:sp>
      <p:sp>
        <p:nvSpPr>
          <p:cNvPr id="3" name="Footer Placeholder 2"/>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21" name="Slide Number Placeholder 20"/>
          <p:cNvSpPr>
            <a:spLocks noGrp="1"/>
          </p:cNvSpPr>
          <p:nvPr>
            <p:ph type="sldNum" sz="quarter" idx="4"/>
          </p:nvPr>
        </p:nvSpPr>
        <p:spPr>
          <a:xfrm>
            <a:off x="10569844" y="6356350"/>
            <a:ext cx="783956" cy="365125"/>
          </a:xfrm>
        </p:spPr>
        <p:txBody>
          <a:bodyPr/>
          <a:lstStyle/>
          <a:p>
            <a:fld id="{683B8651-0143-4140-839E-3D36292080E8}" type="slidenum">
              <a:rPr lang="en-US" smtClean="0"/>
              <a:t>23</a:t>
            </a:fld>
            <a:endParaRPr lang="en-US"/>
          </a:p>
        </p:txBody>
      </p:sp>
      <p:pic>
        <p:nvPicPr>
          <p:cNvPr id="29" name="Picture 2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2067" y="3480790"/>
            <a:ext cx="746306" cy="746306"/>
          </a:xfrm>
          <a:prstGeom prst="rect">
            <a:avLst/>
          </a:prstGeom>
        </p:spPr>
      </p:pic>
      <p:sp>
        <p:nvSpPr>
          <p:cNvPr id="55" name="Google Shape;119;p14"/>
          <p:cNvSpPr/>
          <p:nvPr/>
        </p:nvSpPr>
        <p:spPr>
          <a:xfrm>
            <a:off x="336842" y="1615227"/>
            <a:ext cx="167400" cy="332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Narrow"/>
              <a:ea typeface="Arial Narrow"/>
              <a:cs typeface="Arial Narrow"/>
              <a:sym typeface="Arial Narrow"/>
            </a:endParaRPr>
          </a:p>
        </p:txBody>
      </p:sp>
      <p:cxnSp>
        <p:nvCxnSpPr>
          <p:cNvPr id="56" name="Straight Arrow Connector 55"/>
          <p:cNvCxnSpPr/>
          <p:nvPr/>
        </p:nvCxnSpPr>
        <p:spPr>
          <a:xfrm>
            <a:off x="726323" y="1691956"/>
            <a:ext cx="1113565" cy="556303"/>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726323" y="2502846"/>
            <a:ext cx="1008112" cy="0"/>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793415" y="2757433"/>
            <a:ext cx="1046473" cy="1249612"/>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p:cNvSpPr txBox="1"/>
              <p:nvPr/>
            </p:nvSpPr>
            <p:spPr>
              <a:xfrm>
                <a:off x="249973" y="1361814"/>
                <a:ext cx="50853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1</m:t>
                          </m:r>
                        </m:sub>
                      </m:sSub>
                    </m:oMath>
                  </m:oMathPara>
                </a14:m>
                <a:endParaRPr lang="en-US" sz="3200" b="0" dirty="0"/>
              </a:p>
            </p:txBody>
          </p:sp>
        </mc:Choice>
        <mc:Fallback xmlns="">
          <p:sp>
            <p:nvSpPr>
              <p:cNvPr id="67" name="TextBox 66"/>
              <p:cNvSpPr txBox="1">
                <a:spLocks noRot="1" noChangeAspect="1" noMove="1" noResize="1" noEditPoints="1" noAdjustHandles="1" noChangeArrowheads="1" noChangeShapeType="1" noTextEdit="1"/>
              </p:cNvSpPr>
              <p:nvPr/>
            </p:nvSpPr>
            <p:spPr>
              <a:xfrm>
                <a:off x="249973" y="1361814"/>
                <a:ext cx="508537" cy="492443"/>
              </a:xfrm>
              <a:prstGeom prst="rect">
                <a:avLst/>
              </a:prstGeom>
              <a:blipFill rotWithShape="0">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49973" y="2170588"/>
                <a:ext cx="51802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2</m:t>
                          </m:r>
                        </m:sub>
                      </m:sSub>
                    </m:oMath>
                  </m:oMathPara>
                </a14:m>
                <a:endParaRPr lang="en-US" sz="3200" b="0" dirty="0"/>
              </a:p>
            </p:txBody>
          </p:sp>
        </mc:Choice>
        <mc:Fallback xmlns="">
          <p:sp>
            <p:nvSpPr>
              <p:cNvPr id="68" name="TextBox 67"/>
              <p:cNvSpPr txBox="1">
                <a:spLocks noRot="1" noChangeAspect="1" noMove="1" noResize="1" noEditPoints="1" noAdjustHandles="1" noChangeArrowheads="1" noChangeShapeType="1" noTextEdit="1"/>
              </p:cNvSpPr>
              <p:nvPr/>
            </p:nvSpPr>
            <p:spPr>
              <a:xfrm>
                <a:off x="249973" y="2170588"/>
                <a:ext cx="518027" cy="492443"/>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a:off x="249973" y="3627993"/>
                <a:ext cx="54514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𝑑</m:t>
                          </m:r>
                        </m:sub>
                      </m:sSub>
                    </m:oMath>
                  </m:oMathPara>
                </a14:m>
                <a:endParaRPr lang="en-US" sz="3200" b="0" dirty="0"/>
              </a:p>
            </p:txBody>
          </p:sp>
        </mc:Choice>
        <mc:Fallback xmlns="">
          <p:sp>
            <p:nvSpPr>
              <p:cNvPr id="69" name="TextBox 68"/>
              <p:cNvSpPr txBox="1">
                <a:spLocks noRot="1" noChangeAspect="1" noMove="1" noResize="1" noEditPoints="1" noAdjustHandles="1" noChangeArrowheads="1" noChangeShapeType="1" noTextEdit="1"/>
              </p:cNvSpPr>
              <p:nvPr/>
            </p:nvSpPr>
            <p:spPr>
              <a:xfrm>
                <a:off x="249973" y="3627993"/>
                <a:ext cx="545149" cy="492443"/>
              </a:xfrm>
              <a:prstGeom prst="rect">
                <a:avLst/>
              </a:prstGeom>
              <a:blipFill rotWithShape="0">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3087305" y="3601099"/>
                <a:ext cx="574260" cy="478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400" i="1" smtClean="0">
                              <a:solidFill>
                                <a:schemeClr val="tx1"/>
                              </a:solidFill>
                              <a:latin typeface="Cambria Math" panose="02040503050406030204" pitchFamily="18" charset="0"/>
                            </a:rPr>
                          </m:ctrlPr>
                        </m:sSubSupPr>
                        <m:e>
                          <m:r>
                            <a:rPr lang="en-US" sz="2400" b="0" i="1" smtClean="0">
                              <a:solidFill>
                                <a:schemeClr val="tx1"/>
                              </a:solidFill>
                              <a:latin typeface="Cambria Math" panose="02040503050406030204" pitchFamily="18" charset="0"/>
                            </a:rPr>
                            <m:t>h</m:t>
                          </m:r>
                        </m:e>
                        <m:sub>
                          <m:r>
                            <a:rPr lang="en-US" sz="2400" b="0" i="1" smtClean="0">
                              <a:solidFill>
                                <a:schemeClr val="tx1"/>
                              </a:solidFill>
                              <a:latin typeface="Cambria Math" panose="02040503050406030204" pitchFamily="18" charset="0"/>
                            </a:rPr>
                            <m:t>2</m:t>
                          </m:r>
                        </m:sub>
                        <m:sup>
                          <m:r>
                            <a:rPr lang="en-US" sz="2400" b="0" i="1" smtClean="0">
                              <a:solidFill>
                                <a:schemeClr val="tx1"/>
                              </a:solidFill>
                              <a:latin typeface="Cambria Math" panose="02040503050406030204" pitchFamily="18" charset="0"/>
                            </a:rPr>
                            <m:t>(1)</m:t>
                          </m:r>
                        </m:sup>
                      </m:sSubSup>
                    </m:oMath>
                  </m:oMathPara>
                </a14:m>
                <a:endParaRPr lang="en-IN" sz="2400" dirty="0">
                  <a:solidFill>
                    <a:schemeClr val="tx1"/>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3087305" y="3601099"/>
                <a:ext cx="574260" cy="478016"/>
              </a:xfrm>
              <a:prstGeom prst="rect">
                <a:avLst/>
              </a:prstGeom>
              <a:blipFill rotWithShape="0">
                <a:blip r:embed="rId7"/>
                <a:stretch>
                  <a:fillRect/>
                </a:stretch>
              </a:blipFill>
            </p:spPr>
            <p:txBody>
              <a:bodyPr/>
              <a:lstStyle/>
              <a:p>
                <a:r>
                  <a:rPr lang="en-IN">
                    <a:noFill/>
                  </a:rPr>
                  <a:t> </a:t>
                </a:r>
              </a:p>
            </p:txBody>
          </p:sp>
        </mc:Fallback>
      </mc:AlternateContent>
      <p:cxnSp>
        <p:nvCxnSpPr>
          <p:cNvPr id="82" name="Straight Arrow Connector 81"/>
          <p:cNvCxnSpPr/>
          <p:nvPr/>
        </p:nvCxnSpPr>
        <p:spPr>
          <a:xfrm>
            <a:off x="2476115" y="3860086"/>
            <a:ext cx="622884" cy="2489"/>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p:cNvSpPr txBox="1"/>
              <p:nvPr/>
            </p:nvSpPr>
            <p:spPr>
              <a:xfrm>
                <a:off x="3087305" y="2245622"/>
                <a:ext cx="574260" cy="4612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400" i="1" smtClean="0">
                              <a:solidFill>
                                <a:schemeClr val="tx1"/>
                              </a:solidFill>
                              <a:latin typeface="Cambria Math" panose="02040503050406030204" pitchFamily="18" charset="0"/>
                            </a:rPr>
                          </m:ctrlPr>
                        </m:sSubSupPr>
                        <m:e>
                          <m:r>
                            <a:rPr lang="en-US" sz="2400" b="0" i="1" smtClean="0">
                              <a:solidFill>
                                <a:schemeClr val="tx1"/>
                              </a:solidFill>
                              <a:latin typeface="Cambria Math" panose="02040503050406030204" pitchFamily="18" charset="0"/>
                            </a:rPr>
                            <m:t>h</m:t>
                          </m:r>
                        </m:e>
                        <m:sub>
                          <m:r>
                            <a:rPr lang="en-US" sz="2400" b="0" i="1" smtClean="0">
                              <a:solidFill>
                                <a:schemeClr val="tx1"/>
                              </a:solidFill>
                              <a:latin typeface="Cambria Math" panose="02040503050406030204" pitchFamily="18" charset="0"/>
                            </a:rPr>
                            <m:t>1</m:t>
                          </m:r>
                        </m:sub>
                        <m:sup>
                          <m:r>
                            <a:rPr lang="en-US" sz="2400" b="0" i="1" smtClean="0">
                              <a:solidFill>
                                <a:schemeClr val="tx1"/>
                              </a:solidFill>
                              <a:latin typeface="Cambria Math" panose="02040503050406030204" pitchFamily="18" charset="0"/>
                            </a:rPr>
                            <m:t>(1)</m:t>
                          </m:r>
                        </m:sup>
                      </m:sSubSup>
                    </m:oMath>
                  </m:oMathPara>
                </a14:m>
                <a:endParaRPr lang="en-IN" sz="2400" dirty="0">
                  <a:solidFill>
                    <a:schemeClr val="tx1"/>
                  </a:solidFill>
                </a:endParaRPr>
              </a:p>
            </p:txBody>
          </p:sp>
        </mc:Choice>
        <mc:Fallback xmlns="">
          <p:sp>
            <p:nvSpPr>
              <p:cNvPr id="30" name="TextBox 29"/>
              <p:cNvSpPr txBox="1">
                <a:spLocks noRot="1" noChangeAspect="1" noMove="1" noResize="1" noEditPoints="1" noAdjustHandles="1" noChangeArrowheads="1" noChangeShapeType="1" noTextEdit="1"/>
              </p:cNvSpPr>
              <p:nvPr/>
            </p:nvSpPr>
            <p:spPr>
              <a:xfrm>
                <a:off x="3087305" y="2245622"/>
                <a:ext cx="574260" cy="461280"/>
              </a:xfrm>
              <a:prstGeom prst="rect">
                <a:avLst/>
              </a:prstGeom>
              <a:blipFill rotWithShape="0">
                <a:blip r:embed="rId8"/>
                <a:stretch>
                  <a:fillRect/>
                </a:stretch>
              </a:blipFill>
            </p:spPr>
            <p:txBody>
              <a:bodyPr/>
              <a:lstStyle/>
              <a:p>
                <a:r>
                  <a:rPr lang="en-IN">
                    <a:noFill/>
                  </a:rPr>
                  <a:t> </a:t>
                </a:r>
              </a:p>
            </p:txBody>
          </p:sp>
        </mc:Fallback>
      </mc:AlternateContent>
      <p:cxnSp>
        <p:nvCxnSpPr>
          <p:cNvPr id="31" name="Straight Arrow Connector 30"/>
          <p:cNvCxnSpPr/>
          <p:nvPr/>
        </p:nvCxnSpPr>
        <p:spPr>
          <a:xfrm>
            <a:off x="2476115" y="2504609"/>
            <a:ext cx="622884" cy="2489"/>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2094475" y="1796659"/>
            <a:ext cx="0" cy="344968"/>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p:cNvSpPr txBox="1"/>
              <p:nvPr/>
            </p:nvSpPr>
            <p:spPr>
              <a:xfrm>
                <a:off x="2012197" y="1467042"/>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m:t>
                      </m:r>
                    </m:oMath>
                  </m:oMathPara>
                </a14:m>
                <a:endParaRPr lang="en-IN" dirty="0">
                  <a:solidFill>
                    <a:schemeClr val="tx1"/>
                  </a:solidFill>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2012197" y="1467042"/>
                <a:ext cx="181139" cy="276999"/>
              </a:xfrm>
              <a:prstGeom prst="rect">
                <a:avLst/>
              </a:prstGeom>
              <a:blipFill rotWithShape="0">
                <a:blip r:embed="rId9"/>
                <a:stretch>
                  <a:fillRect l="-30000" r="-30000" b="-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1731976" y="2416839"/>
                <a:ext cx="6972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𝑔</m:t>
                      </m:r>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𝑎</m:t>
                      </m:r>
                      <m:r>
                        <a:rPr lang="en-US" sz="2400" b="0" i="1" smtClean="0">
                          <a:solidFill>
                            <a:schemeClr val="tx1"/>
                          </a:solidFill>
                          <a:latin typeface="Cambria Math" panose="02040503050406030204" pitchFamily="18" charset="0"/>
                          <a:ea typeface="Cambria Math" panose="02040503050406030204" pitchFamily="18" charset="0"/>
                        </a:rPr>
                        <m:t>)</m:t>
                      </m:r>
                    </m:oMath>
                  </m:oMathPara>
                </a14:m>
                <a:endParaRPr lang="en-IN" sz="2400" dirty="0">
                  <a:solidFill>
                    <a:schemeClr val="tx1"/>
                  </a:solidFill>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1731976" y="2416839"/>
                <a:ext cx="697242" cy="369332"/>
              </a:xfrm>
              <a:prstGeom prst="rect">
                <a:avLst/>
              </a:prstGeom>
              <a:blipFill rotWithShape="0">
                <a:blip r:embed="rId10"/>
                <a:stretch>
                  <a:fillRect l="-10526" r="-15789" b="-34426"/>
                </a:stretch>
              </a:blipFill>
            </p:spPr>
            <p:txBody>
              <a:bodyPr/>
              <a:lstStyle/>
              <a:p>
                <a:r>
                  <a:rPr lang="en-IN">
                    <a:noFill/>
                  </a:rPr>
                  <a:t> </a:t>
                </a:r>
              </a:p>
            </p:txBody>
          </p:sp>
        </mc:Fallback>
      </mc:AlternateContent>
      <p:cxnSp>
        <p:nvCxnSpPr>
          <p:cNvPr id="38" name="Straight Arrow Connector 37"/>
          <p:cNvCxnSpPr/>
          <p:nvPr/>
        </p:nvCxnSpPr>
        <p:spPr>
          <a:xfrm>
            <a:off x="739588" y="1680882"/>
            <a:ext cx="1100300" cy="1947111"/>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endCxn id="29" idx="1"/>
          </p:cNvCxnSpPr>
          <p:nvPr/>
        </p:nvCxnSpPr>
        <p:spPr>
          <a:xfrm>
            <a:off x="746007" y="2518386"/>
            <a:ext cx="976060" cy="1335557"/>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endCxn id="29" idx="1"/>
          </p:cNvCxnSpPr>
          <p:nvPr/>
        </p:nvCxnSpPr>
        <p:spPr>
          <a:xfrm flipV="1">
            <a:off x="817950" y="3853943"/>
            <a:ext cx="904117" cy="133125"/>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2073317" y="3140826"/>
            <a:ext cx="0" cy="344968"/>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p:cNvSpPr txBox="1"/>
              <p:nvPr/>
            </p:nvSpPr>
            <p:spPr>
              <a:xfrm>
                <a:off x="1991039" y="2878444"/>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m:t>
                      </m:r>
                    </m:oMath>
                  </m:oMathPara>
                </a14:m>
                <a:endParaRPr lang="en-IN" dirty="0">
                  <a:solidFill>
                    <a:schemeClr val="tx1"/>
                  </a:solidFill>
                </a:endParaRPr>
              </a:p>
            </p:txBody>
          </p:sp>
        </mc:Choice>
        <mc:Fallback xmlns="">
          <p:sp>
            <p:nvSpPr>
              <p:cNvPr id="52" name="TextBox 51"/>
              <p:cNvSpPr txBox="1">
                <a:spLocks noRot="1" noChangeAspect="1" noMove="1" noResize="1" noEditPoints="1" noAdjustHandles="1" noChangeArrowheads="1" noChangeShapeType="1" noTextEdit="1"/>
              </p:cNvSpPr>
              <p:nvPr/>
            </p:nvSpPr>
            <p:spPr>
              <a:xfrm>
                <a:off x="1991039" y="2878444"/>
                <a:ext cx="181139" cy="276999"/>
              </a:xfrm>
              <a:prstGeom prst="rect">
                <a:avLst/>
              </a:prstGeom>
              <a:blipFill rotWithShape="0">
                <a:blip r:embed="rId11"/>
                <a:stretch>
                  <a:fillRect l="-34483" r="-31034" b="-6522"/>
                </a:stretch>
              </a:blipFill>
            </p:spPr>
            <p:txBody>
              <a:bodyPr/>
              <a:lstStyle/>
              <a:p>
                <a:r>
                  <a:rPr lang="en-IN">
                    <a:noFill/>
                  </a:rPr>
                  <a:t> </a:t>
                </a:r>
              </a:p>
            </p:txBody>
          </p:sp>
        </mc:Fallback>
      </mc:AlternateContent>
      <p:pic>
        <p:nvPicPr>
          <p:cNvPr id="43" name="Picture 4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8913" y="5598241"/>
            <a:ext cx="746306" cy="746306"/>
          </a:xfrm>
          <a:prstGeom prst="rect">
            <a:avLst/>
          </a:prstGeom>
        </p:spPr>
      </p:pic>
      <mc:AlternateContent xmlns:mc="http://schemas.openxmlformats.org/markup-compatibility/2006" xmlns:a14="http://schemas.microsoft.com/office/drawing/2010/main">
        <mc:Choice Requires="a14">
          <p:sp>
            <p:nvSpPr>
              <p:cNvPr id="44" name="TextBox 43"/>
              <p:cNvSpPr txBox="1"/>
              <p:nvPr/>
            </p:nvSpPr>
            <p:spPr>
              <a:xfrm>
                <a:off x="3074151" y="5718550"/>
                <a:ext cx="574260" cy="478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400" i="1" smtClean="0">
                              <a:latin typeface="Cambria Math" panose="02040503050406030204" pitchFamily="18" charset="0"/>
                            </a:rPr>
                          </m:ctrlPr>
                        </m:sSubSupPr>
                        <m:e>
                          <m:r>
                            <a:rPr lang="en-US" sz="2400" b="0" i="1" smtClean="0">
                              <a:latin typeface="Cambria Math" panose="02040503050406030204" pitchFamily="18" charset="0"/>
                            </a:rPr>
                            <m:t>h</m:t>
                          </m:r>
                        </m:e>
                        <m:sub>
                          <m:r>
                            <a:rPr lang="en-IN" sz="2400" b="0" i="1" smtClean="0">
                              <a:latin typeface="Cambria Math" panose="02040503050406030204" pitchFamily="18" charset="0"/>
                            </a:rPr>
                            <m:t>𝑀</m:t>
                          </m:r>
                        </m:sub>
                        <m:sup>
                          <m:r>
                            <a:rPr lang="en-US" sz="2400" b="0" i="1" smtClean="0">
                              <a:latin typeface="Cambria Math" panose="02040503050406030204" pitchFamily="18" charset="0"/>
                            </a:rPr>
                            <m:t>(1)</m:t>
                          </m:r>
                        </m:sup>
                      </m:sSubSup>
                    </m:oMath>
                  </m:oMathPara>
                </a14:m>
                <a:endParaRPr lang="en-IN" sz="2400" dirty="0"/>
              </a:p>
            </p:txBody>
          </p:sp>
        </mc:Choice>
        <mc:Fallback xmlns="">
          <p:sp>
            <p:nvSpPr>
              <p:cNvPr id="44" name="TextBox 43"/>
              <p:cNvSpPr txBox="1">
                <a:spLocks noRot="1" noChangeAspect="1" noMove="1" noResize="1" noEditPoints="1" noAdjustHandles="1" noChangeArrowheads="1" noChangeShapeType="1" noTextEdit="1"/>
              </p:cNvSpPr>
              <p:nvPr/>
            </p:nvSpPr>
            <p:spPr>
              <a:xfrm>
                <a:off x="3074151" y="5718550"/>
                <a:ext cx="574260" cy="478016"/>
              </a:xfrm>
              <a:prstGeom prst="rect">
                <a:avLst/>
              </a:prstGeom>
              <a:blipFill rotWithShape="0">
                <a:blip r:embed="rId12"/>
                <a:stretch>
                  <a:fillRect/>
                </a:stretch>
              </a:blipFill>
            </p:spPr>
            <p:txBody>
              <a:bodyPr/>
              <a:lstStyle/>
              <a:p>
                <a:r>
                  <a:rPr lang="en-IN">
                    <a:noFill/>
                  </a:rPr>
                  <a:t> </a:t>
                </a:r>
              </a:p>
            </p:txBody>
          </p:sp>
        </mc:Fallback>
      </mc:AlternateContent>
      <p:cxnSp>
        <p:nvCxnSpPr>
          <p:cNvPr id="54" name="Straight Arrow Connector 53"/>
          <p:cNvCxnSpPr/>
          <p:nvPr/>
        </p:nvCxnSpPr>
        <p:spPr>
          <a:xfrm>
            <a:off x="2462961" y="5977537"/>
            <a:ext cx="622884" cy="2489"/>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2060163" y="5258277"/>
            <a:ext cx="0" cy="344968"/>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5" name="TextBox 64"/>
              <p:cNvSpPr txBox="1"/>
              <p:nvPr/>
            </p:nvSpPr>
            <p:spPr>
              <a:xfrm>
                <a:off x="1990027" y="4979431"/>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IN" dirty="0"/>
              </a:p>
            </p:txBody>
          </p:sp>
        </mc:Choice>
        <mc:Fallback xmlns="">
          <p:sp>
            <p:nvSpPr>
              <p:cNvPr id="65" name="TextBox 64"/>
              <p:cNvSpPr txBox="1">
                <a:spLocks noRot="1" noChangeAspect="1" noMove="1" noResize="1" noEditPoints="1" noAdjustHandles="1" noChangeArrowheads="1" noChangeShapeType="1" noTextEdit="1"/>
              </p:cNvSpPr>
              <p:nvPr/>
            </p:nvSpPr>
            <p:spPr>
              <a:xfrm>
                <a:off x="1990027" y="4979431"/>
                <a:ext cx="181139" cy="276999"/>
              </a:xfrm>
              <a:prstGeom prst="rect">
                <a:avLst/>
              </a:prstGeom>
              <a:blipFill rotWithShape="0">
                <a:blip r:embed="rId13"/>
                <a:stretch>
                  <a:fillRect l="-30000" r="-30000" b="-6667"/>
                </a:stretch>
              </a:blipFill>
            </p:spPr>
            <p:txBody>
              <a:bodyPr/>
              <a:lstStyle/>
              <a:p>
                <a:r>
                  <a:rPr lang="en-IN">
                    <a:noFill/>
                  </a:rPr>
                  <a:t> </a:t>
                </a:r>
              </a:p>
            </p:txBody>
          </p:sp>
        </mc:Fallback>
      </mc:AlternateContent>
      <p:cxnSp>
        <p:nvCxnSpPr>
          <p:cNvPr id="70" name="Straight Arrow Connector 69"/>
          <p:cNvCxnSpPr/>
          <p:nvPr/>
        </p:nvCxnSpPr>
        <p:spPr>
          <a:xfrm>
            <a:off x="739588" y="1744041"/>
            <a:ext cx="1089212" cy="3984406"/>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a:off x="711987" y="2457833"/>
            <a:ext cx="996219" cy="3483689"/>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a:off x="820271" y="4020670"/>
            <a:ext cx="900953" cy="1963271"/>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grpSp>
        <p:nvGrpSpPr>
          <p:cNvPr id="83" name="Group 82"/>
          <p:cNvGrpSpPr/>
          <p:nvPr/>
        </p:nvGrpSpPr>
        <p:grpSpPr>
          <a:xfrm>
            <a:off x="2076475" y="4432863"/>
            <a:ext cx="36000" cy="340800"/>
            <a:chOff x="2731586" y="4043627"/>
            <a:chExt cx="36000" cy="340800"/>
          </a:xfrm>
        </p:grpSpPr>
        <p:sp>
          <p:nvSpPr>
            <p:cNvPr id="84" name="Oval 83"/>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Oval 84"/>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6" name="Oval 85"/>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87" name="TextBox 86"/>
              <p:cNvSpPr txBox="1"/>
              <p:nvPr/>
            </p:nvSpPr>
            <p:spPr>
              <a:xfrm>
                <a:off x="1766724" y="5921306"/>
                <a:ext cx="6972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𝑔</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m:t>
                      </m:r>
                    </m:oMath>
                  </m:oMathPara>
                </a14:m>
                <a:endParaRPr lang="en-IN" sz="2400" dirty="0"/>
              </a:p>
            </p:txBody>
          </p:sp>
        </mc:Choice>
        <mc:Fallback xmlns="">
          <p:sp>
            <p:nvSpPr>
              <p:cNvPr id="87" name="TextBox 86"/>
              <p:cNvSpPr txBox="1">
                <a:spLocks noRot="1" noChangeAspect="1" noMove="1" noResize="1" noEditPoints="1" noAdjustHandles="1" noChangeArrowheads="1" noChangeShapeType="1" noTextEdit="1"/>
              </p:cNvSpPr>
              <p:nvPr/>
            </p:nvSpPr>
            <p:spPr>
              <a:xfrm>
                <a:off x="1766724" y="5921306"/>
                <a:ext cx="697242" cy="369332"/>
              </a:xfrm>
              <a:prstGeom prst="rect">
                <a:avLst/>
              </a:prstGeom>
              <a:blipFill rotWithShape="0">
                <a:blip r:embed="rId14"/>
                <a:stretch>
                  <a:fillRect l="-10526" r="-14912" b="-3442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p:cNvSpPr txBox="1"/>
              <p:nvPr/>
            </p:nvSpPr>
            <p:spPr>
              <a:xfrm>
                <a:off x="1789142" y="3805368"/>
                <a:ext cx="6972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𝑔</m:t>
                      </m:r>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𝑎</m:t>
                      </m:r>
                      <m:r>
                        <a:rPr lang="en-US" sz="2400" b="0" i="1" smtClean="0">
                          <a:solidFill>
                            <a:schemeClr val="tx1"/>
                          </a:solidFill>
                          <a:latin typeface="Cambria Math" panose="02040503050406030204" pitchFamily="18" charset="0"/>
                          <a:ea typeface="Cambria Math" panose="02040503050406030204" pitchFamily="18" charset="0"/>
                        </a:rPr>
                        <m:t>)</m:t>
                      </m:r>
                    </m:oMath>
                  </m:oMathPara>
                </a14:m>
                <a:endParaRPr lang="en-IN" sz="2400" dirty="0">
                  <a:solidFill>
                    <a:schemeClr val="tx1"/>
                  </a:solidFill>
                </a:endParaRPr>
              </a:p>
            </p:txBody>
          </p:sp>
        </mc:Choice>
        <mc:Fallback xmlns="">
          <p:sp>
            <p:nvSpPr>
              <p:cNvPr id="88" name="TextBox 87"/>
              <p:cNvSpPr txBox="1">
                <a:spLocks noRot="1" noChangeAspect="1" noMove="1" noResize="1" noEditPoints="1" noAdjustHandles="1" noChangeArrowheads="1" noChangeShapeType="1" noTextEdit="1"/>
              </p:cNvSpPr>
              <p:nvPr/>
            </p:nvSpPr>
            <p:spPr>
              <a:xfrm>
                <a:off x="1789142" y="3805368"/>
                <a:ext cx="697242" cy="369332"/>
              </a:xfrm>
              <a:prstGeom prst="rect">
                <a:avLst/>
              </a:prstGeom>
              <a:blipFill rotWithShape="0">
                <a:blip r:embed="rId15"/>
                <a:stretch>
                  <a:fillRect l="-10435" r="-14783" b="-34426"/>
                </a:stretch>
              </a:blipFill>
            </p:spPr>
            <p:txBody>
              <a:bodyPr/>
              <a:lstStyle/>
              <a:p>
                <a:r>
                  <a:rPr lang="en-IN">
                    <a:noFill/>
                  </a:rPr>
                  <a:t> </a:t>
                </a:r>
              </a:p>
            </p:txBody>
          </p:sp>
        </mc:Fallback>
      </mc:AlternateContent>
      <p:grpSp>
        <p:nvGrpSpPr>
          <p:cNvPr id="89" name="Group 88"/>
          <p:cNvGrpSpPr/>
          <p:nvPr/>
        </p:nvGrpSpPr>
        <p:grpSpPr>
          <a:xfrm>
            <a:off x="398360" y="3066249"/>
            <a:ext cx="36000" cy="340800"/>
            <a:chOff x="2731586" y="4043627"/>
            <a:chExt cx="36000" cy="340800"/>
          </a:xfrm>
        </p:grpSpPr>
        <p:sp>
          <p:nvSpPr>
            <p:cNvPr id="90" name="Oval 89"/>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1" name="Oval 90"/>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2" name="Oval 91"/>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 name="Left Brace 5"/>
          <p:cNvSpPr/>
          <p:nvPr/>
        </p:nvSpPr>
        <p:spPr>
          <a:xfrm rot="5400000">
            <a:off x="396234" y="984685"/>
            <a:ext cx="252624" cy="9497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 name="TextBox 6"/>
          <p:cNvSpPr txBox="1"/>
          <p:nvPr/>
        </p:nvSpPr>
        <p:spPr>
          <a:xfrm>
            <a:off x="-28641" y="921212"/>
            <a:ext cx="1238737" cy="369332"/>
          </a:xfrm>
          <a:prstGeom prst="rect">
            <a:avLst/>
          </a:prstGeom>
          <a:noFill/>
        </p:spPr>
        <p:txBody>
          <a:bodyPr wrap="none" rtlCol="0">
            <a:spAutoFit/>
          </a:bodyPr>
          <a:lstStyle/>
          <a:p>
            <a:r>
              <a:rPr lang="en-US" dirty="0">
                <a:solidFill>
                  <a:srgbClr val="FF0000"/>
                </a:solidFill>
              </a:rPr>
              <a:t>Input Layer</a:t>
            </a:r>
            <a:endParaRPr lang="en-IN" dirty="0">
              <a:solidFill>
                <a:srgbClr val="FF0000"/>
              </a:solidFill>
            </a:endParaRPr>
          </a:p>
        </p:txBody>
      </p:sp>
      <p:sp>
        <p:nvSpPr>
          <p:cNvPr id="95" name="Left Brace 94"/>
          <p:cNvSpPr/>
          <p:nvPr/>
        </p:nvSpPr>
        <p:spPr>
          <a:xfrm rot="5400000">
            <a:off x="1977684" y="990505"/>
            <a:ext cx="252624" cy="9497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96" name="TextBox 95"/>
          <p:cNvSpPr txBox="1"/>
          <p:nvPr/>
        </p:nvSpPr>
        <p:spPr>
          <a:xfrm>
            <a:off x="1552809" y="927032"/>
            <a:ext cx="1416670" cy="369332"/>
          </a:xfrm>
          <a:prstGeom prst="rect">
            <a:avLst/>
          </a:prstGeom>
          <a:noFill/>
        </p:spPr>
        <p:txBody>
          <a:bodyPr wrap="none" rtlCol="0">
            <a:spAutoFit/>
          </a:bodyPr>
          <a:lstStyle/>
          <a:p>
            <a:r>
              <a:rPr lang="en-US" dirty="0">
                <a:solidFill>
                  <a:srgbClr val="FF0000"/>
                </a:solidFill>
              </a:rPr>
              <a:t>Hidden Layer</a:t>
            </a:r>
            <a:endParaRPr lang="en-IN" dirty="0">
              <a:solidFill>
                <a:srgbClr val="FF0000"/>
              </a:solidFill>
            </a:endParaRPr>
          </a:p>
        </p:txBody>
      </p:sp>
      <mc:AlternateContent xmlns:mc="http://schemas.openxmlformats.org/markup-compatibility/2006" xmlns:a14="http://schemas.microsoft.com/office/drawing/2010/main">
        <mc:Choice Requires="a14">
          <p:sp>
            <p:nvSpPr>
              <p:cNvPr id="98" name="TextBox 97"/>
              <p:cNvSpPr txBox="1"/>
              <p:nvPr/>
            </p:nvSpPr>
            <p:spPr>
              <a:xfrm>
                <a:off x="4280497" y="1341785"/>
                <a:ext cx="3020058" cy="5111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200" b="0" i="1" smtClean="0">
                              <a:latin typeface="Cambria Math" panose="02040503050406030204" pitchFamily="18" charset="0"/>
                            </a:rPr>
                          </m:ctrlPr>
                        </m:sSubSupPr>
                        <m:e>
                          <m:r>
                            <a:rPr lang="en-IN" sz="2200" b="0" i="1" smtClean="0">
                              <a:latin typeface="Cambria Math" panose="02040503050406030204" pitchFamily="18" charset="0"/>
                            </a:rPr>
                            <m:t>𝑎</m:t>
                          </m:r>
                        </m:e>
                        <m:sub>
                          <m:r>
                            <a:rPr lang="en-IN" sz="2200" b="0" i="1" smtClean="0">
                              <a:latin typeface="Cambria Math" panose="02040503050406030204" pitchFamily="18" charset="0"/>
                            </a:rPr>
                            <m:t>1</m:t>
                          </m:r>
                        </m:sub>
                        <m:sup>
                          <m:d>
                            <m:dPr>
                              <m:ctrlPr>
                                <a:rPr lang="en-IN" sz="2200" b="0" i="1" smtClean="0">
                                  <a:latin typeface="Cambria Math" panose="02040503050406030204" pitchFamily="18" charset="0"/>
                                </a:rPr>
                              </m:ctrlPr>
                            </m:dPr>
                            <m:e>
                              <m:r>
                                <a:rPr lang="en-IN" sz="2200" b="0" i="1" smtClean="0">
                                  <a:latin typeface="Cambria Math" panose="02040503050406030204" pitchFamily="18" charset="0"/>
                                </a:rPr>
                                <m:t>1</m:t>
                              </m:r>
                            </m:e>
                          </m:d>
                        </m:sup>
                      </m:sSubSup>
                      <m:r>
                        <a:rPr lang="en-IN" sz="2200" b="0" i="1" smtClean="0">
                          <a:latin typeface="Cambria Math" panose="02040503050406030204" pitchFamily="18" charset="0"/>
                        </a:rPr>
                        <m:t>(</m:t>
                      </m:r>
                      <m:r>
                        <a:rPr lang="en-IN" sz="2200" b="1" i="1" smtClean="0">
                          <a:latin typeface="Cambria Math" panose="02040503050406030204" pitchFamily="18" charset="0"/>
                        </a:rPr>
                        <m:t>𝒙</m:t>
                      </m:r>
                      <m:r>
                        <a:rPr lang="en-IN" sz="2200" b="0" i="1" smtClean="0">
                          <a:latin typeface="Cambria Math" panose="02040503050406030204" pitchFamily="18" charset="0"/>
                        </a:rPr>
                        <m:t>)</m:t>
                      </m:r>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sSubSup>
                            <m:sSubSupPr>
                              <m:ctrlPr>
                                <a:rPr lang="en-US" sz="2200" b="0" i="1" smtClean="0">
                                  <a:latin typeface="Cambria Math" panose="02040503050406030204" pitchFamily="18" charset="0"/>
                                </a:rPr>
                              </m:ctrlPr>
                            </m:sSubSupPr>
                            <m:e>
                              <m:r>
                                <a:rPr lang="en-IN" sz="2200" b="1" i="1" smtClean="0">
                                  <a:latin typeface="Cambria Math" panose="02040503050406030204" pitchFamily="18" charset="0"/>
                                </a:rPr>
                                <m:t>𝒘</m:t>
                              </m:r>
                            </m:e>
                            <m:sub>
                              <m:r>
                                <a:rPr lang="en-IN" sz="2200" b="0" i="1" smtClean="0">
                                  <a:latin typeface="Cambria Math" panose="02040503050406030204" pitchFamily="18" charset="0"/>
                                </a:rPr>
                                <m:t>1</m:t>
                              </m:r>
                            </m:sub>
                            <m:sup>
                              <m:r>
                                <a:rPr lang="en-IN" sz="2200" b="0" i="1" smtClean="0">
                                  <a:latin typeface="Cambria Math" panose="02040503050406030204" pitchFamily="18" charset="0"/>
                                </a:rPr>
                                <m:t>(1)</m:t>
                              </m:r>
                            </m:sup>
                          </m:sSubSup>
                          <m:sSubSup>
                            <m:sSubSupPr>
                              <m:ctrlPr>
                                <a:rPr lang="en-US" sz="2200" i="1">
                                  <a:solidFill>
                                    <a:prstClr val="black"/>
                                  </a:solidFill>
                                  <a:latin typeface="Cambria Math" panose="02040503050406030204" pitchFamily="18" charset="0"/>
                                </a:rPr>
                              </m:ctrlPr>
                            </m:sSubSupPr>
                            <m:e>
                              <m:r>
                                <a:rPr lang="en-US" sz="2200" i="1">
                                  <a:solidFill>
                                    <a:prstClr val="black"/>
                                  </a:solidFill>
                                  <a:latin typeface="Cambria Math" panose="02040503050406030204" pitchFamily="18" charset="0"/>
                                </a:rPr>
                                <m:t>𝑏</m:t>
                              </m:r>
                            </m:e>
                            <m:sub>
                              <m:r>
                                <a:rPr lang="en-US" sz="2200" i="1">
                                  <a:solidFill>
                                    <a:prstClr val="black"/>
                                  </a:solidFill>
                                  <a:latin typeface="Cambria Math" panose="02040503050406030204" pitchFamily="18" charset="0"/>
                                </a:rPr>
                                <m:t>1</m:t>
                              </m:r>
                            </m:sub>
                            <m:sup>
                              <m:r>
                                <a:rPr lang="en-US" sz="2200" i="1">
                                  <a:solidFill>
                                    <a:prstClr val="black"/>
                                  </a:solidFill>
                                  <a:latin typeface="Cambria Math" panose="02040503050406030204" pitchFamily="18" charset="0"/>
                                </a:rPr>
                                <m:t>(1)</m:t>
                              </m:r>
                            </m:sup>
                          </m:sSubSup>
                        </m:e>
                      </m:d>
                      <m:d>
                        <m:dPr>
                          <m:begChr m:val="["/>
                          <m:endChr m:val="]"/>
                          <m:ctrlPr>
                            <a:rPr lang="en-US" sz="2200" b="0" i="1" smtClean="0">
                              <a:latin typeface="Cambria Math" panose="02040503050406030204" pitchFamily="18" charset="0"/>
                            </a:rPr>
                          </m:ctrlPr>
                        </m:dPr>
                        <m:e>
                          <m:m>
                            <m:mPr>
                              <m:mcs>
                                <m:mc>
                                  <m:mcPr>
                                    <m:count m:val="1"/>
                                    <m:mcJc m:val="center"/>
                                  </m:mcPr>
                                </m:mc>
                              </m:mcs>
                              <m:ctrlPr>
                                <a:rPr lang="en-US" sz="2200" b="0" i="1" smtClean="0">
                                  <a:latin typeface="Cambria Math" panose="02040503050406030204" pitchFamily="18" charset="0"/>
                                </a:rPr>
                              </m:ctrlPr>
                            </m:mPr>
                            <m:mr>
                              <m:e>
                                <m:r>
                                  <m:rPr>
                                    <m:brk m:alnAt="7"/>
                                  </m:rPr>
                                  <a:rPr lang="en-IN" sz="2200" b="0" i="1" smtClean="0">
                                    <a:latin typeface="Cambria Math" panose="02040503050406030204" pitchFamily="18" charset="0"/>
                                  </a:rPr>
                                  <m:t> </m:t>
                                </m:r>
                                <m:r>
                                  <m:rPr>
                                    <m:brk m:alnAt="7"/>
                                  </m:rPr>
                                  <a:rPr lang="en-US" sz="2200" b="1" i="1" smtClean="0">
                                    <a:latin typeface="Cambria Math" panose="02040503050406030204" pitchFamily="18" charset="0"/>
                                  </a:rPr>
                                  <m:t>𝒙</m:t>
                                </m:r>
                                <m:r>
                                  <a:rPr lang="en-IN" sz="2200" b="1" i="1" smtClean="0">
                                    <a:latin typeface="Cambria Math" panose="02040503050406030204" pitchFamily="18" charset="0"/>
                                  </a:rPr>
                                  <m:t> </m:t>
                                </m:r>
                              </m:e>
                            </m:mr>
                            <m:mr>
                              <m:e>
                                <m:r>
                                  <a:rPr lang="en-IN" sz="2200" b="1" i="1" smtClean="0">
                                    <a:latin typeface="Cambria Math" panose="02040503050406030204" pitchFamily="18" charset="0"/>
                                  </a:rPr>
                                  <m:t> </m:t>
                                </m:r>
                                <m:r>
                                  <a:rPr lang="en-US" sz="2200" b="0" i="1" smtClean="0">
                                    <a:latin typeface="Cambria Math" panose="02040503050406030204" pitchFamily="18" charset="0"/>
                                  </a:rPr>
                                  <m:t>1</m:t>
                                </m:r>
                                <m:r>
                                  <a:rPr lang="en-IN" sz="2200" b="0" i="1" smtClean="0">
                                    <a:latin typeface="Cambria Math" panose="02040503050406030204" pitchFamily="18" charset="0"/>
                                  </a:rPr>
                                  <m:t> </m:t>
                                </m:r>
                              </m:e>
                            </m:mr>
                          </m:m>
                        </m:e>
                      </m:d>
                    </m:oMath>
                  </m:oMathPara>
                </a14:m>
                <a:endParaRPr lang="en-IN" sz="2200" dirty="0"/>
              </a:p>
            </p:txBody>
          </p:sp>
        </mc:Choice>
        <mc:Fallback xmlns="">
          <p:sp>
            <p:nvSpPr>
              <p:cNvPr id="98" name="TextBox 97"/>
              <p:cNvSpPr txBox="1">
                <a:spLocks noRot="1" noChangeAspect="1" noMove="1" noResize="1" noEditPoints="1" noAdjustHandles="1" noChangeArrowheads="1" noChangeShapeType="1" noTextEdit="1"/>
              </p:cNvSpPr>
              <p:nvPr/>
            </p:nvSpPr>
            <p:spPr>
              <a:xfrm>
                <a:off x="4280497" y="1341785"/>
                <a:ext cx="3020058" cy="511102"/>
              </a:xfrm>
              <a:prstGeom prst="rect">
                <a:avLst/>
              </a:prstGeom>
              <a:blipFill rotWithShape="0">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 name="TextBox 98"/>
              <p:cNvSpPr txBox="1"/>
              <p:nvPr/>
            </p:nvSpPr>
            <p:spPr>
              <a:xfrm>
                <a:off x="4280497" y="1896568"/>
                <a:ext cx="3020058" cy="5111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200" b="0" i="1" smtClean="0">
                              <a:latin typeface="Cambria Math" panose="02040503050406030204" pitchFamily="18" charset="0"/>
                            </a:rPr>
                          </m:ctrlPr>
                        </m:sSubSupPr>
                        <m:e>
                          <m:r>
                            <a:rPr lang="en-IN" sz="2200" b="0" i="1" smtClean="0">
                              <a:latin typeface="Cambria Math" panose="02040503050406030204" pitchFamily="18" charset="0"/>
                            </a:rPr>
                            <m:t>𝑎</m:t>
                          </m:r>
                        </m:e>
                        <m:sub>
                          <m:r>
                            <a:rPr lang="en-IN" sz="2200" b="0" i="1" smtClean="0">
                              <a:latin typeface="Cambria Math" panose="02040503050406030204" pitchFamily="18" charset="0"/>
                            </a:rPr>
                            <m:t>2</m:t>
                          </m:r>
                        </m:sub>
                        <m:sup>
                          <m:d>
                            <m:dPr>
                              <m:ctrlPr>
                                <a:rPr lang="en-IN" sz="2200" b="0" i="1" smtClean="0">
                                  <a:latin typeface="Cambria Math" panose="02040503050406030204" pitchFamily="18" charset="0"/>
                                </a:rPr>
                              </m:ctrlPr>
                            </m:dPr>
                            <m:e>
                              <m:r>
                                <a:rPr lang="en-IN" sz="2200" b="0" i="1" smtClean="0">
                                  <a:latin typeface="Cambria Math" panose="02040503050406030204" pitchFamily="18" charset="0"/>
                                </a:rPr>
                                <m:t>1</m:t>
                              </m:r>
                            </m:e>
                          </m:d>
                        </m:sup>
                      </m:sSubSup>
                      <m:r>
                        <a:rPr lang="en-IN" sz="2200" b="0" i="1" smtClean="0">
                          <a:latin typeface="Cambria Math" panose="02040503050406030204" pitchFamily="18" charset="0"/>
                        </a:rPr>
                        <m:t>(</m:t>
                      </m:r>
                      <m:r>
                        <a:rPr lang="en-IN" sz="2200" b="1" i="1" smtClean="0">
                          <a:latin typeface="Cambria Math" panose="02040503050406030204" pitchFamily="18" charset="0"/>
                        </a:rPr>
                        <m:t>𝒙</m:t>
                      </m:r>
                      <m:r>
                        <a:rPr lang="en-IN" sz="2200" b="0" i="1" smtClean="0">
                          <a:latin typeface="Cambria Math" panose="02040503050406030204" pitchFamily="18" charset="0"/>
                        </a:rPr>
                        <m:t>)</m:t>
                      </m:r>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sSubSup>
                            <m:sSubSupPr>
                              <m:ctrlPr>
                                <a:rPr lang="en-US" sz="2200" b="0" i="1" smtClean="0">
                                  <a:latin typeface="Cambria Math" panose="02040503050406030204" pitchFamily="18" charset="0"/>
                                </a:rPr>
                              </m:ctrlPr>
                            </m:sSubSupPr>
                            <m:e>
                              <m:r>
                                <a:rPr lang="en-IN" sz="2200" b="1" i="1" smtClean="0">
                                  <a:latin typeface="Cambria Math" panose="02040503050406030204" pitchFamily="18" charset="0"/>
                                </a:rPr>
                                <m:t>𝒘</m:t>
                              </m:r>
                            </m:e>
                            <m:sub>
                              <m:r>
                                <a:rPr lang="en-IN" sz="2200" b="0" i="1" smtClean="0">
                                  <a:latin typeface="Cambria Math" panose="02040503050406030204" pitchFamily="18" charset="0"/>
                                </a:rPr>
                                <m:t>2</m:t>
                              </m:r>
                            </m:sub>
                            <m:sup>
                              <m:r>
                                <a:rPr lang="en-IN" sz="2200" b="0" i="1" smtClean="0">
                                  <a:latin typeface="Cambria Math" panose="02040503050406030204" pitchFamily="18" charset="0"/>
                                </a:rPr>
                                <m:t>(1)</m:t>
                              </m:r>
                            </m:sup>
                          </m:sSubSup>
                          <m:sSubSup>
                            <m:sSubSupPr>
                              <m:ctrlPr>
                                <a:rPr lang="en-US" sz="2200" i="1">
                                  <a:solidFill>
                                    <a:prstClr val="black"/>
                                  </a:solidFill>
                                  <a:latin typeface="Cambria Math" panose="02040503050406030204" pitchFamily="18" charset="0"/>
                                </a:rPr>
                              </m:ctrlPr>
                            </m:sSubSupPr>
                            <m:e>
                              <m:r>
                                <a:rPr lang="en-US" sz="2200" i="1">
                                  <a:solidFill>
                                    <a:prstClr val="black"/>
                                  </a:solidFill>
                                  <a:latin typeface="Cambria Math" panose="02040503050406030204" pitchFamily="18" charset="0"/>
                                </a:rPr>
                                <m:t>𝑏</m:t>
                              </m:r>
                            </m:e>
                            <m:sub>
                              <m:r>
                                <a:rPr lang="en-IN" sz="2200" b="0" i="1" smtClean="0">
                                  <a:solidFill>
                                    <a:prstClr val="black"/>
                                  </a:solidFill>
                                  <a:latin typeface="Cambria Math" panose="02040503050406030204" pitchFamily="18" charset="0"/>
                                </a:rPr>
                                <m:t>2</m:t>
                              </m:r>
                            </m:sub>
                            <m:sup>
                              <m:r>
                                <a:rPr lang="en-US" sz="2200" i="1">
                                  <a:solidFill>
                                    <a:prstClr val="black"/>
                                  </a:solidFill>
                                  <a:latin typeface="Cambria Math" panose="02040503050406030204" pitchFamily="18" charset="0"/>
                                </a:rPr>
                                <m:t>(1)</m:t>
                              </m:r>
                            </m:sup>
                          </m:sSubSup>
                        </m:e>
                      </m:d>
                      <m:d>
                        <m:dPr>
                          <m:begChr m:val="["/>
                          <m:endChr m:val="]"/>
                          <m:ctrlPr>
                            <a:rPr lang="en-US" sz="2200" b="0" i="1" smtClean="0">
                              <a:latin typeface="Cambria Math" panose="02040503050406030204" pitchFamily="18" charset="0"/>
                            </a:rPr>
                          </m:ctrlPr>
                        </m:dPr>
                        <m:e>
                          <m:m>
                            <m:mPr>
                              <m:mcs>
                                <m:mc>
                                  <m:mcPr>
                                    <m:count m:val="1"/>
                                    <m:mcJc m:val="center"/>
                                  </m:mcPr>
                                </m:mc>
                              </m:mcs>
                              <m:ctrlPr>
                                <a:rPr lang="en-US" sz="2200" b="0" i="1" smtClean="0">
                                  <a:latin typeface="Cambria Math" panose="02040503050406030204" pitchFamily="18" charset="0"/>
                                </a:rPr>
                              </m:ctrlPr>
                            </m:mPr>
                            <m:mr>
                              <m:e>
                                <m:r>
                                  <m:rPr>
                                    <m:brk m:alnAt="7"/>
                                  </m:rPr>
                                  <a:rPr lang="en-IN" sz="2200" b="0" i="1" smtClean="0">
                                    <a:latin typeface="Cambria Math" panose="02040503050406030204" pitchFamily="18" charset="0"/>
                                  </a:rPr>
                                  <m:t> </m:t>
                                </m:r>
                                <m:r>
                                  <m:rPr>
                                    <m:brk m:alnAt="7"/>
                                  </m:rPr>
                                  <a:rPr lang="en-US" sz="2200" b="1" i="1" smtClean="0">
                                    <a:latin typeface="Cambria Math" panose="02040503050406030204" pitchFamily="18" charset="0"/>
                                  </a:rPr>
                                  <m:t>𝒙</m:t>
                                </m:r>
                                <m:r>
                                  <a:rPr lang="en-IN" sz="2200" b="1" i="1" smtClean="0">
                                    <a:latin typeface="Cambria Math" panose="02040503050406030204" pitchFamily="18" charset="0"/>
                                  </a:rPr>
                                  <m:t> </m:t>
                                </m:r>
                              </m:e>
                            </m:mr>
                            <m:mr>
                              <m:e>
                                <m:r>
                                  <a:rPr lang="en-IN" sz="2200" b="1" i="1" smtClean="0">
                                    <a:latin typeface="Cambria Math" panose="02040503050406030204" pitchFamily="18" charset="0"/>
                                  </a:rPr>
                                  <m:t> </m:t>
                                </m:r>
                                <m:r>
                                  <a:rPr lang="en-US" sz="2200" b="0" i="1" smtClean="0">
                                    <a:latin typeface="Cambria Math" panose="02040503050406030204" pitchFamily="18" charset="0"/>
                                  </a:rPr>
                                  <m:t>1</m:t>
                                </m:r>
                                <m:r>
                                  <a:rPr lang="en-IN" sz="2200" b="0" i="1" smtClean="0">
                                    <a:latin typeface="Cambria Math" panose="02040503050406030204" pitchFamily="18" charset="0"/>
                                  </a:rPr>
                                  <m:t> </m:t>
                                </m:r>
                              </m:e>
                            </m:mr>
                          </m:m>
                        </m:e>
                      </m:d>
                    </m:oMath>
                  </m:oMathPara>
                </a14:m>
                <a:endParaRPr lang="en-IN" sz="2200" dirty="0"/>
              </a:p>
            </p:txBody>
          </p:sp>
        </mc:Choice>
        <mc:Fallback xmlns="">
          <p:sp>
            <p:nvSpPr>
              <p:cNvPr id="99" name="TextBox 98"/>
              <p:cNvSpPr txBox="1">
                <a:spLocks noRot="1" noChangeAspect="1" noMove="1" noResize="1" noEditPoints="1" noAdjustHandles="1" noChangeArrowheads="1" noChangeShapeType="1" noTextEdit="1"/>
              </p:cNvSpPr>
              <p:nvPr/>
            </p:nvSpPr>
            <p:spPr>
              <a:xfrm>
                <a:off x="4280497" y="1896568"/>
                <a:ext cx="3020058" cy="511102"/>
              </a:xfrm>
              <a:prstGeom prst="rect">
                <a:avLst/>
              </a:prstGeom>
              <a:blipFill rotWithShape="0">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1" name="TextBox 100"/>
              <p:cNvSpPr txBox="1"/>
              <p:nvPr/>
            </p:nvSpPr>
            <p:spPr>
              <a:xfrm>
                <a:off x="4280497" y="2731054"/>
                <a:ext cx="3020058" cy="5111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200" b="0" i="1" smtClean="0">
                              <a:latin typeface="Cambria Math" panose="02040503050406030204" pitchFamily="18" charset="0"/>
                            </a:rPr>
                          </m:ctrlPr>
                        </m:sSubSupPr>
                        <m:e>
                          <m:r>
                            <a:rPr lang="en-IN" sz="2200" b="0" i="1" smtClean="0">
                              <a:latin typeface="Cambria Math" panose="02040503050406030204" pitchFamily="18" charset="0"/>
                            </a:rPr>
                            <m:t>𝑎</m:t>
                          </m:r>
                        </m:e>
                        <m:sub>
                          <m:r>
                            <a:rPr lang="en-IN" sz="2200" b="0" i="1" smtClean="0">
                              <a:latin typeface="Cambria Math" panose="02040503050406030204" pitchFamily="18" charset="0"/>
                            </a:rPr>
                            <m:t>𝑀</m:t>
                          </m:r>
                        </m:sub>
                        <m:sup>
                          <m:d>
                            <m:dPr>
                              <m:ctrlPr>
                                <a:rPr lang="en-IN" sz="2200" b="0" i="1" smtClean="0">
                                  <a:latin typeface="Cambria Math" panose="02040503050406030204" pitchFamily="18" charset="0"/>
                                </a:rPr>
                              </m:ctrlPr>
                            </m:dPr>
                            <m:e>
                              <m:r>
                                <a:rPr lang="en-IN" sz="2200" b="0" i="1" smtClean="0">
                                  <a:latin typeface="Cambria Math" panose="02040503050406030204" pitchFamily="18" charset="0"/>
                                </a:rPr>
                                <m:t>1</m:t>
                              </m:r>
                            </m:e>
                          </m:d>
                        </m:sup>
                      </m:sSubSup>
                      <m:r>
                        <a:rPr lang="en-IN" sz="2200" b="0" i="1" smtClean="0">
                          <a:latin typeface="Cambria Math" panose="02040503050406030204" pitchFamily="18" charset="0"/>
                        </a:rPr>
                        <m:t>(</m:t>
                      </m:r>
                      <m:r>
                        <a:rPr lang="en-IN" sz="2200" b="1" i="1" smtClean="0">
                          <a:latin typeface="Cambria Math" panose="02040503050406030204" pitchFamily="18" charset="0"/>
                        </a:rPr>
                        <m:t>𝒙</m:t>
                      </m:r>
                      <m:r>
                        <a:rPr lang="en-IN" sz="2200" b="0" i="1" smtClean="0">
                          <a:latin typeface="Cambria Math" panose="02040503050406030204" pitchFamily="18" charset="0"/>
                        </a:rPr>
                        <m:t>)</m:t>
                      </m:r>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sSubSup>
                            <m:sSubSupPr>
                              <m:ctrlPr>
                                <a:rPr lang="en-US" sz="2200" b="0" i="1" smtClean="0">
                                  <a:latin typeface="Cambria Math" panose="02040503050406030204" pitchFamily="18" charset="0"/>
                                </a:rPr>
                              </m:ctrlPr>
                            </m:sSubSupPr>
                            <m:e>
                              <m:r>
                                <a:rPr lang="en-IN" sz="2200" b="1" i="1" smtClean="0">
                                  <a:latin typeface="Cambria Math" panose="02040503050406030204" pitchFamily="18" charset="0"/>
                                </a:rPr>
                                <m:t>𝒘</m:t>
                              </m:r>
                            </m:e>
                            <m:sub>
                              <m:r>
                                <a:rPr lang="en-IN" sz="2200" b="0" i="1" smtClean="0">
                                  <a:latin typeface="Cambria Math" panose="02040503050406030204" pitchFamily="18" charset="0"/>
                                </a:rPr>
                                <m:t>𝑀</m:t>
                              </m:r>
                            </m:sub>
                            <m:sup>
                              <m:r>
                                <a:rPr lang="en-IN" sz="2200" b="0" i="1" smtClean="0">
                                  <a:latin typeface="Cambria Math" panose="02040503050406030204" pitchFamily="18" charset="0"/>
                                </a:rPr>
                                <m:t>(1)</m:t>
                              </m:r>
                            </m:sup>
                          </m:sSubSup>
                          <m:sSubSup>
                            <m:sSubSupPr>
                              <m:ctrlPr>
                                <a:rPr lang="en-US" sz="2200" i="1">
                                  <a:solidFill>
                                    <a:prstClr val="black"/>
                                  </a:solidFill>
                                  <a:latin typeface="Cambria Math" panose="02040503050406030204" pitchFamily="18" charset="0"/>
                                </a:rPr>
                              </m:ctrlPr>
                            </m:sSubSupPr>
                            <m:e>
                              <m:r>
                                <a:rPr lang="en-US" sz="2200" i="1">
                                  <a:solidFill>
                                    <a:prstClr val="black"/>
                                  </a:solidFill>
                                  <a:latin typeface="Cambria Math" panose="02040503050406030204" pitchFamily="18" charset="0"/>
                                </a:rPr>
                                <m:t>𝑏</m:t>
                              </m:r>
                            </m:e>
                            <m:sub>
                              <m:r>
                                <a:rPr lang="en-IN" sz="2200" b="0" i="1" smtClean="0">
                                  <a:solidFill>
                                    <a:prstClr val="black"/>
                                  </a:solidFill>
                                  <a:latin typeface="Cambria Math" panose="02040503050406030204" pitchFamily="18" charset="0"/>
                                </a:rPr>
                                <m:t>2</m:t>
                              </m:r>
                            </m:sub>
                            <m:sup>
                              <m:r>
                                <a:rPr lang="en-US" sz="2200" i="1">
                                  <a:solidFill>
                                    <a:prstClr val="black"/>
                                  </a:solidFill>
                                  <a:latin typeface="Cambria Math" panose="02040503050406030204" pitchFamily="18" charset="0"/>
                                </a:rPr>
                                <m:t>(1)</m:t>
                              </m:r>
                            </m:sup>
                          </m:sSubSup>
                        </m:e>
                      </m:d>
                      <m:d>
                        <m:dPr>
                          <m:begChr m:val="["/>
                          <m:endChr m:val="]"/>
                          <m:ctrlPr>
                            <a:rPr lang="en-US" sz="2200" b="0" i="1" smtClean="0">
                              <a:latin typeface="Cambria Math" panose="02040503050406030204" pitchFamily="18" charset="0"/>
                            </a:rPr>
                          </m:ctrlPr>
                        </m:dPr>
                        <m:e>
                          <m:m>
                            <m:mPr>
                              <m:mcs>
                                <m:mc>
                                  <m:mcPr>
                                    <m:count m:val="1"/>
                                    <m:mcJc m:val="center"/>
                                  </m:mcPr>
                                </m:mc>
                              </m:mcs>
                              <m:ctrlPr>
                                <a:rPr lang="en-US" sz="2200" b="0" i="1" smtClean="0">
                                  <a:latin typeface="Cambria Math" panose="02040503050406030204" pitchFamily="18" charset="0"/>
                                </a:rPr>
                              </m:ctrlPr>
                            </m:mPr>
                            <m:mr>
                              <m:e>
                                <m:r>
                                  <m:rPr>
                                    <m:brk m:alnAt="7"/>
                                  </m:rPr>
                                  <a:rPr lang="en-IN" sz="2200" b="0" i="1" smtClean="0">
                                    <a:latin typeface="Cambria Math" panose="02040503050406030204" pitchFamily="18" charset="0"/>
                                  </a:rPr>
                                  <m:t> </m:t>
                                </m:r>
                                <m:r>
                                  <m:rPr>
                                    <m:brk m:alnAt="7"/>
                                  </m:rPr>
                                  <a:rPr lang="en-US" sz="2200" b="1" i="1" smtClean="0">
                                    <a:latin typeface="Cambria Math" panose="02040503050406030204" pitchFamily="18" charset="0"/>
                                  </a:rPr>
                                  <m:t>𝒙</m:t>
                                </m:r>
                                <m:r>
                                  <a:rPr lang="en-IN" sz="2200" b="1" i="1" smtClean="0">
                                    <a:latin typeface="Cambria Math" panose="02040503050406030204" pitchFamily="18" charset="0"/>
                                  </a:rPr>
                                  <m:t> </m:t>
                                </m:r>
                              </m:e>
                            </m:mr>
                            <m:mr>
                              <m:e>
                                <m:r>
                                  <a:rPr lang="en-IN" sz="2200" b="1" i="1" smtClean="0">
                                    <a:latin typeface="Cambria Math" panose="02040503050406030204" pitchFamily="18" charset="0"/>
                                  </a:rPr>
                                  <m:t> </m:t>
                                </m:r>
                                <m:r>
                                  <a:rPr lang="en-US" sz="2200" b="0" i="1" smtClean="0">
                                    <a:latin typeface="Cambria Math" panose="02040503050406030204" pitchFamily="18" charset="0"/>
                                  </a:rPr>
                                  <m:t>1</m:t>
                                </m:r>
                                <m:r>
                                  <a:rPr lang="en-IN" sz="2200" b="0" i="1" smtClean="0">
                                    <a:latin typeface="Cambria Math" panose="02040503050406030204" pitchFamily="18" charset="0"/>
                                  </a:rPr>
                                  <m:t> </m:t>
                                </m:r>
                              </m:e>
                            </m:mr>
                          </m:m>
                        </m:e>
                      </m:d>
                    </m:oMath>
                  </m:oMathPara>
                </a14:m>
                <a:endParaRPr lang="en-IN" sz="2200" dirty="0"/>
              </a:p>
            </p:txBody>
          </p:sp>
        </mc:Choice>
        <mc:Fallback xmlns="">
          <p:sp>
            <p:nvSpPr>
              <p:cNvPr id="101" name="TextBox 100"/>
              <p:cNvSpPr txBox="1">
                <a:spLocks noRot="1" noChangeAspect="1" noMove="1" noResize="1" noEditPoints="1" noAdjustHandles="1" noChangeArrowheads="1" noChangeShapeType="1" noTextEdit="1"/>
              </p:cNvSpPr>
              <p:nvPr/>
            </p:nvSpPr>
            <p:spPr>
              <a:xfrm>
                <a:off x="4280497" y="2731054"/>
                <a:ext cx="3020058" cy="511102"/>
              </a:xfrm>
              <a:prstGeom prst="rect">
                <a:avLst/>
              </a:prstGeom>
              <a:blipFill rotWithShape="0">
                <a:blip r:embed="rId18"/>
                <a:stretch>
                  <a:fillRect/>
                </a:stretch>
              </a:blipFill>
            </p:spPr>
            <p:txBody>
              <a:bodyPr/>
              <a:lstStyle/>
              <a:p>
                <a:r>
                  <a:rPr lang="en-IN">
                    <a:noFill/>
                  </a:rPr>
                  <a:t> </a:t>
                </a:r>
              </a:p>
            </p:txBody>
          </p:sp>
        </mc:Fallback>
      </mc:AlternateContent>
      <p:sp>
        <p:nvSpPr>
          <p:cNvPr id="9" name="Right Brace 8"/>
          <p:cNvSpPr/>
          <p:nvPr/>
        </p:nvSpPr>
        <p:spPr>
          <a:xfrm>
            <a:off x="7300555" y="1361814"/>
            <a:ext cx="247426" cy="1880342"/>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1" name="TextBox 10"/>
              <p:cNvSpPr txBox="1"/>
              <p:nvPr/>
            </p:nvSpPr>
            <p:spPr>
              <a:xfrm>
                <a:off x="7727292" y="1482658"/>
                <a:ext cx="3526350" cy="16386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200" i="1" smtClean="0">
                              <a:latin typeface="Cambria Math" panose="02040503050406030204" pitchFamily="18" charset="0"/>
                            </a:rPr>
                          </m:ctrlPr>
                        </m:dPr>
                        <m:e>
                          <m:eqArr>
                            <m:eqArrPr>
                              <m:ctrlPr>
                                <a:rPr lang="en-IN" sz="2200" i="1" smtClean="0">
                                  <a:latin typeface="Cambria Math" panose="02040503050406030204" pitchFamily="18" charset="0"/>
                                </a:rPr>
                              </m:ctrlPr>
                            </m:eqArrPr>
                            <m:e>
                              <m:m>
                                <m:mPr>
                                  <m:mcs>
                                    <m:mc>
                                      <m:mcPr>
                                        <m:count m:val="1"/>
                                        <m:mcJc m:val="center"/>
                                      </m:mcPr>
                                    </m:mc>
                                  </m:mcs>
                                  <m:ctrlPr>
                                    <a:rPr lang="en-IN" sz="2200" i="1" smtClean="0">
                                      <a:latin typeface="Cambria Math" panose="02040503050406030204" pitchFamily="18" charset="0"/>
                                    </a:rPr>
                                  </m:ctrlPr>
                                </m:mPr>
                                <m:mr>
                                  <m:e>
                                    <m:sSubSup>
                                      <m:sSubSupPr>
                                        <m:ctrlPr>
                                          <a:rPr lang="en-US" sz="2200" i="1">
                                            <a:latin typeface="Cambria Math" panose="02040503050406030204" pitchFamily="18" charset="0"/>
                                          </a:rPr>
                                        </m:ctrlPr>
                                      </m:sSubSupPr>
                                      <m:e>
                                        <m:r>
                                          <a:rPr lang="en-IN" sz="2200" i="1">
                                            <a:latin typeface="Cambria Math" panose="02040503050406030204" pitchFamily="18" charset="0"/>
                                          </a:rPr>
                                          <m:t>𝑎</m:t>
                                        </m:r>
                                      </m:e>
                                      <m:sub>
                                        <m:r>
                                          <a:rPr lang="en-IN" sz="2200" i="1">
                                            <a:latin typeface="Cambria Math" panose="02040503050406030204" pitchFamily="18" charset="0"/>
                                          </a:rPr>
                                          <m:t>1</m:t>
                                        </m:r>
                                      </m:sub>
                                      <m:sup>
                                        <m:d>
                                          <m:dPr>
                                            <m:ctrlPr>
                                              <a:rPr lang="en-IN" sz="2200" i="1">
                                                <a:latin typeface="Cambria Math" panose="02040503050406030204" pitchFamily="18" charset="0"/>
                                              </a:rPr>
                                            </m:ctrlPr>
                                          </m:dPr>
                                          <m:e>
                                            <m:r>
                                              <a:rPr lang="en-IN" sz="2200" i="1">
                                                <a:latin typeface="Cambria Math" panose="02040503050406030204" pitchFamily="18" charset="0"/>
                                              </a:rPr>
                                              <m:t>1</m:t>
                                            </m:r>
                                          </m:e>
                                        </m:d>
                                      </m:sup>
                                    </m:sSubSup>
                                    <m:r>
                                      <a:rPr lang="en-IN" sz="2200" i="1">
                                        <a:latin typeface="Cambria Math" panose="02040503050406030204" pitchFamily="18" charset="0"/>
                                      </a:rPr>
                                      <m:t>(</m:t>
                                    </m:r>
                                    <m:r>
                                      <a:rPr lang="en-IN" sz="2200" b="1" i="1">
                                        <a:latin typeface="Cambria Math" panose="02040503050406030204" pitchFamily="18" charset="0"/>
                                      </a:rPr>
                                      <m:t>𝒙</m:t>
                                    </m:r>
                                    <m:r>
                                      <a:rPr lang="en-IN" sz="2200" i="1">
                                        <a:latin typeface="Cambria Math" panose="02040503050406030204" pitchFamily="18" charset="0"/>
                                      </a:rPr>
                                      <m:t>)</m:t>
                                    </m:r>
                                  </m:e>
                                </m:mr>
                                <m:mr>
                                  <m:e>
                                    <m:sSubSup>
                                      <m:sSubSupPr>
                                        <m:ctrlPr>
                                          <a:rPr lang="en-US" sz="2200" i="1">
                                            <a:latin typeface="Cambria Math" panose="02040503050406030204" pitchFamily="18" charset="0"/>
                                          </a:rPr>
                                        </m:ctrlPr>
                                      </m:sSubSupPr>
                                      <m:e>
                                        <m:r>
                                          <a:rPr lang="en-IN" sz="2200" i="1">
                                            <a:latin typeface="Cambria Math" panose="02040503050406030204" pitchFamily="18" charset="0"/>
                                          </a:rPr>
                                          <m:t>𝑎</m:t>
                                        </m:r>
                                      </m:e>
                                      <m:sub>
                                        <m:r>
                                          <a:rPr lang="en-IN" sz="2200" b="0" i="1" smtClean="0">
                                            <a:latin typeface="Cambria Math" panose="02040503050406030204" pitchFamily="18" charset="0"/>
                                          </a:rPr>
                                          <m:t>2</m:t>
                                        </m:r>
                                      </m:sub>
                                      <m:sup>
                                        <m:d>
                                          <m:dPr>
                                            <m:ctrlPr>
                                              <a:rPr lang="en-IN" sz="2200" i="1">
                                                <a:latin typeface="Cambria Math" panose="02040503050406030204" pitchFamily="18" charset="0"/>
                                              </a:rPr>
                                            </m:ctrlPr>
                                          </m:dPr>
                                          <m:e>
                                            <m:r>
                                              <a:rPr lang="en-IN" sz="2200" i="1">
                                                <a:latin typeface="Cambria Math" panose="02040503050406030204" pitchFamily="18" charset="0"/>
                                              </a:rPr>
                                              <m:t>1</m:t>
                                            </m:r>
                                          </m:e>
                                        </m:d>
                                      </m:sup>
                                    </m:sSubSup>
                                    <m:r>
                                      <a:rPr lang="en-IN" sz="2200" i="1">
                                        <a:latin typeface="Cambria Math" panose="02040503050406030204" pitchFamily="18" charset="0"/>
                                      </a:rPr>
                                      <m:t>(</m:t>
                                    </m:r>
                                    <m:r>
                                      <a:rPr lang="en-IN" sz="2200" b="1" i="1">
                                        <a:latin typeface="Cambria Math" panose="02040503050406030204" pitchFamily="18" charset="0"/>
                                      </a:rPr>
                                      <m:t>𝒙</m:t>
                                    </m:r>
                                    <m:r>
                                      <a:rPr lang="en-IN" sz="2200" i="1">
                                        <a:latin typeface="Cambria Math" panose="02040503050406030204" pitchFamily="18" charset="0"/>
                                      </a:rPr>
                                      <m:t>)</m:t>
                                    </m:r>
                                  </m:e>
                                </m:mr>
                                <m:mr>
                                  <m:e>
                                    <m:r>
                                      <a:rPr lang="en-IN" sz="2200" i="1" smtClean="0">
                                        <a:latin typeface="Cambria Math" panose="02040503050406030204" pitchFamily="18" charset="0"/>
                                      </a:rPr>
                                      <m:t>⋮</m:t>
                                    </m:r>
                                  </m:e>
                                </m:mr>
                              </m:m>
                            </m:e>
                            <m:e>
                              <m:sSubSup>
                                <m:sSubSupPr>
                                  <m:ctrlPr>
                                    <a:rPr lang="en-US" sz="2200" i="1">
                                      <a:latin typeface="Cambria Math" panose="02040503050406030204" pitchFamily="18" charset="0"/>
                                    </a:rPr>
                                  </m:ctrlPr>
                                </m:sSubSupPr>
                                <m:e>
                                  <m:r>
                                    <a:rPr lang="en-IN" sz="2200" i="1">
                                      <a:latin typeface="Cambria Math" panose="02040503050406030204" pitchFamily="18" charset="0"/>
                                    </a:rPr>
                                    <m:t>𝑎</m:t>
                                  </m:r>
                                </m:e>
                                <m:sub>
                                  <m:r>
                                    <a:rPr lang="en-IN" sz="2200" b="0" i="1" smtClean="0">
                                      <a:latin typeface="Cambria Math" panose="02040503050406030204" pitchFamily="18" charset="0"/>
                                    </a:rPr>
                                    <m:t>𝑀</m:t>
                                  </m:r>
                                </m:sub>
                                <m:sup>
                                  <m:d>
                                    <m:dPr>
                                      <m:ctrlPr>
                                        <a:rPr lang="en-IN" sz="2200" i="1">
                                          <a:latin typeface="Cambria Math" panose="02040503050406030204" pitchFamily="18" charset="0"/>
                                        </a:rPr>
                                      </m:ctrlPr>
                                    </m:dPr>
                                    <m:e>
                                      <m:r>
                                        <a:rPr lang="en-IN" sz="2200" i="1">
                                          <a:latin typeface="Cambria Math" panose="02040503050406030204" pitchFamily="18" charset="0"/>
                                        </a:rPr>
                                        <m:t>1</m:t>
                                      </m:r>
                                    </m:e>
                                  </m:d>
                                </m:sup>
                              </m:sSubSup>
                              <m:r>
                                <a:rPr lang="en-IN" sz="2200" i="1">
                                  <a:latin typeface="Cambria Math" panose="02040503050406030204" pitchFamily="18" charset="0"/>
                                </a:rPr>
                                <m:t>(</m:t>
                              </m:r>
                              <m:r>
                                <a:rPr lang="en-IN" sz="2200" b="1" i="1">
                                  <a:latin typeface="Cambria Math" panose="02040503050406030204" pitchFamily="18" charset="0"/>
                                </a:rPr>
                                <m:t>𝒙</m:t>
                              </m:r>
                              <m:r>
                                <a:rPr lang="en-IN" sz="2200" i="1">
                                  <a:latin typeface="Cambria Math" panose="02040503050406030204" pitchFamily="18" charset="0"/>
                                </a:rPr>
                                <m:t>)</m:t>
                              </m:r>
                            </m:e>
                          </m:eqArr>
                        </m:e>
                      </m:d>
                      <m:r>
                        <a:rPr lang="en-IN" sz="2200" b="0" i="1" smtClean="0">
                          <a:latin typeface="Cambria Math" panose="02040503050406030204" pitchFamily="18" charset="0"/>
                        </a:rPr>
                        <m:t>= </m:t>
                      </m:r>
                      <m:d>
                        <m:dPr>
                          <m:begChr m:val="["/>
                          <m:endChr m:val="]"/>
                          <m:ctrlPr>
                            <a:rPr lang="en-IN" sz="2200" b="0" i="1" smtClean="0">
                              <a:latin typeface="Cambria Math" panose="02040503050406030204" pitchFamily="18" charset="0"/>
                            </a:rPr>
                          </m:ctrlPr>
                        </m:dPr>
                        <m:e>
                          <m:m>
                            <m:mPr>
                              <m:mcs>
                                <m:mc>
                                  <m:mcPr>
                                    <m:count m:val="2"/>
                                    <m:mcJc m:val="center"/>
                                  </m:mcPr>
                                </m:mc>
                              </m:mcs>
                              <m:ctrlPr>
                                <a:rPr lang="en-IN" sz="2200" b="0" i="1" smtClean="0">
                                  <a:latin typeface="Cambria Math" panose="02040503050406030204" pitchFamily="18" charset="0"/>
                                </a:rPr>
                              </m:ctrlPr>
                            </m:mPr>
                            <m:mr>
                              <m:e>
                                <m:sSubSup>
                                  <m:sSubSupPr>
                                    <m:ctrlPr>
                                      <a:rPr lang="en-US" sz="2200" i="1">
                                        <a:latin typeface="Cambria Math" panose="02040503050406030204" pitchFamily="18" charset="0"/>
                                      </a:rPr>
                                    </m:ctrlPr>
                                  </m:sSubSupPr>
                                  <m:e>
                                    <m:r>
                                      <a:rPr lang="en-IN" sz="2200" b="1" i="1">
                                        <a:latin typeface="Cambria Math" panose="02040503050406030204" pitchFamily="18" charset="0"/>
                                      </a:rPr>
                                      <m:t>𝒘</m:t>
                                    </m:r>
                                  </m:e>
                                  <m:sub>
                                    <m:r>
                                      <a:rPr lang="en-IN" sz="2200" i="1">
                                        <a:latin typeface="Cambria Math" panose="02040503050406030204" pitchFamily="18" charset="0"/>
                                      </a:rPr>
                                      <m:t>1</m:t>
                                    </m:r>
                                  </m:sub>
                                  <m:sup>
                                    <m:r>
                                      <a:rPr lang="en-IN" sz="2200" i="1">
                                        <a:latin typeface="Cambria Math" panose="02040503050406030204" pitchFamily="18" charset="0"/>
                                      </a:rPr>
                                      <m:t>(1)</m:t>
                                    </m:r>
                                  </m:sup>
                                </m:sSubSup>
                              </m:e>
                              <m:e>
                                <m:sSubSup>
                                  <m:sSubSupPr>
                                    <m:ctrlPr>
                                      <a:rPr lang="en-US" sz="2200" i="1">
                                        <a:solidFill>
                                          <a:prstClr val="black"/>
                                        </a:solidFill>
                                        <a:latin typeface="Cambria Math" panose="02040503050406030204" pitchFamily="18" charset="0"/>
                                      </a:rPr>
                                    </m:ctrlPr>
                                  </m:sSubSupPr>
                                  <m:e>
                                    <m:r>
                                      <a:rPr lang="en-US" sz="2200" i="1">
                                        <a:solidFill>
                                          <a:prstClr val="black"/>
                                        </a:solidFill>
                                        <a:latin typeface="Cambria Math" panose="02040503050406030204" pitchFamily="18" charset="0"/>
                                      </a:rPr>
                                      <m:t>𝑏</m:t>
                                    </m:r>
                                  </m:e>
                                  <m:sub>
                                    <m:r>
                                      <a:rPr lang="en-US" sz="2200" i="1">
                                        <a:solidFill>
                                          <a:prstClr val="black"/>
                                        </a:solidFill>
                                        <a:latin typeface="Cambria Math" panose="02040503050406030204" pitchFamily="18" charset="0"/>
                                      </a:rPr>
                                      <m:t>1</m:t>
                                    </m:r>
                                  </m:sub>
                                  <m:sup>
                                    <m:r>
                                      <a:rPr lang="en-US" sz="2200" i="1">
                                        <a:solidFill>
                                          <a:prstClr val="black"/>
                                        </a:solidFill>
                                        <a:latin typeface="Cambria Math" panose="02040503050406030204" pitchFamily="18" charset="0"/>
                                      </a:rPr>
                                      <m:t>(1)</m:t>
                                    </m:r>
                                  </m:sup>
                                </m:sSubSup>
                              </m:e>
                            </m:mr>
                            <m:mr>
                              <m:e>
                                <m:eqArr>
                                  <m:eqArrPr>
                                    <m:ctrlPr>
                                      <a:rPr lang="en-IN" sz="2200" b="0" i="1" smtClean="0">
                                        <a:latin typeface="Cambria Math" panose="02040503050406030204" pitchFamily="18" charset="0"/>
                                      </a:rPr>
                                    </m:ctrlPr>
                                  </m:eqArrPr>
                                  <m:e>
                                    <m:sSubSup>
                                      <m:sSubSupPr>
                                        <m:ctrlPr>
                                          <a:rPr lang="en-US" sz="2200" i="1">
                                            <a:latin typeface="Cambria Math" panose="02040503050406030204" pitchFamily="18" charset="0"/>
                                          </a:rPr>
                                        </m:ctrlPr>
                                      </m:sSubSupPr>
                                      <m:e>
                                        <m:r>
                                          <a:rPr lang="en-IN" sz="2200" b="1" i="1">
                                            <a:latin typeface="Cambria Math" panose="02040503050406030204" pitchFamily="18" charset="0"/>
                                          </a:rPr>
                                          <m:t>𝒘</m:t>
                                        </m:r>
                                      </m:e>
                                      <m:sub>
                                        <m:r>
                                          <a:rPr lang="en-IN" sz="2200" b="0" i="1" smtClean="0">
                                            <a:latin typeface="Cambria Math" panose="02040503050406030204" pitchFamily="18" charset="0"/>
                                          </a:rPr>
                                          <m:t>2</m:t>
                                        </m:r>
                                      </m:sub>
                                      <m:sup>
                                        <m:r>
                                          <a:rPr lang="en-IN" sz="2200" i="1">
                                            <a:latin typeface="Cambria Math" panose="02040503050406030204" pitchFamily="18" charset="0"/>
                                          </a:rPr>
                                          <m:t>(1)</m:t>
                                        </m:r>
                                      </m:sup>
                                    </m:sSubSup>
                                  </m:e>
                                  <m:e>
                                    <m:r>
                                      <a:rPr lang="en-IN" sz="2200" i="1" smtClean="0">
                                        <a:latin typeface="Cambria Math" panose="02040503050406030204" pitchFamily="18" charset="0"/>
                                      </a:rPr>
                                      <m:t>⋮</m:t>
                                    </m:r>
                                  </m:e>
                                </m:eqArr>
                              </m:e>
                              <m:e>
                                <m:eqArr>
                                  <m:eqArrPr>
                                    <m:ctrlPr>
                                      <a:rPr lang="en-IN" sz="2200" b="0" i="1" smtClean="0">
                                        <a:latin typeface="Cambria Math" panose="02040503050406030204" pitchFamily="18" charset="0"/>
                                      </a:rPr>
                                    </m:ctrlPr>
                                  </m:eqArrPr>
                                  <m:e>
                                    <m:sSubSup>
                                      <m:sSubSupPr>
                                        <m:ctrlPr>
                                          <a:rPr lang="en-US" sz="2200" i="1">
                                            <a:solidFill>
                                              <a:prstClr val="black"/>
                                            </a:solidFill>
                                            <a:latin typeface="Cambria Math" panose="02040503050406030204" pitchFamily="18" charset="0"/>
                                          </a:rPr>
                                        </m:ctrlPr>
                                      </m:sSubSupPr>
                                      <m:e>
                                        <m:r>
                                          <a:rPr lang="en-US" sz="2200" i="1">
                                            <a:solidFill>
                                              <a:prstClr val="black"/>
                                            </a:solidFill>
                                            <a:latin typeface="Cambria Math" panose="02040503050406030204" pitchFamily="18" charset="0"/>
                                          </a:rPr>
                                          <m:t>𝑏</m:t>
                                        </m:r>
                                      </m:e>
                                      <m:sub>
                                        <m:r>
                                          <a:rPr lang="en-IN" sz="2200" b="0" i="1" smtClean="0">
                                            <a:solidFill>
                                              <a:prstClr val="black"/>
                                            </a:solidFill>
                                            <a:latin typeface="Cambria Math" panose="02040503050406030204" pitchFamily="18" charset="0"/>
                                          </a:rPr>
                                          <m:t>2</m:t>
                                        </m:r>
                                      </m:sub>
                                      <m:sup>
                                        <m:r>
                                          <a:rPr lang="en-US" sz="2200" i="1">
                                            <a:solidFill>
                                              <a:prstClr val="black"/>
                                            </a:solidFill>
                                            <a:latin typeface="Cambria Math" panose="02040503050406030204" pitchFamily="18" charset="0"/>
                                          </a:rPr>
                                          <m:t>(1)</m:t>
                                        </m:r>
                                      </m:sup>
                                    </m:sSubSup>
                                  </m:e>
                                  <m:e>
                                    <m:r>
                                      <a:rPr lang="en-IN" sz="2200" i="1" smtClean="0">
                                        <a:latin typeface="Cambria Math" panose="02040503050406030204" pitchFamily="18" charset="0"/>
                                      </a:rPr>
                                      <m:t>⋮</m:t>
                                    </m:r>
                                  </m:e>
                                </m:eqArr>
                              </m:e>
                            </m:mr>
                            <m:mr>
                              <m:e>
                                <m:sSubSup>
                                  <m:sSubSupPr>
                                    <m:ctrlPr>
                                      <a:rPr lang="en-US" sz="2200" i="1">
                                        <a:latin typeface="Cambria Math" panose="02040503050406030204" pitchFamily="18" charset="0"/>
                                      </a:rPr>
                                    </m:ctrlPr>
                                  </m:sSubSupPr>
                                  <m:e>
                                    <m:r>
                                      <a:rPr lang="en-IN" sz="2200" b="1" i="1">
                                        <a:latin typeface="Cambria Math" panose="02040503050406030204" pitchFamily="18" charset="0"/>
                                      </a:rPr>
                                      <m:t>𝒘</m:t>
                                    </m:r>
                                  </m:e>
                                  <m:sub>
                                    <m:r>
                                      <a:rPr lang="en-IN" sz="2200" b="0" i="1" smtClean="0">
                                        <a:latin typeface="Cambria Math" panose="02040503050406030204" pitchFamily="18" charset="0"/>
                                      </a:rPr>
                                      <m:t>𝑀</m:t>
                                    </m:r>
                                  </m:sub>
                                  <m:sup>
                                    <m:r>
                                      <a:rPr lang="en-IN" sz="2200" i="1">
                                        <a:latin typeface="Cambria Math" panose="02040503050406030204" pitchFamily="18" charset="0"/>
                                      </a:rPr>
                                      <m:t>(1)</m:t>
                                    </m:r>
                                  </m:sup>
                                </m:sSubSup>
                              </m:e>
                              <m:e>
                                <m:sSubSup>
                                  <m:sSubSupPr>
                                    <m:ctrlPr>
                                      <a:rPr lang="en-US" sz="2200" i="1">
                                        <a:solidFill>
                                          <a:prstClr val="black"/>
                                        </a:solidFill>
                                        <a:latin typeface="Cambria Math" panose="02040503050406030204" pitchFamily="18" charset="0"/>
                                      </a:rPr>
                                    </m:ctrlPr>
                                  </m:sSubSupPr>
                                  <m:e>
                                    <m:r>
                                      <a:rPr lang="en-US" sz="2200" i="1">
                                        <a:solidFill>
                                          <a:prstClr val="black"/>
                                        </a:solidFill>
                                        <a:latin typeface="Cambria Math" panose="02040503050406030204" pitchFamily="18" charset="0"/>
                                      </a:rPr>
                                      <m:t>𝑏</m:t>
                                    </m:r>
                                  </m:e>
                                  <m:sub>
                                    <m:r>
                                      <a:rPr lang="en-IN" sz="2200" b="0" i="1" smtClean="0">
                                        <a:solidFill>
                                          <a:prstClr val="black"/>
                                        </a:solidFill>
                                        <a:latin typeface="Cambria Math" panose="02040503050406030204" pitchFamily="18" charset="0"/>
                                      </a:rPr>
                                      <m:t>𝑀</m:t>
                                    </m:r>
                                  </m:sub>
                                  <m:sup>
                                    <m:r>
                                      <a:rPr lang="en-US" sz="2200" i="1">
                                        <a:solidFill>
                                          <a:prstClr val="black"/>
                                        </a:solidFill>
                                        <a:latin typeface="Cambria Math" panose="02040503050406030204" pitchFamily="18" charset="0"/>
                                      </a:rPr>
                                      <m:t>(1)</m:t>
                                    </m:r>
                                  </m:sup>
                                </m:sSubSup>
                              </m:e>
                            </m:mr>
                          </m:m>
                        </m:e>
                      </m:d>
                      <m:d>
                        <m:dPr>
                          <m:begChr m:val="["/>
                          <m:endChr m:val="]"/>
                          <m:ctrlPr>
                            <a:rPr lang="en-IN" sz="2200" b="0" i="1" smtClean="0">
                              <a:latin typeface="Cambria Math" panose="02040503050406030204" pitchFamily="18" charset="0"/>
                            </a:rPr>
                          </m:ctrlPr>
                        </m:dPr>
                        <m:e>
                          <m:m>
                            <m:mPr>
                              <m:mcs>
                                <m:mc>
                                  <m:mcPr>
                                    <m:count m:val="1"/>
                                    <m:mcJc m:val="center"/>
                                  </m:mcPr>
                                </m:mc>
                              </m:mcs>
                              <m:ctrlPr>
                                <a:rPr lang="en-IN" sz="2200" b="0" i="1" smtClean="0">
                                  <a:latin typeface="Cambria Math" panose="02040503050406030204" pitchFamily="18" charset="0"/>
                                </a:rPr>
                              </m:ctrlPr>
                            </m:mPr>
                            <m:mr>
                              <m:e>
                                <m:r>
                                  <m:rPr>
                                    <m:brk m:alnAt="7"/>
                                  </m:rPr>
                                  <a:rPr lang="en-IN" sz="2200" b="1" i="1" smtClean="0">
                                    <a:latin typeface="Cambria Math" panose="02040503050406030204" pitchFamily="18" charset="0"/>
                                  </a:rPr>
                                  <m:t>𝒙</m:t>
                                </m:r>
                              </m:e>
                            </m:mr>
                            <m:mr>
                              <m:e>
                                <m:r>
                                  <a:rPr lang="en-IN" sz="2200" b="0" i="1" smtClean="0">
                                    <a:latin typeface="Cambria Math" panose="02040503050406030204" pitchFamily="18" charset="0"/>
                                  </a:rPr>
                                  <m:t>1</m:t>
                                </m:r>
                              </m:e>
                            </m:mr>
                          </m:m>
                        </m:e>
                      </m:d>
                    </m:oMath>
                  </m:oMathPara>
                </a14:m>
                <a:endParaRPr lang="en-IN" sz="2200" dirty="0"/>
              </a:p>
            </p:txBody>
          </p:sp>
        </mc:Choice>
        <mc:Fallback xmlns="">
          <p:sp>
            <p:nvSpPr>
              <p:cNvPr id="11" name="TextBox 10"/>
              <p:cNvSpPr txBox="1">
                <a:spLocks noRot="1" noChangeAspect="1" noMove="1" noResize="1" noEditPoints="1" noAdjustHandles="1" noChangeArrowheads="1" noChangeShapeType="1" noTextEdit="1"/>
              </p:cNvSpPr>
              <p:nvPr/>
            </p:nvSpPr>
            <p:spPr>
              <a:xfrm>
                <a:off x="7727292" y="1482658"/>
                <a:ext cx="3526350" cy="1638654"/>
              </a:xfrm>
              <a:prstGeom prst="rect">
                <a:avLst/>
              </a:prstGeom>
              <a:blipFill rotWithShape="0">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5293509" y="2404393"/>
                <a:ext cx="125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rPr>
                        <m:t>⋮</m:t>
                      </m:r>
                    </m:oMath>
                  </m:oMathPara>
                </a14:m>
                <a:endParaRPr lang="en-IN" dirty="0"/>
              </a:p>
            </p:txBody>
          </p:sp>
        </mc:Choice>
        <mc:Fallback xmlns="">
          <p:sp>
            <p:nvSpPr>
              <p:cNvPr id="12" name="TextBox 11"/>
              <p:cNvSpPr txBox="1">
                <a:spLocks noRot="1" noChangeAspect="1" noMove="1" noResize="1" noEditPoints="1" noAdjustHandles="1" noChangeArrowheads="1" noChangeShapeType="1" noTextEdit="1"/>
              </p:cNvSpPr>
              <p:nvPr/>
            </p:nvSpPr>
            <p:spPr>
              <a:xfrm>
                <a:off x="5293509" y="2404393"/>
                <a:ext cx="125034" cy="276999"/>
              </a:xfrm>
              <a:prstGeom prst="rect">
                <a:avLst/>
              </a:prstGeom>
              <a:blipFill rotWithShape="0">
                <a:blip r:embed="rId20"/>
                <a:stretch>
                  <a:fillRect l="-42857" r="-38095" b="-434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7727292" y="3410630"/>
                <a:ext cx="3093154" cy="5111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2200" i="1" smtClean="0">
                              <a:latin typeface="Cambria Math" panose="02040503050406030204" pitchFamily="18" charset="0"/>
                            </a:rPr>
                          </m:ctrlPr>
                        </m:sSupPr>
                        <m:e>
                          <m:r>
                            <a:rPr lang="en-IN" sz="2200" b="1" i="1" smtClean="0">
                              <a:latin typeface="Cambria Math" panose="02040503050406030204" pitchFamily="18" charset="0"/>
                            </a:rPr>
                            <m:t>𝒂</m:t>
                          </m:r>
                        </m:e>
                        <m:sup>
                          <m:d>
                            <m:dPr>
                              <m:ctrlPr>
                                <a:rPr lang="en-IN" sz="2200" b="0" i="1" smtClean="0">
                                  <a:latin typeface="Cambria Math" panose="02040503050406030204" pitchFamily="18" charset="0"/>
                                </a:rPr>
                              </m:ctrlPr>
                            </m:dPr>
                            <m:e>
                              <m:r>
                                <a:rPr lang="en-IN" sz="2200" b="0" i="1" smtClean="0">
                                  <a:latin typeface="Cambria Math" panose="02040503050406030204" pitchFamily="18" charset="0"/>
                                </a:rPr>
                                <m:t>1</m:t>
                              </m:r>
                            </m:e>
                          </m:d>
                        </m:sup>
                      </m:sSup>
                      <m:d>
                        <m:dPr>
                          <m:ctrlPr>
                            <a:rPr lang="en-IN" sz="2200" b="0" i="1" smtClean="0">
                              <a:latin typeface="Cambria Math" panose="02040503050406030204" pitchFamily="18" charset="0"/>
                            </a:rPr>
                          </m:ctrlPr>
                        </m:dPr>
                        <m:e>
                          <m:r>
                            <a:rPr lang="en-IN" sz="2200" b="1" i="1" smtClean="0">
                              <a:latin typeface="Cambria Math" panose="02040503050406030204" pitchFamily="18" charset="0"/>
                            </a:rPr>
                            <m:t>𝒙</m:t>
                          </m:r>
                        </m:e>
                      </m:d>
                      <m:r>
                        <a:rPr lang="en-IN" sz="2200" b="0" i="1" smtClean="0">
                          <a:latin typeface="Cambria Math" panose="02040503050406030204" pitchFamily="18" charset="0"/>
                        </a:rPr>
                        <m:t>=</m:t>
                      </m:r>
                      <m:d>
                        <m:dPr>
                          <m:begChr m:val="["/>
                          <m:endChr m:val="]"/>
                          <m:ctrlPr>
                            <a:rPr lang="en-US" sz="2200" i="1">
                              <a:latin typeface="Cambria Math" panose="02040503050406030204" pitchFamily="18" charset="0"/>
                            </a:rPr>
                          </m:ctrlPr>
                        </m:dPr>
                        <m:e>
                          <m:sSup>
                            <m:sSupPr>
                              <m:ctrlPr>
                                <a:rPr lang="en-US" sz="2200" i="1">
                                  <a:latin typeface="Cambria Math" panose="02040503050406030204" pitchFamily="18" charset="0"/>
                                </a:rPr>
                              </m:ctrlPr>
                            </m:sSupPr>
                            <m:e>
                              <m:r>
                                <a:rPr lang="en-IN" sz="2200" b="1" i="1">
                                  <a:latin typeface="Cambria Math" panose="02040503050406030204" pitchFamily="18" charset="0"/>
                                </a:rPr>
                                <m:t>𝑾</m:t>
                              </m:r>
                            </m:e>
                            <m:sup>
                              <m:r>
                                <a:rPr lang="en-IN" sz="2200" i="1">
                                  <a:latin typeface="Cambria Math" panose="02040503050406030204" pitchFamily="18" charset="0"/>
                                </a:rPr>
                                <m:t>(1)</m:t>
                              </m:r>
                            </m:sup>
                          </m:sSup>
                          <m:sSup>
                            <m:sSupPr>
                              <m:ctrlPr>
                                <a:rPr lang="en-US" sz="2200" i="1">
                                  <a:latin typeface="Cambria Math" panose="02040503050406030204" pitchFamily="18" charset="0"/>
                                </a:rPr>
                              </m:ctrlPr>
                            </m:sSupPr>
                            <m:e>
                              <m:r>
                                <a:rPr lang="en-IN" sz="2200" b="1" i="1">
                                  <a:latin typeface="Cambria Math" panose="02040503050406030204" pitchFamily="18" charset="0"/>
                                </a:rPr>
                                <m:t>𝒃</m:t>
                              </m:r>
                            </m:e>
                            <m:sup>
                              <m:r>
                                <a:rPr lang="en-IN" sz="2200" i="1">
                                  <a:latin typeface="Cambria Math" panose="02040503050406030204" pitchFamily="18" charset="0"/>
                                </a:rPr>
                                <m:t>(1)</m:t>
                              </m:r>
                            </m:sup>
                          </m:sSup>
                        </m:e>
                      </m:d>
                      <m:d>
                        <m:dPr>
                          <m:begChr m:val="["/>
                          <m:endChr m:val="]"/>
                          <m:ctrlPr>
                            <a:rPr lang="en-US" sz="2200" i="1">
                              <a:latin typeface="Cambria Math" panose="02040503050406030204" pitchFamily="18" charset="0"/>
                            </a:rPr>
                          </m:ctrlPr>
                        </m:dPr>
                        <m:e>
                          <m:m>
                            <m:mPr>
                              <m:mcs>
                                <m:mc>
                                  <m:mcPr>
                                    <m:count m:val="1"/>
                                    <m:mcJc m:val="center"/>
                                  </m:mcPr>
                                </m:mc>
                              </m:mcs>
                              <m:ctrlPr>
                                <a:rPr lang="en-US" sz="2200" i="1">
                                  <a:latin typeface="Cambria Math" panose="02040503050406030204" pitchFamily="18" charset="0"/>
                                </a:rPr>
                              </m:ctrlPr>
                            </m:mPr>
                            <m:mr>
                              <m:e>
                                <m:r>
                                  <m:rPr>
                                    <m:brk m:alnAt="7"/>
                                  </m:rPr>
                                  <a:rPr lang="en-IN" sz="2200" i="1">
                                    <a:latin typeface="Cambria Math" panose="02040503050406030204" pitchFamily="18" charset="0"/>
                                  </a:rPr>
                                  <m:t> </m:t>
                                </m:r>
                                <m:r>
                                  <m:rPr>
                                    <m:brk m:alnAt="7"/>
                                  </m:rPr>
                                  <a:rPr lang="en-US" sz="2200" b="1" i="1">
                                    <a:latin typeface="Cambria Math" panose="02040503050406030204" pitchFamily="18" charset="0"/>
                                  </a:rPr>
                                  <m:t>𝒙</m:t>
                                </m:r>
                                <m:r>
                                  <a:rPr lang="en-IN" sz="2200" b="1" i="1">
                                    <a:latin typeface="Cambria Math" panose="02040503050406030204" pitchFamily="18" charset="0"/>
                                  </a:rPr>
                                  <m:t> </m:t>
                                </m:r>
                              </m:e>
                            </m:mr>
                            <m:mr>
                              <m:e>
                                <m:r>
                                  <a:rPr lang="en-IN" sz="2200" b="1" i="1">
                                    <a:latin typeface="Cambria Math" panose="02040503050406030204" pitchFamily="18" charset="0"/>
                                  </a:rPr>
                                  <m:t> </m:t>
                                </m:r>
                                <m:r>
                                  <a:rPr lang="en-US" sz="2200" i="1">
                                    <a:latin typeface="Cambria Math" panose="02040503050406030204" pitchFamily="18" charset="0"/>
                                  </a:rPr>
                                  <m:t>1</m:t>
                                </m:r>
                                <m:r>
                                  <a:rPr lang="en-IN" sz="2200" i="1">
                                    <a:latin typeface="Cambria Math" panose="02040503050406030204" pitchFamily="18" charset="0"/>
                                  </a:rPr>
                                  <m:t> </m:t>
                                </m:r>
                              </m:e>
                            </m:mr>
                          </m:m>
                        </m:e>
                      </m:d>
                    </m:oMath>
                  </m:oMathPara>
                </a14:m>
                <a:endParaRPr lang="en-IN" sz="2200" dirty="0"/>
              </a:p>
            </p:txBody>
          </p:sp>
        </mc:Choice>
        <mc:Fallback xmlns="">
          <p:sp>
            <p:nvSpPr>
              <p:cNvPr id="14" name="TextBox 13"/>
              <p:cNvSpPr txBox="1">
                <a:spLocks noRot="1" noChangeAspect="1" noMove="1" noResize="1" noEditPoints="1" noAdjustHandles="1" noChangeArrowheads="1" noChangeShapeType="1" noTextEdit="1"/>
              </p:cNvSpPr>
              <p:nvPr/>
            </p:nvSpPr>
            <p:spPr>
              <a:xfrm>
                <a:off x="7727292" y="3410630"/>
                <a:ext cx="3093154" cy="511102"/>
              </a:xfrm>
              <a:prstGeom prst="rect">
                <a:avLst/>
              </a:prstGeom>
              <a:blipFill rotWithShape="0">
                <a:blip r:embed="rId21"/>
                <a:stretch>
                  <a:fillRect/>
                </a:stretch>
              </a:blipFill>
            </p:spPr>
            <p:txBody>
              <a:bodyPr/>
              <a:lstStyle/>
              <a:p>
                <a:r>
                  <a:rPr lang="en-IN">
                    <a:noFill/>
                  </a:rPr>
                  <a:t> </a:t>
                </a:r>
              </a:p>
            </p:txBody>
          </p:sp>
        </mc:Fallback>
      </mc:AlternateContent>
      <p:sp>
        <p:nvSpPr>
          <p:cNvPr id="106" name="TextBox 105"/>
          <p:cNvSpPr txBox="1"/>
          <p:nvPr/>
        </p:nvSpPr>
        <p:spPr>
          <a:xfrm>
            <a:off x="6996774" y="4287358"/>
            <a:ext cx="1555554" cy="369332"/>
          </a:xfrm>
          <a:prstGeom prst="rect">
            <a:avLst/>
          </a:prstGeom>
          <a:noFill/>
        </p:spPr>
        <p:txBody>
          <a:bodyPr wrap="none" rtlCol="0">
            <a:spAutoFit/>
          </a:bodyPr>
          <a:lstStyle/>
          <a:p>
            <a:r>
              <a:rPr lang="en-IN" dirty="0"/>
              <a:t>Column vector</a:t>
            </a:r>
          </a:p>
        </p:txBody>
      </p:sp>
      <p:sp>
        <p:nvSpPr>
          <p:cNvPr id="107" name="TextBox 106"/>
          <p:cNvSpPr txBox="1"/>
          <p:nvPr/>
        </p:nvSpPr>
        <p:spPr>
          <a:xfrm>
            <a:off x="10211966" y="4298522"/>
            <a:ext cx="1555554" cy="369332"/>
          </a:xfrm>
          <a:prstGeom prst="rect">
            <a:avLst/>
          </a:prstGeom>
          <a:noFill/>
        </p:spPr>
        <p:txBody>
          <a:bodyPr wrap="none" rtlCol="0">
            <a:spAutoFit/>
          </a:bodyPr>
          <a:lstStyle/>
          <a:p>
            <a:r>
              <a:rPr lang="en-IN" dirty="0"/>
              <a:t>Column vector</a:t>
            </a:r>
          </a:p>
        </p:txBody>
      </p:sp>
      <p:sp>
        <p:nvSpPr>
          <p:cNvPr id="108" name="TextBox 107"/>
          <p:cNvSpPr txBox="1"/>
          <p:nvPr/>
        </p:nvSpPr>
        <p:spPr>
          <a:xfrm>
            <a:off x="9323187" y="4642972"/>
            <a:ext cx="1555554" cy="369332"/>
          </a:xfrm>
          <a:prstGeom prst="rect">
            <a:avLst/>
          </a:prstGeom>
          <a:noFill/>
        </p:spPr>
        <p:txBody>
          <a:bodyPr wrap="none" rtlCol="0">
            <a:spAutoFit/>
          </a:bodyPr>
          <a:lstStyle/>
          <a:p>
            <a:r>
              <a:rPr lang="en-IN" dirty="0"/>
              <a:t>Column vector</a:t>
            </a:r>
          </a:p>
        </p:txBody>
      </p:sp>
      <p:sp>
        <p:nvSpPr>
          <p:cNvPr id="109" name="TextBox 108"/>
          <p:cNvSpPr txBox="1"/>
          <p:nvPr/>
        </p:nvSpPr>
        <p:spPr>
          <a:xfrm>
            <a:off x="8852500" y="3887669"/>
            <a:ext cx="799706" cy="369332"/>
          </a:xfrm>
          <a:prstGeom prst="rect">
            <a:avLst/>
          </a:prstGeom>
          <a:noFill/>
        </p:spPr>
        <p:txBody>
          <a:bodyPr wrap="none" rtlCol="0">
            <a:spAutoFit/>
          </a:bodyPr>
          <a:lstStyle/>
          <a:p>
            <a:r>
              <a:rPr lang="en-IN" dirty="0"/>
              <a:t>Matrix</a:t>
            </a:r>
          </a:p>
        </p:txBody>
      </p:sp>
      <p:cxnSp>
        <p:nvCxnSpPr>
          <p:cNvPr id="16" name="Straight Arrow Connector 15"/>
          <p:cNvCxnSpPr/>
          <p:nvPr/>
        </p:nvCxnSpPr>
        <p:spPr>
          <a:xfrm>
            <a:off x="7925959" y="3670857"/>
            <a:ext cx="0" cy="730618"/>
          </a:xfrm>
          <a:prstGeom prst="straightConnector1">
            <a:avLst/>
          </a:prstGeom>
          <a:ln w="22225">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0" name="Straight Arrow Connector 109"/>
          <p:cNvCxnSpPr/>
          <p:nvPr/>
        </p:nvCxnSpPr>
        <p:spPr>
          <a:xfrm>
            <a:off x="10507987" y="3837904"/>
            <a:ext cx="0" cy="550124"/>
          </a:xfrm>
          <a:prstGeom prst="straightConnector1">
            <a:avLst/>
          </a:prstGeom>
          <a:ln w="22225">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p:nvPr/>
        </p:nvCxnSpPr>
        <p:spPr>
          <a:xfrm>
            <a:off x="9893904" y="3650667"/>
            <a:ext cx="0" cy="1028897"/>
          </a:xfrm>
          <a:prstGeom prst="straightConnector1">
            <a:avLst/>
          </a:prstGeom>
          <a:ln w="22225">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2" name="Straight Arrow Connector 111"/>
          <p:cNvCxnSpPr/>
          <p:nvPr/>
        </p:nvCxnSpPr>
        <p:spPr>
          <a:xfrm>
            <a:off x="9230397" y="3736244"/>
            <a:ext cx="0" cy="275687"/>
          </a:xfrm>
          <a:prstGeom prst="straightConnector1">
            <a:avLst/>
          </a:prstGeom>
          <a:ln w="22225">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113" name="Right Brace 112"/>
          <p:cNvSpPr/>
          <p:nvPr/>
        </p:nvSpPr>
        <p:spPr>
          <a:xfrm rot="5400000">
            <a:off x="9327299" y="1543387"/>
            <a:ext cx="305249" cy="337106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2" name="TextBox 1"/>
              <p:cNvSpPr txBox="1"/>
              <p:nvPr/>
            </p:nvSpPr>
            <p:spPr>
              <a:xfrm>
                <a:off x="7305954" y="4976096"/>
                <a:ext cx="1993303" cy="15458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eqArr>
                            <m:eqArrPr>
                              <m:ctrlPr>
                                <a:rPr lang="en-IN" i="1" smtClean="0">
                                  <a:latin typeface="Cambria Math" panose="02040503050406030204" pitchFamily="18" charset="0"/>
                                </a:rPr>
                              </m:ctrlPr>
                            </m:eqArrPr>
                            <m:e>
                              <m:m>
                                <m:mPr>
                                  <m:mcs>
                                    <m:mc>
                                      <m:mcPr>
                                        <m:count m:val="1"/>
                                        <m:mcJc m:val="center"/>
                                      </m:mcPr>
                                    </m:mc>
                                  </m:mcs>
                                  <m:ctrlPr>
                                    <a:rPr lang="en-IN" i="1" smtClean="0">
                                      <a:latin typeface="Cambria Math" panose="02040503050406030204" pitchFamily="18" charset="0"/>
                                    </a:rPr>
                                  </m:ctrlPr>
                                </m:mPr>
                                <m:mr>
                                  <m:e>
                                    <m:sSubSup>
                                      <m:sSubSupPr>
                                        <m:ctrlPr>
                                          <a:rPr lang="en-IN" i="1">
                                            <a:latin typeface="Cambria Math" panose="02040503050406030204" pitchFamily="18" charset="0"/>
                                          </a:rPr>
                                        </m:ctrlPr>
                                      </m:sSubSupPr>
                                      <m:e>
                                        <m:r>
                                          <a:rPr lang="en-US" i="1">
                                            <a:latin typeface="Cambria Math" panose="02040503050406030204" pitchFamily="18" charset="0"/>
                                          </a:rPr>
                                          <m:t>h</m:t>
                                        </m:r>
                                      </m:e>
                                      <m:sub>
                                        <m:r>
                                          <a:rPr lang="en-US" i="1">
                                            <a:latin typeface="Cambria Math" panose="02040503050406030204" pitchFamily="18" charset="0"/>
                                          </a:rPr>
                                          <m:t>1</m:t>
                                        </m:r>
                                      </m:sub>
                                      <m:sup>
                                        <m:r>
                                          <a:rPr lang="en-US" i="1">
                                            <a:latin typeface="Cambria Math" panose="02040503050406030204" pitchFamily="18" charset="0"/>
                                          </a:rPr>
                                          <m:t>(1)</m:t>
                                        </m:r>
                                      </m:sup>
                                    </m:sSubSup>
                                    <m:r>
                                      <m:rPr>
                                        <m:nor/>
                                      </m:rPr>
                                      <a:rPr lang="en-IN" dirty="0"/>
                                      <m:t> </m:t>
                                    </m:r>
                                  </m:e>
                                </m:mr>
                                <m:mr>
                                  <m:e>
                                    <m:sSubSup>
                                      <m:sSubSupPr>
                                        <m:ctrlPr>
                                          <a:rPr lang="en-IN" i="1">
                                            <a:latin typeface="Cambria Math" panose="02040503050406030204" pitchFamily="18" charset="0"/>
                                          </a:rPr>
                                        </m:ctrlPr>
                                      </m:sSubSupPr>
                                      <m:e>
                                        <m:r>
                                          <a:rPr lang="en-US" i="1">
                                            <a:latin typeface="Cambria Math" panose="02040503050406030204" pitchFamily="18" charset="0"/>
                                          </a:rPr>
                                          <m:t>h</m:t>
                                        </m:r>
                                      </m:e>
                                      <m:sub>
                                        <m:r>
                                          <a:rPr lang="en-US" b="0" i="1" smtClean="0">
                                            <a:latin typeface="Cambria Math" panose="02040503050406030204" pitchFamily="18" charset="0"/>
                                          </a:rPr>
                                          <m:t>2</m:t>
                                        </m:r>
                                      </m:sub>
                                      <m:sup>
                                        <m:r>
                                          <a:rPr lang="en-US" i="1">
                                            <a:latin typeface="Cambria Math" panose="02040503050406030204" pitchFamily="18" charset="0"/>
                                          </a:rPr>
                                          <m:t>(1)</m:t>
                                        </m:r>
                                      </m:sup>
                                    </m:sSubSup>
                                    <m:r>
                                      <m:rPr>
                                        <m:nor/>
                                      </m:rPr>
                                      <a:rPr lang="en-IN" dirty="0"/>
                                      <m:t> </m:t>
                                    </m:r>
                                  </m:e>
                                </m:mr>
                                <m:mr>
                                  <m:e>
                                    <m:r>
                                      <a:rPr lang="en-IN" i="1" smtClean="0">
                                        <a:latin typeface="Cambria Math" panose="02040503050406030204" pitchFamily="18" charset="0"/>
                                      </a:rPr>
                                      <m:t>⋮</m:t>
                                    </m:r>
                                  </m:e>
                                </m:mr>
                              </m:m>
                            </m:e>
                            <m:e>
                              <m:sSubSup>
                                <m:sSubSupPr>
                                  <m:ctrlPr>
                                    <a:rPr lang="en-IN" i="1">
                                      <a:latin typeface="Cambria Math" panose="02040503050406030204" pitchFamily="18" charset="0"/>
                                    </a:rPr>
                                  </m:ctrlPr>
                                </m:sSubSupPr>
                                <m:e>
                                  <m:r>
                                    <a:rPr lang="en-US" i="1">
                                      <a:latin typeface="Cambria Math" panose="02040503050406030204" pitchFamily="18" charset="0"/>
                                    </a:rPr>
                                    <m:t>h</m:t>
                                  </m:r>
                                </m:e>
                                <m:sub>
                                  <m:r>
                                    <a:rPr lang="en-US" b="0" i="1" smtClean="0">
                                      <a:latin typeface="Cambria Math" panose="02040503050406030204" pitchFamily="18" charset="0"/>
                                    </a:rPr>
                                    <m:t>𝑀</m:t>
                                  </m:r>
                                </m:sub>
                                <m:sup>
                                  <m:r>
                                    <a:rPr lang="en-US" i="1">
                                      <a:latin typeface="Cambria Math" panose="02040503050406030204" pitchFamily="18" charset="0"/>
                                    </a:rPr>
                                    <m:t>(1)</m:t>
                                  </m:r>
                                </m:sup>
                              </m:sSubSup>
                              <m:r>
                                <m:rPr>
                                  <m:nor/>
                                </m:rPr>
                                <a:rPr lang="en-IN" dirty="0"/>
                                <m:t> </m:t>
                              </m:r>
                            </m:e>
                          </m:eqArr>
                        </m:e>
                      </m:d>
                      <m:r>
                        <a:rPr lang="en-US" b="0" i="1" smtClean="0">
                          <a:latin typeface="Cambria Math" panose="02040503050406030204" pitchFamily="18" charset="0"/>
                        </a:rPr>
                        <m:t>=</m:t>
                      </m:r>
                      <m:d>
                        <m:dPr>
                          <m:begChr m:val="["/>
                          <m:endChr m:val="]"/>
                          <m:ctrlPr>
                            <a:rPr lang="en-IN" i="1">
                              <a:latin typeface="Cambria Math" panose="02040503050406030204" pitchFamily="18" charset="0"/>
                            </a:rPr>
                          </m:ctrlPr>
                        </m:dPr>
                        <m:e>
                          <m:eqArr>
                            <m:eqArrPr>
                              <m:ctrlPr>
                                <a:rPr lang="en-IN" i="1">
                                  <a:latin typeface="Cambria Math" panose="02040503050406030204" pitchFamily="18" charset="0"/>
                                </a:rPr>
                              </m:ctrlPr>
                            </m:eqArrPr>
                            <m:e>
                              <m:m>
                                <m:mPr>
                                  <m:mcs>
                                    <m:mc>
                                      <m:mcPr>
                                        <m:count m:val="1"/>
                                        <m:mcJc m:val="center"/>
                                      </m:mcPr>
                                    </m:mc>
                                  </m:mcs>
                                  <m:ctrlPr>
                                    <a:rPr lang="en-IN" i="1">
                                      <a:latin typeface="Cambria Math" panose="02040503050406030204" pitchFamily="18" charset="0"/>
                                    </a:rPr>
                                  </m:ctrlPr>
                                </m:mPr>
                                <m:mr>
                                  <m:e>
                                    <m:r>
                                      <a:rPr lang="en-US" b="0" i="1" smtClean="0">
                                        <a:latin typeface="Cambria Math" panose="02040503050406030204" pitchFamily="18" charset="0"/>
                                      </a:rPr>
                                      <m:t>𝑔</m:t>
                                    </m:r>
                                    <m:d>
                                      <m:dPr>
                                        <m:ctrlPr>
                                          <a:rPr lang="en-US" b="0" i="1" smtClean="0">
                                            <a:latin typeface="Cambria Math" panose="02040503050406030204" pitchFamily="18" charset="0"/>
                                          </a:rPr>
                                        </m:ctrlPr>
                                      </m:dPr>
                                      <m:e>
                                        <m:sSubSup>
                                          <m:sSubSupPr>
                                            <m:ctrlPr>
                                              <a:rPr lang="en-US" i="1">
                                                <a:latin typeface="Cambria Math" panose="02040503050406030204" pitchFamily="18" charset="0"/>
                                              </a:rPr>
                                            </m:ctrlPr>
                                          </m:sSubSupPr>
                                          <m:e>
                                            <m:r>
                                              <a:rPr lang="en-IN" i="1">
                                                <a:latin typeface="Cambria Math" panose="02040503050406030204" pitchFamily="18" charset="0"/>
                                              </a:rPr>
                                              <m:t>𝑎</m:t>
                                            </m:r>
                                          </m:e>
                                          <m:sub>
                                            <m:r>
                                              <a:rPr lang="en-IN" i="1">
                                                <a:latin typeface="Cambria Math" panose="02040503050406030204" pitchFamily="18" charset="0"/>
                                              </a:rPr>
                                              <m:t>1</m:t>
                                            </m:r>
                                          </m:sub>
                                          <m:sup>
                                            <m:d>
                                              <m:dPr>
                                                <m:ctrlPr>
                                                  <a:rPr lang="en-IN" i="1">
                                                    <a:latin typeface="Cambria Math" panose="02040503050406030204" pitchFamily="18" charset="0"/>
                                                  </a:rPr>
                                                </m:ctrlPr>
                                              </m:dPr>
                                              <m:e>
                                                <m:r>
                                                  <a:rPr lang="en-IN" i="1">
                                                    <a:latin typeface="Cambria Math" panose="02040503050406030204" pitchFamily="18" charset="0"/>
                                                  </a:rPr>
                                                  <m:t>1</m:t>
                                                </m:r>
                                              </m:e>
                                            </m:d>
                                          </m:sup>
                                        </m:sSubSup>
                                      </m:e>
                                    </m:d>
                                    <m:r>
                                      <m:rPr>
                                        <m:nor/>
                                      </m:rPr>
                                      <a:rPr lang="en-IN" dirty="0"/>
                                      <m:t> </m:t>
                                    </m:r>
                                  </m:e>
                                </m:mr>
                                <m:mr>
                                  <m:e>
                                    <m:r>
                                      <a:rPr lang="en-US" i="1">
                                        <a:latin typeface="Cambria Math" panose="02040503050406030204" pitchFamily="18" charset="0"/>
                                      </a:rPr>
                                      <m:t>𝑔</m:t>
                                    </m:r>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IN" i="1">
                                                <a:latin typeface="Cambria Math" panose="02040503050406030204" pitchFamily="18" charset="0"/>
                                              </a:rPr>
                                              <m:t>𝑎</m:t>
                                            </m:r>
                                          </m:e>
                                          <m:sub>
                                            <m:r>
                                              <a:rPr lang="en-US" b="0" i="1" smtClean="0">
                                                <a:latin typeface="Cambria Math" panose="02040503050406030204" pitchFamily="18" charset="0"/>
                                              </a:rPr>
                                              <m:t>2</m:t>
                                            </m:r>
                                          </m:sub>
                                          <m:sup>
                                            <m:d>
                                              <m:dPr>
                                                <m:ctrlPr>
                                                  <a:rPr lang="en-IN" i="1">
                                                    <a:latin typeface="Cambria Math" panose="02040503050406030204" pitchFamily="18" charset="0"/>
                                                  </a:rPr>
                                                </m:ctrlPr>
                                              </m:dPr>
                                              <m:e>
                                                <m:r>
                                                  <a:rPr lang="en-IN" i="1">
                                                    <a:latin typeface="Cambria Math" panose="02040503050406030204" pitchFamily="18" charset="0"/>
                                                  </a:rPr>
                                                  <m:t>1</m:t>
                                                </m:r>
                                              </m:e>
                                            </m:d>
                                          </m:sup>
                                        </m:sSubSup>
                                      </m:e>
                                    </m:d>
                                  </m:e>
                                </m:mr>
                                <m:mr>
                                  <m:e>
                                    <m:r>
                                      <a:rPr lang="en-IN" i="1">
                                        <a:latin typeface="Cambria Math" panose="02040503050406030204" pitchFamily="18" charset="0"/>
                                      </a:rPr>
                                      <m:t>⋮</m:t>
                                    </m:r>
                                  </m:e>
                                </m:mr>
                              </m:m>
                            </m:e>
                            <m:e>
                              <m:r>
                                <a:rPr lang="en-US" i="1">
                                  <a:latin typeface="Cambria Math" panose="02040503050406030204" pitchFamily="18" charset="0"/>
                                </a:rPr>
                                <m:t>𝑔</m:t>
                              </m:r>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IN" i="1">
                                          <a:latin typeface="Cambria Math" panose="02040503050406030204" pitchFamily="18" charset="0"/>
                                        </a:rPr>
                                        <m:t>𝑎</m:t>
                                      </m:r>
                                    </m:e>
                                    <m:sub>
                                      <m:r>
                                        <a:rPr lang="en-US" b="0" i="1" smtClean="0">
                                          <a:latin typeface="Cambria Math" panose="02040503050406030204" pitchFamily="18" charset="0"/>
                                        </a:rPr>
                                        <m:t>𝑀</m:t>
                                      </m:r>
                                    </m:sub>
                                    <m:sup>
                                      <m:d>
                                        <m:dPr>
                                          <m:ctrlPr>
                                            <a:rPr lang="en-IN" i="1">
                                              <a:latin typeface="Cambria Math" panose="02040503050406030204" pitchFamily="18" charset="0"/>
                                            </a:rPr>
                                          </m:ctrlPr>
                                        </m:dPr>
                                        <m:e>
                                          <m:r>
                                            <a:rPr lang="en-IN" i="1">
                                              <a:latin typeface="Cambria Math" panose="02040503050406030204" pitchFamily="18" charset="0"/>
                                            </a:rPr>
                                            <m:t>1</m:t>
                                          </m:r>
                                        </m:e>
                                      </m:d>
                                    </m:sup>
                                  </m:sSubSup>
                                </m:e>
                              </m:d>
                            </m:e>
                          </m:eqArr>
                        </m:e>
                      </m:d>
                    </m:oMath>
                  </m:oMathPara>
                </a14:m>
                <a:endParaRPr lang="en-IN" dirty="0"/>
              </a:p>
            </p:txBody>
          </p:sp>
        </mc:Choice>
        <mc:Fallback xmlns="">
          <p:sp>
            <p:nvSpPr>
              <p:cNvPr id="2" name="TextBox 1"/>
              <p:cNvSpPr txBox="1">
                <a:spLocks noRot="1" noChangeAspect="1" noMove="1" noResize="1" noEditPoints="1" noAdjustHandles="1" noChangeArrowheads="1" noChangeShapeType="1" noTextEdit="1"/>
              </p:cNvSpPr>
              <p:nvPr/>
            </p:nvSpPr>
            <p:spPr>
              <a:xfrm>
                <a:off x="7305954" y="4976096"/>
                <a:ext cx="1993303" cy="1545872"/>
              </a:xfrm>
              <a:prstGeom prst="rect">
                <a:avLst/>
              </a:prstGeom>
              <a:blipFill rotWithShape="0">
                <a:blip r:embed="rId22"/>
                <a:stretch>
                  <a:fillRect/>
                </a:stretch>
              </a:blipFill>
            </p:spPr>
            <p:txBody>
              <a:bodyPr/>
              <a:lstStyle/>
              <a:p>
                <a:r>
                  <a:rPr lang="en-IN">
                    <a:noFill/>
                  </a:rPr>
                  <a:t> </a:t>
                </a:r>
              </a:p>
            </p:txBody>
          </p:sp>
        </mc:Fallback>
      </mc:AlternateContent>
      <p:sp>
        <p:nvSpPr>
          <p:cNvPr id="71" name="Right Brace 70"/>
          <p:cNvSpPr/>
          <p:nvPr/>
        </p:nvSpPr>
        <p:spPr>
          <a:xfrm>
            <a:off x="9299257" y="5031017"/>
            <a:ext cx="390041" cy="1451408"/>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73" name="TextBox 72"/>
              <p:cNvSpPr txBox="1"/>
              <p:nvPr/>
            </p:nvSpPr>
            <p:spPr>
              <a:xfrm>
                <a:off x="9875314" y="5573670"/>
                <a:ext cx="1829347" cy="3886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2200" i="1" smtClean="0">
                              <a:latin typeface="Cambria Math" panose="02040503050406030204" pitchFamily="18" charset="0"/>
                            </a:rPr>
                          </m:ctrlPr>
                        </m:sSupPr>
                        <m:e>
                          <m:r>
                            <a:rPr lang="en-US" sz="2200" b="1" i="1" smtClean="0">
                              <a:latin typeface="Cambria Math" panose="02040503050406030204" pitchFamily="18" charset="0"/>
                            </a:rPr>
                            <m:t>𝒉</m:t>
                          </m:r>
                        </m:e>
                        <m:sup>
                          <m:d>
                            <m:dPr>
                              <m:ctrlPr>
                                <a:rPr lang="en-IN" sz="2200" b="0" i="1" smtClean="0">
                                  <a:latin typeface="Cambria Math" panose="02040503050406030204" pitchFamily="18" charset="0"/>
                                </a:rPr>
                              </m:ctrlPr>
                            </m:dPr>
                            <m:e>
                              <m:r>
                                <a:rPr lang="en-IN" sz="2200" b="0" i="1" smtClean="0">
                                  <a:latin typeface="Cambria Math" panose="02040503050406030204" pitchFamily="18" charset="0"/>
                                </a:rPr>
                                <m:t>1</m:t>
                              </m:r>
                            </m:e>
                          </m:d>
                        </m:sup>
                      </m:sSup>
                      <m:r>
                        <a:rPr lang="en-IN" sz="2200" b="0" i="1" smtClean="0">
                          <a:latin typeface="Cambria Math" panose="02040503050406030204" pitchFamily="18" charset="0"/>
                        </a:rPr>
                        <m:t>=</m:t>
                      </m:r>
                      <m:r>
                        <a:rPr lang="en-US" sz="2200" b="1" i="1" smtClean="0">
                          <a:latin typeface="Cambria Math" panose="02040503050406030204" pitchFamily="18" charset="0"/>
                        </a:rPr>
                        <m:t>𝒈</m:t>
                      </m:r>
                      <m:d>
                        <m:dPr>
                          <m:ctrlPr>
                            <a:rPr lang="en-US" sz="2200" b="1" i="1" smtClean="0">
                              <a:latin typeface="Cambria Math" panose="02040503050406030204" pitchFamily="18" charset="0"/>
                            </a:rPr>
                          </m:ctrlPr>
                        </m:dPr>
                        <m:e>
                          <m:sSup>
                            <m:sSupPr>
                              <m:ctrlPr>
                                <a:rPr lang="en-US" sz="2200" i="1">
                                  <a:latin typeface="Cambria Math" panose="02040503050406030204" pitchFamily="18" charset="0"/>
                                </a:rPr>
                              </m:ctrlPr>
                            </m:sSupPr>
                            <m:e>
                              <m:r>
                                <a:rPr lang="en-US" sz="2200" b="1" i="1" smtClean="0">
                                  <a:latin typeface="Cambria Math" panose="02040503050406030204" pitchFamily="18" charset="0"/>
                                </a:rPr>
                                <m:t>𝒂</m:t>
                              </m:r>
                            </m:e>
                            <m:sup>
                              <m:r>
                                <a:rPr lang="en-IN" sz="2200" i="1">
                                  <a:latin typeface="Cambria Math" panose="02040503050406030204" pitchFamily="18" charset="0"/>
                                </a:rPr>
                                <m:t>(1)</m:t>
                              </m:r>
                            </m:sup>
                          </m:sSup>
                        </m:e>
                      </m:d>
                    </m:oMath>
                  </m:oMathPara>
                </a14:m>
                <a:endParaRPr lang="en-IN" sz="2200" dirty="0"/>
              </a:p>
            </p:txBody>
          </p:sp>
        </mc:Choice>
        <mc:Fallback xmlns="">
          <p:sp>
            <p:nvSpPr>
              <p:cNvPr id="73" name="TextBox 72"/>
              <p:cNvSpPr txBox="1">
                <a:spLocks noRot="1" noChangeAspect="1" noMove="1" noResize="1" noEditPoints="1" noAdjustHandles="1" noChangeArrowheads="1" noChangeShapeType="1" noTextEdit="1"/>
              </p:cNvSpPr>
              <p:nvPr/>
            </p:nvSpPr>
            <p:spPr>
              <a:xfrm>
                <a:off x="9875314" y="5573670"/>
                <a:ext cx="1829347" cy="388633"/>
              </a:xfrm>
              <a:prstGeom prst="rect">
                <a:avLst/>
              </a:prstGeom>
              <a:blipFill rotWithShape="0">
                <a:blip r:embed="rId23"/>
                <a:stretch>
                  <a:fillRect l="-3333" b="-18750"/>
                </a:stretch>
              </a:blipFill>
            </p:spPr>
            <p:txBody>
              <a:bodyPr/>
              <a:lstStyle/>
              <a:p>
                <a:r>
                  <a:rPr lang="en-IN">
                    <a:noFill/>
                  </a:rPr>
                  <a:t> </a:t>
                </a:r>
              </a:p>
            </p:txBody>
          </p:sp>
        </mc:Fallback>
      </mc:AlternateContent>
      <p:sp>
        <p:nvSpPr>
          <p:cNvPr id="75" name="TextBox 74"/>
          <p:cNvSpPr txBox="1"/>
          <p:nvPr/>
        </p:nvSpPr>
        <p:spPr>
          <a:xfrm>
            <a:off x="4106525" y="5509729"/>
            <a:ext cx="3150991" cy="461665"/>
          </a:xfrm>
          <a:prstGeom prst="rect">
            <a:avLst/>
          </a:prstGeom>
          <a:noFill/>
        </p:spPr>
        <p:txBody>
          <a:bodyPr wrap="none" rtlCol="0">
            <a:spAutoFit/>
          </a:bodyPr>
          <a:lstStyle/>
          <a:p>
            <a:r>
              <a:rPr lang="en-US" sz="2400" dirty="0"/>
              <a:t>Hidden Layer Activation</a:t>
            </a:r>
            <a:endParaRPr lang="en-IN" sz="2400" dirty="0"/>
          </a:p>
        </p:txBody>
      </p:sp>
    </p:spTree>
    <p:extLst>
      <p:ext uri="{BB962C8B-B14F-4D97-AF65-F5344CB8AC3E}">
        <p14:creationId xmlns:p14="http://schemas.microsoft.com/office/powerpoint/2010/main" val="3948011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1" grpId="0" animBg="1"/>
      <p:bldP spid="73" grpId="0"/>
      <p:bldP spid="7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33" name="Picture 3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2067" y="2125313"/>
            <a:ext cx="746306" cy="746306"/>
          </a:xfrm>
          <a:prstGeom prst="rect">
            <a:avLst/>
          </a:prstGeom>
          <a:noFill/>
        </p:spPr>
      </p:pic>
      <p:sp>
        <p:nvSpPr>
          <p:cNvPr id="100" name="Google Shape;100;p14"/>
          <p:cNvSpPr txBox="1"/>
          <p:nvPr/>
        </p:nvSpPr>
        <p:spPr>
          <a:xfrm>
            <a:off x="3394564" y="832857"/>
            <a:ext cx="5179280"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solidFill>
                  <a:srgbClr val="434343"/>
                </a:solidFill>
              </a:rPr>
              <a:t>Multilayer Neural Network</a:t>
            </a:r>
            <a:endParaRPr sz="2800" dirty="0">
              <a:solidFill>
                <a:srgbClr val="434343"/>
              </a:solidFill>
            </a:endParaRPr>
          </a:p>
        </p:txBody>
      </p:sp>
      <p:sp>
        <p:nvSpPr>
          <p:cNvPr id="3" name="Footer Placeholder 2"/>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21" name="Slide Number Placeholder 20"/>
          <p:cNvSpPr>
            <a:spLocks noGrp="1"/>
          </p:cNvSpPr>
          <p:nvPr>
            <p:ph type="sldNum" sz="quarter" idx="4"/>
          </p:nvPr>
        </p:nvSpPr>
        <p:spPr>
          <a:xfrm>
            <a:off x="10569844" y="6356350"/>
            <a:ext cx="783956" cy="365125"/>
          </a:xfrm>
        </p:spPr>
        <p:txBody>
          <a:bodyPr/>
          <a:lstStyle/>
          <a:p>
            <a:fld id="{683B8651-0143-4140-839E-3D36292080E8}" type="slidenum">
              <a:rPr lang="en-US" smtClean="0"/>
              <a:t>24</a:t>
            </a:fld>
            <a:endParaRPr lang="en-US"/>
          </a:p>
        </p:txBody>
      </p:sp>
      <p:pic>
        <p:nvPicPr>
          <p:cNvPr id="29" name="Picture 2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2067" y="3480790"/>
            <a:ext cx="746306" cy="746306"/>
          </a:xfrm>
          <a:prstGeom prst="rect">
            <a:avLst/>
          </a:prstGeom>
        </p:spPr>
      </p:pic>
      <p:sp>
        <p:nvSpPr>
          <p:cNvPr id="55" name="Google Shape;119;p14"/>
          <p:cNvSpPr/>
          <p:nvPr/>
        </p:nvSpPr>
        <p:spPr>
          <a:xfrm>
            <a:off x="336842" y="1615227"/>
            <a:ext cx="167400" cy="332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Narrow"/>
              <a:ea typeface="Arial Narrow"/>
              <a:cs typeface="Arial Narrow"/>
              <a:sym typeface="Arial Narrow"/>
            </a:endParaRPr>
          </a:p>
        </p:txBody>
      </p:sp>
      <p:cxnSp>
        <p:nvCxnSpPr>
          <p:cNvPr id="56" name="Straight Arrow Connector 55"/>
          <p:cNvCxnSpPr/>
          <p:nvPr/>
        </p:nvCxnSpPr>
        <p:spPr>
          <a:xfrm>
            <a:off x="726323" y="1691956"/>
            <a:ext cx="1113565" cy="556303"/>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726323" y="2502846"/>
            <a:ext cx="1008112" cy="0"/>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793415" y="2757433"/>
            <a:ext cx="1046473" cy="1249612"/>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p:cNvSpPr txBox="1"/>
              <p:nvPr/>
            </p:nvSpPr>
            <p:spPr>
              <a:xfrm>
                <a:off x="249973" y="1361814"/>
                <a:ext cx="50853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1</m:t>
                          </m:r>
                        </m:sub>
                      </m:sSub>
                    </m:oMath>
                  </m:oMathPara>
                </a14:m>
                <a:endParaRPr lang="en-US" sz="3200" b="0" dirty="0"/>
              </a:p>
            </p:txBody>
          </p:sp>
        </mc:Choice>
        <mc:Fallback xmlns="">
          <p:sp>
            <p:nvSpPr>
              <p:cNvPr id="67" name="TextBox 66"/>
              <p:cNvSpPr txBox="1">
                <a:spLocks noRot="1" noChangeAspect="1" noMove="1" noResize="1" noEditPoints="1" noAdjustHandles="1" noChangeArrowheads="1" noChangeShapeType="1" noTextEdit="1"/>
              </p:cNvSpPr>
              <p:nvPr/>
            </p:nvSpPr>
            <p:spPr>
              <a:xfrm>
                <a:off x="249973" y="1361814"/>
                <a:ext cx="508537" cy="492443"/>
              </a:xfrm>
              <a:prstGeom prst="rect">
                <a:avLst/>
              </a:prstGeom>
              <a:blipFill rotWithShape="0">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49973" y="2170588"/>
                <a:ext cx="51802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2</m:t>
                          </m:r>
                        </m:sub>
                      </m:sSub>
                    </m:oMath>
                  </m:oMathPara>
                </a14:m>
                <a:endParaRPr lang="en-US" sz="3200" b="0" dirty="0"/>
              </a:p>
            </p:txBody>
          </p:sp>
        </mc:Choice>
        <mc:Fallback xmlns="">
          <p:sp>
            <p:nvSpPr>
              <p:cNvPr id="68" name="TextBox 67"/>
              <p:cNvSpPr txBox="1">
                <a:spLocks noRot="1" noChangeAspect="1" noMove="1" noResize="1" noEditPoints="1" noAdjustHandles="1" noChangeArrowheads="1" noChangeShapeType="1" noTextEdit="1"/>
              </p:cNvSpPr>
              <p:nvPr/>
            </p:nvSpPr>
            <p:spPr>
              <a:xfrm>
                <a:off x="249973" y="2170588"/>
                <a:ext cx="518027" cy="492443"/>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a:off x="249973" y="3627993"/>
                <a:ext cx="54514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𝑑</m:t>
                          </m:r>
                        </m:sub>
                      </m:sSub>
                    </m:oMath>
                  </m:oMathPara>
                </a14:m>
                <a:endParaRPr lang="en-US" sz="3200" b="0" dirty="0"/>
              </a:p>
            </p:txBody>
          </p:sp>
        </mc:Choice>
        <mc:Fallback xmlns="">
          <p:sp>
            <p:nvSpPr>
              <p:cNvPr id="69" name="TextBox 68"/>
              <p:cNvSpPr txBox="1">
                <a:spLocks noRot="1" noChangeAspect="1" noMove="1" noResize="1" noEditPoints="1" noAdjustHandles="1" noChangeArrowheads="1" noChangeShapeType="1" noTextEdit="1"/>
              </p:cNvSpPr>
              <p:nvPr/>
            </p:nvSpPr>
            <p:spPr>
              <a:xfrm>
                <a:off x="249973" y="3627993"/>
                <a:ext cx="545149" cy="492443"/>
              </a:xfrm>
              <a:prstGeom prst="rect">
                <a:avLst/>
              </a:prstGeom>
              <a:blipFill rotWithShape="0">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2451017" y="3360593"/>
                <a:ext cx="574260" cy="478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400" i="1" smtClean="0">
                              <a:solidFill>
                                <a:schemeClr val="tx1"/>
                              </a:solidFill>
                              <a:latin typeface="Cambria Math" panose="02040503050406030204" pitchFamily="18" charset="0"/>
                            </a:rPr>
                          </m:ctrlPr>
                        </m:sSubSupPr>
                        <m:e>
                          <m:r>
                            <a:rPr lang="en-US" sz="2400" b="0" i="1" smtClean="0">
                              <a:solidFill>
                                <a:schemeClr val="tx1"/>
                              </a:solidFill>
                              <a:latin typeface="Cambria Math" panose="02040503050406030204" pitchFamily="18" charset="0"/>
                            </a:rPr>
                            <m:t>h</m:t>
                          </m:r>
                        </m:e>
                        <m:sub>
                          <m:r>
                            <a:rPr lang="en-US" sz="2400" b="0" i="1" smtClean="0">
                              <a:solidFill>
                                <a:schemeClr val="tx1"/>
                              </a:solidFill>
                              <a:latin typeface="Cambria Math" panose="02040503050406030204" pitchFamily="18" charset="0"/>
                            </a:rPr>
                            <m:t>2</m:t>
                          </m:r>
                        </m:sub>
                        <m:sup>
                          <m:r>
                            <a:rPr lang="en-US" sz="2400" b="0" i="1" smtClean="0">
                              <a:solidFill>
                                <a:schemeClr val="tx1"/>
                              </a:solidFill>
                              <a:latin typeface="Cambria Math" panose="02040503050406030204" pitchFamily="18" charset="0"/>
                            </a:rPr>
                            <m:t>(1)</m:t>
                          </m:r>
                        </m:sup>
                      </m:sSubSup>
                    </m:oMath>
                  </m:oMathPara>
                </a14:m>
                <a:endParaRPr lang="en-IN" sz="2400" dirty="0">
                  <a:solidFill>
                    <a:schemeClr val="tx1"/>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2451017" y="3360593"/>
                <a:ext cx="574260" cy="478016"/>
              </a:xfrm>
              <a:prstGeom prst="rect">
                <a:avLst/>
              </a:prstGeom>
              <a:blipFill rotWithShape="0">
                <a:blip r:embed="rId7"/>
                <a:stretch>
                  <a:fillRect/>
                </a:stretch>
              </a:blipFill>
            </p:spPr>
            <p:txBody>
              <a:bodyPr/>
              <a:lstStyle/>
              <a:p>
                <a:r>
                  <a:rPr lang="en-IN">
                    <a:noFill/>
                  </a:rPr>
                  <a:t> </a:t>
                </a:r>
              </a:p>
            </p:txBody>
          </p:sp>
        </mc:Fallback>
      </mc:AlternateContent>
      <p:cxnSp>
        <p:nvCxnSpPr>
          <p:cNvPr id="82" name="Straight Arrow Connector 81"/>
          <p:cNvCxnSpPr>
            <a:endCxn id="97" idx="1"/>
          </p:cNvCxnSpPr>
          <p:nvPr/>
        </p:nvCxnSpPr>
        <p:spPr>
          <a:xfrm flipV="1">
            <a:off x="2474259" y="3858947"/>
            <a:ext cx="1125933" cy="359"/>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p:cNvSpPr txBox="1"/>
              <p:nvPr/>
            </p:nvSpPr>
            <p:spPr>
              <a:xfrm>
                <a:off x="2515241" y="2104902"/>
                <a:ext cx="574260" cy="4612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400" i="1" smtClean="0">
                              <a:solidFill>
                                <a:schemeClr val="tx1"/>
                              </a:solidFill>
                              <a:latin typeface="Cambria Math" panose="02040503050406030204" pitchFamily="18" charset="0"/>
                            </a:rPr>
                          </m:ctrlPr>
                        </m:sSubSupPr>
                        <m:e>
                          <m:r>
                            <a:rPr lang="en-US" sz="2400" b="0" i="1" smtClean="0">
                              <a:solidFill>
                                <a:schemeClr val="tx1"/>
                              </a:solidFill>
                              <a:latin typeface="Cambria Math" panose="02040503050406030204" pitchFamily="18" charset="0"/>
                            </a:rPr>
                            <m:t>h</m:t>
                          </m:r>
                        </m:e>
                        <m:sub>
                          <m:r>
                            <a:rPr lang="en-US" sz="2400" b="0" i="1" smtClean="0">
                              <a:solidFill>
                                <a:schemeClr val="tx1"/>
                              </a:solidFill>
                              <a:latin typeface="Cambria Math" panose="02040503050406030204" pitchFamily="18" charset="0"/>
                            </a:rPr>
                            <m:t>1</m:t>
                          </m:r>
                        </m:sub>
                        <m:sup>
                          <m:r>
                            <a:rPr lang="en-US" sz="2400" b="0" i="1" smtClean="0">
                              <a:solidFill>
                                <a:schemeClr val="tx1"/>
                              </a:solidFill>
                              <a:latin typeface="Cambria Math" panose="02040503050406030204" pitchFamily="18" charset="0"/>
                            </a:rPr>
                            <m:t>(1)</m:t>
                          </m:r>
                        </m:sup>
                      </m:sSubSup>
                    </m:oMath>
                  </m:oMathPara>
                </a14:m>
                <a:endParaRPr lang="en-IN" sz="2400" dirty="0">
                  <a:solidFill>
                    <a:schemeClr val="tx1"/>
                  </a:solidFill>
                </a:endParaRPr>
              </a:p>
            </p:txBody>
          </p:sp>
        </mc:Choice>
        <mc:Fallback xmlns="">
          <p:sp>
            <p:nvSpPr>
              <p:cNvPr id="30" name="TextBox 29"/>
              <p:cNvSpPr txBox="1">
                <a:spLocks noRot="1" noChangeAspect="1" noMove="1" noResize="1" noEditPoints="1" noAdjustHandles="1" noChangeArrowheads="1" noChangeShapeType="1" noTextEdit="1"/>
              </p:cNvSpPr>
              <p:nvPr/>
            </p:nvSpPr>
            <p:spPr>
              <a:xfrm>
                <a:off x="2515241" y="2104902"/>
                <a:ext cx="574260" cy="461280"/>
              </a:xfrm>
              <a:prstGeom prst="rect">
                <a:avLst/>
              </a:prstGeom>
              <a:blipFill rotWithShape="0">
                <a:blip r:embed="rId8"/>
                <a:stretch>
                  <a:fillRect/>
                </a:stretch>
              </a:blipFill>
            </p:spPr>
            <p:txBody>
              <a:bodyPr/>
              <a:lstStyle/>
              <a:p>
                <a:r>
                  <a:rPr lang="en-IN">
                    <a:noFill/>
                  </a:rPr>
                  <a:t> </a:t>
                </a:r>
              </a:p>
            </p:txBody>
          </p:sp>
        </mc:Fallback>
      </mc:AlternateContent>
      <p:cxnSp>
        <p:nvCxnSpPr>
          <p:cNvPr id="31" name="Straight Arrow Connector 30"/>
          <p:cNvCxnSpPr>
            <a:stCxn id="33" idx="3"/>
            <a:endCxn id="97" idx="1"/>
          </p:cNvCxnSpPr>
          <p:nvPr/>
        </p:nvCxnSpPr>
        <p:spPr>
          <a:xfrm>
            <a:off x="2468373" y="2498466"/>
            <a:ext cx="1131819" cy="1360481"/>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2094475" y="1796659"/>
            <a:ext cx="0" cy="344968"/>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p:cNvSpPr txBox="1"/>
              <p:nvPr/>
            </p:nvSpPr>
            <p:spPr>
              <a:xfrm>
                <a:off x="2012197" y="1467042"/>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m:t>
                      </m:r>
                    </m:oMath>
                  </m:oMathPara>
                </a14:m>
                <a:endParaRPr lang="en-IN" dirty="0">
                  <a:solidFill>
                    <a:schemeClr val="tx1"/>
                  </a:solidFill>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2012197" y="1467042"/>
                <a:ext cx="181139" cy="276999"/>
              </a:xfrm>
              <a:prstGeom prst="rect">
                <a:avLst/>
              </a:prstGeom>
              <a:blipFill rotWithShape="0">
                <a:blip r:embed="rId9"/>
                <a:stretch>
                  <a:fillRect l="-30000" r="-30000" b="-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1731976" y="2416839"/>
                <a:ext cx="6972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𝑔</m:t>
                      </m:r>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𝑎</m:t>
                      </m:r>
                      <m:r>
                        <a:rPr lang="en-US" sz="2400" b="0" i="1" smtClean="0">
                          <a:solidFill>
                            <a:schemeClr val="tx1"/>
                          </a:solidFill>
                          <a:latin typeface="Cambria Math" panose="02040503050406030204" pitchFamily="18" charset="0"/>
                          <a:ea typeface="Cambria Math" panose="02040503050406030204" pitchFamily="18" charset="0"/>
                        </a:rPr>
                        <m:t>)</m:t>
                      </m:r>
                    </m:oMath>
                  </m:oMathPara>
                </a14:m>
                <a:endParaRPr lang="en-IN" sz="2400" dirty="0">
                  <a:solidFill>
                    <a:schemeClr val="tx1"/>
                  </a:solidFill>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1731976" y="2416839"/>
                <a:ext cx="697242" cy="369332"/>
              </a:xfrm>
              <a:prstGeom prst="rect">
                <a:avLst/>
              </a:prstGeom>
              <a:blipFill rotWithShape="0">
                <a:blip r:embed="rId10"/>
                <a:stretch>
                  <a:fillRect l="-10526" r="-15789" b="-34426"/>
                </a:stretch>
              </a:blipFill>
            </p:spPr>
            <p:txBody>
              <a:bodyPr/>
              <a:lstStyle/>
              <a:p>
                <a:r>
                  <a:rPr lang="en-IN">
                    <a:noFill/>
                  </a:rPr>
                  <a:t> </a:t>
                </a:r>
              </a:p>
            </p:txBody>
          </p:sp>
        </mc:Fallback>
      </mc:AlternateContent>
      <p:cxnSp>
        <p:nvCxnSpPr>
          <p:cNvPr id="38" name="Straight Arrow Connector 37"/>
          <p:cNvCxnSpPr/>
          <p:nvPr/>
        </p:nvCxnSpPr>
        <p:spPr>
          <a:xfrm>
            <a:off x="739588" y="1680882"/>
            <a:ext cx="1100300" cy="1947111"/>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endCxn id="29" idx="1"/>
          </p:cNvCxnSpPr>
          <p:nvPr/>
        </p:nvCxnSpPr>
        <p:spPr>
          <a:xfrm>
            <a:off x="746007" y="2518386"/>
            <a:ext cx="976060" cy="1335557"/>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endCxn id="29" idx="1"/>
          </p:cNvCxnSpPr>
          <p:nvPr/>
        </p:nvCxnSpPr>
        <p:spPr>
          <a:xfrm flipV="1">
            <a:off x="817950" y="3853943"/>
            <a:ext cx="904117" cy="133125"/>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2073317" y="3140826"/>
            <a:ext cx="0" cy="344968"/>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p:cNvSpPr txBox="1"/>
              <p:nvPr/>
            </p:nvSpPr>
            <p:spPr>
              <a:xfrm>
                <a:off x="1991039" y="2878444"/>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m:t>
                      </m:r>
                    </m:oMath>
                  </m:oMathPara>
                </a14:m>
                <a:endParaRPr lang="en-IN" dirty="0">
                  <a:solidFill>
                    <a:schemeClr val="tx1"/>
                  </a:solidFill>
                </a:endParaRPr>
              </a:p>
            </p:txBody>
          </p:sp>
        </mc:Choice>
        <mc:Fallback xmlns="">
          <p:sp>
            <p:nvSpPr>
              <p:cNvPr id="52" name="TextBox 51"/>
              <p:cNvSpPr txBox="1">
                <a:spLocks noRot="1" noChangeAspect="1" noMove="1" noResize="1" noEditPoints="1" noAdjustHandles="1" noChangeArrowheads="1" noChangeShapeType="1" noTextEdit="1"/>
              </p:cNvSpPr>
              <p:nvPr/>
            </p:nvSpPr>
            <p:spPr>
              <a:xfrm>
                <a:off x="1991039" y="2878444"/>
                <a:ext cx="181139" cy="276999"/>
              </a:xfrm>
              <a:prstGeom prst="rect">
                <a:avLst/>
              </a:prstGeom>
              <a:blipFill rotWithShape="0">
                <a:blip r:embed="rId11"/>
                <a:stretch>
                  <a:fillRect l="-34483" r="-31034" b="-6522"/>
                </a:stretch>
              </a:blipFill>
            </p:spPr>
            <p:txBody>
              <a:bodyPr/>
              <a:lstStyle/>
              <a:p>
                <a:r>
                  <a:rPr lang="en-IN">
                    <a:noFill/>
                  </a:rPr>
                  <a:t> </a:t>
                </a:r>
              </a:p>
            </p:txBody>
          </p:sp>
        </mc:Fallback>
      </mc:AlternateContent>
      <p:pic>
        <p:nvPicPr>
          <p:cNvPr id="43" name="Picture 4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8913" y="5598241"/>
            <a:ext cx="746306" cy="746306"/>
          </a:xfrm>
          <a:prstGeom prst="rect">
            <a:avLst/>
          </a:prstGeom>
        </p:spPr>
      </p:pic>
      <mc:AlternateContent xmlns:mc="http://schemas.openxmlformats.org/markup-compatibility/2006" xmlns:a14="http://schemas.microsoft.com/office/drawing/2010/main">
        <mc:Choice Requires="a14">
          <p:sp>
            <p:nvSpPr>
              <p:cNvPr id="44" name="TextBox 43"/>
              <p:cNvSpPr txBox="1"/>
              <p:nvPr/>
            </p:nvSpPr>
            <p:spPr>
              <a:xfrm>
                <a:off x="2429218" y="5873330"/>
                <a:ext cx="574260" cy="478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400" i="1" smtClean="0">
                              <a:latin typeface="Cambria Math" panose="02040503050406030204" pitchFamily="18" charset="0"/>
                            </a:rPr>
                          </m:ctrlPr>
                        </m:sSubSupPr>
                        <m:e>
                          <m:r>
                            <a:rPr lang="en-US" sz="2400" b="0" i="1" smtClean="0">
                              <a:latin typeface="Cambria Math" panose="02040503050406030204" pitchFamily="18" charset="0"/>
                            </a:rPr>
                            <m:t>h</m:t>
                          </m:r>
                        </m:e>
                        <m:sub>
                          <m:r>
                            <a:rPr lang="en-IN" sz="2400" b="0" i="1" smtClean="0">
                              <a:latin typeface="Cambria Math" panose="02040503050406030204" pitchFamily="18" charset="0"/>
                            </a:rPr>
                            <m:t>𝑀</m:t>
                          </m:r>
                        </m:sub>
                        <m:sup>
                          <m:r>
                            <a:rPr lang="en-US" sz="2400" b="0" i="1" smtClean="0">
                              <a:latin typeface="Cambria Math" panose="02040503050406030204" pitchFamily="18" charset="0"/>
                            </a:rPr>
                            <m:t>(1)</m:t>
                          </m:r>
                        </m:sup>
                      </m:sSubSup>
                    </m:oMath>
                  </m:oMathPara>
                </a14:m>
                <a:endParaRPr lang="en-IN" sz="2400" dirty="0"/>
              </a:p>
            </p:txBody>
          </p:sp>
        </mc:Choice>
        <mc:Fallback xmlns="">
          <p:sp>
            <p:nvSpPr>
              <p:cNvPr id="44" name="TextBox 43"/>
              <p:cNvSpPr txBox="1">
                <a:spLocks noRot="1" noChangeAspect="1" noMove="1" noResize="1" noEditPoints="1" noAdjustHandles="1" noChangeArrowheads="1" noChangeShapeType="1" noTextEdit="1"/>
              </p:cNvSpPr>
              <p:nvPr/>
            </p:nvSpPr>
            <p:spPr>
              <a:xfrm>
                <a:off x="2429218" y="5873330"/>
                <a:ext cx="574260" cy="478016"/>
              </a:xfrm>
              <a:prstGeom prst="rect">
                <a:avLst/>
              </a:prstGeom>
              <a:blipFill rotWithShape="0">
                <a:blip r:embed="rId12"/>
                <a:stretch>
                  <a:fillRect/>
                </a:stretch>
              </a:blipFill>
            </p:spPr>
            <p:txBody>
              <a:bodyPr/>
              <a:lstStyle/>
              <a:p>
                <a:r>
                  <a:rPr lang="en-IN">
                    <a:noFill/>
                  </a:rPr>
                  <a:t> </a:t>
                </a:r>
              </a:p>
            </p:txBody>
          </p:sp>
        </mc:Fallback>
      </mc:AlternateContent>
      <p:cxnSp>
        <p:nvCxnSpPr>
          <p:cNvPr id="54" name="Straight Arrow Connector 53"/>
          <p:cNvCxnSpPr>
            <a:endCxn id="97" idx="1"/>
          </p:cNvCxnSpPr>
          <p:nvPr/>
        </p:nvCxnSpPr>
        <p:spPr>
          <a:xfrm flipV="1">
            <a:off x="2474259" y="3858947"/>
            <a:ext cx="1125933" cy="2112447"/>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2060163" y="5258277"/>
            <a:ext cx="0" cy="344968"/>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5" name="TextBox 64"/>
              <p:cNvSpPr txBox="1"/>
              <p:nvPr/>
            </p:nvSpPr>
            <p:spPr>
              <a:xfrm>
                <a:off x="1990027" y="4979431"/>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IN" dirty="0"/>
              </a:p>
            </p:txBody>
          </p:sp>
        </mc:Choice>
        <mc:Fallback xmlns="">
          <p:sp>
            <p:nvSpPr>
              <p:cNvPr id="65" name="TextBox 64"/>
              <p:cNvSpPr txBox="1">
                <a:spLocks noRot="1" noChangeAspect="1" noMove="1" noResize="1" noEditPoints="1" noAdjustHandles="1" noChangeArrowheads="1" noChangeShapeType="1" noTextEdit="1"/>
              </p:cNvSpPr>
              <p:nvPr/>
            </p:nvSpPr>
            <p:spPr>
              <a:xfrm>
                <a:off x="1990027" y="4979431"/>
                <a:ext cx="181139" cy="276999"/>
              </a:xfrm>
              <a:prstGeom prst="rect">
                <a:avLst/>
              </a:prstGeom>
              <a:blipFill rotWithShape="0">
                <a:blip r:embed="rId13"/>
                <a:stretch>
                  <a:fillRect l="-30000" r="-30000" b="-6667"/>
                </a:stretch>
              </a:blipFill>
            </p:spPr>
            <p:txBody>
              <a:bodyPr/>
              <a:lstStyle/>
              <a:p>
                <a:r>
                  <a:rPr lang="en-IN">
                    <a:noFill/>
                  </a:rPr>
                  <a:t> </a:t>
                </a:r>
              </a:p>
            </p:txBody>
          </p:sp>
        </mc:Fallback>
      </mc:AlternateContent>
      <p:cxnSp>
        <p:nvCxnSpPr>
          <p:cNvPr id="70" name="Straight Arrow Connector 69"/>
          <p:cNvCxnSpPr/>
          <p:nvPr/>
        </p:nvCxnSpPr>
        <p:spPr>
          <a:xfrm>
            <a:off x="739588" y="1744041"/>
            <a:ext cx="1089212" cy="3984406"/>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a:off x="711987" y="2457833"/>
            <a:ext cx="996219" cy="3483689"/>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a:off x="820271" y="4020670"/>
            <a:ext cx="900953" cy="1963271"/>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grpSp>
        <p:nvGrpSpPr>
          <p:cNvPr id="83" name="Group 82"/>
          <p:cNvGrpSpPr/>
          <p:nvPr/>
        </p:nvGrpSpPr>
        <p:grpSpPr>
          <a:xfrm>
            <a:off x="2076475" y="4432863"/>
            <a:ext cx="36000" cy="340800"/>
            <a:chOff x="2731586" y="4043627"/>
            <a:chExt cx="36000" cy="340800"/>
          </a:xfrm>
        </p:grpSpPr>
        <p:sp>
          <p:nvSpPr>
            <p:cNvPr id="84" name="Oval 83"/>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Oval 84"/>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6" name="Oval 85"/>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87" name="TextBox 86"/>
              <p:cNvSpPr txBox="1"/>
              <p:nvPr/>
            </p:nvSpPr>
            <p:spPr>
              <a:xfrm>
                <a:off x="1766724" y="5921306"/>
                <a:ext cx="6972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𝑔</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m:t>
                      </m:r>
                    </m:oMath>
                  </m:oMathPara>
                </a14:m>
                <a:endParaRPr lang="en-IN" sz="2400" dirty="0"/>
              </a:p>
            </p:txBody>
          </p:sp>
        </mc:Choice>
        <mc:Fallback xmlns="">
          <p:sp>
            <p:nvSpPr>
              <p:cNvPr id="87" name="TextBox 86"/>
              <p:cNvSpPr txBox="1">
                <a:spLocks noRot="1" noChangeAspect="1" noMove="1" noResize="1" noEditPoints="1" noAdjustHandles="1" noChangeArrowheads="1" noChangeShapeType="1" noTextEdit="1"/>
              </p:cNvSpPr>
              <p:nvPr/>
            </p:nvSpPr>
            <p:spPr>
              <a:xfrm>
                <a:off x="1766724" y="5921306"/>
                <a:ext cx="697242" cy="369332"/>
              </a:xfrm>
              <a:prstGeom prst="rect">
                <a:avLst/>
              </a:prstGeom>
              <a:blipFill rotWithShape="0">
                <a:blip r:embed="rId14"/>
                <a:stretch>
                  <a:fillRect l="-10526" r="-14912" b="-3442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p:cNvSpPr txBox="1"/>
              <p:nvPr/>
            </p:nvSpPr>
            <p:spPr>
              <a:xfrm>
                <a:off x="1789142" y="3805368"/>
                <a:ext cx="6972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𝑔</m:t>
                      </m:r>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𝑎</m:t>
                      </m:r>
                      <m:r>
                        <a:rPr lang="en-US" sz="2400" b="0" i="1" smtClean="0">
                          <a:solidFill>
                            <a:schemeClr val="tx1"/>
                          </a:solidFill>
                          <a:latin typeface="Cambria Math" panose="02040503050406030204" pitchFamily="18" charset="0"/>
                          <a:ea typeface="Cambria Math" panose="02040503050406030204" pitchFamily="18" charset="0"/>
                        </a:rPr>
                        <m:t>)</m:t>
                      </m:r>
                    </m:oMath>
                  </m:oMathPara>
                </a14:m>
                <a:endParaRPr lang="en-IN" sz="2400" dirty="0">
                  <a:solidFill>
                    <a:schemeClr val="tx1"/>
                  </a:solidFill>
                </a:endParaRPr>
              </a:p>
            </p:txBody>
          </p:sp>
        </mc:Choice>
        <mc:Fallback xmlns="">
          <p:sp>
            <p:nvSpPr>
              <p:cNvPr id="88" name="TextBox 87"/>
              <p:cNvSpPr txBox="1">
                <a:spLocks noRot="1" noChangeAspect="1" noMove="1" noResize="1" noEditPoints="1" noAdjustHandles="1" noChangeArrowheads="1" noChangeShapeType="1" noTextEdit="1"/>
              </p:cNvSpPr>
              <p:nvPr/>
            </p:nvSpPr>
            <p:spPr>
              <a:xfrm>
                <a:off x="1789142" y="3805368"/>
                <a:ext cx="697242" cy="369332"/>
              </a:xfrm>
              <a:prstGeom prst="rect">
                <a:avLst/>
              </a:prstGeom>
              <a:blipFill rotWithShape="0">
                <a:blip r:embed="rId15"/>
                <a:stretch>
                  <a:fillRect l="-10435" r="-14783" b="-34426"/>
                </a:stretch>
              </a:blipFill>
            </p:spPr>
            <p:txBody>
              <a:bodyPr/>
              <a:lstStyle/>
              <a:p>
                <a:r>
                  <a:rPr lang="en-IN">
                    <a:noFill/>
                  </a:rPr>
                  <a:t> </a:t>
                </a:r>
              </a:p>
            </p:txBody>
          </p:sp>
        </mc:Fallback>
      </mc:AlternateContent>
      <p:grpSp>
        <p:nvGrpSpPr>
          <p:cNvPr id="89" name="Group 88"/>
          <p:cNvGrpSpPr/>
          <p:nvPr/>
        </p:nvGrpSpPr>
        <p:grpSpPr>
          <a:xfrm>
            <a:off x="398360" y="3066249"/>
            <a:ext cx="36000" cy="340800"/>
            <a:chOff x="2731586" y="4043627"/>
            <a:chExt cx="36000" cy="340800"/>
          </a:xfrm>
        </p:grpSpPr>
        <p:sp>
          <p:nvSpPr>
            <p:cNvPr id="90" name="Oval 89"/>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1" name="Oval 90"/>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2" name="Oval 91"/>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 name="Left Brace 5"/>
          <p:cNvSpPr/>
          <p:nvPr/>
        </p:nvSpPr>
        <p:spPr>
          <a:xfrm rot="5400000">
            <a:off x="396234" y="984685"/>
            <a:ext cx="252624" cy="9497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 name="TextBox 6"/>
          <p:cNvSpPr txBox="1"/>
          <p:nvPr/>
        </p:nvSpPr>
        <p:spPr>
          <a:xfrm>
            <a:off x="-28641" y="921212"/>
            <a:ext cx="1238737" cy="369332"/>
          </a:xfrm>
          <a:prstGeom prst="rect">
            <a:avLst/>
          </a:prstGeom>
          <a:noFill/>
        </p:spPr>
        <p:txBody>
          <a:bodyPr wrap="none" rtlCol="0">
            <a:spAutoFit/>
          </a:bodyPr>
          <a:lstStyle/>
          <a:p>
            <a:r>
              <a:rPr lang="en-US" dirty="0">
                <a:solidFill>
                  <a:srgbClr val="FF0000"/>
                </a:solidFill>
              </a:rPr>
              <a:t>Input Layer</a:t>
            </a:r>
            <a:endParaRPr lang="en-IN" dirty="0">
              <a:solidFill>
                <a:srgbClr val="FF0000"/>
              </a:solidFill>
            </a:endParaRPr>
          </a:p>
        </p:txBody>
      </p:sp>
      <p:sp>
        <p:nvSpPr>
          <p:cNvPr id="95" name="Left Brace 94"/>
          <p:cNvSpPr/>
          <p:nvPr/>
        </p:nvSpPr>
        <p:spPr>
          <a:xfrm rot="5400000">
            <a:off x="1977684" y="990505"/>
            <a:ext cx="252624" cy="9497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96" name="TextBox 95"/>
          <p:cNvSpPr txBox="1"/>
          <p:nvPr/>
        </p:nvSpPr>
        <p:spPr>
          <a:xfrm>
            <a:off x="1552809" y="927032"/>
            <a:ext cx="1416670" cy="369332"/>
          </a:xfrm>
          <a:prstGeom prst="rect">
            <a:avLst/>
          </a:prstGeom>
          <a:noFill/>
        </p:spPr>
        <p:txBody>
          <a:bodyPr wrap="none" rtlCol="0">
            <a:spAutoFit/>
          </a:bodyPr>
          <a:lstStyle/>
          <a:p>
            <a:r>
              <a:rPr lang="en-US" dirty="0">
                <a:solidFill>
                  <a:srgbClr val="FF0000"/>
                </a:solidFill>
              </a:rPr>
              <a:t>Hidden Layer</a:t>
            </a:r>
            <a:endParaRPr lang="en-IN" dirty="0">
              <a:solidFill>
                <a:srgbClr val="FF0000"/>
              </a:solidFill>
            </a:endParaRPr>
          </a:p>
        </p:txBody>
      </p:sp>
      <p:pic>
        <p:nvPicPr>
          <p:cNvPr id="97" name="Picture 9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0192" y="3485794"/>
            <a:ext cx="746306" cy="746306"/>
          </a:xfrm>
          <a:prstGeom prst="rect">
            <a:avLst/>
          </a:prstGeom>
          <a:noFill/>
        </p:spPr>
      </p:pic>
      <mc:AlternateContent xmlns:mc="http://schemas.openxmlformats.org/markup-compatibility/2006" xmlns:a14="http://schemas.microsoft.com/office/drawing/2010/main">
        <mc:Choice Requires="a14">
          <p:sp>
            <p:nvSpPr>
              <p:cNvPr id="60" name="TextBox 59"/>
              <p:cNvSpPr txBox="1"/>
              <p:nvPr/>
            </p:nvSpPr>
            <p:spPr>
              <a:xfrm>
                <a:off x="3649256" y="3802402"/>
                <a:ext cx="597408" cy="369332"/>
              </a:xfrm>
              <a:prstGeom prst="rect">
                <a:avLst/>
              </a:prstGeom>
              <a:noFill/>
            </p:spPr>
            <p:txBody>
              <a:bodyPr wrap="none" lIns="0" tIns="0" rIns="0" bIns="0" rtlCol="0">
                <a:spAutoFit/>
              </a:bodyPr>
              <a:lstStyle/>
              <a:p>
                <a:r>
                  <a:rPr lang="en-US" sz="2400" b="0" dirty="0">
                    <a:solidFill>
                      <a:schemeClr val="tx1"/>
                    </a:solidFill>
                    <a:ea typeface="Cambria Math" panose="02040503050406030204" pitchFamily="18" charset="0"/>
                  </a:rPr>
                  <a:t>o</a:t>
                </a:r>
                <a14:m>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𝑎</m:t>
                    </m:r>
                    <m:r>
                      <a:rPr lang="en-US" sz="2400" b="0" i="1" smtClean="0">
                        <a:solidFill>
                          <a:schemeClr val="tx1"/>
                        </a:solidFill>
                        <a:latin typeface="Cambria Math" panose="02040503050406030204" pitchFamily="18" charset="0"/>
                        <a:ea typeface="Cambria Math" panose="02040503050406030204" pitchFamily="18" charset="0"/>
                      </a:rPr>
                      <m:t>)</m:t>
                    </m:r>
                  </m:oMath>
                </a14:m>
                <a:endParaRPr lang="en-IN" sz="2400" dirty="0">
                  <a:solidFill>
                    <a:schemeClr val="tx1"/>
                  </a:solidFill>
                </a:endParaRPr>
              </a:p>
            </p:txBody>
          </p:sp>
        </mc:Choice>
        <mc:Fallback xmlns="">
          <p:sp>
            <p:nvSpPr>
              <p:cNvPr id="60" name="TextBox 59"/>
              <p:cNvSpPr txBox="1">
                <a:spLocks noRot="1" noChangeAspect="1" noMove="1" noResize="1" noEditPoints="1" noAdjustHandles="1" noChangeArrowheads="1" noChangeShapeType="1" noTextEdit="1"/>
              </p:cNvSpPr>
              <p:nvPr/>
            </p:nvSpPr>
            <p:spPr>
              <a:xfrm>
                <a:off x="3649256" y="3802402"/>
                <a:ext cx="597408" cy="369332"/>
              </a:xfrm>
              <a:prstGeom prst="rect">
                <a:avLst/>
              </a:prstGeom>
              <a:blipFill rotWithShape="0">
                <a:blip r:embed="rId16"/>
                <a:stretch>
                  <a:fillRect l="-31633" t="-26667" r="-22449" b="-50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p:cNvSpPr txBox="1"/>
              <p:nvPr/>
            </p:nvSpPr>
            <p:spPr>
              <a:xfrm>
                <a:off x="2928012" y="2685458"/>
                <a:ext cx="536044" cy="409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latin typeface="Cambria Math" panose="02040503050406030204" pitchFamily="18" charset="0"/>
                            </a:rPr>
                          </m:ctrlPr>
                        </m:sSubSupPr>
                        <m:e>
                          <m:r>
                            <a:rPr lang="en-US" sz="2000" b="0" i="1" smtClean="0">
                              <a:latin typeface="Cambria Math" panose="02040503050406030204" pitchFamily="18" charset="0"/>
                            </a:rPr>
                            <m:t>𝑤</m:t>
                          </m:r>
                        </m:e>
                        <m:sub>
                          <m:r>
                            <a:rPr lang="en-US" sz="2000" b="0" i="1" smtClean="0">
                              <a:latin typeface="Cambria Math" panose="02040503050406030204" pitchFamily="18" charset="0"/>
                            </a:rPr>
                            <m:t>1,1</m:t>
                          </m:r>
                        </m:sub>
                        <m:sup>
                          <m:r>
                            <a:rPr lang="en-US" sz="2000" b="0" i="1" smtClean="0">
                              <a:latin typeface="Cambria Math" panose="02040503050406030204" pitchFamily="18" charset="0"/>
                            </a:rPr>
                            <m:t>(2)</m:t>
                          </m:r>
                        </m:sup>
                      </m:sSubSup>
                    </m:oMath>
                  </m:oMathPara>
                </a14:m>
                <a:endParaRPr lang="en-IN" sz="2000" dirty="0"/>
              </a:p>
            </p:txBody>
          </p:sp>
        </mc:Choice>
        <mc:Fallback xmlns="">
          <p:sp>
            <p:nvSpPr>
              <p:cNvPr id="61" name="TextBox 60"/>
              <p:cNvSpPr txBox="1">
                <a:spLocks noRot="1" noChangeAspect="1" noMove="1" noResize="1" noEditPoints="1" noAdjustHandles="1" noChangeArrowheads="1" noChangeShapeType="1" noTextEdit="1"/>
              </p:cNvSpPr>
              <p:nvPr/>
            </p:nvSpPr>
            <p:spPr>
              <a:xfrm>
                <a:off x="2928012" y="2685458"/>
                <a:ext cx="536044" cy="409536"/>
              </a:xfrm>
              <a:prstGeom prst="rect">
                <a:avLst/>
              </a:prstGeom>
              <a:blipFill rotWithShape="0">
                <a:blip r:embed="rId17"/>
                <a:stretch>
                  <a:fillRect l="-5682" t="-4478" r="-10227" b="-895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p:cNvSpPr txBox="1"/>
              <p:nvPr/>
            </p:nvSpPr>
            <p:spPr>
              <a:xfrm>
                <a:off x="2812390" y="3920505"/>
                <a:ext cx="536044" cy="409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latin typeface="Cambria Math" panose="02040503050406030204" pitchFamily="18" charset="0"/>
                            </a:rPr>
                          </m:ctrlPr>
                        </m:sSubSupPr>
                        <m:e>
                          <m:r>
                            <a:rPr lang="en-US" sz="2000" b="0" i="1" smtClean="0">
                              <a:latin typeface="Cambria Math" panose="02040503050406030204" pitchFamily="18" charset="0"/>
                            </a:rPr>
                            <m:t>𝑤</m:t>
                          </m:r>
                        </m:e>
                        <m:sub>
                          <m:r>
                            <a:rPr lang="en-US" sz="2000" b="0" i="1" smtClean="0">
                              <a:latin typeface="Cambria Math" panose="02040503050406030204" pitchFamily="18" charset="0"/>
                            </a:rPr>
                            <m:t>1,2</m:t>
                          </m:r>
                        </m:sub>
                        <m:sup>
                          <m:r>
                            <a:rPr lang="en-US" sz="2000" b="0" i="1" smtClean="0">
                              <a:latin typeface="Cambria Math" panose="02040503050406030204" pitchFamily="18" charset="0"/>
                            </a:rPr>
                            <m:t>(2)</m:t>
                          </m:r>
                        </m:sup>
                      </m:sSubSup>
                    </m:oMath>
                  </m:oMathPara>
                </a14:m>
                <a:endParaRPr lang="en-IN" sz="2000" dirty="0"/>
              </a:p>
            </p:txBody>
          </p:sp>
        </mc:Choice>
        <mc:Fallback xmlns="">
          <p:sp>
            <p:nvSpPr>
              <p:cNvPr id="62" name="TextBox 61"/>
              <p:cNvSpPr txBox="1">
                <a:spLocks noRot="1" noChangeAspect="1" noMove="1" noResize="1" noEditPoints="1" noAdjustHandles="1" noChangeArrowheads="1" noChangeShapeType="1" noTextEdit="1"/>
              </p:cNvSpPr>
              <p:nvPr/>
            </p:nvSpPr>
            <p:spPr>
              <a:xfrm>
                <a:off x="2812390" y="3920505"/>
                <a:ext cx="536044" cy="409536"/>
              </a:xfrm>
              <a:prstGeom prst="rect">
                <a:avLst/>
              </a:prstGeom>
              <a:blipFill rotWithShape="0">
                <a:blip r:embed="rId18"/>
                <a:stretch>
                  <a:fillRect l="-5682" t="-4478" r="-10227" b="-1044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a:off x="2948357" y="4953610"/>
                <a:ext cx="552394" cy="4099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000" i="1" smtClean="0">
                              <a:latin typeface="Cambria Math" panose="02040503050406030204" pitchFamily="18" charset="0"/>
                            </a:rPr>
                          </m:ctrlPr>
                        </m:sSubSupPr>
                        <m:e>
                          <m:r>
                            <a:rPr lang="en-US" sz="2000" b="0" i="1" smtClean="0">
                              <a:latin typeface="Cambria Math" panose="02040503050406030204" pitchFamily="18" charset="0"/>
                            </a:rPr>
                            <m:t>𝑤</m:t>
                          </m:r>
                        </m:e>
                        <m:sub>
                          <m:r>
                            <a:rPr lang="en-US" sz="2000" b="0" i="1" smtClean="0">
                              <a:latin typeface="Cambria Math" panose="02040503050406030204" pitchFamily="18" charset="0"/>
                            </a:rPr>
                            <m:t>1,</m:t>
                          </m:r>
                          <m:r>
                            <a:rPr lang="en-IN" sz="2000" b="0" i="1" smtClean="0">
                              <a:latin typeface="Cambria Math" panose="02040503050406030204" pitchFamily="18" charset="0"/>
                            </a:rPr>
                            <m:t>𝑀</m:t>
                          </m:r>
                        </m:sub>
                        <m:sup>
                          <m:r>
                            <a:rPr lang="en-US" sz="2000" b="0" i="1" smtClean="0">
                              <a:latin typeface="Cambria Math" panose="02040503050406030204" pitchFamily="18" charset="0"/>
                            </a:rPr>
                            <m:t>(2)</m:t>
                          </m:r>
                        </m:sup>
                      </m:sSubSup>
                    </m:oMath>
                  </m:oMathPara>
                </a14:m>
                <a:endParaRPr lang="en-IN" sz="2000" dirty="0"/>
              </a:p>
            </p:txBody>
          </p:sp>
        </mc:Choice>
        <mc:Fallback xmlns="">
          <p:sp>
            <p:nvSpPr>
              <p:cNvPr id="63" name="TextBox 62"/>
              <p:cNvSpPr txBox="1">
                <a:spLocks noRot="1" noChangeAspect="1" noMove="1" noResize="1" noEditPoints="1" noAdjustHandles="1" noChangeArrowheads="1" noChangeShapeType="1" noTextEdit="1"/>
              </p:cNvSpPr>
              <p:nvPr/>
            </p:nvSpPr>
            <p:spPr>
              <a:xfrm>
                <a:off x="2948357" y="4953610"/>
                <a:ext cx="552394" cy="409984"/>
              </a:xfrm>
              <a:prstGeom prst="rect">
                <a:avLst/>
              </a:prstGeom>
              <a:blipFill rotWithShape="0">
                <a:blip r:embed="rId19"/>
                <a:stretch>
                  <a:fillRect l="-6667" t="-4478" r="-7778" b="-8955"/>
                </a:stretch>
              </a:blipFill>
            </p:spPr>
            <p:txBody>
              <a:bodyPr/>
              <a:lstStyle/>
              <a:p>
                <a:r>
                  <a:rPr lang="en-IN">
                    <a:noFill/>
                  </a:rPr>
                  <a:t> </a:t>
                </a:r>
              </a:p>
            </p:txBody>
          </p:sp>
        </mc:Fallback>
      </mc:AlternateContent>
      <p:cxnSp>
        <p:nvCxnSpPr>
          <p:cNvPr id="64" name="Straight Arrow Connector 63"/>
          <p:cNvCxnSpPr/>
          <p:nvPr/>
        </p:nvCxnSpPr>
        <p:spPr>
          <a:xfrm>
            <a:off x="4320045" y="3860118"/>
            <a:ext cx="338016" cy="1877"/>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TextBox 65"/>
              <p:cNvSpPr txBox="1"/>
              <p:nvPr/>
            </p:nvSpPr>
            <p:spPr>
              <a:xfrm>
                <a:off x="4598256" y="3571794"/>
                <a:ext cx="28828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oMath>
                  </m:oMathPara>
                </a14:m>
                <a:endParaRPr lang="en-IN" sz="2800" dirty="0"/>
              </a:p>
            </p:txBody>
          </p:sp>
        </mc:Choice>
        <mc:Fallback xmlns="">
          <p:sp>
            <p:nvSpPr>
              <p:cNvPr id="66" name="TextBox 65"/>
              <p:cNvSpPr txBox="1">
                <a:spLocks noRot="1" noChangeAspect="1" noMove="1" noResize="1" noEditPoints="1" noAdjustHandles="1" noChangeArrowheads="1" noChangeShapeType="1" noTextEdit="1"/>
              </p:cNvSpPr>
              <p:nvPr/>
            </p:nvSpPr>
            <p:spPr>
              <a:xfrm>
                <a:off x="4598256" y="3571794"/>
                <a:ext cx="288284" cy="430887"/>
              </a:xfrm>
              <a:prstGeom prst="rect">
                <a:avLst/>
              </a:prstGeom>
              <a:blipFill rotWithShape="0">
                <a:blip r:embed="rId20"/>
                <a:stretch>
                  <a:fillRect/>
                </a:stretch>
              </a:blipFill>
            </p:spPr>
            <p:txBody>
              <a:bodyPr/>
              <a:lstStyle/>
              <a:p>
                <a:r>
                  <a:rPr lang="en-IN">
                    <a:noFill/>
                  </a:rPr>
                  <a:t> </a:t>
                </a:r>
              </a:p>
            </p:txBody>
          </p:sp>
        </mc:Fallback>
      </mc:AlternateContent>
      <p:sp>
        <p:nvSpPr>
          <p:cNvPr id="71" name="Left Brace 70"/>
          <p:cNvSpPr/>
          <p:nvPr/>
        </p:nvSpPr>
        <p:spPr>
          <a:xfrm rot="5400000">
            <a:off x="3849366" y="2885983"/>
            <a:ext cx="252624" cy="9497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3" name="TextBox 72"/>
          <p:cNvSpPr txBox="1"/>
          <p:nvPr/>
        </p:nvSpPr>
        <p:spPr>
          <a:xfrm>
            <a:off x="3424491" y="2822510"/>
            <a:ext cx="1410258" cy="369332"/>
          </a:xfrm>
          <a:prstGeom prst="rect">
            <a:avLst/>
          </a:prstGeom>
          <a:noFill/>
        </p:spPr>
        <p:txBody>
          <a:bodyPr wrap="none" rtlCol="0">
            <a:spAutoFit/>
          </a:bodyPr>
          <a:lstStyle/>
          <a:p>
            <a:r>
              <a:rPr lang="en-US" dirty="0">
                <a:solidFill>
                  <a:srgbClr val="FF0000"/>
                </a:solidFill>
              </a:rPr>
              <a:t>Output Layer</a:t>
            </a:r>
            <a:endParaRPr lang="en-IN" dirty="0">
              <a:solidFill>
                <a:srgbClr val="FF0000"/>
              </a:solidFill>
            </a:endParaRPr>
          </a:p>
        </p:txBody>
      </p:sp>
      <p:sp>
        <p:nvSpPr>
          <p:cNvPr id="75" name="TextBox 74"/>
          <p:cNvSpPr txBox="1"/>
          <p:nvPr/>
        </p:nvSpPr>
        <p:spPr>
          <a:xfrm>
            <a:off x="7257516" y="1492893"/>
            <a:ext cx="3333028" cy="430887"/>
          </a:xfrm>
          <a:prstGeom prst="rect">
            <a:avLst/>
          </a:prstGeom>
          <a:noFill/>
        </p:spPr>
        <p:txBody>
          <a:bodyPr wrap="none" rtlCol="0">
            <a:spAutoFit/>
          </a:bodyPr>
          <a:lstStyle/>
          <a:p>
            <a:r>
              <a:rPr lang="en-US" sz="2200" dirty="0"/>
              <a:t>Output Layer Pre-activation</a:t>
            </a:r>
            <a:endParaRPr lang="en-IN" sz="2200" dirty="0"/>
          </a:p>
        </p:txBody>
      </p:sp>
      <mc:AlternateContent xmlns:mc="http://schemas.openxmlformats.org/markup-compatibility/2006" xmlns:a14="http://schemas.microsoft.com/office/drawing/2010/main">
        <mc:Choice Requires="a14">
          <p:sp>
            <p:nvSpPr>
              <p:cNvPr id="76" name="TextBox 75"/>
              <p:cNvSpPr txBox="1"/>
              <p:nvPr/>
            </p:nvSpPr>
            <p:spPr>
              <a:xfrm>
                <a:off x="7300555" y="1965981"/>
                <a:ext cx="3538020" cy="6208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200" b="0" i="1" smtClean="0">
                              <a:latin typeface="Cambria Math" panose="02040503050406030204" pitchFamily="18" charset="0"/>
                            </a:rPr>
                          </m:ctrlPr>
                        </m:sSubSupPr>
                        <m:e>
                          <m:r>
                            <a:rPr lang="en-IN" sz="2200" b="0" i="1" smtClean="0">
                              <a:latin typeface="Cambria Math" panose="02040503050406030204" pitchFamily="18" charset="0"/>
                            </a:rPr>
                            <m:t>𝑎</m:t>
                          </m:r>
                        </m:e>
                        <m:sub>
                          <m:r>
                            <a:rPr lang="en-IN" sz="2200" b="0" i="1" smtClean="0">
                              <a:latin typeface="Cambria Math" panose="02040503050406030204" pitchFamily="18" charset="0"/>
                            </a:rPr>
                            <m:t>1</m:t>
                          </m:r>
                        </m:sub>
                        <m:sup>
                          <m:d>
                            <m:dPr>
                              <m:ctrlPr>
                                <a:rPr lang="en-IN" sz="2200" b="0" i="1" smtClean="0">
                                  <a:latin typeface="Cambria Math" panose="02040503050406030204" pitchFamily="18" charset="0"/>
                                </a:rPr>
                              </m:ctrlPr>
                            </m:dPr>
                            <m:e>
                              <m:r>
                                <a:rPr lang="en-US" sz="2200" b="0" i="1" smtClean="0">
                                  <a:latin typeface="Cambria Math" panose="02040503050406030204" pitchFamily="18" charset="0"/>
                                </a:rPr>
                                <m:t>2</m:t>
                              </m:r>
                            </m:e>
                          </m:d>
                        </m:sup>
                      </m:sSubSup>
                      <m:r>
                        <a:rPr lang="en-IN" sz="2200" b="0" i="1" smtClean="0">
                          <a:latin typeface="Cambria Math" panose="02040503050406030204" pitchFamily="18" charset="0"/>
                        </a:rPr>
                        <m:t>(</m:t>
                      </m:r>
                      <m:sSup>
                        <m:sSupPr>
                          <m:ctrlPr>
                            <a:rPr lang="en-IN" sz="2200" b="0" i="1" smtClean="0">
                              <a:latin typeface="Cambria Math" panose="02040503050406030204" pitchFamily="18" charset="0"/>
                            </a:rPr>
                          </m:ctrlPr>
                        </m:sSupPr>
                        <m:e>
                          <m:r>
                            <a:rPr lang="en-US" sz="2200" b="1" i="1" smtClean="0">
                              <a:latin typeface="Cambria Math" panose="02040503050406030204" pitchFamily="18" charset="0"/>
                            </a:rPr>
                            <m:t>𝒉</m:t>
                          </m:r>
                        </m:e>
                        <m:sup>
                          <m:r>
                            <a:rPr lang="en-US" sz="2200" b="0" i="1" smtClean="0">
                              <a:latin typeface="Cambria Math" panose="02040503050406030204" pitchFamily="18" charset="0"/>
                            </a:rPr>
                            <m:t>(1)</m:t>
                          </m:r>
                        </m:sup>
                      </m:sSup>
                      <m:r>
                        <a:rPr lang="en-IN" sz="2200" b="0" i="1" smtClean="0">
                          <a:latin typeface="Cambria Math" panose="02040503050406030204" pitchFamily="18" charset="0"/>
                        </a:rPr>
                        <m:t>)</m:t>
                      </m:r>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sSubSup>
                            <m:sSubSupPr>
                              <m:ctrlPr>
                                <a:rPr lang="en-US" sz="2200" b="0" i="1" smtClean="0">
                                  <a:latin typeface="Cambria Math" panose="02040503050406030204" pitchFamily="18" charset="0"/>
                                </a:rPr>
                              </m:ctrlPr>
                            </m:sSubSupPr>
                            <m:e>
                              <m:r>
                                <a:rPr lang="en-IN" sz="2200" b="1" i="1" smtClean="0">
                                  <a:latin typeface="Cambria Math" panose="02040503050406030204" pitchFamily="18" charset="0"/>
                                </a:rPr>
                                <m:t>𝒘</m:t>
                              </m:r>
                            </m:e>
                            <m:sub>
                              <m:r>
                                <a:rPr lang="en-IN" sz="2200" b="0" i="1" smtClean="0">
                                  <a:latin typeface="Cambria Math" panose="02040503050406030204" pitchFamily="18" charset="0"/>
                                </a:rPr>
                                <m:t>1</m:t>
                              </m:r>
                            </m:sub>
                            <m:sup>
                              <m:r>
                                <a:rPr lang="en-IN" sz="2200" b="0" i="1" smtClean="0">
                                  <a:latin typeface="Cambria Math" panose="02040503050406030204" pitchFamily="18" charset="0"/>
                                </a:rPr>
                                <m:t>(</m:t>
                              </m:r>
                              <m:r>
                                <a:rPr lang="en-US" sz="2200" b="0" i="1" smtClean="0">
                                  <a:latin typeface="Cambria Math" panose="02040503050406030204" pitchFamily="18" charset="0"/>
                                </a:rPr>
                                <m:t>2</m:t>
                              </m:r>
                              <m:r>
                                <a:rPr lang="en-IN" sz="2200" b="0" i="1" smtClean="0">
                                  <a:latin typeface="Cambria Math" panose="02040503050406030204" pitchFamily="18" charset="0"/>
                                </a:rPr>
                                <m:t>)</m:t>
                              </m:r>
                            </m:sup>
                          </m:sSubSup>
                          <m:sSubSup>
                            <m:sSubSupPr>
                              <m:ctrlPr>
                                <a:rPr lang="en-US" sz="2200" i="1">
                                  <a:solidFill>
                                    <a:prstClr val="black"/>
                                  </a:solidFill>
                                  <a:latin typeface="Cambria Math" panose="02040503050406030204" pitchFamily="18" charset="0"/>
                                </a:rPr>
                              </m:ctrlPr>
                            </m:sSubSupPr>
                            <m:e>
                              <m:r>
                                <a:rPr lang="en-US" sz="2200" i="1">
                                  <a:solidFill>
                                    <a:prstClr val="black"/>
                                  </a:solidFill>
                                  <a:latin typeface="Cambria Math" panose="02040503050406030204" pitchFamily="18" charset="0"/>
                                </a:rPr>
                                <m:t>𝑏</m:t>
                              </m:r>
                            </m:e>
                            <m:sub>
                              <m:r>
                                <a:rPr lang="en-US" sz="2200" i="1">
                                  <a:solidFill>
                                    <a:prstClr val="black"/>
                                  </a:solidFill>
                                  <a:latin typeface="Cambria Math" panose="02040503050406030204" pitchFamily="18" charset="0"/>
                                </a:rPr>
                                <m:t>1</m:t>
                              </m:r>
                            </m:sub>
                            <m:sup>
                              <m:r>
                                <a:rPr lang="en-US" sz="2200" i="1">
                                  <a:solidFill>
                                    <a:prstClr val="black"/>
                                  </a:solidFill>
                                  <a:latin typeface="Cambria Math" panose="02040503050406030204" pitchFamily="18" charset="0"/>
                                </a:rPr>
                                <m:t>(</m:t>
                              </m:r>
                              <m:r>
                                <a:rPr lang="en-US" sz="2200" b="0" i="1" smtClean="0">
                                  <a:solidFill>
                                    <a:prstClr val="black"/>
                                  </a:solidFill>
                                  <a:latin typeface="Cambria Math" panose="02040503050406030204" pitchFamily="18" charset="0"/>
                                </a:rPr>
                                <m:t>2</m:t>
                              </m:r>
                              <m:r>
                                <a:rPr lang="en-US" sz="2200" i="1">
                                  <a:solidFill>
                                    <a:prstClr val="black"/>
                                  </a:solidFill>
                                  <a:latin typeface="Cambria Math" panose="02040503050406030204" pitchFamily="18" charset="0"/>
                                </a:rPr>
                                <m:t>)</m:t>
                              </m:r>
                            </m:sup>
                          </m:sSubSup>
                        </m:e>
                      </m:d>
                      <m:d>
                        <m:dPr>
                          <m:begChr m:val="["/>
                          <m:endChr m:val="]"/>
                          <m:ctrlPr>
                            <a:rPr lang="en-US" sz="2200" b="0" i="1" smtClean="0">
                              <a:latin typeface="Cambria Math" panose="02040503050406030204" pitchFamily="18" charset="0"/>
                            </a:rPr>
                          </m:ctrlPr>
                        </m:dPr>
                        <m:e>
                          <m:m>
                            <m:mPr>
                              <m:mcs>
                                <m:mc>
                                  <m:mcPr>
                                    <m:count m:val="1"/>
                                    <m:mcJc m:val="center"/>
                                  </m:mcPr>
                                </m:mc>
                              </m:mcs>
                              <m:ctrlPr>
                                <a:rPr lang="en-US" sz="2200" b="0" i="1" smtClean="0">
                                  <a:latin typeface="Cambria Math" panose="02040503050406030204" pitchFamily="18" charset="0"/>
                                </a:rPr>
                              </m:ctrlPr>
                            </m:mPr>
                            <m:mr>
                              <m:e>
                                <m:sSup>
                                  <m:sSupPr>
                                    <m:ctrlPr>
                                      <a:rPr lang="en-IN" sz="2200" i="1">
                                        <a:latin typeface="Cambria Math" panose="02040503050406030204" pitchFamily="18" charset="0"/>
                                      </a:rPr>
                                    </m:ctrlPr>
                                  </m:sSupPr>
                                  <m:e>
                                    <m:r>
                                      <a:rPr lang="en-US" sz="2200" b="1" i="1">
                                        <a:latin typeface="Cambria Math" panose="02040503050406030204" pitchFamily="18" charset="0"/>
                                      </a:rPr>
                                      <m:t>𝒉</m:t>
                                    </m:r>
                                  </m:e>
                                  <m:sup>
                                    <m:r>
                                      <a:rPr lang="en-US" sz="2200" i="1">
                                        <a:latin typeface="Cambria Math" panose="02040503050406030204" pitchFamily="18" charset="0"/>
                                      </a:rPr>
                                      <m:t>(1)</m:t>
                                    </m:r>
                                  </m:sup>
                                </m:sSup>
                              </m:e>
                            </m:mr>
                            <m:mr>
                              <m:e>
                                <m:r>
                                  <a:rPr lang="en-IN" sz="2200" b="1" i="1" smtClean="0">
                                    <a:latin typeface="Cambria Math" panose="02040503050406030204" pitchFamily="18" charset="0"/>
                                  </a:rPr>
                                  <m:t> </m:t>
                                </m:r>
                                <m:r>
                                  <a:rPr lang="en-US" sz="2200" b="0" i="1" smtClean="0">
                                    <a:latin typeface="Cambria Math" panose="02040503050406030204" pitchFamily="18" charset="0"/>
                                  </a:rPr>
                                  <m:t>1</m:t>
                                </m:r>
                                <m:r>
                                  <a:rPr lang="en-IN" sz="2200" b="0" i="1" smtClean="0">
                                    <a:latin typeface="Cambria Math" panose="02040503050406030204" pitchFamily="18" charset="0"/>
                                  </a:rPr>
                                  <m:t> </m:t>
                                </m:r>
                              </m:e>
                            </m:mr>
                          </m:m>
                        </m:e>
                      </m:d>
                    </m:oMath>
                  </m:oMathPara>
                </a14:m>
                <a:endParaRPr lang="en-IN" sz="2200" dirty="0"/>
              </a:p>
            </p:txBody>
          </p:sp>
        </mc:Choice>
        <mc:Fallback xmlns="">
          <p:sp>
            <p:nvSpPr>
              <p:cNvPr id="76" name="TextBox 75"/>
              <p:cNvSpPr txBox="1">
                <a:spLocks noRot="1" noChangeAspect="1" noMove="1" noResize="1" noEditPoints="1" noAdjustHandles="1" noChangeArrowheads="1" noChangeShapeType="1" noTextEdit="1"/>
              </p:cNvSpPr>
              <p:nvPr/>
            </p:nvSpPr>
            <p:spPr>
              <a:xfrm>
                <a:off x="7300555" y="1965981"/>
                <a:ext cx="3538020" cy="620811"/>
              </a:xfrm>
              <a:prstGeom prst="rect">
                <a:avLst/>
              </a:prstGeom>
              <a:blipFill rotWithShape="0">
                <a:blip r:embed="rId21"/>
                <a:stretch>
                  <a:fillRect/>
                </a:stretch>
              </a:blipFill>
            </p:spPr>
            <p:txBody>
              <a:bodyPr/>
              <a:lstStyle/>
              <a:p>
                <a:r>
                  <a:rPr lang="en-IN">
                    <a:noFill/>
                  </a:rPr>
                  <a:t> </a:t>
                </a:r>
              </a:p>
            </p:txBody>
          </p:sp>
        </mc:Fallback>
      </mc:AlternateContent>
      <p:sp>
        <p:nvSpPr>
          <p:cNvPr id="77" name="TextBox 76"/>
          <p:cNvSpPr txBox="1"/>
          <p:nvPr/>
        </p:nvSpPr>
        <p:spPr>
          <a:xfrm>
            <a:off x="7300555" y="2717897"/>
            <a:ext cx="2894318" cy="430887"/>
          </a:xfrm>
          <a:prstGeom prst="rect">
            <a:avLst/>
          </a:prstGeom>
          <a:noFill/>
        </p:spPr>
        <p:txBody>
          <a:bodyPr wrap="none" rtlCol="0">
            <a:spAutoFit/>
          </a:bodyPr>
          <a:lstStyle/>
          <a:p>
            <a:r>
              <a:rPr lang="en-US" sz="2200" dirty="0"/>
              <a:t>Output Layer Activation</a:t>
            </a:r>
            <a:endParaRPr lang="en-IN" sz="2200" dirty="0"/>
          </a:p>
        </p:txBody>
      </p:sp>
      <mc:AlternateContent xmlns:mc="http://schemas.openxmlformats.org/markup-compatibility/2006" xmlns:a14="http://schemas.microsoft.com/office/drawing/2010/main">
        <mc:Choice Requires="a14">
          <p:sp>
            <p:nvSpPr>
              <p:cNvPr id="78" name="TextBox 77"/>
              <p:cNvSpPr txBox="1"/>
              <p:nvPr/>
            </p:nvSpPr>
            <p:spPr>
              <a:xfrm>
                <a:off x="8320585" y="3067989"/>
                <a:ext cx="2250744" cy="5066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𝑦</m:t>
                      </m:r>
                      <m:r>
                        <a:rPr lang="en-IN" sz="2200" b="0" i="1" smtClean="0">
                          <a:latin typeface="Cambria Math" panose="02040503050406030204" pitchFamily="18" charset="0"/>
                        </a:rPr>
                        <m:t>=</m:t>
                      </m:r>
                      <m:r>
                        <a:rPr lang="en-US" sz="2200" b="0" i="1" smtClean="0">
                          <a:latin typeface="Cambria Math" panose="02040503050406030204" pitchFamily="18" charset="0"/>
                        </a:rPr>
                        <m:t>𝑜</m:t>
                      </m:r>
                      <m:d>
                        <m:dPr>
                          <m:ctrlPr>
                            <a:rPr lang="en-US" sz="2200" b="1" i="1" smtClean="0">
                              <a:latin typeface="Cambria Math" panose="02040503050406030204" pitchFamily="18" charset="0"/>
                            </a:rPr>
                          </m:ctrlPr>
                        </m:dPr>
                        <m:e>
                          <m:sSubSup>
                            <m:sSubSupPr>
                              <m:ctrlPr>
                                <a:rPr lang="en-US" sz="2200" i="1">
                                  <a:latin typeface="Cambria Math" panose="02040503050406030204" pitchFamily="18" charset="0"/>
                                </a:rPr>
                              </m:ctrlPr>
                            </m:sSubSupPr>
                            <m:e>
                              <m:r>
                                <a:rPr lang="en-IN" sz="2200" i="1">
                                  <a:latin typeface="Cambria Math" panose="02040503050406030204" pitchFamily="18" charset="0"/>
                                </a:rPr>
                                <m:t>𝑎</m:t>
                              </m:r>
                            </m:e>
                            <m:sub>
                              <m:r>
                                <a:rPr lang="en-IN" sz="2200" i="1">
                                  <a:latin typeface="Cambria Math" panose="02040503050406030204" pitchFamily="18" charset="0"/>
                                </a:rPr>
                                <m:t>1</m:t>
                              </m:r>
                            </m:sub>
                            <m:sup>
                              <m:d>
                                <m:dPr>
                                  <m:ctrlPr>
                                    <a:rPr lang="en-IN" sz="2200" i="1">
                                      <a:latin typeface="Cambria Math" panose="02040503050406030204" pitchFamily="18" charset="0"/>
                                    </a:rPr>
                                  </m:ctrlPr>
                                </m:dPr>
                                <m:e>
                                  <m:r>
                                    <a:rPr lang="en-US" sz="2200" i="1">
                                      <a:latin typeface="Cambria Math" panose="02040503050406030204" pitchFamily="18" charset="0"/>
                                    </a:rPr>
                                    <m:t>2</m:t>
                                  </m:r>
                                </m:e>
                              </m:d>
                            </m:sup>
                          </m:sSubSup>
                          <m:r>
                            <a:rPr lang="en-IN" sz="2200" i="1">
                              <a:latin typeface="Cambria Math" panose="02040503050406030204" pitchFamily="18" charset="0"/>
                            </a:rPr>
                            <m:t>(</m:t>
                          </m:r>
                          <m:sSup>
                            <m:sSupPr>
                              <m:ctrlPr>
                                <a:rPr lang="en-IN" sz="2200" i="1">
                                  <a:latin typeface="Cambria Math" panose="02040503050406030204" pitchFamily="18" charset="0"/>
                                </a:rPr>
                              </m:ctrlPr>
                            </m:sSupPr>
                            <m:e>
                              <m:r>
                                <a:rPr lang="en-US" sz="2200" b="1" i="1">
                                  <a:latin typeface="Cambria Math" panose="02040503050406030204" pitchFamily="18" charset="0"/>
                                </a:rPr>
                                <m:t>𝒉</m:t>
                              </m:r>
                            </m:e>
                            <m:sup>
                              <m:r>
                                <a:rPr lang="en-US" sz="2200" i="1">
                                  <a:latin typeface="Cambria Math" panose="02040503050406030204" pitchFamily="18" charset="0"/>
                                </a:rPr>
                                <m:t>(1)</m:t>
                              </m:r>
                            </m:sup>
                          </m:sSup>
                          <m:r>
                            <a:rPr lang="en-IN" sz="2200" i="1">
                              <a:latin typeface="Cambria Math" panose="02040503050406030204" pitchFamily="18" charset="0"/>
                            </a:rPr>
                            <m:t>)</m:t>
                          </m:r>
                        </m:e>
                      </m:d>
                    </m:oMath>
                  </m:oMathPara>
                </a14:m>
                <a:endParaRPr lang="en-IN" sz="2200" dirty="0"/>
              </a:p>
            </p:txBody>
          </p:sp>
        </mc:Choice>
        <mc:Fallback xmlns="">
          <p:sp>
            <p:nvSpPr>
              <p:cNvPr id="78" name="TextBox 77"/>
              <p:cNvSpPr txBox="1">
                <a:spLocks noRot="1" noChangeAspect="1" noMove="1" noResize="1" noEditPoints="1" noAdjustHandles="1" noChangeArrowheads="1" noChangeShapeType="1" noTextEdit="1"/>
              </p:cNvSpPr>
              <p:nvPr/>
            </p:nvSpPr>
            <p:spPr>
              <a:xfrm>
                <a:off x="8320585" y="3067989"/>
                <a:ext cx="2250744" cy="506677"/>
              </a:xfrm>
              <a:prstGeom prst="rect">
                <a:avLst/>
              </a:prstGeom>
              <a:blipFill rotWithShape="0">
                <a:blip r:embed="rId22"/>
                <a:stretch>
                  <a:fillRect/>
                </a:stretch>
              </a:blipFill>
            </p:spPr>
            <p:txBody>
              <a:bodyPr/>
              <a:lstStyle/>
              <a:p>
                <a:r>
                  <a:rPr lang="en-IN">
                    <a:noFill/>
                  </a:rPr>
                  <a:t> </a:t>
                </a:r>
              </a:p>
            </p:txBody>
          </p:sp>
        </mc:Fallback>
      </mc:AlternateContent>
      <p:sp>
        <p:nvSpPr>
          <p:cNvPr id="79" name="TextBox 78"/>
          <p:cNvSpPr txBox="1"/>
          <p:nvPr/>
        </p:nvSpPr>
        <p:spPr>
          <a:xfrm>
            <a:off x="7257516" y="3771754"/>
            <a:ext cx="3018519" cy="1446550"/>
          </a:xfrm>
          <a:prstGeom prst="rect">
            <a:avLst/>
          </a:prstGeom>
          <a:noFill/>
        </p:spPr>
        <p:txBody>
          <a:bodyPr wrap="none" rtlCol="0">
            <a:spAutoFit/>
          </a:bodyPr>
          <a:lstStyle/>
          <a:p>
            <a:r>
              <a:rPr lang="en-US" sz="2200" i="1" dirty="0"/>
              <a:t>o </a:t>
            </a:r>
            <a:r>
              <a:rPr lang="en-US" sz="2200" dirty="0"/>
              <a:t>can have many options</a:t>
            </a:r>
          </a:p>
          <a:p>
            <a:pPr marL="342900" indent="-342900">
              <a:buFont typeface="Arial" panose="020B0604020202020204" pitchFamily="34" charset="0"/>
              <a:buChar char="•"/>
            </a:pPr>
            <a:r>
              <a:rPr lang="en-US" sz="2200" dirty="0"/>
              <a:t>sigmoid</a:t>
            </a:r>
          </a:p>
          <a:p>
            <a:pPr marL="342900" indent="-342900">
              <a:buFont typeface="Arial" panose="020B0604020202020204" pitchFamily="34" charset="0"/>
              <a:buChar char="•"/>
            </a:pPr>
            <a:r>
              <a:rPr lang="en-US" sz="2200" dirty="0" err="1"/>
              <a:t>tanh</a:t>
            </a:r>
            <a:endParaRPr lang="en-US" sz="2200" dirty="0"/>
          </a:p>
          <a:p>
            <a:pPr marL="342900" indent="-342900">
              <a:buFont typeface="Arial" panose="020B0604020202020204" pitchFamily="34" charset="0"/>
              <a:buChar char="•"/>
            </a:pPr>
            <a:r>
              <a:rPr lang="en-US" sz="2200" dirty="0" err="1"/>
              <a:t>Relu</a:t>
            </a:r>
            <a:r>
              <a:rPr lang="en-US" sz="2200" dirty="0"/>
              <a:t> etc.</a:t>
            </a:r>
            <a:endParaRPr lang="en-IN" sz="2200" dirty="0"/>
          </a:p>
        </p:txBody>
      </p:sp>
      <p:sp>
        <p:nvSpPr>
          <p:cNvPr id="80" name="TextBox 79"/>
          <p:cNvSpPr txBox="1"/>
          <p:nvPr/>
        </p:nvSpPr>
        <p:spPr>
          <a:xfrm>
            <a:off x="7300555" y="5255730"/>
            <a:ext cx="3748719" cy="430887"/>
          </a:xfrm>
          <a:prstGeom prst="rect">
            <a:avLst/>
          </a:prstGeom>
          <a:noFill/>
        </p:spPr>
        <p:txBody>
          <a:bodyPr wrap="none" rtlCol="0">
            <a:spAutoFit/>
          </a:bodyPr>
          <a:lstStyle/>
          <a:p>
            <a:r>
              <a:rPr lang="en-US" sz="2200" dirty="0"/>
              <a:t>One special is </a:t>
            </a:r>
            <a:r>
              <a:rPr lang="en-US" sz="2200" dirty="0" err="1"/>
              <a:t>softmax</a:t>
            </a:r>
            <a:r>
              <a:rPr lang="en-US" sz="2200" dirty="0"/>
              <a:t> function</a:t>
            </a:r>
            <a:endParaRPr lang="en-IN" sz="2200" dirty="0"/>
          </a:p>
        </p:txBody>
      </p:sp>
    </p:spTree>
    <p:extLst>
      <p:ext uri="{BB962C8B-B14F-4D97-AF65-F5344CB8AC3E}">
        <p14:creationId xmlns:p14="http://schemas.microsoft.com/office/powerpoint/2010/main" val="1485268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8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3394564" y="832857"/>
            <a:ext cx="5179280"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solidFill>
                  <a:srgbClr val="434343"/>
                </a:solidFill>
              </a:rPr>
              <a:t>Multilayer Neural Network</a:t>
            </a:r>
            <a:endParaRPr sz="2800" dirty="0">
              <a:solidFill>
                <a:srgbClr val="434343"/>
              </a:solidFill>
            </a:endParaRPr>
          </a:p>
        </p:txBody>
      </p:sp>
      <p:sp>
        <p:nvSpPr>
          <p:cNvPr id="3" name="Footer Placeholder 2"/>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21" name="Slide Number Placeholder 20"/>
          <p:cNvSpPr>
            <a:spLocks noGrp="1"/>
          </p:cNvSpPr>
          <p:nvPr>
            <p:ph type="sldNum" sz="quarter" idx="4"/>
          </p:nvPr>
        </p:nvSpPr>
        <p:spPr>
          <a:xfrm>
            <a:off x="10569844" y="6356350"/>
            <a:ext cx="783956" cy="365125"/>
          </a:xfrm>
        </p:spPr>
        <p:txBody>
          <a:bodyPr/>
          <a:lstStyle/>
          <a:p>
            <a:fld id="{683B8651-0143-4140-839E-3D36292080E8}" type="slidenum">
              <a:rPr lang="en-US" smtClean="0"/>
              <a:t>25</a:t>
            </a:fld>
            <a:endParaRPr lang="en-US"/>
          </a:p>
        </p:txBody>
      </p:sp>
      <p:sp>
        <p:nvSpPr>
          <p:cNvPr id="55" name="Google Shape;119;p14"/>
          <p:cNvSpPr/>
          <p:nvPr/>
        </p:nvSpPr>
        <p:spPr>
          <a:xfrm>
            <a:off x="336842" y="1615227"/>
            <a:ext cx="167400" cy="332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Narrow"/>
              <a:ea typeface="Arial Narrow"/>
              <a:cs typeface="Arial Narrow"/>
              <a:sym typeface="Arial Narrow"/>
            </a:endParaRPr>
          </a:p>
        </p:txBody>
      </p:sp>
      <p:cxnSp>
        <p:nvCxnSpPr>
          <p:cNvPr id="56" name="Straight Arrow Connector 55"/>
          <p:cNvCxnSpPr/>
          <p:nvPr/>
        </p:nvCxnSpPr>
        <p:spPr>
          <a:xfrm>
            <a:off x="726323" y="1691956"/>
            <a:ext cx="1113565" cy="556303"/>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726323" y="2502846"/>
            <a:ext cx="1008112" cy="0"/>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793415" y="2757433"/>
            <a:ext cx="1046473" cy="1249612"/>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p:cNvSpPr txBox="1"/>
              <p:nvPr/>
            </p:nvSpPr>
            <p:spPr>
              <a:xfrm>
                <a:off x="249973" y="1361814"/>
                <a:ext cx="50853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1</m:t>
                          </m:r>
                        </m:sub>
                      </m:sSub>
                    </m:oMath>
                  </m:oMathPara>
                </a14:m>
                <a:endParaRPr lang="en-US" sz="3200" b="0" dirty="0"/>
              </a:p>
            </p:txBody>
          </p:sp>
        </mc:Choice>
        <mc:Fallback xmlns="">
          <p:sp>
            <p:nvSpPr>
              <p:cNvPr id="67" name="TextBox 66"/>
              <p:cNvSpPr txBox="1">
                <a:spLocks noRot="1" noChangeAspect="1" noMove="1" noResize="1" noEditPoints="1" noAdjustHandles="1" noChangeArrowheads="1" noChangeShapeType="1" noTextEdit="1"/>
              </p:cNvSpPr>
              <p:nvPr/>
            </p:nvSpPr>
            <p:spPr>
              <a:xfrm>
                <a:off x="249973" y="1361814"/>
                <a:ext cx="508537" cy="492443"/>
              </a:xfrm>
              <a:prstGeom prst="rect">
                <a:avLst/>
              </a:prstGeom>
              <a:blipFill rotWithShape="0">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49973" y="2170588"/>
                <a:ext cx="51802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2</m:t>
                          </m:r>
                        </m:sub>
                      </m:sSub>
                    </m:oMath>
                  </m:oMathPara>
                </a14:m>
                <a:endParaRPr lang="en-US" sz="3200" b="0" dirty="0"/>
              </a:p>
            </p:txBody>
          </p:sp>
        </mc:Choice>
        <mc:Fallback xmlns="">
          <p:sp>
            <p:nvSpPr>
              <p:cNvPr id="68" name="TextBox 67"/>
              <p:cNvSpPr txBox="1">
                <a:spLocks noRot="1" noChangeAspect="1" noMove="1" noResize="1" noEditPoints="1" noAdjustHandles="1" noChangeArrowheads="1" noChangeShapeType="1" noTextEdit="1"/>
              </p:cNvSpPr>
              <p:nvPr/>
            </p:nvSpPr>
            <p:spPr>
              <a:xfrm>
                <a:off x="249973" y="2170588"/>
                <a:ext cx="518027" cy="492443"/>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a:off x="249973" y="3627993"/>
                <a:ext cx="54514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𝑑</m:t>
                          </m:r>
                        </m:sub>
                      </m:sSub>
                    </m:oMath>
                  </m:oMathPara>
                </a14:m>
                <a:endParaRPr lang="en-US" sz="3200" b="0" dirty="0"/>
              </a:p>
            </p:txBody>
          </p:sp>
        </mc:Choice>
        <mc:Fallback xmlns="">
          <p:sp>
            <p:nvSpPr>
              <p:cNvPr id="69" name="TextBox 68"/>
              <p:cNvSpPr txBox="1">
                <a:spLocks noRot="1" noChangeAspect="1" noMove="1" noResize="1" noEditPoints="1" noAdjustHandles="1" noChangeArrowheads="1" noChangeShapeType="1" noTextEdit="1"/>
              </p:cNvSpPr>
              <p:nvPr/>
            </p:nvSpPr>
            <p:spPr>
              <a:xfrm>
                <a:off x="249973" y="3627993"/>
                <a:ext cx="545149" cy="492443"/>
              </a:xfrm>
              <a:prstGeom prst="rect">
                <a:avLst/>
              </a:prstGeom>
              <a:blipFill rotWithShape="0">
                <a:blip r:embed="rId6"/>
                <a:stretch>
                  <a:fillRect/>
                </a:stretch>
              </a:blipFill>
            </p:spPr>
            <p:txBody>
              <a:bodyPr/>
              <a:lstStyle/>
              <a:p>
                <a:r>
                  <a:rPr lang="en-IN">
                    <a:noFill/>
                  </a:rPr>
                  <a:t> </a:t>
                </a:r>
              </a:p>
            </p:txBody>
          </p:sp>
        </mc:Fallback>
      </mc:AlternateContent>
      <p:cxnSp>
        <p:nvCxnSpPr>
          <p:cNvPr id="82" name="Straight Arrow Connector 81"/>
          <p:cNvCxnSpPr>
            <a:endCxn id="97" idx="1"/>
          </p:cNvCxnSpPr>
          <p:nvPr/>
        </p:nvCxnSpPr>
        <p:spPr>
          <a:xfrm flipV="1">
            <a:off x="2452744" y="2481952"/>
            <a:ext cx="1147448" cy="1383181"/>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cxnSpLocks/>
            <a:endCxn id="97" idx="1"/>
          </p:cNvCxnSpPr>
          <p:nvPr/>
        </p:nvCxnSpPr>
        <p:spPr>
          <a:xfrm flipV="1">
            <a:off x="2468373" y="2481952"/>
            <a:ext cx="1131819" cy="16514"/>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2094475" y="1796659"/>
            <a:ext cx="0" cy="344968"/>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p:cNvSpPr txBox="1"/>
              <p:nvPr/>
            </p:nvSpPr>
            <p:spPr>
              <a:xfrm>
                <a:off x="2012197" y="1467042"/>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m:t>
                      </m:r>
                    </m:oMath>
                  </m:oMathPara>
                </a14:m>
                <a:endParaRPr lang="en-IN" dirty="0">
                  <a:solidFill>
                    <a:schemeClr val="tx1"/>
                  </a:solidFill>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2012197" y="1467042"/>
                <a:ext cx="181139" cy="276999"/>
              </a:xfrm>
              <a:prstGeom prst="rect">
                <a:avLst/>
              </a:prstGeom>
              <a:blipFill rotWithShape="0">
                <a:blip r:embed="rId7"/>
                <a:stretch>
                  <a:fillRect l="-30000" r="-30000" b="-6667"/>
                </a:stretch>
              </a:blipFill>
            </p:spPr>
            <p:txBody>
              <a:bodyPr/>
              <a:lstStyle/>
              <a:p>
                <a:r>
                  <a:rPr lang="en-IN">
                    <a:noFill/>
                  </a:rPr>
                  <a:t> </a:t>
                </a:r>
              </a:p>
            </p:txBody>
          </p:sp>
        </mc:Fallback>
      </mc:AlternateContent>
      <p:cxnSp>
        <p:nvCxnSpPr>
          <p:cNvPr id="38" name="Straight Arrow Connector 37"/>
          <p:cNvCxnSpPr/>
          <p:nvPr/>
        </p:nvCxnSpPr>
        <p:spPr>
          <a:xfrm>
            <a:off x="739588" y="1680882"/>
            <a:ext cx="1100300" cy="1947111"/>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cxnSpLocks/>
          </p:cNvCxnSpPr>
          <p:nvPr/>
        </p:nvCxnSpPr>
        <p:spPr>
          <a:xfrm>
            <a:off x="746007" y="2518386"/>
            <a:ext cx="976060" cy="1335557"/>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cxnSpLocks/>
          </p:cNvCxnSpPr>
          <p:nvPr/>
        </p:nvCxnSpPr>
        <p:spPr>
          <a:xfrm flipV="1">
            <a:off x="817950" y="3853943"/>
            <a:ext cx="904117" cy="133125"/>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2073317" y="3140826"/>
            <a:ext cx="0" cy="344968"/>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p:cNvSpPr txBox="1"/>
              <p:nvPr/>
            </p:nvSpPr>
            <p:spPr>
              <a:xfrm>
                <a:off x="1991039" y="2878444"/>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m:t>
                      </m:r>
                    </m:oMath>
                  </m:oMathPara>
                </a14:m>
                <a:endParaRPr lang="en-IN" dirty="0">
                  <a:solidFill>
                    <a:schemeClr val="tx1"/>
                  </a:solidFill>
                </a:endParaRPr>
              </a:p>
            </p:txBody>
          </p:sp>
        </mc:Choice>
        <mc:Fallback xmlns="">
          <p:sp>
            <p:nvSpPr>
              <p:cNvPr id="52" name="TextBox 51"/>
              <p:cNvSpPr txBox="1">
                <a:spLocks noRot="1" noChangeAspect="1" noMove="1" noResize="1" noEditPoints="1" noAdjustHandles="1" noChangeArrowheads="1" noChangeShapeType="1" noTextEdit="1"/>
              </p:cNvSpPr>
              <p:nvPr/>
            </p:nvSpPr>
            <p:spPr>
              <a:xfrm>
                <a:off x="1991039" y="2878444"/>
                <a:ext cx="181139" cy="276999"/>
              </a:xfrm>
              <a:prstGeom prst="rect">
                <a:avLst/>
              </a:prstGeom>
              <a:blipFill rotWithShape="0">
                <a:blip r:embed="rId9"/>
                <a:stretch>
                  <a:fillRect l="-34483" r="-31034" b="-6522"/>
                </a:stretch>
              </a:blipFill>
            </p:spPr>
            <p:txBody>
              <a:bodyPr/>
              <a:lstStyle/>
              <a:p>
                <a:r>
                  <a:rPr lang="en-IN">
                    <a:noFill/>
                  </a:rPr>
                  <a:t> </a:t>
                </a:r>
              </a:p>
            </p:txBody>
          </p:sp>
        </mc:Fallback>
      </mc:AlternateContent>
      <p:cxnSp>
        <p:nvCxnSpPr>
          <p:cNvPr id="54" name="Straight Arrow Connector 53"/>
          <p:cNvCxnSpPr>
            <a:cxnSpLocks/>
            <a:endCxn id="97" idx="1"/>
          </p:cNvCxnSpPr>
          <p:nvPr/>
        </p:nvCxnSpPr>
        <p:spPr>
          <a:xfrm flipV="1">
            <a:off x="2455219" y="2481952"/>
            <a:ext cx="1144973" cy="3489442"/>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2060163" y="5258277"/>
            <a:ext cx="0" cy="344968"/>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5" name="TextBox 64"/>
              <p:cNvSpPr txBox="1"/>
              <p:nvPr/>
            </p:nvSpPr>
            <p:spPr>
              <a:xfrm>
                <a:off x="1990027" y="4979431"/>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IN" dirty="0"/>
              </a:p>
            </p:txBody>
          </p:sp>
        </mc:Choice>
        <mc:Fallback xmlns="">
          <p:sp>
            <p:nvSpPr>
              <p:cNvPr id="65" name="TextBox 64"/>
              <p:cNvSpPr txBox="1">
                <a:spLocks noRot="1" noChangeAspect="1" noMove="1" noResize="1" noEditPoints="1" noAdjustHandles="1" noChangeArrowheads="1" noChangeShapeType="1" noTextEdit="1"/>
              </p:cNvSpPr>
              <p:nvPr/>
            </p:nvSpPr>
            <p:spPr>
              <a:xfrm>
                <a:off x="1990027" y="4979431"/>
                <a:ext cx="181139" cy="276999"/>
              </a:xfrm>
              <a:prstGeom prst="rect">
                <a:avLst/>
              </a:prstGeom>
              <a:blipFill rotWithShape="0">
                <a:blip r:embed="rId10"/>
                <a:stretch>
                  <a:fillRect l="-30000" r="-30000" b="-6667"/>
                </a:stretch>
              </a:blipFill>
            </p:spPr>
            <p:txBody>
              <a:bodyPr/>
              <a:lstStyle/>
              <a:p>
                <a:r>
                  <a:rPr lang="en-IN">
                    <a:noFill/>
                  </a:rPr>
                  <a:t> </a:t>
                </a:r>
              </a:p>
            </p:txBody>
          </p:sp>
        </mc:Fallback>
      </mc:AlternateContent>
      <p:cxnSp>
        <p:nvCxnSpPr>
          <p:cNvPr id="70" name="Straight Arrow Connector 69"/>
          <p:cNvCxnSpPr/>
          <p:nvPr/>
        </p:nvCxnSpPr>
        <p:spPr>
          <a:xfrm>
            <a:off x="739588" y="1744041"/>
            <a:ext cx="1089212" cy="3984406"/>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a:off x="711987" y="2457833"/>
            <a:ext cx="996219" cy="3483689"/>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a:off x="820271" y="4020670"/>
            <a:ext cx="900953" cy="1963271"/>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grpSp>
        <p:nvGrpSpPr>
          <p:cNvPr id="83" name="Group 82"/>
          <p:cNvGrpSpPr/>
          <p:nvPr/>
        </p:nvGrpSpPr>
        <p:grpSpPr>
          <a:xfrm>
            <a:off x="2076475" y="4432863"/>
            <a:ext cx="36000" cy="340800"/>
            <a:chOff x="2731586" y="4043627"/>
            <a:chExt cx="36000" cy="340800"/>
          </a:xfrm>
        </p:grpSpPr>
        <p:sp>
          <p:nvSpPr>
            <p:cNvPr id="84" name="Oval 83"/>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Oval 84"/>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6" name="Oval 85"/>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89" name="Group 88"/>
          <p:cNvGrpSpPr/>
          <p:nvPr/>
        </p:nvGrpSpPr>
        <p:grpSpPr>
          <a:xfrm>
            <a:off x="398360" y="3066249"/>
            <a:ext cx="36000" cy="340800"/>
            <a:chOff x="2731586" y="4043627"/>
            <a:chExt cx="36000" cy="340800"/>
          </a:xfrm>
        </p:grpSpPr>
        <p:sp>
          <p:nvSpPr>
            <p:cNvPr id="90" name="Oval 89"/>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1" name="Oval 90"/>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2" name="Oval 91"/>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 name="Left Brace 5"/>
          <p:cNvSpPr/>
          <p:nvPr/>
        </p:nvSpPr>
        <p:spPr>
          <a:xfrm rot="5400000">
            <a:off x="396234" y="984685"/>
            <a:ext cx="252624" cy="9497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 name="TextBox 6"/>
          <p:cNvSpPr txBox="1"/>
          <p:nvPr/>
        </p:nvSpPr>
        <p:spPr>
          <a:xfrm>
            <a:off x="-28641" y="921212"/>
            <a:ext cx="1238737" cy="369332"/>
          </a:xfrm>
          <a:prstGeom prst="rect">
            <a:avLst/>
          </a:prstGeom>
          <a:noFill/>
        </p:spPr>
        <p:txBody>
          <a:bodyPr wrap="none" rtlCol="0">
            <a:spAutoFit/>
          </a:bodyPr>
          <a:lstStyle/>
          <a:p>
            <a:r>
              <a:rPr lang="en-US" dirty="0">
                <a:solidFill>
                  <a:srgbClr val="FF0000"/>
                </a:solidFill>
              </a:rPr>
              <a:t>Input Layer</a:t>
            </a:r>
            <a:endParaRPr lang="en-IN" dirty="0">
              <a:solidFill>
                <a:srgbClr val="FF0000"/>
              </a:solidFill>
            </a:endParaRPr>
          </a:p>
        </p:txBody>
      </p:sp>
      <p:sp>
        <p:nvSpPr>
          <p:cNvPr id="95" name="Left Brace 94"/>
          <p:cNvSpPr/>
          <p:nvPr/>
        </p:nvSpPr>
        <p:spPr>
          <a:xfrm rot="5400000">
            <a:off x="1977684" y="990505"/>
            <a:ext cx="252624" cy="9497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96" name="TextBox 95"/>
          <p:cNvSpPr txBox="1"/>
          <p:nvPr/>
        </p:nvSpPr>
        <p:spPr>
          <a:xfrm>
            <a:off x="1552809" y="927032"/>
            <a:ext cx="1416670" cy="369332"/>
          </a:xfrm>
          <a:prstGeom prst="rect">
            <a:avLst/>
          </a:prstGeom>
          <a:noFill/>
        </p:spPr>
        <p:txBody>
          <a:bodyPr wrap="none" rtlCol="0">
            <a:spAutoFit/>
          </a:bodyPr>
          <a:lstStyle/>
          <a:p>
            <a:r>
              <a:rPr lang="en-US" dirty="0">
                <a:solidFill>
                  <a:srgbClr val="FF0000"/>
                </a:solidFill>
              </a:rPr>
              <a:t>Hidden Layer</a:t>
            </a:r>
            <a:endParaRPr lang="en-IN" dirty="0">
              <a:solidFill>
                <a:srgbClr val="FF0000"/>
              </a:solidFill>
            </a:endParaRPr>
          </a:p>
        </p:txBody>
      </p:sp>
      <p:pic>
        <p:nvPicPr>
          <p:cNvPr id="97" name="Picture 96"/>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600192" y="2108799"/>
            <a:ext cx="746306" cy="746306"/>
          </a:xfrm>
          <a:prstGeom prst="rect">
            <a:avLst/>
          </a:prstGeom>
          <a:noFill/>
        </p:spPr>
      </p:pic>
      <p:cxnSp>
        <p:nvCxnSpPr>
          <p:cNvPr id="64" name="Straight Arrow Connector 63"/>
          <p:cNvCxnSpPr/>
          <p:nvPr/>
        </p:nvCxnSpPr>
        <p:spPr>
          <a:xfrm>
            <a:off x="4330801" y="2483132"/>
            <a:ext cx="338016" cy="1877"/>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sp>
        <p:nvSpPr>
          <p:cNvPr id="71" name="Left Brace 70"/>
          <p:cNvSpPr/>
          <p:nvPr/>
        </p:nvSpPr>
        <p:spPr>
          <a:xfrm rot="5400000">
            <a:off x="3849366" y="1272312"/>
            <a:ext cx="252624" cy="9497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3" name="TextBox 72"/>
          <p:cNvSpPr txBox="1"/>
          <p:nvPr/>
        </p:nvSpPr>
        <p:spPr>
          <a:xfrm>
            <a:off x="3424491" y="1208839"/>
            <a:ext cx="1410258" cy="369332"/>
          </a:xfrm>
          <a:prstGeom prst="rect">
            <a:avLst/>
          </a:prstGeom>
          <a:noFill/>
        </p:spPr>
        <p:txBody>
          <a:bodyPr wrap="none" rtlCol="0">
            <a:spAutoFit/>
          </a:bodyPr>
          <a:lstStyle/>
          <a:p>
            <a:r>
              <a:rPr lang="en-US" dirty="0">
                <a:solidFill>
                  <a:srgbClr val="FF0000"/>
                </a:solidFill>
              </a:rPr>
              <a:t>Output Layer</a:t>
            </a:r>
            <a:endParaRPr lang="en-IN" dirty="0">
              <a:solidFill>
                <a:srgbClr val="FF0000"/>
              </a:solidFill>
            </a:endParaRPr>
          </a:p>
        </p:txBody>
      </p:sp>
      <p:pic>
        <p:nvPicPr>
          <p:cNvPr id="93" name="Picture 92"/>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606465" y="3475374"/>
            <a:ext cx="746306" cy="746306"/>
          </a:xfrm>
          <a:prstGeom prst="rect">
            <a:avLst/>
          </a:prstGeom>
          <a:noFill/>
        </p:spPr>
      </p:pic>
      <p:cxnSp>
        <p:nvCxnSpPr>
          <p:cNvPr id="94" name="Straight Arrow Connector 93"/>
          <p:cNvCxnSpPr/>
          <p:nvPr/>
        </p:nvCxnSpPr>
        <p:spPr>
          <a:xfrm>
            <a:off x="4337074" y="3849707"/>
            <a:ext cx="338016" cy="1877"/>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pic>
        <p:nvPicPr>
          <p:cNvPr id="98" name="Picture 97"/>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606465" y="5558911"/>
            <a:ext cx="746306" cy="746306"/>
          </a:xfrm>
          <a:prstGeom prst="rect">
            <a:avLst/>
          </a:prstGeom>
          <a:noFill/>
        </p:spPr>
      </p:pic>
      <p:cxnSp>
        <p:nvCxnSpPr>
          <p:cNvPr id="99" name="Straight Arrow Connector 98"/>
          <p:cNvCxnSpPr/>
          <p:nvPr/>
        </p:nvCxnSpPr>
        <p:spPr>
          <a:xfrm>
            <a:off x="4337074" y="5933244"/>
            <a:ext cx="338016" cy="1877"/>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cxnSpLocks/>
            <a:endCxn id="93" idx="1"/>
          </p:cNvCxnSpPr>
          <p:nvPr/>
        </p:nvCxnSpPr>
        <p:spPr>
          <a:xfrm>
            <a:off x="2468373" y="2498466"/>
            <a:ext cx="1138092" cy="1350061"/>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a:endCxn id="93" idx="1"/>
          </p:cNvCxnSpPr>
          <p:nvPr/>
        </p:nvCxnSpPr>
        <p:spPr>
          <a:xfrm flipV="1">
            <a:off x="2429218" y="3848527"/>
            <a:ext cx="1177247" cy="11803"/>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a:endCxn id="93" idx="1"/>
          </p:cNvCxnSpPr>
          <p:nvPr/>
        </p:nvCxnSpPr>
        <p:spPr>
          <a:xfrm flipV="1">
            <a:off x="2486384" y="3848527"/>
            <a:ext cx="1120081" cy="2132994"/>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cxnSpLocks/>
            <a:endCxn id="98" idx="1"/>
          </p:cNvCxnSpPr>
          <p:nvPr/>
        </p:nvCxnSpPr>
        <p:spPr>
          <a:xfrm>
            <a:off x="2468373" y="2498466"/>
            <a:ext cx="1138092" cy="3433598"/>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a:cxnSpLocks/>
            <a:endCxn id="98" idx="1"/>
          </p:cNvCxnSpPr>
          <p:nvPr/>
        </p:nvCxnSpPr>
        <p:spPr>
          <a:xfrm>
            <a:off x="2468373" y="3853943"/>
            <a:ext cx="1138092" cy="2078121"/>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a:endCxn id="98" idx="1"/>
          </p:cNvCxnSpPr>
          <p:nvPr/>
        </p:nvCxnSpPr>
        <p:spPr>
          <a:xfrm flipV="1">
            <a:off x="2470848" y="5932064"/>
            <a:ext cx="1135617" cy="58158"/>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7" name="TextBox 106"/>
              <p:cNvSpPr txBox="1"/>
              <p:nvPr/>
            </p:nvSpPr>
            <p:spPr>
              <a:xfrm>
                <a:off x="3693231" y="2447808"/>
                <a:ext cx="597408" cy="369332"/>
              </a:xfrm>
              <a:prstGeom prst="rect">
                <a:avLst/>
              </a:prstGeom>
              <a:noFill/>
            </p:spPr>
            <p:txBody>
              <a:bodyPr wrap="none" lIns="0" tIns="0" rIns="0" bIns="0" rtlCol="0">
                <a:spAutoFit/>
              </a:bodyPr>
              <a:lstStyle/>
              <a:p>
                <a:r>
                  <a:rPr lang="en-US" sz="2400" b="0" dirty="0">
                    <a:solidFill>
                      <a:schemeClr val="tx1"/>
                    </a:solidFill>
                    <a:ea typeface="Cambria Math" panose="02040503050406030204" pitchFamily="18" charset="0"/>
                  </a:rPr>
                  <a:t>o</a:t>
                </a:r>
                <a14:m>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𝑎</m:t>
                    </m:r>
                    <m:r>
                      <a:rPr lang="en-US" sz="2400" b="0" i="1" smtClean="0">
                        <a:solidFill>
                          <a:schemeClr val="tx1"/>
                        </a:solidFill>
                        <a:latin typeface="Cambria Math" panose="02040503050406030204" pitchFamily="18" charset="0"/>
                        <a:ea typeface="Cambria Math" panose="02040503050406030204" pitchFamily="18" charset="0"/>
                      </a:rPr>
                      <m:t>)</m:t>
                    </m:r>
                  </m:oMath>
                </a14:m>
                <a:endParaRPr lang="en-IN" sz="2400" dirty="0">
                  <a:solidFill>
                    <a:schemeClr val="tx1"/>
                  </a:solidFill>
                </a:endParaRPr>
              </a:p>
            </p:txBody>
          </p:sp>
        </mc:Choice>
        <mc:Fallback xmlns="">
          <p:sp>
            <p:nvSpPr>
              <p:cNvPr id="107" name="TextBox 106"/>
              <p:cNvSpPr txBox="1">
                <a:spLocks noRot="1" noChangeAspect="1" noMove="1" noResize="1" noEditPoints="1" noAdjustHandles="1" noChangeArrowheads="1" noChangeShapeType="1" noTextEdit="1"/>
              </p:cNvSpPr>
              <p:nvPr/>
            </p:nvSpPr>
            <p:spPr>
              <a:xfrm>
                <a:off x="3693231" y="2447808"/>
                <a:ext cx="597408" cy="369332"/>
              </a:xfrm>
              <a:prstGeom prst="rect">
                <a:avLst/>
              </a:prstGeom>
              <a:blipFill rotWithShape="0">
                <a:blip r:embed="rId13"/>
                <a:stretch>
                  <a:fillRect l="-31633" t="-26667" r="-22449" b="-50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8" name="TextBox 107"/>
              <p:cNvSpPr txBox="1"/>
              <p:nvPr/>
            </p:nvSpPr>
            <p:spPr>
              <a:xfrm>
                <a:off x="3696543" y="3802402"/>
                <a:ext cx="597408" cy="369332"/>
              </a:xfrm>
              <a:prstGeom prst="rect">
                <a:avLst/>
              </a:prstGeom>
              <a:noFill/>
            </p:spPr>
            <p:txBody>
              <a:bodyPr wrap="none" lIns="0" tIns="0" rIns="0" bIns="0" rtlCol="0">
                <a:spAutoFit/>
              </a:bodyPr>
              <a:lstStyle/>
              <a:p>
                <a:r>
                  <a:rPr lang="en-US" sz="2400" b="0" dirty="0">
                    <a:solidFill>
                      <a:schemeClr val="tx1"/>
                    </a:solidFill>
                    <a:ea typeface="Cambria Math" panose="02040503050406030204" pitchFamily="18" charset="0"/>
                  </a:rPr>
                  <a:t>o</a:t>
                </a:r>
                <a14:m>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𝑎</m:t>
                    </m:r>
                    <m:r>
                      <a:rPr lang="en-US" sz="2400" b="0" i="1" smtClean="0">
                        <a:solidFill>
                          <a:schemeClr val="tx1"/>
                        </a:solidFill>
                        <a:latin typeface="Cambria Math" panose="02040503050406030204" pitchFamily="18" charset="0"/>
                        <a:ea typeface="Cambria Math" panose="02040503050406030204" pitchFamily="18" charset="0"/>
                      </a:rPr>
                      <m:t>)</m:t>
                    </m:r>
                  </m:oMath>
                </a14:m>
                <a:endParaRPr lang="en-IN" sz="2400" dirty="0">
                  <a:solidFill>
                    <a:schemeClr val="tx1"/>
                  </a:solidFill>
                </a:endParaRPr>
              </a:p>
            </p:txBody>
          </p:sp>
        </mc:Choice>
        <mc:Fallback xmlns="">
          <p:sp>
            <p:nvSpPr>
              <p:cNvPr id="108" name="TextBox 107"/>
              <p:cNvSpPr txBox="1">
                <a:spLocks noRot="1" noChangeAspect="1" noMove="1" noResize="1" noEditPoints="1" noAdjustHandles="1" noChangeArrowheads="1" noChangeShapeType="1" noTextEdit="1"/>
              </p:cNvSpPr>
              <p:nvPr/>
            </p:nvSpPr>
            <p:spPr>
              <a:xfrm>
                <a:off x="3696543" y="3802402"/>
                <a:ext cx="597408" cy="369332"/>
              </a:xfrm>
              <a:prstGeom prst="rect">
                <a:avLst/>
              </a:prstGeom>
              <a:blipFill rotWithShape="0">
                <a:blip r:embed="rId14"/>
                <a:stretch>
                  <a:fillRect l="-30612" t="-26667" r="-23469" b="-50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9" name="TextBox 108"/>
              <p:cNvSpPr txBox="1"/>
              <p:nvPr/>
            </p:nvSpPr>
            <p:spPr>
              <a:xfrm>
                <a:off x="3696543" y="5890809"/>
                <a:ext cx="597408" cy="369332"/>
              </a:xfrm>
              <a:prstGeom prst="rect">
                <a:avLst/>
              </a:prstGeom>
              <a:noFill/>
            </p:spPr>
            <p:txBody>
              <a:bodyPr wrap="none" lIns="0" tIns="0" rIns="0" bIns="0" rtlCol="0">
                <a:spAutoFit/>
              </a:bodyPr>
              <a:lstStyle/>
              <a:p>
                <a:r>
                  <a:rPr lang="en-US" sz="2400" b="0" dirty="0">
                    <a:solidFill>
                      <a:schemeClr val="tx1"/>
                    </a:solidFill>
                    <a:ea typeface="Cambria Math" panose="02040503050406030204" pitchFamily="18" charset="0"/>
                  </a:rPr>
                  <a:t>o</a:t>
                </a:r>
                <a14:m>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𝑎</m:t>
                    </m:r>
                    <m:r>
                      <a:rPr lang="en-US" sz="2400" b="0" i="1" smtClean="0">
                        <a:solidFill>
                          <a:schemeClr val="tx1"/>
                        </a:solidFill>
                        <a:latin typeface="Cambria Math" panose="02040503050406030204" pitchFamily="18" charset="0"/>
                        <a:ea typeface="Cambria Math" panose="02040503050406030204" pitchFamily="18" charset="0"/>
                      </a:rPr>
                      <m:t>)</m:t>
                    </m:r>
                  </m:oMath>
                </a14:m>
                <a:endParaRPr lang="en-IN" sz="2400" dirty="0">
                  <a:solidFill>
                    <a:schemeClr val="tx1"/>
                  </a:solidFill>
                </a:endParaRPr>
              </a:p>
            </p:txBody>
          </p:sp>
        </mc:Choice>
        <mc:Fallback xmlns="">
          <p:sp>
            <p:nvSpPr>
              <p:cNvPr id="109" name="TextBox 108"/>
              <p:cNvSpPr txBox="1">
                <a:spLocks noRot="1" noChangeAspect="1" noMove="1" noResize="1" noEditPoints="1" noAdjustHandles="1" noChangeArrowheads="1" noChangeShapeType="1" noTextEdit="1"/>
              </p:cNvSpPr>
              <p:nvPr/>
            </p:nvSpPr>
            <p:spPr>
              <a:xfrm>
                <a:off x="3696543" y="5890809"/>
                <a:ext cx="597408" cy="369332"/>
              </a:xfrm>
              <a:prstGeom prst="rect">
                <a:avLst/>
              </a:prstGeom>
              <a:blipFill rotWithShape="0">
                <a:blip r:embed="rId15"/>
                <a:stretch>
                  <a:fillRect l="-30612" t="-24590" r="-23469" b="-4918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0" name="TextBox 109"/>
              <p:cNvSpPr txBox="1"/>
              <p:nvPr/>
            </p:nvSpPr>
            <p:spPr>
              <a:xfrm>
                <a:off x="3327059" y="1976895"/>
                <a:ext cx="528350" cy="42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200" i="1" smtClean="0">
                              <a:solidFill>
                                <a:schemeClr val="tx1"/>
                              </a:solidFill>
                              <a:latin typeface="Cambria Math" panose="02040503050406030204" pitchFamily="18" charset="0"/>
                            </a:rPr>
                          </m:ctrlPr>
                        </m:sSubSupPr>
                        <m:e>
                          <m:r>
                            <a:rPr lang="en-US" sz="2200" b="0" i="1" smtClean="0">
                              <a:solidFill>
                                <a:schemeClr val="tx1"/>
                              </a:solidFill>
                              <a:latin typeface="Cambria Math" panose="02040503050406030204" pitchFamily="18" charset="0"/>
                            </a:rPr>
                            <m:t>𝑎</m:t>
                          </m:r>
                        </m:e>
                        <m:sub>
                          <m:r>
                            <a:rPr lang="en-US" sz="2200" b="0" i="1" smtClean="0">
                              <a:solidFill>
                                <a:schemeClr val="tx1"/>
                              </a:solidFill>
                              <a:latin typeface="Cambria Math" panose="02040503050406030204" pitchFamily="18" charset="0"/>
                            </a:rPr>
                            <m:t>1</m:t>
                          </m:r>
                        </m:sub>
                        <m:sup>
                          <m:r>
                            <a:rPr lang="en-US" sz="2200" b="0" i="1" smtClean="0">
                              <a:solidFill>
                                <a:schemeClr val="tx1"/>
                              </a:solidFill>
                              <a:latin typeface="Cambria Math" panose="02040503050406030204" pitchFamily="18" charset="0"/>
                            </a:rPr>
                            <m:t>(2)</m:t>
                          </m:r>
                        </m:sup>
                      </m:sSubSup>
                    </m:oMath>
                  </m:oMathPara>
                </a14:m>
                <a:endParaRPr lang="en-IN" sz="2200" dirty="0">
                  <a:solidFill>
                    <a:schemeClr val="tx1"/>
                  </a:solidFill>
                </a:endParaRPr>
              </a:p>
            </p:txBody>
          </p:sp>
        </mc:Choice>
        <mc:Fallback xmlns="">
          <p:sp>
            <p:nvSpPr>
              <p:cNvPr id="110" name="TextBox 109"/>
              <p:cNvSpPr txBox="1">
                <a:spLocks noRot="1" noChangeAspect="1" noMove="1" noResize="1" noEditPoints="1" noAdjustHandles="1" noChangeArrowheads="1" noChangeShapeType="1" noTextEdit="1"/>
              </p:cNvSpPr>
              <p:nvPr/>
            </p:nvSpPr>
            <p:spPr>
              <a:xfrm>
                <a:off x="3327059" y="1976895"/>
                <a:ext cx="528350" cy="422873"/>
              </a:xfrm>
              <a:prstGeom prst="rect">
                <a:avLst/>
              </a:prstGeom>
              <a:blipFill rotWithShape="0">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1" name="TextBox 110"/>
              <p:cNvSpPr txBox="1"/>
              <p:nvPr/>
            </p:nvSpPr>
            <p:spPr>
              <a:xfrm>
                <a:off x="3394564" y="3259177"/>
                <a:ext cx="528350" cy="4381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200" i="1" smtClean="0">
                              <a:solidFill>
                                <a:schemeClr val="tx1"/>
                              </a:solidFill>
                              <a:latin typeface="Cambria Math" panose="02040503050406030204" pitchFamily="18" charset="0"/>
                            </a:rPr>
                          </m:ctrlPr>
                        </m:sSubSupPr>
                        <m:e>
                          <m:r>
                            <a:rPr lang="en-US" sz="2200" b="0" i="1" smtClean="0">
                              <a:solidFill>
                                <a:schemeClr val="tx1"/>
                              </a:solidFill>
                              <a:latin typeface="Cambria Math" panose="02040503050406030204" pitchFamily="18" charset="0"/>
                            </a:rPr>
                            <m:t>𝑎</m:t>
                          </m:r>
                        </m:e>
                        <m:sub>
                          <m:r>
                            <a:rPr lang="en-US" sz="2200" b="0" i="1" smtClean="0">
                              <a:solidFill>
                                <a:schemeClr val="tx1"/>
                              </a:solidFill>
                              <a:latin typeface="Cambria Math" panose="02040503050406030204" pitchFamily="18" charset="0"/>
                            </a:rPr>
                            <m:t>2</m:t>
                          </m:r>
                        </m:sub>
                        <m:sup>
                          <m:r>
                            <a:rPr lang="en-US" sz="2200" b="0" i="1" smtClean="0">
                              <a:solidFill>
                                <a:schemeClr val="tx1"/>
                              </a:solidFill>
                              <a:latin typeface="Cambria Math" panose="02040503050406030204" pitchFamily="18" charset="0"/>
                            </a:rPr>
                            <m:t>(2)</m:t>
                          </m:r>
                        </m:sup>
                      </m:sSubSup>
                    </m:oMath>
                  </m:oMathPara>
                </a14:m>
                <a:endParaRPr lang="en-IN" sz="2200" dirty="0">
                  <a:solidFill>
                    <a:schemeClr val="tx1"/>
                  </a:solidFill>
                </a:endParaRPr>
              </a:p>
            </p:txBody>
          </p:sp>
        </mc:Choice>
        <mc:Fallback xmlns="">
          <p:sp>
            <p:nvSpPr>
              <p:cNvPr id="111" name="TextBox 110"/>
              <p:cNvSpPr txBox="1">
                <a:spLocks noRot="1" noChangeAspect="1" noMove="1" noResize="1" noEditPoints="1" noAdjustHandles="1" noChangeArrowheads="1" noChangeShapeType="1" noTextEdit="1"/>
              </p:cNvSpPr>
              <p:nvPr/>
            </p:nvSpPr>
            <p:spPr>
              <a:xfrm>
                <a:off x="3394564" y="3259177"/>
                <a:ext cx="528350" cy="438197"/>
              </a:xfrm>
              <a:prstGeom prst="rect">
                <a:avLst/>
              </a:prstGeom>
              <a:blipFill rotWithShape="0">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2" name="TextBox 111"/>
              <p:cNvSpPr txBox="1"/>
              <p:nvPr/>
            </p:nvSpPr>
            <p:spPr>
              <a:xfrm>
                <a:off x="3500798" y="5207443"/>
                <a:ext cx="528350" cy="4381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200" i="1" smtClean="0">
                              <a:solidFill>
                                <a:schemeClr val="tx1"/>
                              </a:solidFill>
                              <a:latin typeface="Cambria Math" panose="02040503050406030204" pitchFamily="18" charset="0"/>
                            </a:rPr>
                          </m:ctrlPr>
                        </m:sSubSupPr>
                        <m:e>
                          <m:r>
                            <a:rPr lang="en-US" sz="2200" b="0" i="1" smtClean="0">
                              <a:solidFill>
                                <a:schemeClr val="tx1"/>
                              </a:solidFill>
                              <a:latin typeface="Cambria Math" panose="02040503050406030204" pitchFamily="18" charset="0"/>
                            </a:rPr>
                            <m:t>𝑎</m:t>
                          </m:r>
                        </m:e>
                        <m:sub>
                          <m:r>
                            <a:rPr lang="en-US" sz="2200" b="0" i="1" smtClean="0">
                              <a:solidFill>
                                <a:schemeClr val="tx1"/>
                              </a:solidFill>
                              <a:latin typeface="Cambria Math" panose="02040503050406030204" pitchFamily="18" charset="0"/>
                            </a:rPr>
                            <m:t>𝐶</m:t>
                          </m:r>
                        </m:sub>
                        <m:sup>
                          <m:r>
                            <a:rPr lang="en-US" sz="2200" b="0" i="1" smtClean="0">
                              <a:solidFill>
                                <a:schemeClr val="tx1"/>
                              </a:solidFill>
                              <a:latin typeface="Cambria Math" panose="02040503050406030204" pitchFamily="18" charset="0"/>
                            </a:rPr>
                            <m:t>(2)</m:t>
                          </m:r>
                        </m:sup>
                      </m:sSubSup>
                    </m:oMath>
                  </m:oMathPara>
                </a14:m>
                <a:endParaRPr lang="en-IN" sz="2200" dirty="0">
                  <a:solidFill>
                    <a:schemeClr val="tx1"/>
                  </a:solidFill>
                </a:endParaRPr>
              </a:p>
            </p:txBody>
          </p:sp>
        </mc:Choice>
        <mc:Fallback xmlns="">
          <p:sp>
            <p:nvSpPr>
              <p:cNvPr id="112" name="TextBox 111"/>
              <p:cNvSpPr txBox="1">
                <a:spLocks noRot="1" noChangeAspect="1" noMove="1" noResize="1" noEditPoints="1" noAdjustHandles="1" noChangeArrowheads="1" noChangeShapeType="1" noTextEdit="1"/>
              </p:cNvSpPr>
              <p:nvPr/>
            </p:nvSpPr>
            <p:spPr>
              <a:xfrm>
                <a:off x="3500798" y="5207443"/>
                <a:ext cx="528350" cy="438197"/>
              </a:xfrm>
              <a:prstGeom prst="rect">
                <a:avLst/>
              </a:prstGeom>
              <a:blipFill rotWithShape="0">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4732011" y="2010498"/>
                <a:ext cx="3551036" cy="8946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200" i="1" smtClean="0">
                              <a:latin typeface="Cambria Math" panose="02040503050406030204" pitchFamily="18" charset="0"/>
                            </a:rPr>
                          </m:ctrlPr>
                        </m:sSubPr>
                        <m:e>
                          <m:sSub>
                            <m:sSubPr>
                              <m:ctrlPr>
                                <a:rPr lang="en-IN" sz="2200" i="1" smtClean="0">
                                  <a:latin typeface="Cambria Math" panose="02040503050406030204" pitchFamily="18" charset="0"/>
                                </a:rPr>
                              </m:ctrlPr>
                            </m:sSubPr>
                            <m:e>
                              <m:r>
                                <a:rPr lang="en-US" sz="2200" b="0" i="1" smtClean="0">
                                  <a:latin typeface="Cambria Math" panose="02040503050406030204" pitchFamily="18" charset="0"/>
                                </a:rPr>
                                <m:t>𝑦</m:t>
                              </m:r>
                            </m:e>
                            <m:sub>
                              <m:r>
                                <a:rPr lang="en-US" sz="2200" b="0" i="1" smtClean="0">
                                  <a:latin typeface="Cambria Math" panose="02040503050406030204" pitchFamily="18" charset="0"/>
                                </a:rPr>
                                <m:t>1</m:t>
                              </m:r>
                            </m:sub>
                          </m:sSub>
                          <m:r>
                            <a:rPr lang="en-US" sz="2200" b="0" i="1" smtClean="0">
                              <a:latin typeface="Cambria Math" panose="02040503050406030204" pitchFamily="18" charset="0"/>
                            </a:rPr>
                            <m:t>=</m:t>
                          </m:r>
                          <m:r>
                            <a:rPr lang="en-US" sz="2200" b="0" i="1" smtClean="0">
                              <a:latin typeface="Cambria Math" panose="02040503050406030204" pitchFamily="18" charset="0"/>
                            </a:rPr>
                            <m:t>𝑜</m:t>
                          </m:r>
                        </m:e>
                        <m:sub>
                          <m:r>
                            <a:rPr lang="en-US" sz="2200" b="0" i="1" smtClean="0">
                              <a:latin typeface="Cambria Math" panose="02040503050406030204" pitchFamily="18" charset="0"/>
                            </a:rPr>
                            <m:t>1</m:t>
                          </m:r>
                        </m:sub>
                      </m:sSub>
                      <m:d>
                        <m:dPr>
                          <m:ctrlPr>
                            <a:rPr lang="en-IN" sz="2200" i="1" smtClean="0">
                              <a:latin typeface="Cambria Math" panose="02040503050406030204" pitchFamily="18" charset="0"/>
                            </a:rPr>
                          </m:ctrlPr>
                        </m:dPr>
                        <m:e>
                          <m:sSup>
                            <m:sSupPr>
                              <m:ctrlPr>
                                <a:rPr lang="en-IN" sz="2200" i="1" smtClean="0">
                                  <a:latin typeface="Cambria Math" panose="02040503050406030204" pitchFamily="18" charset="0"/>
                                </a:rPr>
                              </m:ctrlPr>
                            </m:sSupPr>
                            <m:e>
                              <m:r>
                                <a:rPr lang="en-US" sz="2200" b="1" i="1" smtClean="0">
                                  <a:latin typeface="Cambria Math" panose="02040503050406030204" pitchFamily="18" charset="0"/>
                                </a:rPr>
                                <m:t>𝒂</m:t>
                              </m:r>
                            </m:e>
                            <m:sup>
                              <m:r>
                                <a:rPr lang="en-US" sz="2200" b="0" i="1" smtClean="0">
                                  <a:latin typeface="Cambria Math" panose="02040503050406030204" pitchFamily="18" charset="0"/>
                                </a:rPr>
                                <m:t>(2)</m:t>
                              </m:r>
                            </m:sup>
                          </m:sSup>
                        </m:e>
                      </m:d>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m:rPr>
                              <m:sty m:val="p"/>
                            </m:rPr>
                            <a:rPr lang="en-US" sz="2200" b="0" i="0" smtClean="0">
                              <a:latin typeface="Cambria Math" panose="02040503050406030204" pitchFamily="18" charset="0"/>
                            </a:rPr>
                            <m:t>exp</m:t>
                          </m:r>
                          <m:r>
                            <a:rPr lang="en-US" sz="2200" b="0" i="1" smtClean="0">
                              <a:latin typeface="Cambria Math" panose="02040503050406030204" pitchFamily="18" charset="0"/>
                            </a:rPr>
                            <m:t>⁡(</m:t>
                          </m:r>
                          <m:sSubSup>
                            <m:sSubSupPr>
                              <m:ctrlPr>
                                <a:rPr lang="en-US" sz="2200" b="0" i="1" smtClean="0">
                                  <a:latin typeface="Cambria Math" panose="02040503050406030204" pitchFamily="18" charset="0"/>
                                </a:rPr>
                              </m:ctrlPr>
                            </m:sSubSupPr>
                            <m:e>
                              <m:r>
                                <a:rPr lang="en-US" sz="2200" b="0" i="1" smtClean="0">
                                  <a:latin typeface="Cambria Math" panose="02040503050406030204" pitchFamily="18" charset="0"/>
                                </a:rPr>
                                <m:t>𝑎</m:t>
                              </m:r>
                            </m:e>
                            <m:sub>
                              <m:r>
                                <a:rPr lang="en-US" sz="2200" b="0" i="1" smtClean="0">
                                  <a:latin typeface="Cambria Math" panose="02040503050406030204" pitchFamily="18" charset="0"/>
                                </a:rPr>
                                <m:t>1</m:t>
                              </m:r>
                            </m:sub>
                            <m:sup>
                              <m:r>
                                <a:rPr lang="en-US" sz="2200" b="0" i="1" smtClean="0">
                                  <a:latin typeface="Cambria Math" panose="02040503050406030204" pitchFamily="18" charset="0"/>
                                </a:rPr>
                                <m:t>(2)</m:t>
                              </m:r>
                            </m:sup>
                          </m:sSubSup>
                          <m:r>
                            <a:rPr lang="en-US" sz="2200" b="0" i="1" smtClean="0">
                              <a:latin typeface="Cambria Math" panose="02040503050406030204" pitchFamily="18" charset="0"/>
                            </a:rPr>
                            <m:t>)</m:t>
                          </m:r>
                        </m:num>
                        <m:den>
                          <m:nary>
                            <m:naryPr>
                              <m:chr m:val="∑"/>
                              <m:supHide m:val="on"/>
                              <m:ctrlPr>
                                <a:rPr lang="en-US" sz="2200" b="0" i="1" smtClean="0">
                                  <a:latin typeface="Cambria Math" panose="02040503050406030204" pitchFamily="18" charset="0"/>
                                </a:rPr>
                              </m:ctrlPr>
                            </m:naryPr>
                            <m:sub>
                              <m:r>
                                <m:rPr>
                                  <m:brk m:alnAt="7"/>
                                </m:rPr>
                                <a:rPr lang="en-US" sz="2200" b="0" i="1" smtClean="0">
                                  <a:latin typeface="Cambria Math" panose="02040503050406030204" pitchFamily="18" charset="0"/>
                                </a:rPr>
                                <m:t>𝑐</m:t>
                              </m:r>
                            </m:sub>
                            <m:sup/>
                            <m:e>
                              <m:r>
                                <m:rPr>
                                  <m:sty m:val="p"/>
                                </m:rPr>
                                <a:rPr lang="en-US" sz="2200" b="0" i="0" smtClean="0">
                                  <a:latin typeface="Cambria Math" panose="02040503050406030204" pitchFamily="18" charset="0"/>
                                </a:rPr>
                                <m:t>exp</m:t>
                              </m:r>
                              <m:r>
                                <a:rPr lang="en-US" sz="2200" b="0" i="1" smtClean="0">
                                  <a:latin typeface="Cambria Math" panose="02040503050406030204" pitchFamily="18" charset="0"/>
                                </a:rPr>
                                <m:t>⁡(</m:t>
                              </m:r>
                              <m:sSubSup>
                                <m:sSubSupPr>
                                  <m:ctrlPr>
                                    <a:rPr lang="en-US" sz="2200" b="0" i="1" smtClean="0">
                                      <a:latin typeface="Cambria Math" panose="02040503050406030204" pitchFamily="18" charset="0"/>
                                    </a:rPr>
                                  </m:ctrlPr>
                                </m:sSubSupPr>
                                <m:e>
                                  <m:r>
                                    <a:rPr lang="en-US" sz="2200" b="0" i="1" smtClean="0">
                                      <a:latin typeface="Cambria Math" panose="02040503050406030204" pitchFamily="18" charset="0"/>
                                    </a:rPr>
                                    <m:t>𝑎</m:t>
                                  </m:r>
                                </m:e>
                                <m:sub>
                                  <m:r>
                                    <a:rPr lang="en-US" sz="2200" b="0" i="1" smtClean="0">
                                      <a:latin typeface="Cambria Math" panose="02040503050406030204" pitchFamily="18" charset="0"/>
                                    </a:rPr>
                                    <m:t>𝑐</m:t>
                                  </m:r>
                                </m:sub>
                                <m:sup>
                                  <m:r>
                                    <a:rPr lang="en-US" sz="2200" b="0" i="1" smtClean="0">
                                      <a:latin typeface="Cambria Math" panose="02040503050406030204" pitchFamily="18" charset="0"/>
                                    </a:rPr>
                                    <m:t>(2)</m:t>
                                  </m:r>
                                </m:sup>
                              </m:sSubSup>
                              <m:r>
                                <a:rPr lang="en-US" sz="2200" b="0" i="1" smtClean="0">
                                  <a:latin typeface="Cambria Math" panose="02040503050406030204" pitchFamily="18" charset="0"/>
                                </a:rPr>
                                <m:t>)</m:t>
                              </m:r>
                            </m:e>
                          </m:nary>
                        </m:den>
                      </m:f>
                    </m:oMath>
                  </m:oMathPara>
                </a14:m>
                <a:endParaRPr lang="en-IN" sz="2200" dirty="0"/>
              </a:p>
            </p:txBody>
          </p:sp>
        </mc:Choice>
        <mc:Fallback xmlns="">
          <p:sp>
            <p:nvSpPr>
              <p:cNvPr id="28" name="TextBox 27"/>
              <p:cNvSpPr txBox="1">
                <a:spLocks noRot="1" noChangeAspect="1" noMove="1" noResize="1" noEditPoints="1" noAdjustHandles="1" noChangeArrowheads="1" noChangeShapeType="1" noTextEdit="1"/>
              </p:cNvSpPr>
              <p:nvPr/>
            </p:nvSpPr>
            <p:spPr>
              <a:xfrm>
                <a:off x="4732011" y="2010498"/>
                <a:ext cx="3551036" cy="894669"/>
              </a:xfrm>
              <a:prstGeom prst="rect">
                <a:avLst/>
              </a:prstGeom>
              <a:blipFill rotWithShape="0">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3" name="TextBox 112"/>
              <p:cNvSpPr txBox="1"/>
              <p:nvPr/>
            </p:nvSpPr>
            <p:spPr>
              <a:xfrm>
                <a:off x="4732011" y="3376283"/>
                <a:ext cx="3643177" cy="8946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200" i="1" smtClean="0">
                              <a:latin typeface="Cambria Math" panose="02040503050406030204" pitchFamily="18" charset="0"/>
                            </a:rPr>
                          </m:ctrlPr>
                        </m:sSubPr>
                        <m:e>
                          <m:sSub>
                            <m:sSubPr>
                              <m:ctrlPr>
                                <a:rPr lang="en-IN" sz="2200" i="1">
                                  <a:latin typeface="Cambria Math" panose="02040503050406030204" pitchFamily="18" charset="0"/>
                                </a:rPr>
                              </m:ctrlPr>
                            </m:sSubPr>
                            <m:e>
                              <m:r>
                                <a:rPr lang="en-US" sz="2200" i="1">
                                  <a:latin typeface="Cambria Math" panose="02040503050406030204" pitchFamily="18" charset="0"/>
                                </a:rPr>
                                <m:t>𝑦</m:t>
                              </m:r>
                            </m:e>
                            <m:sub>
                              <m:r>
                                <a:rPr lang="en-US" sz="2200" b="0" i="1" smtClean="0">
                                  <a:latin typeface="Cambria Math" panose="02040503050406030204" pitchFamily="18" charset="0"/>
                                </a:rPr>
                                <m:t>2</m:t>
                              </m:r>
                            </m:sub>
                          </m:sSub>
                          <m:r>
                            <a:rPr lang="en-US" sz="2200" i="1">
                              <a:latin typeface="Cambria Math" panose="02040503050406030204" pitchFamily="18" charset="0"/>
                            </a:rPr>
                            <m:t>=</m:t>
                          </m:r>
                          <m:r>
                            <a:rPr lang="en-US" sz="2200" b="0" i="1" smtClean="0">
                              <a:latin typeface="Cambria Math" panose="02040503050406030204" pitchFamily="18" charset="0"/>
                            </a:rPr>
                            <m:t>𝑜</m:t>
                          </m:r>
                        </m:e>
                        <m:sub>
                          <m:r>
                            <a:rPr lang="en-US" sz="2200" b="0" i="1" smtClean="0">
                              <a:latin typeface="Cambria Math" panose="02040503050406030204" pitchFamily="18" charset="0"/>
                            </a:rPr>
                            <m:t>2</m:t>
                          </m:r>
                        </m:sub>
                      </m:sSub>
                      <m:d>
                        <m:dPr>
                          <m:ctrlPr>
                            <a:rPr lang="en-IN" sz="2200" i="1" smtClean="0">
                              <a:latin typeface="Cambria Math" panose="02040503050406030204" pitchFamily="18" charset="0"/>
                            </a:rPr>
                          </m:ctrlPr>
                        </m:dPr>
                        <m:e>
                          <m:sSup>
                            <m:sSupPr>
                              <m:ctrlPr>
                                <a:rPr lang="en-IN" sz="2200" i="1" smtClean="0">
                                  <a:latin typeface="Cambria Math" panose="02040503050406030204" pitchFamily="18" charset="0"/>
                                </a:rPr>
                              </m:ctrlPr>
                            </m:sSupPr>
                            <m:e>
                              <m:r>
                                <a:rPr lang="en-US" sz="2200" b="1" i="1" smtClean="0">
                                  <a:latin typeface="Cambria Math" panose="02040503050406030204" pitchFamily="18" charset="0"/>
                                </a:rPr>
                                <m:t>𝒂</m:t>
                              </m:r>
                            </m:e>
                            <m:sup>
                              <m:r>
                                <a:rPr lang="en-US" sz="2200" b="0" i="1" smtClean="0">
                                  <a:latin typeface="Cambria Math" panose="02040503050406030204" pitchFamily="18" charset="0"/>
                                </a:rPr>
                                <m:t>(2)</m:t>
                              </m:r>
                            </m:sup>
                          </m:sSup>
                        </m:e>
                      </m:d>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m:rPr>
                              <m:sty m:val="p"/>
                            </m:rPr>
                            <a:rPr lang="en-US" sz="2200" b="0" i="0" smtClean="0">
                              <a:latin typeface="Cambria Math" panose="02040503050406030204" pitchFamily="18" charset="0"/>
                            </a:rPr>
                            <m:t>exp</m:t>
                          </m:r>
                          <m:r>
                            <a:rPr lang="en-US" sz="2200" b="0" i="1" smtClean="0">
                              <a:latin typeface="Cambria Math" panose="02040503050406030204" pitchFamily="18" charset="0"/>
                            </a:rPr>
                            <m:t>⁡(</m:t>
                          </m:r>
                          <m:sSubSup>
                            <m:sSubSupPr>
                              <m:ctrlPr>
                                <a:rPr lang="en-US" sz="2200" b="0" i="1" smtClean="0">
                                  <a:latin typeface="Cambria Math" panose="02040503050406030204" pitchFamily="18" charset="0"/>
                                </a:rPr>
                              </m:ctrlPr>
                            </m:sSubSupPr>
                            <m:e>
                              <m:r>
                                <a:rPr lang="en-US" sz="2200" b="0" i="1" smtClean="0">
                                  <a:latin typeface="Cambria Math" panose="02040503050406030204" pitchFamily="18" charset="0"/>
                                </a:rPr>
                                <m:t>𝑎</m:t>
                              </m:r>
                            </m:e>
                            <m:sub>
                              <m:r>
                                <a:rPr lang="en-US" sz="2200" b="0" i="1" smtClean="0">
                                  <a:latin typeface="Cambria Math" panose="02040503050406030204" pitchFamily="18" charset="0"/>
                                </a:rPr>
                                <m:t>2</m:t>
                              </m:r>
                            </m:sub>
                            <m:sup>
                              <m:r>
                                <a:rPr lang="en-US" sz="2200" b="0" i="1" smtClean="0">
                                  <a:latin typeface="Cambria Math" panose="02040503050406030204" pitchFamily="18" charset="0"/>
                                </a:rPr>
                                <m:t>(2)</m:t>
                              </m:r>
                            </m:sup>
                          </m:sSubSup>
                          <m:r>
                            <a:rPr lang="en-US" sz="2200" b="0" i="1" smtClean="0">
                              <a:latin typeface="Cambria Math" panose="02040503050406030204" pitchFamily="18" charset="0"/>
                            </a:rPr>
                            <m:t>)</m:t>
                          </m:r>
                        </m:num>
                        <m:den>
                          <m:nary>
                            <m:naryPr>
                              <m:chr m:val="∑"/>
                              <m:supHide m:val="on"/>
                              <m:ctrlPr>
                                <a:rPr lang="en-US" sz="2200" b="0" i="1" smtClean="0">
                                  <a:latin typeface="Cambria Math" panose="02040503050406030204" pitchFamily="18" charset="0"/>
                                </a:rPr>
                              </m:ctrlPr>
                            </m:naryPr>
                            <m:sub>
                              <m:r>
                                <m:rPr>
                                  <m:brk m:alnAt="7"/>
                                </m:rPr>
                                <a:rPr lang="en-US" sz="2200" b="0" i="1" smtClean="0">
                                  <a:latin typeface="Cambria Math" panose="02040503050406030204" pitchFamily="18" charset="0"/>
                                </a:rPr>
                                <m:t>𝑐</m:t>
                              </m:r>
                            </m:sub>
                            <m:sup/>
                            <m:e>
                              <m:r>
                                <m:rPr>
                                  <m:sty m:val="p"/>
                                </m:rPr>
                                <a:rPr lang="en-US" sz="2200" b="0" i="0" smtClean="0">
                                  <a:latin typeface="Cambria Math" panose="02040503050406030204" pitchFamily="18" charset="0"/>
                                </a:rPr>
                                <m:t>exp</m:t>
                              </m:r>
                              <m:r>
                                <a:rPr lang="en-US" sz="2200" b="0" i="1" smtClean="0">
                                  <a:latin typeface="Cambria Math" panose="02040503050406030204" pitchFamily="18" charset="0"/>
                                </a:rPr>
                                <m:t>⁡(</m:t>
                              </m:r>
                              <m:sSubSup>
                                <m:sSubSupPr>
                                  <m:ctrlPr>
                                    <a:rPr lang="en-US" sz="2200" b="0" i="1" smtClean="0">
                                      <a:latin typeface="Cambria Math" panose="02040503050406030204" pitchFamily="18" charset="0"/>
                                    </a:rPr>
                                  </m:ctrlPr>
                                </m:sSubSupPr>
                                <m:e>
                                  <m:r>
                                    <a:rPr lang="en-US" sz="2200" b="0" i="1" smtClean="0">
                                      <a:latin typeface="Cambria Math" panose="02040503050406030204" pitchFamily="18" charset="0"/>
                                    </a:rPr>
                                    <m:t>𝑎</m:t>
                                  </m:r>
                                </m:e>
                                <m:sub>
                                  <m:r>
                                    <a:rPr lang="en-US" sz="2200" b="0" i="1" smtClean="0">
                                      <a:latin typeface="Cambria Math" panose="02040503050406030204" pitchFamily="18" charset="0"/>
                                    </a:rPr>
                                    <m:t>𝑐</m:t>
                                  </m:r>
                                </m:sub>
                                <m:sup>
                                  <m:r>
                                    <a:rPr lang="en-US" sz="2200" b="0" i="1" smtClean="0">
                                      <a:latin typeface="Cambria Math" panose="02040503050406030204" pitchFamily="18" charset="0"/>
                                    </a:rPr>
                                    <m:t>(2)</m:t>
                                  </m:r>
                                </m:sup>
                              </m:sSubSup>
                              <m:r>
                                <a:rPr lang="en-US" sz="2200" b="0" i="1" smtClean="0">
                                  <a:latin typeface="Cambria Math" panose="02040503050406030204" pitchFamily="18" charset="0"/>
                                </a:rPr>
                                <m:t>)</m:t>
                              </m:r>
                            </m:e>
                          </m:nary>
                        </m:den>
                      </m:f>
                    </m:oMath>
                  </m:oMathPara>
                </a14:m>
                <a:endParaRPr lang="en-IN" sz="2200" dirty="0"/>
              </a:p>
            </p:txBody>
          </p:sp>
        </mc:Choice>
        <mc:Fallback xmlns="">
          <p:sp>
            <p:nvSpPr>
              <p:cNvPr id="113" name="TextBox 112"/>
              <p:cNvSpPr txBox="1">
                <a:spLocks noRot="1" noChangeAspect="1" noMove="1" noResize="1" noEditPoints="1" noAdjustHandles="1" noChangeArrowheads="1" noChangeShapeType="1" noTextEdit="1"/>
              </p:cNvSpPr>
              <p:nvPr/>
            </p:nvSpPr>
            <p:spPr>
              <a:xfrm>
                <a:off x="4732011" y="3376283"/>
                <a:ext cx="3643177" cy="894669"/>
              </a:xfrm>
              <a:prstGeom prst="rect">
                <a:avLst/>
              </a:prstGeom>
              <a:blipFill rotWithShape="0">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4" name="TextBox 113"/>
              <p:cNvSpPr txBox="1"/>
              <p:nvPr/>
            </p:nvSpPr>
            <p:spPr>
              <a:xfrm>
                <a:off x="4732011" y="5456980"/>
                <a:ext cx="3658629" cy="8956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200" i="1" smtClean="0">
                              <a:latin typeface="Cambria Math" panose="02040503050406030204" pitchFamily="18" charset="0"/>
                            </a:rPr>
                          </m:ctrlPr>
                        </m:sSubPr>
                        <m:e>
                          <m:sSub>
                            <m:sSubPr>
                              <m:ctrlPr>
                                <a:rPr lang="en-IN" sz="2200" i="1">
                                  <a:latin typeface="Cambria Math" panose="02040503050406030204" pitchFamily="18" charset="0"/>
                                </a:rPr>
                              </m:ctrlPr>
                            </m:sSubPr>
                            <m:e>
                              <m:r>
                                <a:rPr lang="en-US" sz="2200" i="1">
                                  <a:latin typeface="Cambria Math" panose="02040503050406030204" pitchFamily="18" charset="0"/>
                                </a:rPr>
                                <m:t>𝑦</m:t>
                              </m:r>
                            </m:e>
                            <m:sub>
                              <m:r>
                                <a:rPr lang="en-US" sz="2200" b="0" i="1" smtClean="0">
                                  <a:latin typeface="Cambria Math" panose="02040503050406030204" pitchFamily="18" charset="0"/>
                                </a:rPr>
                                <m:t>𝐶</m:t>
                              </m:r>
                            </m:sub>
                          </m:sSub>
                          <m:r>
                            <a:rPr lang="en-US" sz="2200" i="1">
                              <a:latin typeface="Cambria Math" panose="02040503050406030204" pitchFamily="18" charset="0"/>
                            </a:rPr>
                            <m:t>=</m:t>
                          </m:r>
                          <m:r>
                            <a:rPr lang="en-US" sz="2200" b="0" i="1" smtClean="0">
                              <a:latin typeface="Cambria Math" panose="02040503050406030204" pitchFamily="18" charset="0"/>
                            </a:rPr>
                            <m:t>𝑜</m:t>
                          </m:r>
                        </m:e>
                        <m:sub>
                          <m:r>
                            <a:rPr lang="en-US" sz="2200" b="0" i="1" smtClean="0">
                              <a:latin typeface="Cambria Math" panose="02040503050406030204" pitchFamily="18" charset="0"/>
                            </a:rPr>
                            <m:t>𝐶</m:t>
                          </m:r>
                        </m:sub>
                      </m:sSub>
                      <m:d>
                        <m:dPr>
                          <m:ctrlPr>
                            <a:rPr lang="en-IN" sz="2200" i="1" smtClean="0">
                              <a:latin typeface="Cambria Math" panose="02040503050406030204" pitchFamily="18" charset="0"/>
                            </a:rPr>
                          </m:ctrlPr>
                        </m:dPr>
                        <m:e>
                          <m:sSup>
                            <m:sSupPr>
                              <m:ctrlPr>
                                <a:rPr lang="en-IN" sz="2200" i="1" smtClean="0">
                                  <a:latin typeface="Cambria Math" panose="02040503050406030204" pitchFamily="18" charset="0"/>
                                </a:rPr>
                              </m:ctrlPr>
                            </m:sSupPr>
                            <m:e>
                              <m:r>
                                <a:rPr lang="en-US" sz="2200" b="1" i="1" smtClean="0">
                                  <a:latin typeface="Cambria Math" panose="02040503050406030204" pitchFamily="18" charset="0"/>
                                </a:rPr>
                                <m:t>𝒂</m:t>
                              </m:r>
                            </m:e>
                            <m:sup>
                              <m:r>
                                <a:rPr lang="en-US" sz="2200" b="0" i="1" smtClean="0">
                                  <a:latin typeface="Cambria Math" panose="02040503050406030204" pitchFamily="18" charset="0"/>
                                </a:rPr>
                                <m:t>(2)</m:t>
                              </m:r>
                            </m:sup>
                          </m:sSup>
                        </m:e>
                      </m:d>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m:rPr>
                              <m:sty m:val="p"/>
                            </m:rPr>
                            <a:rPr lang="en-US" sz="2200" b="0" i="0" smtClean="0">
                              <a:latin typeface="Cambria Math" panose="02040503050406030204" pitchFamily="18" charset="0"/>
                            </a:rPr>
                            <m:t>exp</m:t>
                          </m:r>
                          <m:r>
                            <a:rPr lang="en-US" sz="2200" b="0" i="1" smtClean="0">
                              <a:latin typeface="Cambria Math" panose="02040503050406030204" pitchFamily="18" charset="0"/>
                            </a:rPr>
                            <m:t>⁡(</m:t>
                          </m:r>
                          <m:sSubSup>
                            <m:sSubSupPr>
                              <m:ctrlPr>
                                <a:rPr lang="en-US" sz="2200" b="0" i="1" smtClean="0">
                                  <a:latin typeface="Cambria Math" panose="02040503050406030204" pitchFamily="18" charset="0"/>
                                </a:rPr>
                              </m:ctrlPr>
                            </m:sSubSupPr>
                            <m:e>
                              <m:r>
                                <a:rPr lang="en-US" sz="2200" b="0" i="1" smtClean="0">
                                  <a:latin typeface="Cambria Math" panose="02040503050406030204" pitchFamily="18" charset="0"/>
                                </a:rPr>
                                <m:t>𝑎</m:t>
                              </m:r>
                            </m:e>
                            <m:sub>
                              <m:r>
                                <a:rPr lang="en-US" sz="2200" b="0" i="1" smtClean="0">
                                  <a:latin typeface="Cambria Math" panose="02040503050406030204" pitchFamily="18" charset="0"/>
                                </a:rPr>
                                <m:t>𝐶</m:t>
                              </m:r>
                            </m:sub>
                            <m:sup>
                              <m:r>
                                <a:rPr lang="en-US" sz="2200" b="0" i="1" smtClean="0">
                                  <a:latin typeface="Cambria Math" panose="02040503050406030204" pitchFamily="18" charset="0"/>
                                </a:rPr>
                                <m:t>(2)</m:t>
                              </m:r>
                            </m:sup>
                          </m:sSubSup>
                          <m:r>
                            <a:rPr lang="en-US" sz="2200" b="0" i="1" smtClean="0">
                              <a:latin typeface="Cambria Math" panose="02040503050406030204" pitchFamily="18" charset="0"/>
                            </a:rPr>
                            <m:t>)</m:t>
                          </m:r>
                        </m:num>
                        <m:den>
                          <m:nary>
                            <m:naryPr>
                              <m:chr m:val="∑"/>
                              <m:supHide m:val="on"/>
                              <m:ctrlPr>
                                <a:rPr lang="en-US" sz="2200" b="0" i="1" smtClean="0">
                                  <a:latin typeface="Cambria Math" panose="02040503050406030204" pitchFamily="18" charset="0"/>
                                </a:rPr>
                              </m:ctrlPr>
                            </m:naryPr>
                            <m:sub>
                              <m:r>
                                <m:rPr>
                                  <m:brk m:alnAt="7"/>
                                </m:rPr>
                                <a:rPr lang="en-US" sz="2200" b="0" i="1" smtClean="0">
                                  <a:latin typeface="Cambria Math" panose="02040503050406030204" pitchFamily="18" charset="0"/>
                                </a:rPr>
                                <m:t>𝑐</m:t>
                              </m:r>
                            </m:sub>
                            <m:sup/>
                            <m:e>
                              <m:r>
                                <m:rPr>
                                  <m:sty m:val="p"/>
                                </m:rPr>
                                <a:rPr lang="en-US" sz="2200" b="0" i="0" smtClean="0">
                                  <a:latin typeface="Cambria Math" panose="02040503050406030204" pitchFamily="18" charset="0"/>
                                </a:rPr>
                                <m:t>exp</m:t>
                              </m:r>
                              <m:r>
                                <a:rPr lang="en-US" sz="2200" b="0" i="1" smtClean="0">
                                  <a:latin typeface="Cambria Math" panose="02040503050406030204" pitchFamily="18" charset="0"/>
                                </a:rPr>
                                <m:t>⁡(</m:t>
                              </m:r>
                              <m:sSubSup>
                                <m:sSubSupPr>
                                  <m:ctrlPr>
                                    <a:rPr lang="en-US" sz="2200" b="0" i="1" smtClean="0">
                                      <a:latin typeface="Cambria Math" panose="02040503050406030204" pitchFamily="18" charset="0"/>
                                    </a:rPr>
                                  </m:ctrlPr>
                                </m:sSubSupPr>
                                <m:e>
                                  <m:r>
                                    <a:rPr lang="en-US" sz="2200" b="0" i="1" smtClean="0">
                                      <a:latin typeface="Cambria Math" panose="02040503050406030204" pitchFamily="18" charset="0"/>
                                    </a:rPr>
                                    <m:t>𝑎</m:t>
                                  </m:r>
                                </m:e>
                                <m:sub>
                                  <m:r>
                                    <a:rPr lang="en-US" sz="2200" b="0" i="1" smtClean="0">
                                      <a:latin typeface="Cambria Math" panose="02040503050406030204" pitchFamily="18" charset="0"/>
                                    </a:rPr>
                                    <m:t>𝑐</m:t>
                                  </m:r>
                                </m:sub>
                                <m:sup>
                                  <m:r>
                                    <a:rPr lang="en-US" sz="2200" b="0" i="1" smtClean="0">
                                      <a:latin typeface="Cambria Math" panose="02040503050406030204" pitchFamily="18" charset="0"/>
                                    </a:rPr>
                                    <m:t>(2)</m:t>
                                  </m:r>
                                </m:sup>
                              </m:sSubSup>
                              <m:r>
                                <a:rPr lang="en-US" sz="2200" b="0" i="1" smtClean="0">
                                  <a:latin typeface="Cambria Math" panose="02040503050406030204" pitchFamily="18" charset="0"/>
                                </a:rPr>
                                <m:t>)</m:t>
                              </m:r>
                            </m:e>
                          </m:nary>
                        </m:den>
                      </m:f>
                    </m:oMath>
                  </m:oMathPara>
                </a14:m>
                <a:endParaRPr lang="en-IN" sz="2200" dirty="0"/>
              </a:p>
            </p:txBody>
          </p:sp>
        </mc:Choice>
        <mc:Fallback xmlns="">
          <p:sp>
            <p:nvSpPr>
              <p:cNvPr id="114" name="TextBox 113"/>
              <p:cNvSpPr txBox="1">
                <a:spLocks noRot="1" noChangeAspect="1" noMove="1" noResize="1" noEditPoints="1" noAdjustHandles="1" noChangeArrowheads="1" noChangeShapeType="1" noTextEdit="1"/>
              </p:cNvSpPr>
              <p:nvPr/>
            </p:nvSpPr>
            <p:spPr>
              <a:xfrm>
                <a:off x="4732011" y="5456980"/>
                <a:ext cx="3658629" cy="895694"/>
              </a:xfrm>
              <a:prstGeom prst="rect">
                <a:avLst/>
              </a:prstGeom>
              <a:blipFill rotWithShape="0">
                <a:blip r:embed="rId21"/>
                <a:stretch>
                  <a:fillRect/>
                </a:stretch>
              </a:blipFill>
            </p:spPr>
            <p:txBody>
              <a:bodyPr/>
              <a:lstStyle/>
              <a:p>
                <a:r>
                  <a:rPr lang="en-IN">
                    <a:noFill/>
                  </a:rPr>
                  <a:t> </a:t>
                </a:r>
              </a:p>
            </p:txBody>
          </p:sp>
        </mc:Fallback>
      </mc:AlternateContent>
      <p:sp>
        <p:nvSpPr>
          <p:cNvPr id="115" name="TextBox 114"/>
          <p:cNvSpPr txBox="1"/>
          <p:nvPr/>
        </p:nvSpPr>
        <p:spPr>
          <a:xfrm>
            <a:off x="8319000" y="3066249"/>
            <a:ext cx="3721606" cy="1785104"/>
          </a:xfrm>
          <a:prstGeom prst="rect">
            <a:avLst/>
          </a:prstGeom>
          <a:noFill/>
        </p:spPr>
        <p:txBody>
          <a:bodyPr wrap="square" rtlCol="0">
            <a:spAutoFit/>
          </a:bodyPr>
          <a:lstStyle/>
          <a:p>
            <a:r>
              <a:rPr lang="en-US" sz="2200" u="sng" dirty="0" err="1"/>
              <a:t>Softmax</a:t>
            </a:r>
            <a:r>
              <a:rPr lang="en-US" sz="2200" u="sng" dirty="0"/>
              <a:t> function</a:t>
            </a:r>
            <a:r>
              <a:rPr lang="en-US" sz="2200" dirty="0"/>
              <a:t>:</a:t>
            </a:r>
          </a:p>
          <a:p>
            <a:r>
              <a:rPr lang="en-US" sz="2200" dirty="0" err="1"/>
              <a:t>Exponentiate</a:t>
            </a:r>
            <a:r>
              <a:rPr lang="en-US" sz="2200" dirty="0"/>
              <a:t> each component of output activation vector and </a:t>
            </a:r>
            <a:r>
              <a:rPr lang="en-US" sz="2200" dirty="0" err="1"/>
              <a:t>elementwise</a:t>
            </a:r>
            <a:r>
              <a:rPr lang="en-US" sz="2200" dirty="0"/>
              <a:t> divide by the sum of the exponentials.</a:t>
            </a:r>
            <a:endParaRPr lang="en-IN" sz="2200" dirty="0"/>
          </a:p>
        </p:txBody>
      </p:sp>
      <p:grpSp>
        <p:nvGrpSpPr>
          <p:cNvPr id="2" name="Group 1">
            <a:extLst>
              <a:ext uri="{FF2B5EF4-FFF2-40B4-BE49-F238E27FC236}">
                <a16:creationId xmlns:a16="http://schemas.microsoft.com/office/drawing/2014/main" id="{CA77C61F-072A-1DAF-124E-2E16E2B617AF}"/>
              </a:ext>
            </a:extLst>
          </p:cNvPr>
          <p:cNvGrpSpPr/>
          <p:nvPr/>
        </p:nvGrpSpPr>
        <p:grpSpPr>
          <a:xfrm>
            <a:off x="1730438" y="2128006"/>
            <a:ext cx="860767" cy="720080"/>
            <a:chOff x="3359696" y="3429000"/>
            <a:chExt cx="860767" cy="720080"/>
          </a:xfrm>
        </p:grpSpPr>
        <p:sp>
          <p:nvSpPr>
            <p:cNvPr id="4" name="Oval 3">
              <a:extLst>
                <a:ext uri="{FF2B5EF4-FFF2-40B4-BE49-F238E27FC236}">
                  <a16:creationId xmlns:a16="http://schemas.microsoft.com/office/drawing/2014/main" id="{5DAFB1CD-8763-9131-E697-7566FFD7E579}"/>
                </a:ext>
              </a:extLst>
            </p:cNvPr>
            <p:cNvSpPr/>
            <p:nvPr/>
          </p:nvSpPr>
          <p:spPr>
            <a:xfrm>
              <a:off x="3359696" y="3429000"/>
              <a:ext cx="720080" cy="7200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pic>
          <p:nvPicPr>
            <p:cNvPr id="5" name="Picture 4">
              <a:extLst>
                <a:ext uri="{FF2B5EF4-FFF2-40B4-BE49-F238E27FC236}">
                  <a16:creationId xmlns:a16="http://schemas.microsoft.com/office/drawing/2014/main" id="{AECEBCF2-E7BA-7CFC-C436-FB04D936D829}"/>
                </a:ext>
              </a:extLst>
            </p:cNvPr>
            <p:cNvPicPr>
              <a:picLocks noChangeAspect="1"/>
            </p:cNvPicPr>
            <p:nvPr/>
          </p:nvPicPr>
          <p:blipFill>
            <a:blip r:embed="rId22"/>
            <a:stretch>
              <a:fillRect/>
            </a:stretch>
          </p:blipFill>
          <p:spPr>
            <a:xfrm>
              <a:off x="3426091" y="3443712"/>
              <a:ext cx="794372" cy="690906"/>
            </a:xfrm>
            <a:prstGeom prst="rect">
              <a:avLst/>
            </a:prstGeom>
          </p:spPr>
        </p:pic>
      </p:grpSp>
      <p:grpSp>
        <p:nvGrpSpPr>
          <p:cNvPr id="8" name="Group 7">
            <a:extLst>
              <a:ext uri="{FF2B5EF4-FFF2-40B4-BE49-F238E27FC236}">
                <a16:creationId xmlns:a16="http://schemas.microsoft.com/office/drawing/2014/main" id="{CD667008-FBDE-B9E5-0536-ABE75897B545}"/>
              </a:ext>
            </a:extLst>
          </p:cNvPr>
          <p:cNvGrpSpPr/>
          <p:nvPr/>
        </p:nvGrpSpPr>
        <p:grpSpPr>
          <a:xfrm>
            <a:off x="1730171" y="3505662"/>
            <a:ext cx="860767" cy="720080"/>
            <a:chOff x="3359696" y="3429000"/>
            <a:chExt cx="860767" cy="720080"/>
          </a:xfrm>
        </p:grpSpPr>
        <p:sp>
          <p:nvSpPr>
            <p:cNvPr id="9" name="Oval 8">
              <a:extLst>
                <a:ext uri="{FF2B5EF4-FFF2-40B4-BE49-F238E27FC236}">
                  <a16:creationId xmlns:a16="http://schemas.microsoft.com/office/drawing/2014/main" id="{F030679E-02D9-C7C0-4646-F0BEDA36BDFA}"/>
                </a:ext>
              </a:extLst>
            </p:cNvPr>
            <p:cNvSpPr/>
            <p:nvPr/>
          </p:nvSpPr>
          <p:spPr>
            <a:xfrm>
              <a:off x="3359696" y="3429000"/>
              <a:ext cx="720080" cy="7200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pic>
          <p:nvPicPr>
            <p:cNvPr id="10" name="Picture 9">
              <a:extLst>
                <a:ext uri="{FF2B5EF4-FFF2-40B4-BE49-F238E27FC236}">
                  <a16:creationId xmlns:a16="http://schemas.microsoft.com/office/drawing/2014/main" id="{095161DC-A2A0-C313-40A6-EDAF605C963D}"/>
                </a:ext>
              </a:extLst>
            </p:cNvPr>
            <p:cNvPicPr>
              <a:picLocks noChangeAspect="1"/>
            </p:cNvPicPr>
            <p:nvPr/>
          </p:nvPicPr>
          <p:blipFill>
            <a:blip r:embed="rId22"/>
            <a:stretch>
              <a:fillRect/>
            </a:stretch>
          </p:blipFill>
          <p:spPr>
            <a:xfrm>
              <a:off x="3426091" y="3443712"/>
              <a:ext cx="794372" cy="690906"/>
            </a:xfrm>
            <a:prstGeom prst="rect">
              <a:avLst/>
            </a:prstGeom>
          </p:spPr>
        </p:pic>
      </p:grpSp>
      <p:grpSp>
        <p:nvGrpSpPr>
          <p:cNvPr id="11" name="Group 10">
            <a:extLst>
              <a:ext uri="{FF2B5EF4-FFF2-40B4-BE49-F238E27FC236}">
                <a16:creationId xmlns:a16="http://schemas.microsoft.com/office/drawing/2014/main" id="{E52212A7-01F6-8C63-BA33-E1A865798C58}"/>
              </a:ext>
            </a:extLst>
          </p:cNvPr>
          <p:cNvGrpSpPr/>
          <p:nvPr/>
        </p:nvGrpSpPr>
        <p:grpSpPr>
          <a:xfrm>
            <a:off x="1730171" y="5587689"/>
            <a:ext cx="860767" cy="720080"/>
            <a:chOff x="3359696" y="3429000"/>
            <a:chExt cx="860767" cy="720080"/>
          </a:xfrm>
        </p:grpSpPr>
        <p:sp>
          <p:nvSpPr>
            <p:cNvPr id="12" name="Oval 11">
              <a:extLst>
                <a:ext uri="{FF2B5EF4-FFF2-40B4-BE49-F238E27FC236}">
                  <a16:creationId xmlns:a16="http://schemas.microsoft.com/office/drawing/2014/main" id="{A462546E-389A-7393-5DF7-B4E4FD8DEA3B}"/>
                </a:ext>
              </a:extLst>
            </p:cNvPr>
            <p:cNvSpPr/>
            <p:nvPr/>
          </p:nvSpPr>
          <p:spPr>
            <a:xfrm>
              <a:off x="3359696" y="3429000"/>
              <a:ext cx="720080" cy="72008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pic>
          <p:nvPicPr>
            <p:cNvPr id="13" name="Picture 12">
              <a:extLst>
                <a:ext uri="{FF2B5EF4-FFF2-40B4-BE49-F238E27FC236}">
                  <a16:creationId xmlns:a16="http://schemas.microsoft.com/office/drawing/2014/main" id="{54A603DB-594B-6515-7E05-662439BB8085}"/>
                </a:ext>
              </a:extLst>
            </p:cNvPr>
            <p:cNvPicPr>
              <a:picLocks noChangeAspect="1"/>
            </p:cNvPicPr>
            <p:nvPr/>
          </p:nvPicPr>
          <p:blipFill>
            <a:blip r:embed="rId22"/>
            <a:stretch>
              <a:fillRect/>
            </a:stretch>
          </p:blipFill>
          <p:spPr>
            <a:xfrm>
              <a:off x="3426091" y="3443712"/>
              <a:ext cx="794372" cy="690906"/>
            </a:xfrm>
            <a:prstGeom prst="rect">
              <a:avLst/>
            </a:prstGeom>
          </p:spPr>
        </p:pic>
      </p:grpSp>
    </p:spTree>
    <p:extLst>
      <p:ext uri="{BB962C8B-B14F-4D97-AF65-F5344CB8AC3E}">
        <p14:creationId xmlns:p14="http://schemas.microsoft.com/office/powerpoint/2010/main" val="1320372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68" name="Picture 16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6465" y="5558911"/>
            <a:ext cx="746306" cy="746306"/>
          </a:xfrm>
          <a:prstGeom prst="rect">
            <a:avLst/>
          </a:prstGeom>
          <a:noFill/>
        </p:spPr>
      </p:pic>
      <p:pic>
        <p:nvPicPr>
          <p:cNvPr id="166" name="Picture 16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8913" y="5598241"/>
            <a:ext cx="746306" cy="746306"/>
          </a:xfrm>
          <a:prstGeom prst="rect">
            <a:avLst/>
          </a:prstGeom>
        </p:spPr>
      </p:pic>
      <p:sp>
        <p:nvSpPr>
          <p:cNvPr id="100" name="Google Shape;100;p14"/>
          <p:cNvSpPr txBox="1"/>
          <p:nvPr/>
        </p:nvSpPr>
        <p:spPr>
          <a:xfrm>
            <a:off x="1861073" y="832857"/>
            <a:ext cx="8509299"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solidFill>
                  <a:srgbClr val="434343"/>
                </a:solidFill>
              </a:rPr>
              <a:t>Training a Neural Network – Loss Function</a:t>
            </a:r>
            <a:endParaRPr sz="2800" dirty="0">
              <a:solidFill>
                <a:srgbClr val="434343"/>
              </a:solidFill>
            </a:endParaRPr>
          </a:p>
        </p:txBody>
      </p:sp>
      <p:sp>
        <p:nvSpPr>
          <p:cNvPr id="3" name="Footer Placeholder 2"/>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21" name="Slide Number Placeholder 20"/>
          <p:cNvSpPr>
            <a:spLocks noGrp="1"/>
          </p:cNvSpPr>
          <p:nvPr>
            <p:ph type="sldNum" sz="quarter" idx="4"/>
          </p:nvPr>
        </p:nvSpPr>
        <p:spPr>
          <a:xfrm>
            <a:off x="10569844" y="6356350"/>
            <a:ext cx="783956" cy="365125"/>
          </a:xfrm>
        </p:spPr>
        <p:txBody>
          <a:bodyPr/>
          <a:lstStyle/>
          <a:p>
            <a:fld id="{683B8651-0143-4140-839E-3D36292080E8}" type="slidenum">
              <a:rPr lang="en-US" smtClean="0"/>
              <a:t>26</a:t>
            </a:fld>
            <a:endParaRPr lang="en-US"/>
          </a:p>
        </p:txBody>
      </p:sp>
      <p:pic>
        <p:nvPicPr>
          <p:cNvPr id="75" name="Picture 7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2067" y="2125313"/>
            <a:ext cx="746306" cy="746306"/>
          </a:xfrm>
          <a:prstGeom prst="rect">
            <a:avLst/>
          </a:prstGeom>
          <a:noFill/>
        </p:spPr>
      </p:pic>
      <p:pic>
        <p:nvPicPr>
          <p:cNvPr id="76" name="Picture 7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2067" y="3480790"/>
            <a:ext cx="746306" cy="746306"/>
          </a:xfrm>
          <a:prstGeom prst="rect">
            <a:avLst/>
          </a:prstGeom>
        </p:spPr>
      </p:pic>
      <p:sp>
        <p:nvSpPr>
          <p:cNvPr id="77" name="Google Shape;119;p14"/>
          <p:cNvSpPr/>
          <p:nvPr/>
        </p:nvSpPr>
        <p:spPr>
          <a:xfrm>
            <a:off x="336842" y="1615227"/>
            <a:ext cx="167400" cy="332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Narrow"/>
              <a:ea typeface="Arial Narrow"/>
              <a:cs typeface="Arial Narrow"/>
              <a:sym typeface="Arial Narrow"/>
            </a:endParaRPr>
          </a:p>
        </p:txBody>
      </p:sp>
      <p:cxnSp>
        <p:nvCxnSpPr>
          <p:cNvPr id="78" name="Straight Arrow Connector 77"/>
          <p:cNvCxnSpPr/>
          <p:nvPr/>
        </p:nvCxnSpPr>
        <p:spPr>
          <a:xfrm>
            <a:off x="726323" y="1691956"/>
            <a:ext cx="1113565" cy="556303"/>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726323" y="2502846"/>
            <a:ext cx="1008112" cy="0"/>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flipV="1">
            <a:off x="793415" y="2757433"/>
            <a:ext cx="1046473" cy="1249612"/>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Box 80"/>
              <p:cNvSpPr txBox="1"/>
              <p:nvPr/>
            </p:nvSpPr>
            <p:spPr>
              <a:xfrm>
                <a:off x="249973" y="2170588"/>
                <a:ext cx="51802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2</m:t>
                          </m:r>
                        </m:sub>
                      </m:sSub>
                    </m:oMath>
                  </m:oMathPara>
                </a14:m>
                <a:endParaRPr lang="en-US" sz="3200" b="0" dirty="0"/>
              </a:p>
            </p:txBody>
          </p:sp>
        </mc:Choice>
        <mc:Fallback xmlns="">
          <p:sp>
            <p:nvSpPr>
              <p:cNvPr id="68" name="TextBox 67"/>
              <p:cNvSpPr txBox="1">
                <a:spLocks noRot="1" noChangeAspect="1" noMove="1" noResize="1" noEditPoints="1" noAdjustHandles="1" noChangeArrowheads="1" noChangeShapeType="1" noTextEdit="1"/>
              </p:cNvSpPr>
              <p:nvPr/>
            </p:nvSpPr>
            <p:spPr>
              <a:xfrm>
                <a:off x="249973" y="2170588"/>
                <a:ext cx="518027" cy="492443"/>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6" name="TextBox 115"/>
              <p:cNvSpPr txBox="1"/>
              <p:nvPr/>
            </p:nvSpPr>
            <p:spPr>
              <a:xfrm>
                <a:off x="249973" y="3627993"/>
                <a:ext cx="54514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𝑑</m:t>
                          </m:r>
                        </m:sub>
                      </m:sSub>
                    </m:oMath>
                  </m:oMathPara>
                </a14:m>
                <a:endParaRPr lang="en-US" sz="3200" b="0" dirty="0"/>
              </a:p>
            </p:txBody>
          </p:sp>
        </mc:Choice>
        <mc:Fallback xmlns="">
          <p:sp>
            <p:nvSpPr>
              <p:cNvPr id="69" name="TextBox 68"/>
              <p:cNvSpPr txBox="1">
                <a:spLocks noRot="1" noChangeAspect="1" noMove="1" noResize="1" noEditPoints="1" noAdjustHandles="1" noChangeArrowheads="1" noChangeShapeType="1" noTextEdit="1"/>
              </p:cNvSpPr>
              <p:nvPr/>
            </p:nvSpPr>
            <p:spPr>
              <a:xfrm>
                <a:off x="249973" y="3627993"/>
                <a:ext cx="545149" cy="492443"/>
              </a:xfrm>
              <a:prstGeom prst="rect">
                <a:avLst/>
              </a:prstGeom>
              <a:blipFill rotWithShape="0">
                <a:blip r:embed="rId6"/>
                <a:stretch>
                  <a:fillRect/>
                </a:stretch>
              </a:blipFill>
            </p:spPr>
            <p:txBody>
              <a:bodyPr/>
              <a:lstStyle/>
              <a:p>
                <a:r>
                  <a:rPr lang="en-IN">
                    <a:noFill/>
                  </a:rPr>
                  <a:t> </a:t>
                </a:r>
              </a:p>
            </p:txBody>
          </p:sp>
        </mc:Fallback>
      </mc:AlternateContent>
      <p:cxnSp>
        <p:nvCxnSpPr>
          <p:cNvPr id="117" name="Straight Arrow Connector 116"/>
          <p:cNvCxnSpPr>
            <a:endCxn id="142" idx="1"/>
          </p:cNvCxnSpPr>
          <p:nvPr/>
        </p:nvCxnSpPr>
        <p:spPr>
          <a:xfrm flipV="1">
            <a:off x="2452744" y="2481952"/>
            <a:ext cx="1147448" cy="1383181"/>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18" name="Straight Arrow Connector 117"/>
          <p:cNvCxnSpPr>
            <a:stCxn id="75" idx="3"/>
            <a:endCxn id="142" idx="1"/>
          </p:cNvCxnSpPr>
          <p:nvPr/>
        </p:nvCxnSpPr>
        <p:spPr>
          <a:xfrm flipV="1">
            <a:off x="2468373" y="2481952"/>
            <a:ext cx="1131819" cy="16514"/>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p:nvPr/>
        </p:nvCxnSpPr>
        <p:spPr>
          <a:xfrm>
            <a:off x="2094475" y="1796659"/>
            <a:ext cx="0" cy="344968"/>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0" name="TextBox 119"/>
              <p:cNvSpPr txBox="1"/>
              <p:nvPr/>
            </p:nvSpPr>
            <p:spPr>
              <a:xfrm>
                <a:off x="2012197" y="1467042"/>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m:t>
                      </m:r>
                    </m:oMath>
                  </m:oMathPara>
                </a14:m>
                <a:endParaRPr lang="en-IN" dirty="0">
                  <a:solidFill>
                    <a:schemeClr val="tx1"/>
                  </a:solidFill>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2012197" y="1467042"/>
                <a:ext cx="181139" cy="276999"/>
              </a:xfrm>
              <a:prstGeom prst="rect">
                <a:avLst/>
              </a:prstGeom>
              <a:blipFill rotWithShape="0">
                <a:blip r:embed="rId7"/>
                <a:stretch>
                  <a:fillRect l="-30000" r="-30000" b="-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1" name="TextBox 120"/>
              <p:cNvSpPr txBox="1"/>
              <p:nvPr/>
            </p:nvSpPr>
            <p:spPr>
              <a:xfrm>
                <a:off x="1731976" y="2416839"/>
                <a:ext cx="6972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𝑔</m:t>
                      </m:r>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𝑎</m:t>
                      </m:r>
                      <m:r>
                        <a:rPr lang="en-US" sz="2400" b="0" i="1" smtClean="0">
                          <a:solidFill>
                            <a:schemeClr val="tx1"/>
                          </a:solidFill>
                          <a:latin typeface="Cambria Math" panose="02040503050406030204" pitchFamily="18" charset="0"/>
                          <a:ea typeface="Cambria Math" panose="02040503050406030204" pitchFamily="18" charset="0"/>
                        </a:rPr>
                        <m:t>)</m:t>
                      </m:r>
                    </m:oMath>
                  </m:oMathPara>
                </a14:m>
                <a:endParaRPr lang="en-IN" sz="2400" dirty="0">
                  <a:solidFill>
                    <a:schemeClr val="tx1"/>
                  </a:solidFill>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1731976" y="2416839"/>
                <a:ext cx="697242" cy="369332"/>
              </a:xfrm>
              <a:prstGeom prst="rect">
                <a:avLst/>
              </a:prstGeom>
              <a:blipFill rotWithShape="0">
                <a:blip r:embed="rId8"/>
                <a:stretch>
                  <a:fillRect l="-10526" r="-15789" b="-34426"/>
                </a:stretch>
              </a:blipFill>
            </p:spPr>
            <p:txBody>
              <a:bodyPr/>
              <a:lstStyle/>
              <a:p>
                <a:r>
                  <a:rPr lang="en-IN">
                    <a:noFill/>
                  </a:rPr>
                  <a:t> </a:t>
                </a:r>
              </a:p>
            </p:txBody>
          </p:sp>
        </mc:Fallback>
      </mc:AlternateContent>
      <p:cxnSp>
        <p:nvCxnSpPr>
          <p:cNvPr id="122" name="Straight Arrow Connector 121"/>
          <p:cNvCxnSpPr/>
          <p:nvPr/>
        </p:nvCxnSpPr>
        <p:spPr>
          <a:xfrm>
            <a:off x="739588" y="1680882"/>
            <a:ext cx="1100300" cy="1947111"/>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23" name="Straight Arrow Connector 122"/>
          <p:cNvCxnSpPr>
            <a:endCxn id="76" idx="1"/>
          </p:cNvCxnSpPr>
          <p:nvPr/>
        </p:nvCxnSpPr>
        <p:spPr>
          <a:xfrm>
            <a:off x="746007" y="2518386"/>
            <a:ext cx="976060" cy="1335557"/>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24" name="Straight Arrow Connector 123"/>
          <p:cNvCxnSpPr>
            <a:endCxn id="76" idx="1"/>
          </p:cNvCxnSpPr>
          <p:nvPr/>
        </p:nvCxnSpPr>
        <p:spPr>
          <a:xfrm flipV="1">
            <a:off x="817950" y="3853943"/>
            <a:ext cx="904117" cy="133125"/>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25" name="Straight Arrow Connector 124"/>
          <p:cNvCxnSpPr/>
          <p:nvPr/>
        </p:nvCxnSpPr>
        <p:spPr>
          <a:xfrm>
            <a:off x="2073317" y="3140826"/>
            <a:ext cx="0" cy="344968"/>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6" name="TextBox 125"/>
              <p:cNvSpPr txBox="1"/>
              <p:nvPr/>
            </p:nvSpPr>
            <p:spPr>
              <a:xfrm>
                <a:off x="1991039" y="2878444"/>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m:t>
                      </m:r>
                    </m:oMath>
                  </m:oMathPara>
                </a14:m>
                <a:endParaRPr lang="en-IN" dirty="0">
                  <a:solidFill>
                    <a:schemeClr val="tx1"/>
                  </a:solidFill>
                </a:endParaRPr>
              </a:p>
            </p:txBody>
          </p:sp>
        </mc:Choice>
        <mc:Fallback xmlns="">
          <p:sp>
            <p:nvSpPr>
              <p:cNvPr id="52" name="TextBox 51"/>
              <p:cNvSpPr txBox="1">
                <a:spLocks noRot="1" noChangeAspect="1" noMove="1" noResize="1" noEditPoints="1" noAdjustHandles="1" noChangeArrowheads="1" noChangeShapeType="1" noTextEdit="1"/>
              </p:cNvSpPr>
              <p:nvPr/>
            </p:nvSpPr>
            <p:spPr>
              <a:xfrm>
                <a:off x="1991039" y="2878444"/>
                <a:ext cx="181139" cy="276999"/>
              </a:xfrm>
              <a:prstGeom prst="rect">
                <a:avLst/>
              </a:prstGeom>
              <a:blipFill rotWithShape="0">
                <a:blip r:embed="rId9"/>
                <a:stretch>
                  <a:fillRect l="-34483" r="-31034" b="-6522"/>
                </a:stretch>
              </a:blipFill>
            </p:spPr>
            <p:txBody>
              <a:bodyPr/>
              <a:lstStyle/>
              <a:p>
                <a:r>
                  <a:rPr lang="en-IN">
                    <a:noFill/>
                  </a:rPr>
                  <a:t> </a:t>
                </a:r>
              </a:p>
            </p:txBody>
          </p:sp>
        </mc:Fallback>
      </mc:AlternateContent>
      <p:cxnSp>
        <p:nvCxnSpPr>
          <p:cNvPr id="127" name="Straight Arrow Connector 126"/>
          <p:cNvCxnSpPr>
            <a:endCxn id="142" idx="1"/>
          </p:cNvCxnSpPr>
          <p:nvPr/>
        </p:nvCxnSpPr>
        <p:spPr>
          <a:xfrm flipV="1">
            <a:off x="2455219" y="2481952"/>
            <a:ext cx="1144973" cy="3489442"/>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p:nvPr/>
        </p:nvCxnSpPr>
        <p:spPr>
          <a:xfrm>
            <a:off x="2060163" y="5258277"/>
            <a:ext cx="0" cy="344968"/>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9" name="TextBox 128"/>
              <p:cNvSpPr txBox="1"/>
              <p:nvPr/>
            </p:nvSpPr>
            <p:spPr>
              <a:xfrm>
                <a:off x="1990027" y="4979431"/>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IN" dirty="0"/>
              </a:p>
            </p:txBody>
          </p:sp>
        </mc:Choice>
        <mc:Fallback xmlns="">
          <p:sp>
            <p:nvSpPr>
              <p:cNvPr id="65" name="TextBox 64"/>
              <p:cNvSpPr txBox="1">
                <a:spLocks noRot="1" noChangeAspect="1" noMove="1" noResize="1" noEditPoints="1" noAdjustHandles="1" noChangeArrowheads="1" noChangeShapeType="1" noTextEdit="1"/>
              </p:cNvSpPr>
              <p:nvPr/>
            </p:nvSpPr>
            <p:spPr>
              <a:xfrm>
                <a:off x="1990027" y="4979431"/>
                <a:ext cx="181139" cy="276999"/>
              </a:xfrm>
              <a:prstGeom prst="rect">
                <a:avLst/>
              </a:prstGeom>
              <a:blipFill rotWithShape="0">
                <a:blip r:embed="rId10"/>
                <a:stretch>
                  <a:fillRect l="-30000" r="-30000" b="-6667"/>
                </a:stretch>
              </a:blipFill>
            </p:spPr>
            <p:txBody>
              <a:bodyPr/>
              <a:lstStyle/>
              <a:p>
                <a:r>
                  <a:rPr lang="en-IN">
                    <a:noFill/>
                  </a:rPr>
                  <a:t> </a:t>
                </a:r>
              </a:p>
            </p:txBody>
          </p:sp>
        </mc:Fallback>
      </mc:AlternateContent>
      <p:cxnSp>
        <p:nvCxnSpPr>
          <p:cNvPr id="130" name="Straight Arrow Connector 129"/>
          <p:cNvCxnSpPr/>
          <p:nvPr/>
        </p:nvCxnSpPr>
        <p:spPr>
          <a:xfrm>
            <a:off x="739588" y="1744041"/>
            <a:ext cx="1089212" cy="3984406"/>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31" name="Straight Arrow Connector 130"/>
          <p:cNvCxnSpPr/>
          <p:nvPr/>
        </p:nvCxnSpPr>
        <p:spPr>
          <a:xfrm>
            <a:off x="711987" y="2457833"/>
            <a:ext cx="996219" cy="3483689"/>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p:nvPr/>
        </p:nvCxnSpPr>
        <p:spPr>
          <a:xfrm>
            <a:off x="820271" y="4020670"/>
            <a:ext cx="900953" cy="1963271"/>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grpSp>
        <p:nvGrpSpPr>
          <p:cNvPr id="133" name="Group 132"/>
          <p:cNvGrpSpPr/>
          <p:nvPr/>
        </p:nvGrpSpPr>
        <p:grpSpPr>
          <a:xfrm>
            <a:off x="2076475" y="4432863"/>
            <a:ext cx="36000" cy="340800"/>
            <a:chOff x="2731586" y="4043627"/>
            <a:chExt cx="36000" cy="340800"/>
          </a:xfrm>
        </p:grpSpPr>
        <p:sp>
          <p:nvSpPr>
            <p:cNvPr id="134" name="Oval 133"/>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5" name="Oval 134"/>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6" name="Oval 135"/>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137" name="TextBox 136"/>
              <p:cNvSpPr txBox="1"/>
              <p:nvPr/>
            </p:nvSpPr>
            <p:spPr>
              <a:xfrm>
                <a:off x="1789142" y="3805368"/>
                <a:ext cx="6972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𝑔</m:t>
                      </m:r>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𝑎</m:t>
                      </m:r>
                      <m:r>
                        <a:rPr lang="en-US" sz="2400" b="0" i="1" smtClean="0">
                          <a:solidFill>
                            <a:schemeClr val="tx1"/>
                          </a:solidFill>
                          <a:latin typeface="Cambria Math" panose="02040503050406030204" pitchFamily="18" charset="0"/>
                          <a:ea typeface="Cambria Math" panose="02040503050406030204" pitchFamily="18" charset="0"/>
                        </a:rPr>
                        <m:t>)</m:t>
                      </m:r>
                    </m:oMath>
                  </m:oMathPara>
                </a14:m>
                <a:endParaRPr lang="en-IN" sz="2400" dirty="0">
                  <a:solidFill>
                    <a:schemeClr val="tx1"/>
                  </a:solidFill>
                </a:endParaRPr>
              </a:p>
            </p:txBody>
          </p:sp>
        </mc:Choice>
        <mc:Fallback xmlns="">
          <p:sp>
            <p:nvSpPr>
              <p:cNvPr id="88" name="TextBox 87"/>
              <p:cNvSpPr txBox="1">
                <a:spLocks noRot="1" noChangeAspect="1" noMove="1" noResize="1" noEditPoints="1" noAdjustHandles="1" noChangeArrowheads="1" noChangeShapeType="1" noTextEdit="1"/>
              </p:cNvSpPr>
              <p:nvPr/>
            </p:nvSpPr>
            <p:spPr>
              <a:xfrm>
                <a:off x="1789142" y="3805368"/>
                <a:ext cx="697242" cy="369332"/>
              </a:xfrm>
              <a:prstGeom prst="rect">
                <a:avLst/>
              </a:prstGeom>
              <a:blipFill rotWithShape="0">
                <a:blip r:embed="rId12"/>
                <a:stretch>
                  <a:fillRect l="-10435" r="-14783" b="-34426"/>
                </a:stretch>
              </a:blipFill>
            </p:spPr>
            <p:txBody>
              <a:bodyPr/>
              <a:lstStyle/>
              <a:p>
                <a:r>
                  <a:rPr lang="en-IN">
                    <a:noFill/>
                  </a:rPr>
                  <a:t> </a:t>
                </a:r>
              </a:p>
            </p:txBody>
          </p:sp>
        </mc:Fallback>
      </mc:AlternateContent>
      <p:grpSp>
        <p:nvGrpSpPr>
          <p:cNvPr id="138" name="Group 137"/>
          <p:cNvGrpSpPr/>
          <p:nvPr/>
        </p:nvGrpSpPr>
        <p:grpSpPr>
          <a:xfrm>
            <a:off x="398360" y="3066249"/>
            <a:ext cx="36000" cy="340800"/>
            <a:chOff x="2731586" y="4043627"/>
            <a:chExt cx="36000" cy="340800"/>
          </a:xfrm>
        </p:grpSpPr>
        <p:sp>
          <p:nvSpPr>
            <p:cNvPr id="139" name="Oval 138"/>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0" name="Oval 139"/>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1" name="Oval 140"/>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42" name="Picture 14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0192" y="2108799"/>
            <a:ext cx="746306" cy="746306"/>
          </a:xfrm>
          <a:prstGeom prst="rect">
            <a:avLst/>
          </a:prstGeom>
          <a:noFill/>
        </p:spPr>
      </p:pic>
      <p:cxnSp>
        <p:nvCxnSpPr>
          <p:cNvPr id="143" name="Straight Arrow Connector 142"/>
          <p:cNvCxnSpPr/>
          <p:nvPr/>
        </p:nvCxnSpPr>
        <p:spPr>
          <a:xfrm>
            <a:off x="4330801" y="2483132"/>
            <a:ext cx="338016" cy="1877"/>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pic>
        <p:nvPicPr>
          <p:cNvPr id="144" name="Picture 14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6465" y="3475374"/>
            <a:ext cx="746306" cy="746306"/>
          </a:xfrm>
          <a:prstGeom prst="rect">
            <a:avLst/>
          </a:prstGeom>
          <a:noFill/>
        </p:spPr>
      </p:pic>
      <p:cxnSp>
        <p:nvCxnSpPr>
          <p:cNvPr id="145" name="Straight Arrow Connector 144"/>
          <p:cNvCxnSpPr/>
          <p:nvPr/>
        </p:nvCxnSpPr>
        <p:spPr>
          <a:xfrm>
            <a:off x="4337074" y="3849707"/>
            <a:ext cx="338016" cy="1877"/>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46" name="Straight Arrow Connector 145"/>
          <p:cNvCxnSpPr/>
          <p:nvPr/>
        </p:nvCxnSpPr>
        <p:spPr>
          <a:xfrm>
            <a:off x="4337074" y="5933244"/>
            <a:ext cx="338016" cy="1877"/>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47" name="Straight Arrow Connector 146"/>
          <p:cNvCxnSpPr>
            <a:stCxn id="75" idx="3"/>
            <a:endCxn id="144" idx="1"/>
          </p:cNvCxnSpPr>
          <p:nvPr/>
        </p:nvCxnSpPr>
        <p:spPr>
          <a:xfrm>
            <a:off x="2468373" y="2498466"/>
            <a:ext cx="1138092" cy="1350061"/>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48" name="Straight Arrow Connector 147"/>
          <p:cNvCxnSpPr>
            <a:endCxn id="144" idx="1"/>
          </p:cNvCxnSpPr>
          <p:nvPr/>
        </p:nvCxnSpPr>
        <p:spPr>
          <a:xfrm flipV="1">
            <a:off x="2429218" y="3848527"/>
            <a:ext cx="1177247" cy="11803"/>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49" name="Straight Arrow Connector 148"/>
          <p:cNvCxnSpPr>
            <a:endCxn id="144" idx="1"/>
          </p:cNvCxnSpPr>
          <p:nvPr/>
        </p:nvCxnSpPr>
        <p:spPr>
          <a:xfrm flipV="1">
            <a:off x="2486384" y="3848527"/>
            <a:ext cx="1120081" cy="2132994"/>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50" name="Straight Arrow Connector 149"/>
          <p:cNvCxnSpPr>
            <a:stCxn id="75" idx="3"/>
          </p:cNvCxnSpPr>
          <p:nvPr/>
        </p:nvCxnSpPr>
        <p:spPr>
          <a:xfrm>
            <a:off x="2468373" y="2498466"/>
            <a:ext cx="1138092" cy="3433598"/>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51" name="Straight Arrow Connector 150"/>
          <p:cNvCxnSpPr>
            <a:stCxn id="76" idx="3"/>
          </p:cNvCxnSpPr>
          <p:nvPr/>
        </p:nvCxnSpPr>
        <p:spPr>
          <a:xfrm>
            <a:off x="2468373" y="3853943"/>
            <a:ext cx="1138092" cy="2078121"/>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52" name="Straight Arrow Connector 151"/>
          <p:cNvCxnSpPr/>
          <p:nvPr/>
        </p:nvCxnSpPr>
        <p:spPr>
          <a:xfrm flipV="1">
            <a:off x="2470848" y="5932064"/>
            <a:ext cx="1135617" cy="58158"/>
          </a:xfrm>
          <a:prstGeom prst="straightConnector1">
            <a:avLst/>
          </a:prstGeom>
          <a:ln w="38100">
            <a:solidFill>
              <a:srgbClr val="0000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3" name="TextBox 152"/>
              <p:cNvSpPr txBox="1"/>
              <p:nvPr/>
            </p:nvSpPr>
            <p:spPr>
              <a:xfrm>
                <a:off x="3693231" y="2447808"/>
                <a:ext cx="597408" cy="369332"/>
              </a:xfrm>
              <a:prstGeom prst="rect">
                <a:avLst/>
              </a:prstGeom>
              <a:noFill/>
            </p:spPr>
            <p:txBody>
              <a:bodyPr wrap="none" lIns="0" tIns="0" rIns="0" bIns="0" rtlCol="0">
                <a:spAutoFit/>
              </a:bodyPr>
              <a:lstStyle/>
              <a:p>
                <a:r>
                  <a:rPr lang="en-US" sz="2400" b="0" dirty="0">
                    <a:solidFill>
                      <a:schemeClr val="tx1"/>
                    </a:solidFill>
                    <a:ea typeface="Cambria Math" panose="02040503050406030204" pitchFamily="18" charset="0"/>
                  </a:rPr>
                  <a:t>o</a:t>
                </a:r>
                <a14:m>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𝑎</m:t>
                    </m:r>
                    <m:r>
                      <a:rPr lang="en-US" sz="2400" b="0" i="1" smtClean="0">
                        <a:solidFill>
                          <a:schemeClr val="tx1"/>
                        </a:solidFill>
                        <a:latin typeface="Cambria Math" panose="02040503050406030204" pitchFamily="18" charset="0"/>
                        <a:ea typeface="Cambria Math" panose="02040503050406030204" pitchFamily="18" charset="0"/>
                      </a:rPr>
                      <m:t>)</m:t>
                    </m:r>
                  </m:oMath>
                </a14:m>
                <a:endParaRPr lang="en-IN" sz="2400" dirty="0">
                  <a:solidFill>
                    <a:schemeClr val="tx1"/>
                  </a:solidFill>
                </a:endParaRPr>
              </a:p>
            </p:txBody>
          </p:sp>
        </mc:Choice>
        <mc:Fallback xmlns="">
          <p:sp>
            <p:nvSpPr>
              <p:cNvPr id="107" name="TextBox 106"/>
              <p:cNvSpPr txBox="1">
                <a:spLocks noRot="1" noChangeAspect="1" noMove="1" noResize="1" noEditPoints="1" noAdjustHandles="1" noChangeArrowheads="1" noChangeShapeType="1" noTextEdit="1"/>
              </p:cNvSpPr>
              <p:nvPr/>
            </p:nvSpPr>
            <p:spPr>
              <a:xfrm>
                <a:off x="3693231" y="2447808"/>
                <a:ext cx="597408" cy="369332"/>
              </a:xfrm>
              <a:prstGeom prst="rect">
                <a:avLst/>
              </a:prstGeom>
              <a:blipFill rotWithShape="0">
                <a:blip r:embed="rId13"/>
                <a:stretch>
                  <a:fillRect l="-31633" t="-26667" r="-22449" b="-50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4" name="TextBox 153"/>
              <p:cNvSpPr txBox="1"/>
              <p:nvPr/>
            </p:nvSpPr>
            <p:spPr>
              <a:xfrm>
                <a:off x="3696543" y="3802402"/>
                <a:ext cx="597408" cy="369332"/>
              </a:xfrm>
              <a:prstGeom prst="rect">
                <a:avLst/>
              </a:prstGeom>
              <a:noFill/>
            </p:spPr>
            <p:txBody>
              <a:bodyPr wrap="none" lIns="0" tIns="0" rIns="0" bIns="0" rtlCol="0">
                <a:spAutoFit/>
              </a:bodyPr>
              <a:lstStyle/>
              <a:p>
                <a:r>
                  <a:rPr lang="en-US" sz="2400" b="0" dirty="0">
                    <a:solidFill>
                      <a:schemeClr val="tx1"/>
                    </a:solidFill>
                    <a:ea typeface="Cambria Math" panose="02040503050406030204" pitchFamily="18" charset="0"/>
                  </a:rPr>
                  <a:t>o</a:t>
                </a:r>
                <a14:m>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𝑎</m:t>
                    </m:r>
                    <m:r>
                      <a:rPr lang="en-US" sz="2400" b="0" i="1" smtClean="0">
                        <a:solidFill>
                          <a:schemeClr val="tx1"/>
                        </a:solidFill>
                        <a:latin typeface="Cambria Math" panose="02040503050406030204" pitchFamily="18" charset="0"/>
                        <a:ea typeface="Cambria Math" panose="02040503050406030204" pitchFamily="18" charset="0"/>
                      </a:rPr>
                      <m:t>)</m:t>
                    </m:r>
                  </m:oMath>
                </a14:m>
                <a:endParaRPr lang="en-IN" sz="2400" dirty="0">
                  <a:solidFill>
                    <a:schemeClr val="tx1"/>
                  </a:solidFill>
                </a:endParaRPr>
              </a:p>
            </p:txBody>
          </p:sp>
        </mc:Choice>
        <mc:Fallback xmlns="">
          <p:sp>
            <p:nvSpPr>
              <p:cNvPr id="108" name="TextBox 107"/>
              <p:cNvSpPr txBox="1">
                <a:spLocks noRot="1" noChangeAspect="1" noMove="1" noResize="1" noEditPoints="1" noAdjustHandles="1" noChangeArrowheads="1" noChangeShapeType="1" noTextEdit="1"/>
              </p:cNvSpPr>
              <p:nvPr/>
            </p:nvSpPr>
            <p:spPr>
              <a:xfrm>
                <a:off x="3696543" y="3802402"/>
                <a:ext cx="597408" cy="369332"/>
              </a:xfrm>
              <a:prstGeom prst="rect">
                <a:avLst/>
              </a:prstGeom>
              <a:blipFill rotWithShape="0">
                <a:blip r:embed="rId14"/>
                <a:stretch>
                  <a:fillRect l="-30612" t="-26667" r="-23469" b="-50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1" name="TextBox 160"/>
              <p:cNvSpPr txBox="1"/>
              <p:nvPr/>
            </p:nvSpPr>
            <p:spPr>
              <a:xfrm>
                <a:off x="249973" y="1361814"/>
                <a:ext cx="50853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1</m:t>
                          </m:r>
                        </m:sub>
                      </m:sSub>
                    </m:oMath>
                  </m:oMathPara>
                </a14:m>
                <a:endParaRPr lang="en-US" sz="3200" b="0" dirty="0"/>
              </a:p>
            </p:txBody>
          </p:sp>
        </mc:Choice>
        <mc:Fallback xmlns="">
          <p:sp>
            <p:nvSpPr>
              <p:cNvPr id="67" name="TextBox 66"/>
              <p:cNvSpPr txBox="1">
                <a:spLocks noRot="1" noChangeAspect="1" noMove="1" noResize="1" noEditPoints="1" noAdjustHandles="1" noChangeArrowheads="1" noChangeShapeType="1" noTextEdit="1"/>
              </p:cNvSpPr>
              <p:nvPr/>
            </p:nvSpPr>
            <p:spPr>
              <a:xfrm>
                <a:off x="249973" y="1361814"/>
                <a:ext cx="508537" cy="492443"/>
              </a:xfrm>
              <a:prstGeom prst="rect">
                <a:avLst/>
              </a:prstGeom>
              <a:blipFill rotWithShape="0">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7" name="TextBox 166"/>
              <p:cNvSpPr txBox="1"/>
              <p:nvPr/>
            </p:nvSpPr>
            <p:spPr>
              <a:xfrm>
                <a:off x="1766724" y="5921306"/>
                <a:ext cx="6972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𝑔</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m:t>
                      </m:r>
                    </m:oMath>
                  </m:oMathPara>
                </a14:m>
                <a:endParaRPr lang="en-IN" sz="2400" dirty="0"/>
              </a:p>
            </p:txBody>
          </p:sp>
        </mc:Choice>
        <mc:Fallback xmlns="">
          <p:sp>
            <p:nvSpPr>
              <p:cNvPr id="87" name="TextBox 86"/>
              <p:cNvSpPr txBox="1">
                <a:spLocks noRot="1" noChangeAspect="1" noMove="1" noResize="1" noEditPoints="1" noAdjustHandles="1" noChangeArrowheads="1" noChangeShapeType="1" noTextEdit="1"/>
              </p:cNvSpPr>
              <p:nvPr/>
            </p:nvSpPr>
            <p:spPr>
              <a:xfrm>
                <a:off x="1766724" y="5921306"/>
                <a:ext cx="697242" cy="369332"/>
              </a:xfrm>
              <a:prstGeom prst="rect">
                <a:avLst/>
              </a:prstGeom>
              <a:blipFill rotWithShape="0">
                <a:blip r:embed="rId11"/>
                <a:stretch>
                  <a:fillRect l="-10526" r="-14912" b="-3442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9" name="TextBox 168"/>
              <p:cNvSpPr txBox="1"/>
              <p:nvPr/>
            </p:nvSpPr>
            <p:spPr>
              <a:xfrm>
                <a:off x="3696543" y="5890809"/>
                <a:ext cx="597408" cy="369332"/>
              </a:xfrm>
              <a:prstGeom prst="rect">
                <a:avLst/>
              </a:prstGeom>
              <a:noFill/>
            </p:spPr>
            <p:txBody>
              <a:bodyPr wrap="none" lIns="0" tIns="0" rIns="0" bIns="0" rtlCol="0">
                <a:spAutoFit/>
              </a:bodyPr>
              <a:lstStyle/>
              <a:p>
                <a:r>
                  <a:rPr lang="en-US" sz="2400" b="0" dirty="0">
                    <a:solidFill>
                      <a:schemeClr val="tx1"/>
                    </a:solidFill>
                    <a:ea typeface="Cambria Math" panose="02040503050406030204" pitchFamily="18" charset="0"/>
                  </a:rPr>
                  <a:t>o</a:t>
                </a:r>
                <a14:m>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𝑎</m:t>
                    </m:r>
                    <m:r>
                      <a:rPr lang="en-US" sz="2400" b="0" i="1" smtClean="0">
                        <a:solidFill>
                          <a:schemeClr val="tx1"/>
                        </a:solidFill>
                        <a:latin typeface="Cambria Math" panose="02040503050406030204" pitchFamily="18" charset="0"/>
                        <a:ea typeface="Cambria Math" panose="02040503050406030204" pitchFamily="18" charset="0"/>
                      </a:rPr>
                      <m:t>)</m:t>
                    </m:r>
                  </m:oMath>
                </a14:m>
                <a:endParaRPr lang="en-IN" sz="2400" dirty="0">
                  <a:solidFill>
                    <a:schemeClr val="tx1"/>
                  </a:solidFill>
                </a:endParaRPr>
              </a:p>
            </p:txBody>
          </p:sp>
        </mc:Choice>
        <mc:Fallback xmlns="">
          <p:sp>
            <p:nvSpPr>
              <p:cNvPr id="109" name="TextBox 108"/>
              <p:cNvSpPr txBox="1">
                <a:spLocks noRot="1" noChangeAspect="1" noMove="1" noResize="1" noEditPoints="1" noAdjustHandles="1" noChangeArrowheads="1" noChangeShapeType="1" noTextEdit="1"/>
              </p:cNvSpPr>
              <p:nvPr/>
            </p:nvSpPr>
            <p:spPr>
              <a:xfrm>
                <a:off x="3696543" y="5890809"/>
                <a:ext cx="597408" cy="369332"/>
              </a:xfrm>
              <a:prstGeom prst="rect">
                <a:avLst/>
              </a:prstGeom>
              <a:blipFill rotWithShape="0">
                <a:blip r:embed="rId15"/>
                <a:stretch>
                  <a:fillRect l="-30612" t="-24590" r="-23469" b="-4918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675090" y="2275438"/>
                <a:ext cx="336502"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200" i="1" smtClean="0">
                              <a:latin typeface="Cambria Math" panose="02040503050406030204" pitchFamily="18" charset="0"/>
                            </a:rPr>
                          </m:ctrlPr>
                        </m:sSubPr>
                        <m:e>
                          <m:r>
                            <a:rPr lang="en-US" sz="2200" b="0" i="1" smtClean="0">
                              <a:latin typeface="Cambria Math" panose="02040503050406030204" pitchFamily="18" charset="0"/>
                            </a:rPr>
                            <m:t>𝑦</m:t>
                          </m:r>
                        </m:e>
                        <m:sub>
                          <m:r>
                            <a:rPr lang="en-US" sz="2200" b="0" i="1" smtClean="0">
                              <a:latin typeface="Cambria Math" panose="02040503050406030204" pitchFamily="18" charset="0"/>
                            </a:rPr>
                            <m:t>1</m:t>
                          </m:r>
                        </m:sub>
                      </m:sSub>
                    </m:oMath>
                  </m:oMathPara>
                </a14:m>
                <a:endParaRPr lang="en-IN" sz="2200" dirty="0"/>
              </a:p>
            </p:txBody>
          </p:sp>
        </mc:Choice>
        <mc:Fallback xmlns="">
          <p:sp>
            <p:nvSpPr>
              <p:cNvPr id="5" name="TextBox 4"/>
              <p:cNvSpPr txBox="1">
                <a:spLocks noRot="1" noChangeAspect="1" noMove="1" noResize="1" noEditPoints="1" noAdjustHandles="1" noChangeArrowheads="1" noChangeShapeType="1" noTextEdit="1"/>
              </p:cNvSpPr>
              <p:nvPr/>
            </p:nvSpPr>
            <p:spPr>
              <a:xfrm>
                <a:off x="4675090" y="2275438"/>
                <a:ext cx="336502" cy="338554"/>
              </a:xfrm>
              <a:prstGeom prst="rect">
                <a:avLst/>
              </a:prstGeom>
              <a:blipFill rotWithShape="0">
                <a:blip r:embed="rId16"/>
                <a:stretch>
                  <a:fillRect l="-21818" r="-9091" b="-25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1" name="TextBox 170"/>
              <p:cNvSpPr txBox="1"/>
              <p:nvPr/>
            </p:nvSpPr>
            <p:spPr>
              <a:xfrm>
                <a:off x="4668817" y="3633125"/>
                <a:ext cx="343043"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200" i="1" smtClean="0">
                              <a:latin typeface="Cambria Math" panose="02040503050406030204" pitchFamily="18" charset="0"/>
                            </a:rPr>
                          </m:ctrlPr>
                        </m:sSubPr>
                        <m:e>
                          <m:r>
                            <a:rPr lang="en-US" sz="2200" b="0" i="1" smtClean="0">
                              <a:latin typeface="Cambria Math" panose="02040503050406030204" pitchFamily="18" charset="0"/>
                            </a:rPr>
                            <m:t>𝑦</m:t>
                          </m:r>
                        </m:e>
                        <m:sub>
                          <m:r>
                            <a:rPr lang="en-US" sz="2200" b="0" i="1" smtClean="0">
                              <a:latin typeface="Cambria Math" panose="02040503050406030204" pitchFamily="18" charset="0"/>
                            </a:rPr>
                            <m:t>2</m:t>
                          </m:r>
                        </m:sub>
                      </m:sSub>
                    </m:oMath>
                  </m:oMathPara>
                </a14:m>
                <a:endParaRPr lang="en-IN" sz="2200" dirty="0"/>
              </a:p>
            </p:txBody>
          </p:sp>
        </mc:Choice>
        <mc:Fallback xmlns="">
          <p:sp>
            <p:nvSpPr>
              <p:cNvPr id="171" name="TextBox 170"/>
              <p:cNvSpPr txBox="1">
                <a:spLocks noRot="1" noChangeAspect="1" noMove="1" noResize="1" noEditPoints="1" noAdjustHandles="1" noChangeArrowheads="1" noChangeShapeType="1" noTextEdit="1"/>
              </p:cNvSpPr>
              <p:nvPr/>
            </p:nvSpPr>
            <p:spPr>
              <a:xfrm>
                <a:off x="4668817" y="3633125"/>
                <a:ext cx="343043" cy="338554"/>
              </a:xfrm>
              <a:prstGeom prst="rect">
                <a:avLst/>
              </a:prstGeom>
              <a:blipFill rotWithShape="0">
                <a:blip r:embed="rId17"/>
                <a:stretch>
                  <a:fillRect l="-21429" r="-8929" b="-2321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2" name="TextBox 171"/>
              <p:cNvSpPr txBox="1"/>
              <p:nvPr/>
            </p:nvSpPr>
            <p:spPr>
              <a:xfrm>
                <a:off x="4675358" y="5721532"/>
                <a:ext cx="358495"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200" i="1" smtClean="0">
                              <a:latin typeface="Cambria Math" panose="02040503050406030204" pitchFamily="18" charset="0"/>
                            </a:rPr>
                          </m:ctrlPr>
                        </m:sSubPr>
                        <m:e>
                          <m:r>
                            <a:rPr lang="en-US" sz="2200" b="0" i="1" smtClean="0">
                              <a:latin typeface="Cambria Math" panose="02040503050406030204" pitchFamily="18" charset="0"/>
                            </a:rPr>
                            <m:t>𝑦</m:t>
                          </m:r>
                        </m:e>
                        <m:sub>
                          <m:r>
                            <a:rPr lang="en-US" sz="2200" b="0" i="1" smtClean="0">
                              <a:latin typeface="Cambria Math" panose="02040503050406030204" pitchFamily="18" charset="0"/>
                            </a:rPr>
                            <m:t>𝐶</m:t>
                          </m:r>
                        </m:sub>
                      </m:sSub>
                    </m:oMath>
                  </m:oMathPara>
                </a14:m>
                <a:endParaRPr lang="en-IN" sz="2200" dirty="0"/>
              </a:p>
            </p:txBody>
          </p:sp>
        </mc:Choice>
        <mc:Fallback xmlns="">
          <p:sp>
            <p:nvSpPr>
              <p:cNvPr id="172" name="TextBox 171"/>
              <p:cNvSpPr txBox="1">
                <a:spLocks noRot="1" noChangeAspect="1" noMove="1" noResize="1" noEditPoints="1" noAdjustHandles="1" noChangeArrowheads="1" noChangeShapeType="1" noTextEdit="1"/>
              </p:cNvSpPr>
              <p:nvPr/>
            </p:nvSpPr>
            <p:spPr>
              <a:xfrm>
                <a:off x="4675358" y="5721532"/>
                <a:ext cx="358495" cy="338554"/>
              </a:xfrm>
              <a:prstGeom prst="rect">
                <a:avLst/>
              </a:prstGeom>
              <a:blipFill rotWithShape="0">
                <a:blip r:embed="rId18"/>
                <a:stretch>
                  <a:fillRect l="-20339" r="-5085" b="-2545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997409" y="2045991"/>
                <a:ext cx="1635161" cy="923330"/>
              </a:xfrm>
              <a:prstGeom prst="rect">
                <a:avLst/>
              </a:prstGeom>
              <a:noFill/>
            </p:spPr>
            <p:txBody>
              <a:bodyPr wrap="square" rtlCol="0">
                <a:spAutoFit/>
              </a:bodyPr>
              <a:lstStyle/>
              <a:p>
                <a:pPr algn="ctr"/>
                <a:r>
                  <a:rPr lang="en-US" dirty="0"/>
                  <a:t>Probability that </a:t>
                </a:r>
                <a14:m>
                  <m:oMath xmlns:m="http://schemas.openxmlformats.org/officeDocument/2006/math">
                    <m:r>
                      <a:rPr lang="en-US" b="1" i="1" smtClean="0">
                        <a:latin typeface="Cambria Math" panose="02040503050406030204" pitchFamily="18" charset="0"/>
                      </a:rPr>
                      <m:t>𝒙</m:t>
                    </m:r>
                  </m:oMath>
                </a14:m>
                <a:r>
                  <a:rPr lang="en-IN" dirty="0"/>
                  <a:t> belongs to class 1</a:t>
                </a:r>
              </a:p>
            </p:txBody>
          </p:sp>
        </mc:Choice>
        <mc:Fallback xmlns="">
          <p:sp>
            <p:nvSpPr>
              <p:cNvPr id="8" name="TextBox 7"/>
              <p:cNvSpPr txBox="1">
                <a:spLocks noRot="1" noChangeAspect="1" noMove="1" noResize="1" noEditPoints="1" noAdjustHandles="1" noChangeArrowheads="1" noChangeShapeType="1" noTextEdit="1"/>
              </p:cNvSpPr>
              <p:nvPr/>
            </p:nvSpPr>
            <p:spPr>
              <a:xfrm>
                <a:off x="4997409" y="2045991"/>
                <a:ext cx="1635161" cy="923330"/>
              </a:xfrm>
              <a:prstGeom prst="rect">
                <a:avLst/>
              </a:prstGeom>
              <a:blipFill rotWithShape="0">
                <a:blip r:embed="rId19"/>
                <a:stretch>
                  <a:fillRect l="-3358" t="-3974" r="-5224" b="-993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3" name="TextBox 172"/>
              <p:cNvSpPr txBox="1"/>
              <p:nvPr/>
            </p:nvSpPr>
            <p:spPr>
              <a:xfrm>
                <a:off x="4997409" y="3382239"/>
                <a:ext cx="1635161" cy="923330"/>
              </a:xfrm>
              <a:prstGeom prst="rect">
                <a:avLst/>
              </a:prstGeom>
              <a:noFill/>
            </p:spPr>
            <p:txBody>
              <a:bodyPr wrap="square" rtlCol="0">
                <a:spAutoFit/>
              </a:bodyPr>
              <a:lstStyle/>
              <a:p>
                <a:pPr algn="ctr"/>
                <a:r>
                  <a:rPr lang="en-US" dirty="0"/>
                  <a:t>Probability that </a:t>
                </a:r>
                <a14:m>
                  <m:oMath xmlns:m="http://schemas.openxmlformats.org/officeDocument/2006/math">
                    <m:r>
                      <a:rPr lang="en-US" b="1" i="1" smtClean="0">
                        <a:latin typeface="Cambria Math" panose="02040503050406030204" pitchFamily="18" charset="0"/>
                      </a:rPr>
                      <m:t>𝒙</m:t>
                    </m:r>
                  </m:oMath>
                </a14:m>
                <a:r>
                  <a:rPr lang="en-IN" dirty="0"/>
                  <a:t> belongs to class 2</a:t>
                </a:r>
              </a:p>
            </p:txBody>
          </p:sp>
        </mc:Choice>
        <mc:Fallback xmlns="">
          <p:sp>
            <p:nvSpPr>
              <p:cNvPr id="173" name="TextBox 172"/>
              <p:cNvSpPr txBox="1">
                <a:spLocks noRot="1" noChangeAspect="1" noMove="1" noResize="1" noEditPoints="1" noAdjustHandles="1" noChangeArrowheads="1" noChangeShapeType="1" noTextEdit="1"/>
              </p:cNvSpPr>
              <p:nvPr/>
            </p:nvSpPr>
            <p:spPr>
              <a:xfrm>
                <a:off x="4997409" y="3382239"/>
                <a:ext cx="1635161" cy="923330"/>
              </a:xfrm>
              <a:prstGeom prst="rect">
                <a:avLst/>
              </a:prstGeom>
              <a:blipFill rotWithShape="0">
                <a:blip r:embed="rId20"/>
                <a:stretch>
                  <a:fillRect l="-3358" t="-3974" r="-5224" b="-993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4" name="TextBox 173"/>
              <p:cNvSpPr txBox="1"/>
              <p:nvPr/>
            </p:nvSpPr>
            <p:spPr>
              <a:xfrm>
                <a:off x="5011592" y="5421217"/>
                <a:ext cx="1635161" cy="923330"/>
              </a:xfrm>
              <a:prstGeom prst="rect">
                <a:avLst/>
              </a:prstGeom>
              <a:noFill/>
            </p:spPr>
            <p:txBody>
              <a:bodyPr wrap="square" rtlCol="0">
                <a:spAutoFit/>
              </a:bodyPr>
              <a:lstStyle/>
              <a:p>
                <a:pPr algn="ctr"/>
                <a:r>
                  <a:rPr lang="en-US" dirty="0"/>
                  <a:t>Probability that </a:t>
                </a:r>
                <a14:m>
                  <m:oMath xmlns:m="http://schemas.openxmlformats.org/officeDocument/2006/math">
                    <m:r>
                      <a:rPr lang="en-US" b="1" i="1" smtClean="0">
                        <a:latin typeface="Cambria Math" panose="02040503050406030204" pitchFamily="18" charset="0"/>
                      </a:rPr>
                      <m:t>𝒙</m:t>
                    </m:r>
                  </m:oMath>
                </a14:m>
                <a:r>
                  <a:rPr lang="en-IN" dirty="0"/>
                  <a:t> belongs to class C</a:t>
                </a:r>
              </a:p>
            </p:txBody>
          </p:sp>
        </mc:Choice>
        <mc:Fallback xmlns="">
          <p:sp>
            <p:nvSpPr>
              <p:cNvPr id="174" name="TextBox 173"/>
              <p:cNvSpPr txBox="1">
                <a:spLocks noRot="1" noChangeAspect="1" noMove="1" noResize="1" noEditPoints="1" noAdjustHandles="1" noChangeArrowheads="1" noChangeShapeType="1" noTextEdit="1"/>
              </p:cNvSpPr>
              <p:nvPr/>
            </p:nvSpPr>
            <p:spPr>
              <a:xfrm>
                <a:off x="5011592" y="5421217"/>
                <a:ext cx="1635161" cy="923330"/>
              </a:xfrm>
              <a:prstGeom prst="rect">
                <a:avLst/>
              </a:prstGeom>
              <a:blipFill rotWithShape="0">
                <a:blip r:embed="rId21"/>
                <a:stretch>
                  <a:fillRect l="-2985" t="-3289" r="-5597" b="-9211"/>
                </a:stretch>
              </a:blipFill>
            </p:spPr>
            <p:txBody>
              <a:bodyPr/>
              <a:lstStyle/>
              <a:p>
                <a:r>
                  <a:rPr lang="en-IN">
                    <a:noFill/>
                  </a:rPr>
                  <a:t> </a:t>
                </a:r>
              </a:p>
            </p:txBody>
          </p:sp>
        </mc:Fallback>
      </mc:AlternateContent>
      <p:grpSp>
        <p:nvGrpSpPr>
          <p:cNvPr id="175" name="Group 174"/>
          <p:cNvGrpSpPr/>
          <p:nvPr/>
        </p:nvGrpSpPr>
        <p:grpSpPr>
          <a:xfrm>
            <a:off x="5796989" y="4690525"/>
            <a:ext cx="36000" cy="340800"/>
            <a:chOff x="2731586" y="4043627"/>
            <a:chExt cx="36000" cy="340800"/>
          </a:xfrm>
        </p:grpSpPr>
        <p:sp>
          <p:nvSpPr>
            <p:cNvPr id="176" name="Oval 175"/>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7" name="Oval 176"/>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8" name="Oval 177"/>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9" name="TextBox 8"/>
              <p:cNvSpPr txBox="1"/>
              <p:nvPr/>
            </p:nvSpPr>
            <p:spPr>
              <a:xfrm>
                <a:off x="7810051" y="2060223"/>
                <a:ext cx="4184725" cy="923330"/>
              </a:xfrm>
              <a:prstGeom prst="rect">
                <a:avLst/>
              </a:prstGeom>
              <a:noFill/>
            </p:spPr>
            <p:txBody>
              <a:bodyPr wrap="square" rtlCol="0">
                <a:spAutoFit/>
              </a:bodyPr>
              <a:lstStyle/>
              <a:p>
                <a:pPr algn="ctr"/>
                <a:r>
                  <a:rPr lang="en-US" dirty="0"/>
                  <a:t>So we can aim to maximize the probability corresponding to the correct class for any example </a:t>
                </a:r>
                <a14:m>
                  <m:oMath xmlns:m="http://schemas.openxmlformats.org/officeDocument/2006/math">
                    <m:r>
                      <a:rPr lang="en-US" b="1" i="1" smtClean="0">
                        <a:latin typeface="Cambria Math" panose="02040503050406030204" pitchFamily="18" charset="0"/>
                      </a:rPr>
                      <m:t>𝒙</m:t>
                    </m:r>
                  </m:oMath>
                </a14:m>
                <a:endParaRPr lang="en-IN" b="1" dirty="0"/>
              </a:p>
            </p:txBody>
          </p:sp>
        </mc:Choice>
        <mc:Fallback xmlns="">
          <p:sp>
            <p:nvSpPr>
              <p:cNvPr id="9" name="TextBox 8"/>
              <p:cNvSpPr txBox="1">
                <a:spLocks noRot="1" noChangeAspect="1" noMove="1" noResize="1" noEditPoints="1" noAdjustHandles="1" noChangeArrowheads="1" noChangeShapeType="1" noTextEdit="1"/>
              </p:cNvSpPr>
              <p:nvPr/>
            </p:nvSpPr>
            <p:spPr>
              <a:xfrm>
                <a:off x="7810051" y="2060223"/>
                <a:ext cx="4184725" cy="923330"/>
              </a:xfrm>
              <a:prstGeom prst="rect">
                <a:avLst/>
              </a:prstGeom>
              <a:blipFill rotWithShape="0">
                <a:blip r:embed="rId22"/>
                <a:stretch>
                  <a:fillRect l="-437" t="-3974" r="-1310" b="-9934"/>
                </a:stretch>
              </a:blipFill>
            </p:spPr>
            <p:txBody>
              <a:bodyPr/>
              <a:lstStyle/>
              <a:p>
                <a:r>
                  <a:rPr lang="en-IN">
                    <a:noFill/>
                  </a:rPr>
                  <a:t> </a:t>
                </a:r>
              </a:p>
            </p:txBody>
          </p:sp>
        </mc:Fallback>
      </mc:AlternateContent>
      <p:grpSp>
        <p:nvGrpSpPr>
          <p:cNvPr id="12" name="Group 11"/>
          <p:cNvGrpSpPr/>
          <p:nvPr/>
        </p:nvGrpSpPr>
        <p:grpSpPr>
          <a:xfrm>
            <a:off x="8956799" y="3474382"/>
            <a:ext cx="2084866" cy="1309586"/>
            <a:chOff x="8582152" y="3751571"/>
            <a:chExt cx="2084866" cy="1309586"/>
          </a:xfrm>
        </p:grpSpPr>
        <mc:AlternateContent xmlns:mc="http://schemas.openxmlformats.org/markup-compatibility/2006" xmlns:a14="http://schemas.microsoft.com/office/drawing/2010/main">
          <mc:Choice Requires="a14">
            <p:sp>
              <p:nvSpPr>
                <p:cNvPr id="10" name="TextBox 9"/>
                <p:cNvSpPr txBox="1"/>
                <p:nvPr/>
              </p:nvSpPr>
              <p:spPr>
                <a:xfrm>
                  <a:off x="8894124" y="3751571"/>
                  <a:ext cx="910057"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sz="2200" b="0" i="1" smtClean="0">
                                <a:latin typeface="Cambria Math" panose="02040503050406030204" pitchFamily="18" charset="0"/>
                              </a:rPr>
                            </m:ctrlPr>
                          </m:funcPr>
                          <m:fName>
                            <m:r>
                              <m:rPr>
                                <m:sty m:val="p"/>
                              </m:rPr>
                              <a:rPr lang="en-US" sz="2200" b="0" i="0" smtClean="0">
                                <a:latin typeface="Cambria Math" panose="02040503050406030204" pitchFamily="18" charset="0"/>
                              </a:rPr>
                              <m:t>max</m:t>
                            </m:r>
                          </m:fName>
                          <m:e>
                            <m:sSub>
                              <m:sSubPr>
                                <m:ctrlPr>
                                  <a:rPr lang="en-US" sz="2200" b="0" i="1" smtClean="0">
                                    <a:latin typeface="Cambria Math" panose="02040503050406030204" pitchFamily="18" charset="0"/>
                                  </a:rPr>
                                </m:ctrlPr>
                              </m:sSubPr>
                              <m:e>
                                <m:r>
                                  <a:rPr lang="en-US" sz="2200" b="1" i="1" smtClean="0">
                                    <a:latin typeface="Cambria Math" panose="02040503050406030204" pitchFamily="18" charset="0"/>
                                  </a:rPr>
                                  <m:t>𝒚</m:t>
                                </m:r>
                              </m:e>
                              <m:sub>
                                <m:r>
                                  <a:rPr lang="en-US" sz="2200" b="0" i="1" smtClean="0">
                                    <a:latin typeface="Cambria Math" panose="02040503050406030204" pitchFamily="18" charset="0"/>
                                  </a:rPr>
                                  <m:t>𝑐</m:t>
                                </m:r>
                              </m:sub>
                            </m:sSub>
                          </m:e>
                        </m:func>
                      </m:oMath>
                    </m:oMathPara>
                  </a14:m>
                  <a:endParaRPr lang="en-IN" sz="2200" dirty="0"/>
                </a:p>
              </p:txBody>
            </p:sp>
          </mc:Choice>
          <mc:Fallback xmlns="">
            <p:sp>
              <p:nvSpPr>
                <p:cNvPr id="10" name="TextBox 9"/>
                <p:cNvSpPr txBox="1">
                  <a:spLocks noRot="1" noChangeAspect="1" noMove="1" noResize="1" noEditPoints="1" noAdjustHandles="1" noChangeArrowheads="1" noChangeShapeType="1" noTextEdit="1"/>
                </p:cNvSpPr>
                <p:nvPr/>
              </p:nvSpPr>
              <p:spPr>
                <a:xfrm>
                  <a:off x="8894124" y="3751571"/>
                  <a:ext cx="910057" cy="338554"/>
                </a:xfrm>
                <a:prstGeom prst="rect">
                  <a:avLst/>
                </a:prstGeom>
                <a:blipFill rotWithShape="0">
                  <a:blip r:embed="rId23"/>
                  <a:stretch>
                    <a:fillRect l="-4027" r="-671" b="-2727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8582152" y="4077405"/>
                  <a:ext cx="1913344" cy="615553"/>
                </a:xfrm>
                <a:prstGeom prst="rect">
                  <a:avLst/>
                </a:prstGeom>
                <a:noFill/>
              </p:spPr>
              <p:txBody>
                <a:bodyPr wrap="none" lIns="0" tIns="0" rIns="0" bIns="0" rtlCol="0">
                  <a:spAutoFit/>
                </a:bodyPr>
                <a:lstStyle/>
                <a:p>
                  <a:pPr lvl="0"/>
                  <a14:m>
                    <m:oMathPara xmlns:m="http://schemas.openxmlformats.org/officeDocument/2006/math">
                      <m:oMathParaPr>
                        <m:jc m:val="centerGroup"/>
                      </m:oMathParaPr>
                      <m:oMath xmlns:m="http://schemas.openxmlformats.org/officeDocument/2006/math">
                        <m:func>
                          <m:funcPr>
                            <m:ctrlPr>
                              <a:rPr lang="en-US" sz="2200" i="1" smtClean="0">
                                <a:solidFill>
                                  <a:prstClr val="black"/>
                                </a:solidFill>
                                <a:latin typeface="Cambria Math" panose="02040503050406030204" pitchFamily="18" charset="0"/>
                              </a:rPr>
                            </m:ctrlPr>
                          </m:funcPr>
                          <m:fName>
                            <m:r>
                              <a:rPr lang="en-US" sz="2200" i="1" smtClean="0">
                                <a:solidFill>
                                  <a:prstClr val="black"/>
                                </a:solidFill>
                                <a:latin typeface="Cambria Math" panose="02040503050406030204" pitchFamily="18" charset="0"/>
                                <a:ea typeface="Cambria Math" panose="02040503050406030204" pitchFamily="18" charset="0"/>
                              </a:rPr>
                              <m:t>≡</m:t>
                            </m:r>
                            <m:r>
                              <m:rPr>
                                <m:sty m:val="p"/>
                              </m:rPr>
                              <a:rPr lang="en-US" sz="2200" b="0" i="0" smtClean="0">
                                <a:solidFill>
                                  <a:prstClr val="black"/>
                                </a:solidFill>
                                <a:latin typeface="Cambria Math" panose="02040503050406030204" pitchFamily="18" charset="0"/>
                                <a:ea typeface="Cambria Math" panose="02040503050406030204" pitchFamily="18" charset="0"/>
                              </a:rPr>
                              <m:t>max</m:t>
                            </m:r>
                            <m:r>
                              <a:rPr lang="en-US" sz="2200" b="0" i="1" smtClean="0">
                                <a:solidFill>
                                  <a:prstClr val="black"/>
                                </a:solidFill>
                                <a:latin typeface="Cambria Math" panose="02040503050406030204" pitchFamily="18" charset="0"/>
                                <a:ea typeface="Cambria Math" panose="02040503050406030204" pitchFamily="18" charset="0"/>
                              </a:rPr>
                              <m:t> (</m:t>
                            </m:r>
                            <m:r>
                              <a:rPr lang="en-US" sz="2200" b="0" i="1" smtClean="0">
                                <a:solidFill>
                                  <a:prstClr val="black"/>
                                </a:solidFill>
                                <a:latin typeface="Cambria Math" panose="02040503050406030204" pitchFamily="18" charset="0"/>
                                <a:ea typeface="Cambria Math" panose="02040503050406030204" pitchFamily="18" charset="0"/>
                              </a:rPr>
                              <m:t>𝑙𝑜𝑔</m:t>
                            </m:r>
                          </m:fName>
                          <m:e>
                            <m:sSub>
                              <m:sSubPr>
                                <m:ctrlPr>
                                  <a:rPr lang="en-US" sz="2200" i="1">
                                    <a:solidFill>
                                      <a:prstClr val="black"/>
                                    </a:solidFill>
                                    <a:latin typeface="Cambria Math" panose="02040503050406030204" pitchFamily="18" charset="0"/>
                                  </a:rPr>
                                </m:ctrlPr>
                              </m:sSubPr>
                              <m:e>
                                <m:r>
                                  <a:rPr lang="en-US" sz="2200" b="1" i="1">
                                    <a:solidFill>
                                      <a:prstClr val="black"/>
                                    </a:solidFill>
                                    <a:latin typeface="Cambria Math" panose="02040503050406030204" pitchFamily="18" charset="0"/>
                                  </a:rPr>
                                  <m:t>𝒚</m:t>
                                </m:r>
                              </m:e>
                              <m:sub>
                                <m:r>
                                  <a:rPr lang="en-US" sz="2200" i="1">
                                    <a:solidFill>
                                      <a:prstClr val="black"/>
                                    </a:solidFill>
                                    <a:latin typeface="Cambria Math" panose="02040503050406030204" pitchFamily="18" charset="0"/>
                                  </a:rPr>
                                  <m:t>𝑐</m:t>
                                </m:r>
                              </m:sub>
                            </m:sSub>
                          </m:e>
                        </m:func>
                        <m:r>
                          <a:rPr lang="en-US" sz="2200" b="0" i="1" smtClean="0">
                            <a:solidFill>
                              <a:prstClr val="black"/>
                            </a:solidFill>
                            <a:latin typeface="Cambria Math" panose="02040503050406030204" pitchFamily="18" charset="0"/>
                          </a:rPr>
                          <m:t>)</m:t>
                        </m:r>
                      </m:oMath>
                    </m:oMathPara>
                  </a14:m>
                  <a:endParaRPr lang="en-IN" sz="2200" dirty="0">
                    <a:solidFill>
                      <a:prstClr val="black"/>
                    </a:solidFill>
                  </a:endParaRPr>
                </a:p>
                <a:p>
                  <a:endParaRPr lang="en-IN" dirty="0"/>
                </a:p>
              </p:txBody>
            </p:sp>
          </mc:Choice>
          <mc:Fallback xmlns="">
            <p:sp>
              <p:nvSpPr>
                <p:cNvPr id="11" name="TextBox 10"/>
                <p:cNvSpPr txBox="1">
                  <a:spLocks noRot="1" noChangeAspect="1" noMove="1" noResize="1" noEditPoints="1" noAdjustHandles="1" noChangeArrowheads="1" noChangeShapeType="1" noTextEdit="1"/>
                </p:cNvSpPr>
                <p:nvPr/>
              </p:nvSpPr>
              <p:spPr>
                <a:xfrm>
                  <a:off x="8582152" y="4077405"/>
                  <a:ext cx="1913344" cy="615553"/>
                </a:xfrm>
                <a:prstGeom prst="rect">
                  <a:avLst/>
                </a:prstGeom>
                <a:blipFill rotWithShape="0">
                  <a:blip r:embed="rId24"/>
                  <a:stretch>
                    <a:fillRect l="-1911" r="-509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9" name="TextBox 178"/>
                <p:cNvSpPr txBox="1"/>
                <p:nvPr/>
              </p:nvSpPr>
              <p:spPr>
                <a:xfrm>
                  <a:off x="8582152" y="4445604"/>
                  <a:ext cx="2084866" cy="615553"/>
                </a:xfrm>
                <a:prstGeom prst="rect">
                  <a:avLst/>
                </a:prstGeom>
                <a:noFill/>
              </p:spPr>
              <p:txBody>
                <a:bodyPr wrap="none" lIns="0" tIns="0" rIns="0" bIns="0" rtlCol="0">
                  <a:spAutoFit/>
                </a:bodyPr>
                <a:lstStyle/>
                <a:p>
                  <a:pPr lvl="0"/>
                  <a14:m>
                    <m:oMathPara xmlns:m="http://schemas.openxmlformats.org/officeDocument/2006/math">
                      <m:oMathParaPr>
                        <m:jc m:val="centerGroup"/>
                      </m:oMathParaPr>
                      <m:oMath xmlns:m="http://schemas.openxmlformats.org/officeDocument/2006/math">
                        <m:func>
                          <m:funcPr>
                            <m:ctrlPr>
                              <a:rPr lang="en-US" sz="2200" i="1" smtClean="0">
                                <a:solidFill>
                                  <a:prstClr val="black"/>
                                </a:solidFill>
                                <a:latin typeface="Cambria Math" panose="02040503050406030204" pitchFamily="18" charset="0"/>
                              </a:rPr>
                            </m:ctrlPr>
                          </m:funcPr>
                          <m:fName>
                            <m:r>
                              <a:rPr lang="en-US" sz="2200" i="1" smtClean="0">
                                <a:solidFill>
                                  <a:prstClr val="black"/>
                                </a:solidFill>
                                <a:latin typeface="Cambria Math" panose="02040503050406030204" pitchFamily="18" charset="0"/>
                                <a:ea typeface="Cambria Math" panose="02040503050406030204" pitchFamily="18" charset="0"/>
                              </a:rPr>
                              <m:t>≡</m:t>
                            </m:r>
                            <m:r>
                              <m:rPr>
                                <m:sty m:val="p"/>
                              </m:rPr>
                              <a:rPr lang="en-US" sz="2200" b="0" i="0" smtClean="0">
                                <a:solidFill>
                                  <a:prstClr val="black"/>
                                </a:solidFill>
                                <a:latin typeface="Cambria Math" panose="02040503050406030204" pitchFamily="18" charset="0"/>
                                <a:ea typeface="Cambria Math" panose="02040503050406030204" pitchFamily="18" charset="0"/>
                              </a:rPr>
                              <m:t>min</m:t>
                            </m:r>
                            <m:r>
                              <a:rPr lang="en-US" sz="2200" b="0" i="1" smtClean="0">
                                <a:solidFill>
                                  <a:prstClr val="black"/>
                                </a:solidFill>
                                <a:latin typeface="Cambria Math" panose="02040503050406030204" pitchFamily="18" charset="0"/>
                                <a:ea typeface="Cambria Math" panose="02040503050406030204" pitchFamily="18" charset="0"/>
                              </a:rPr>
                              <m:t> (−</m:t>
                            </m:r>
                            <m:r>
                              <a:rPr lang="en-US" sz="2200" b="0" i="1" smtClean="0">
                                <a:solidFill>
                                  <a:prstClr val="black"/>
                                </a:solidFill>
                                <a:latin typeface="Cambria Math" panose="02040503050406030204" pitchFamily="18" charset="0"/>
                                <a:ea typeface="Cambria Math" panose="02040503050406030204" pitchFamily="18" charset="0"/>
                              </a:rPr>
                              <m:t>𝑙𝑜𝑔</m:t>
                            </m:r>
                          </m:fName>
                          <m:e>
                            <m:sSub>
                              <m:sSubPr>
                                <m:ctrlPr>
                                  <a:rPr lang="en-US" sz="2200" i="1">
                                    <a:solidFill>
                                      <a:prstClr val="black"/>
                                    </a:solidFill>
                                    <a:latin typeface="Cambria Math" panose="02040503050406030204" pitchFamily="18" charset="0"/>
                                  </a:rPr>
                                </m:ctrlPr>
                              </m:sSubPr>
                              <m:e>
                                <m:r>
                                  <a:rPr lang="en-US" sz="2200" b="1" i="1">
                                    <a:solidFill>
                                      <a:prstClr val="black"/>
                                    </a:solidFill>
                                    <a:latin typeface="Cambria Math" panose="02040503050406030204" pitchFamily="18" charset="0"/>
                                  </a:rPr>
                                  <m:t>𝒚</m:t>
                                </m:r>
                              </m:e>
                              <m:sub>
                                <m:r>
                                  <a:rPr lang="en-US" sz="2200" i="1">
                                    <a:solidFill>
                                      <a:prstClr val="black"/>
                                    </a:solidFill>
                                    <a:latin typeface="Cambria Math" panose="02040503050406030204" pitchFamily="18" charset="0"/>
                                  </a:rPr>
                                  <m:t>𝑐</m:t>
                                </m:r>
                              </m:sub>
                            </m:sSub>
                          </m:e>
                        </m:func>
                        <m:r>
                          <a:rPr lang="en-US" sz="2200" b="0" i="1" smtClean="0">
                            <a:solidFill>
                              <a:prstClr val="black"/>
                            </a:solidFill>
                            <a:latin typeface="Cambria Math" panose="02040503050406030204" pitchFamily="18" charset="0"/>
                          </a:rPr>
                          <m:t>)</m:t>
                        </m:r>
                      </m:oMath>
                    </m:oMathPara>
                  </a14:m>
                  <a:endParaRPr lang="en-IN" sz="2200" dirty="0">
                    <a:solidFill>
                      <a:prstClr val="black"/>
                    </a:solidFill>
                  </a:endParaRPr>
                </a:p>
                <a:p>
                  <a:endParaRPr lang="en-IN" dirty="0"/>
                </a:p>
              </p:txBody>
            </p:sp>
          </mc:Choice>
          <mc:Fallback xmlns="">
            <p:sp>
              <p:nvSpPr>
                <p:cNvPr id="179" name="TextBox 178"/>
                <p:cNvSpPr txBox="1">
                  <a:spLocks noRot="1" noChangeAspect="1" noMove="1" noResize="1" noEditPoints="1" noAdjustHandles="1" noChangeArrowheads="1" noChangeShapeType="1" noTextEdit="1"/>
                </p:cNvSpPr>
                <p:nvPr/>
              </p:nvSpPr>
              <p:spPr>
                <a:xfrm>
                  <a:off x="8582152" y="4445604"/>
                  <a:ext cx="2084866" cy="615553"/>
                </a:xfrm>
                <a:prstGeom prst="rect">
                  <a:avLst/>
                </a:prstGeom>
                <a:blipFill rotWithShape="0">
                  <a:blip r:embed="rId25"/>
                  <a:stretch>
                    <a:fillRect l="-1754" r="-4678"/>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180" name="TextBox 179"/>
              <p:cNvSpPr txBox="1"/>
              <p:nvPr/>
            </p:nvSpPr>
            <p:spPr>
              <a:xfrm>
                <a:off x="7810051" y="5051374"/>
                <a:ext cx="4184725" cy="984885"/>
              </a:xfrm>
              <a:prstGeom prst="rect">
                <a:avLst/>
              </a:prstGeom>
              <a:noFill/>
            </p:spPr>
            <p:txBody>
              <a:bodyPr wrap="square" rtlCol="0">
                <a:spAutoFit/>
              </a:bodyPr>
              <a:lstStyle/>
              <a:p>
                <a:pPr algn="ctr"/>
                <a:r>
                  <a:rPr lang="en-US" dirty="0"/>
                  <a:t>Can be equivalently expressed as </a:t>
                </a:r>
                <a14:m>
                  <m:oMath xmlns:m="http://schemas.openxmlformats.org/officeDocument/2006/math">
                    <m:r>
                      <a:rPr lang="en-US" sz="2200" b="0" i="1" smtClean="0">
                        <a:latin typeface="Cambria Math" panose="02040503050406030204" pitchFamily="18" charset="0"/>
                      </a:rPr>
                      <m:t>−</m:t>
                    </m:r>
                    <m:nary>
                      <m:naryPr>
                        <m:chr m:val="∑"/>
                        <m:supHide m:val="on"/>
                        <m:ctrlPr>
                          <a:rPr lang="en-US" sz="2200" b="0" i="1" smtClean="0">
                            <a:latin typeface="Cambria Math" panose="02040503050406030204" pitchFamily="18" charset="0"/>
                          </a:rPr>
                        </m:ctrlPr>
                      </m:naryPr>
                      <m:sub>
                        <m:r>
                          <m:rPr>
                            <m:brk m:alnAt="7"/>
                          </m:rPr>
                          <a:rPr lang="en-US" sz="2200" b="0" i="1" smtClean="0">
                            <a:latin typeface="Cambria Math" charset="0"/>
                          </a:rPr>
                          <m:t>𝑖</m:t>
                        </m:r>
                      </m:sub>
                      <m:sup/>
                      <m:e>
                        <m:r>
                          <a:rPr lang="en-US" sz="2200" b="0" i="1" smtClean="0">
                            <a:latin typeface="Cambria Math" panose="02040503050406030204" pitchFamily="18" charset="0"/>
                            <a:ea typeface="Cambria Math" panose="02040503050406030204" pitchFamily="18" charset="0"/>
                          </a:rPr>
                          <m:t>𝕀</m:t>
                        </m:r>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charset="0"/>
                                <a:ea typeface="Cambria Math" panose="02040503050406030204" pitchFamily="18" charset="0"/>
                              </a:rPr>
                              <m:t>𝑖</m:t>
                            </m:r>
                            <m:r>
                              <a:rPr lang="en-US" sz="2200" b="0" i="1" smtClean="0">
                                <a:latin typeface="Cambria Math"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𝑐</m:t>
                            </m:r>
                          </m:e>
                        </m:d>
                        <m:r>
                          <m:rPr>
                            <m:sty m:val="p"/>
                          </m:rPr>
                          <a:rPr lang="en-US" sz="2200" b="0" i="0" smtClean="0">
                            <a:latin typeface="Cambria Math" panose="02040503050406030204" pitchFamily="18" charset="0"/>
                            <a:ea typeface="Cambria Math" panose="02040503050406030204" pitchFamily="18" charset="0"/>
                          </a:rPr>
                          <m:t>log</m:t>
                        </m:r>
                        <m:r>
                          <a:rPr lang="en-US" sz="2200" b="0" i="1" smtClean="0">
                            <a:latin typeface="Cambria Math" panose="02040503050406030204" pitchFamily="18" charset="0"/>
                            <a:ea typeface="Cambria Math" panose="02040503050406030204" pitchFamily="18" charset="0"/>
                          </a:rPr>
                          <m:t>⁡(</m:t>
                        </m:r>
                        <m:sSub>
                          <m:sSubPr>
                            <m:ctrlPr>
                              <a:rPr lang="en-US" sz="2200" b="0" i="1" smtClean="0">
                                <a:latin typeface="Cambria Math" panose="02040503050406030204" pitchFamily="18" charset="0"/>
                                <a:ea typeface="Cambria Math" panose="02040503050406030204" pitchFamily="18" charset="0"/>
                              </a:rPr>
                            </m:ctrlPr>
                          </m:sSubPr>
                          <m:e>
                            <m:r>
                              <a:rPr lang="en-US" sz="2200" b="1" i="1" smtClean="0">
                                <a:latin typeface="Cambria Math" panose="02040503050406030204" pitchFamily="18" charset="0"/>
                                <a:ea typeface="Cambria Math" panose="02040503050406030204" pitchFamily="18" charset="0"/>
                              </a:rPr>
                              <m:t>𝒚</m:t>
                            </m:r>
                          </m:e>
                          <m:sub>
                            <m:r>
                              <a:rPr lang="en-US" sz="2200" b="0" i="1" smtClean="0">
                                <a:latin typeface="Cambria Math" charset="0"/>
                                <a:ea typeface="Cambria Math" panose="02040503050406030204" pitchFamily="18" charset="0"/>
                              </a:rPr>
                              <m:t>𝑖</m:t>
                            </m:r>
                          </m:sub>
                        </m:sSub>
                        <m:r>
                          <a:rPr lang="en-US" sz="2200" b="0" i="1" smtClean="0">
                            <a:latin typeface="Cambria Math" panose="02040503050406030204" pitchFamily="18" charset="0"/>
                            <a:ea typeface="Cambria Math" panose="02040503050406030204" pitchFamily="18" charset="0"/>
                          </a:rPr>
                          <m:t>)</m:t>
                        </m:r>
                      </m:e>
                    </m:nary>
                  </m:oMath>
                </a14:m>
                <a:r>
                  <a:rPr lang="en-IN" sz="2200" dirty="0"/>
                  <a:t> </a:t>
                </a:r>
                <a:r>
                  <a:rPr lang="en-IN" dirty="0"/>
                  <a:t>known as </a:t>
                </a:r>
                <a:r>
                  <a:rPr lang="en-IN" u="sng" dirty="0"/>
                  <a:t>cross-entropy loss</a:t>
                </a:r>
              </a:p>
            </p:txBody>
          </p:sp>
        </mc:Choice>
        <mc:Fallback xmlns="">
          <p:sp>
            <p:nvSpPr>
              <p:cNvPr id="180" name="TextBox 179"/>
              <p:cNvSpPr txBox="1">
                <a:spLocks noRot="1" noChangeAspect="1" noMove="1" noResize="1" noEditPoints="1" noAdjustHandles="1" noChangeArrowheads="1" noChangeShapeType="1" noTextEdit="1"/>
              </p:cNvSpPr>
              <p:nvPr/>
            </p:nvSpPr>
            <p:spPr>
              <a:xfrm>
                <a:off x="7810051" y="5051374"/>
                <a:ext cx="4184725" cy="984885"/>
              </a:xfrm>
              <a:prstGeom prst="rect">
                <a:avLst/>
              </a:prstGeom>
              <a:blipFill rotWithShape="0">
                <a:blip r:embed="rId26"/>
                <a:stretch>
                  <a:fillRect l="-2911" t="-27950" r="-437" b="-55280"/>
                </a:stretch>
              </a:blipFill>
            </p:spPr>
            <p:txBody>
              <a:bodyPr/>
              <a:lstStyle/>
              <a:p>
                <a:r>
                  <a:rPr lang="en-US">
                    <a:noFill/>
                  </a:rPr>
                  <a:t> </a:t>
                </a:r>
              </a:p>
            </p:txBody>
          </p:sp>
        </mc:Fallback>
      </mc:AlternateContent>
    </p:spTree>
    <p:extLst>
      <p:ext uri="{BB962C8B-B14F-4D97-AF65-F5344CB8AC3E}">
        <p14:creationId xmlns:p14="http://schemas.microsoft.com/office/powerpoint/2010/main" val="20902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73" grpId="0"/>
      <p:bldP spid="174" grpId="0"/>
      <p:bldP spid="9" grpId="0"/>
      <p:bldP spid="18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1861073" y="832857"/>
            <a:ext cx="8509299"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solidFill>
                  <a:srgbClr val="434343"/>
                </a:solidFill>
              </a:rPr>
              <a:t>Forward Pass in a Nutshell</a:t>
            </a:r>
            <a:endParaRPr sz="2800" dirty="0">
              <a:solidFill>
                <a:srgbClr val="434343"/>
              </a:solidFill>
            </a:endParaRPr>
          </a:p>
        </p:txBody>
      </p:sp>
      <p:sp>
        <p:nvSpPr>
          <p:cNvPr id="3" name="Footer Placeholder 2"/>
          <p:cNvSpPr>
            <a:spLocks noGrp="1"/>
          </p:cNvSpPr>
          <p:nvPr>
            <p:ph type="ftr" sz="quarter" idx="3"/>
          </p:nvPr>
        </p:nvSpPr>
        <p:spPr>
          <a:xfrm>
            <a:off x="2012197" y="6356350"/>
            <a:ext cx="8167606" cy="365125"/>
          </a:xfrm>
        </p:spPr>
        <p:txBody>
          <a:bodyPr/>
          <a:lstStyle/>
          <a:p>
            <a:r>
              <a:rPr lang="en-US"/>
              <a:t>CS21206 / FAIML | Perceptron and MLP (c) Abir Das, Ayan Chaudhury</a:t>
            </a:r>
          </a:p>
        </p:txBody>
      </p:sp>
      <p:sp>
        <p:nvSpPr>
          <p:cNvPr id="21" name="Slide Number Placeholder 20"/>
          <p:cNvSpPr>
            <a:spLocks noGrp="1"/>
          </p:cNvSpPr>
          <p:nvPr>
            <p:ph type="sldNum" sz="quarter" idx="4"/>
          </p:nvPr>
        </p:nvSpPr>
        <p:spPr>
          <a:xfrm>
            <a:off x="10569844" y="6356350"/>
            <a:ext cx="783956" cy="365125"/>
          </a:xfrm>
        </p:spPr>
        <p:txBody>
          <a:bodyPr/>
          <a:lstStyle/>
          <a:p>
            <a:fld id="{683B8651-0143-4140-839E-3D36292080E8}" type="slidenum">
              <a:rPr lang="en-US" smtClean="0"/>
              <a:t>27</a:t>
            </a:fld>
            <a:endParaRPr lang="en-US"/>
          </a:p>
        </p:txBody>
      </p:sp>
      <p:sp>
        <p:nvSpPr>
          <p:cNvPr id="2" name="Rectangle 1"/>
          <p:cNvSpPr/>
          <p:nvPr/>
        </p:nvSpPr>
        <p:spPr>
          <a:xfrm>
            <a:off x="253387" y="1520328"/>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7" name="TextBox 6"/>
              <p:cNvSpPr txBox="1"/>
              <p:nvPr/>
            </p:nvSpPr>
            <p:spPr>
              <a:xfrm>
                <a:off x="187286" y="1770244"/>
                <a:ext cx="566372" cy="502702"/>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𝒙</m:t>
                      </m:r>
                    </m:oMath>
                  </m:oMathPara>
                </a14:m>
                <a:endParaRPr lang="en-US" sz="1600" b="1"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p>
                        <m:sSupPr>
                          <m:ctrlPr>
                            <a:rPr lang="en-US" sz="1600" b="0" i="1" smtClean="0">
                              <a:solidFill>
                                <a:srgbClr val="FF0000"/>
                              </a:solidFill>
                              <a:latin typeface="Cambria Math" panose="02040503050406030204" pitchFamily="18" charset="0"/>
                            </a:rPr>
                          </m:ctrlPr>
                        </m:sSupPr>
                        <m:e>
                          <m:r>
                            <a:rPr lang="en-US" sz="1600" b="0" i="1" smtClean="0">
                              <a:solidFill>
                                <a:srgbClr val="FF0000"/>
                              </a:solidFill>
                              <a:latin typeface="Cambria Math" panose="02040503050406030204" pitchFamily="18" charset="0"/>
                            </a:rPr>
                            <m:t>(</m:t>
                          </m:r>
                          <m:r>
                            <a:rPr lang="en-US" sz="1600" b="1" i="1" smtClean="0">
                              <a:solidFill>
                                <a:srgbClr val="FF0000"/>
                              </a:solidFill>
                              <a:latin typeface="Cambria Math" panose="02040503050406030204" pitchFamily="18" charset="0"/>
                            </a:rPr>
                            <m:t>𝒉</m:t>
                          </m:r>
                        </m:e>
                        <m:sup>
                          <m:r>
                            <a:rPr lang="en-US" sz="1600" b="0" i="1" smtClean="0">
                              <a:solidFill>
                                <a:srgbClr val="FF0000"/>
                              </a:solidFill>
                              <a:latin typeface="Cambria Math" panose="02040503050406030204" pitchFamily="18" charset="0"/>
                            </a:rPr>
                            <m:t>(0)</m:t>
                          </m:r>
                        </m:sup>
                      </m:sSup>
                      <m:r>
                        <a:rPr lang="en-US" sz="1600" b="0" i="1" smtClean="0">
                          <a:solidFill>
                            <a:srgbClr val="FF0000"/>
                          </a:solidFill>
                          <a:latin typeface="Cambria Math" panose="02040503050406030204" pitchFamily="18" charset="0"/>
                        </a:rPr>
                        <m:t>)</m:t>
                      </m:r>
                    </m:oMath>
                  </m:oMathPara>
                </a14:m>
                <a:endParaRPr lang="en-IN" sz="1600" dirty="0"/>
              </a:p>
            </p:txBody>
          </p:sp>
        </mc:Choice>
        <mc:Fallback xmlns="">
          <p:sp>
            <p:nvSpPr>
              <p:cNvPr id="7" name="TextBox 6"/>
              <p:cNvSpPr txBox="1">
                <a:spLocks noRot="1" noChangeAspect="1" noMove="1" noResize="1" noEditPoints="1" noAdjustHandles="1" noChangeArrowheads="1" noChangeShapeType="1" noTextEdit="1"/>
              </p:cNvSpPr>
              <p:nvPr/>
            </p:nvSpPr>
            <p:spPr>
              <a:xfrm>
                <a:off x="187286" y="1770244"/>
                <a:ext cx="566372" cy="502702"/>
              </a:xfrm>
              <a:prstGeom prst="rect">
                <a:avLst/>
              </a:prstGeom>
              <a:blipFill rotWithShape="0">
                <a:blip r:embed="rId3"/>
                <a:stretch>
                  <a:fillRect l="-16129" r="-8602" b="-15663"/>
                </a:stretch>
              </a:blipFill>
            </p:spPr>
            <p:txBody>
              <a:bodyPr/>
              <a:lstStyle/>
              <a:p>
                <a:r>
                  <a:rPr lang="en-IN">
                    <a:noFill/>
                  </a:rPr>
                  <a:t> </a:t>
                </a:r>
              </a:p>
            </p:txBody>
          </p:sp>
        </mc:Fallback>
      </mc:AlternateContent>
      <p:cxnSp>
        <p:nvCxnSpPr>
          <p:cNvPr id="14" name="Straight Arrow Connector 13"/>
          <p:cNvCxnSpPr>
            <a:stCxn id="2" idx="3"/>
            <a:endCxn id="83" idx="1"/>
          </p:cNvCxnSpPr>
          <p:nvPr/>
        </p:nvCxnSpPr>
        <p:spPr>
          <a:xfrm>
            <a:off x="638978" y="2021596"/>
            <a:ext cx="900620"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649995" y="1744383"/>
                <a:ext cx="889603"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𝑾</m:t>
                          </m:r>
                        </m:e>
                        <m:sup>
                          <m:r>
                            <a:rPr lang="en-US" sz="1600" b="0" i="1" smtClean="0">
                              <a:latin typeface="Cambria Math" panose="02040503050406030204" pitchFamily="18" charset="0"/>
                            </a:rPr>
                            <m:t>(1)</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1" i="1" smtClean="0">
                              <a:latin typeface="Cambria Math" panose="02040503050406030204" pitchFamily="18" charset="0"/>
                            </a:rPr>
                            <m:t>𝒃</m:t>
                          </m:r>
                        </m:e>
                        <m:sup>
                          <m:r>
                            <a:rPr lang="en-US" sz="1600" b="0" i="1" smtClean="0">
                              <a:latin typeface="Cambria Math" panose="02040503050406030204" pitchFamily="18" charset="0"/>
                            </a:rPr>
                            <m:t>(1)</m:t>
                          </m:r>
                        </m:sup>
                      </m:sSup>
                    </m:oMath>
                  </m:oMathPara>
                </a14:m>
                <a:endParaRPr lang="en-IN" sz="1600" dirty="0"/>
              </a:p>
            </p:txBody>
          </p:sp>
        </mc:Choice>
        <mc:Fallback xmlns="">
          <p:sp>
            <p:nvSpPr>
              <p:cNvPr id="16" name="TextBox 15"/>
              <p:cNvSpPr txBox="1">
                <a:spLocks noRot="1" noChangeAspect="1" noMove="1" noResize="1" noEditPoints="1" noAdjustHandles="1" noChangeArrowheads="1" noChangeShapeType="1" noTextEdit="1"/>
              </p:cNvSpPr>
              <p:nvPr/>
            </p:nvSpPr>
            <p:spPr>
              <a:xfrm>
                <a:off x="649995" y="1744383"/>
                <a:ext cx="889603" cy="256480"/>
              </a:xfrm>
              <a:prstGeom prst="rect">
                <a:avLst/>
              </a:prstGeom>
              <a:blipFill rotWithShape="0">
                <a:blip r:embed="rId4"/>
                <a:stretch>
                  <a:fillRect l="-5479" t="-4762" r="-3425" b="-9524"/>
                </a:stretch>
              </a:blipFill>
            </p:spPr>
            <p:txBody>
              <a:bodyPr/>
              <a:lstStyle/>
              <a:p>
                <a:r>
                  <a:rPr lang="en-IN">
                    <a:noFill/>
                  </a:rPr>
                  <a:t> </a:t>
                </a:r>
              </a:p>
            </p:txBody>
          </p:sp>
        </mc:Fallback>
      </mc:AlternateContent>
      <p:sp>
        <p:nvSpPr>
          <p:cNvPr id="83" name="Rectangle 82"/>
          <p:cNvSpPr/>
          <p:nvPr/>
        </p:nvSpPr>
        <p:spPr>
          <a:xfrm>
            <a:off x="1539598" y="1520328"/>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19" name="TextBox 18"/>
              <p:cNvSpPr txBox="1"/>
              <p:nvPr/>
            </p:nvSpPr>
            <p:spPr>
              <a:xfrm>
                <a:off x="1552222" y="1905847"/>
                <a:ext cx="394852"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𝒂</m:t>
                          </m:r>
                        </m:e>
                        <m:sup>
                          <m:r>
                            <a:rPr lang="en-US" sz="1600" b="0" i="1" smtClean="0">
                              <a:latin typeface="Cambria Math" panose="02040503050406030204" pitchFamily="18" charset="0"/>
                            </a:rPr>
                            <m:t>(1)</m:t>
                          </m:r>
                        </m:sup>
                      </m:sSup>
                    </m:oMath>
                  </m:oMathPara>
                </a14:m>
                <a:endParaRPr lang="en-IN" sz="1600" dirty="0"/>
              </a:p>
            </p:txBody>
          </p:sp>
        </mc:Choice>
        <mc:Fallback xmlns="">
          <p:sp>
            <p:nvSpPr>
              <p:cNvPr id="19" name="TextBox 18"/>
              <p:cNvSpPr txBox="1">
                <a:spLocks noRot="1" noChangeAspect="1" noMove="1" noResize="1" noEditPoints="1" noAdjustHandles="1" noChangeArrowheads="1" noChangeShapeType="1" noTextEdit="1"/>
              </p:cNvSpPr>
              <p:nvPr/>
            </p:nvSpPr>
            <p:spPr>
              <a:xfrm>
                <a:off x="1552222" y="1905847"/>
                <a:ext cx="394852" cy="256480"/>
              </a:xfrm>
              <a:prstGeom prst="rect">
                <a:avLst/>
              </a:prstGeom>
              <a:blipFill rotWithShape="0">
                <a:blip r:embed="rId5"/>
                <a:stretch>
                  <a:fillRect l="-7813" t="-4762" r="-9375"/>
                </a:stretch>
              </a:blipFill>
            </p:spPr>
            <p:txBody>
              <a:bodyPr/>
              <a:lstStyle/>
              <a:p>
                <a:r>
                  <a:rPr lang="en-IN">
                    <a:noFill/>
                  </a:rPr>
                  <a:t> </a:t>
                </a:r>
              </a:p>
            </p:txBody>
          </p:sp>
        </mc:Fallback>
      </mc:AlternateContent>
      <p:sp>
        <p:nvSpPr>
          <p:cNvPr id="85" name="Rectangle 84"/>
          <p:cNvSpPr/>
          <p:nvPr/>
        </p:nvSpPr>
        <p:spPr>
          <a:xfrm>
            <a:off x="2343682" y="1520328"/>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86" name="TextBox 85"/>
              <p:cNvSpPr txBox="1"/>
              <p:nvPr/>
            </p:nvSpPr>
            <p:spPr>
              <a:xfrm>
                <a:off x="2354699" y="1905847"/>
                <a:ext cx="396454"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𝒉</m:t>
                          </m:r>
                        </m:e>
                        <m:sup>
                          <m:r>
                            <a:rPr lang="en-US" sz="1600" b="0" i="1" smtClean="0">
                              <a:latin typeface="Cambria Math" panose="02040503050406030204" pitchFamily="18" charset="0"/>
                            </a:rPr>
                            <m:t>(1)</m:t>
                          </m:r>
                        </m:sup>
                      </m:sSup>
                    </m:oMath>
                  </m:oMathPara>
                </a14:m>
                <a:endParaRPr lang="en-IN" sz="1600" dirty="0"/>
              </a:p>
            </p:txBody>
          </p:sp>
        </mc:Choice>
        <mc:Fallback xmlns="">
          <p:sp>
            <p:nvSpPr>
              <p:cNvPr id="86" name="TextBox 85"/>
              <p:cNvSpPr txBox="1">
                <a:spLocks noRot="1" noChangeAspect="1" noMove="1" noResize="1" noEditPoints="1" noAdjustHandles="1" noChangeArrowheads="1" noChangeShapeType="1" noTextEdit="1"/>
              </p:cNvSpPr>
              <p:nvPr/>
            </p:nvSpPr>
            <p:spPr>
              <a:xfrm>
                <a:off x="2354699" y="1905847"/>
                <a:ext cx="396454" cy="256480"/>
              </a:xfrm>
              <a:prstGeom prst="rect">
                <a:avLst/>
              </a:prstGeom>
              <a:blipFill rotWithShape="0">
                <a:blip r:embed="rId6"/>
                <a:stretch>
                  <a:fillRect l="-12308" t="-4762" r="-9231" b="-7143"/>
                </a:stretch>
              </a:blipFill>
            </p:spPr>
            <p:txBody>
              <a:bodyPr/>
              <a:lstStyle/>
              <a:p>
                <a:r>
                  <a:rPr lang="en-IN">
                    <a:noFill/>
                  </a:rPr>
                  <a:t> </a:t>
                </a:r>
              </a:p>
            </p:txBody>
          </p:sp>
        </mc:Fallback>
      </mc:AlternateContent>
      <p:cxnSp>
        <p:nvCxnSpPr>
          <p:cNvPr id="87" name="Straight Arrow Connector 86"/>
          <p:cNvCxnSpPr>
            <a:stCxn id="83" idx="3"/>
            <a:endCxn id="85" idx="1"/>
          </p:cNvCxnSpPr>
          <p:nvPr/>
        </p:nvCxnSpPr>
        <p:spPr>
          <a:xfrm>
            <a:off x="1925189" y="2021596"/>
            <a:ext cx="4184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p:cNvSpPr txBox="1"/>
              <p:nvPr/>
            </p:nvSpPr>
            <p:spPr>
              <a:xfrm>
                <a:off x="1933879" y="1744383"/>
                <a:ext cx="42082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𝑔</m:t>
                      </m:r>
                      <m:r>
                        <a:rPr lang="en-US" sz="1600" b="0" i="1" smtClean="0">
                          <a:latin typeface="Cambria Math" panose="02040503050406030204" pitchFamily="18" charset="0"/>
                        </a:rPr>
                        <m:t>(.)</m:t>
                      </m:r>
                    </m:oMath>
                  </m:oMathPara>
                </a14:m>
                <a:endParaRPr lang="en-IN" sz="1600" dirty="0"/>
              </a:p>
            </p:txBody>
          </p:sp>
        </mc:Choice>
        <mc:Fallback xmlns="">
          <p:sp>
            <p:nvSpPr>
              <p:cNvPr id="23" name="TextBox 22"/>
              <p:cNvSpPr txBox="1">
                <a:spLocks noRot="1" noChangeAspect="1" noMove="1" noResize="1" noEditPoints="1" noAdjustHandles="1" noChangeArrowheads="1" noChangeShapeType="1" noTextEdit="1"/>
              </p:cNvSpPr>
              <p:nvPr/>
            </p:nvSpPr>
            <p:spPr>
              <a:xfrm>
                <a:off x="1933879" y="1744383"/>
                <a:ext cx="420820" cy="246221"/>
              </a:xfrm>
              <a:prstGeom prst="rect">
                <a:avLst/>
              </a:prstGeom>
              <a:blipFill rotWithShape="0">
                <a:blip r:embed="rId7"/>
                <a:stretch>
                  <a:fillRect l="-11594" r="-17391" b="-31707"/>
                </a:stretch>
              </a:blipFill>
            </p:spPr>
            <p:txBody>
              <a:bodyPr/>
              <a:lstStyle/>
              <a:p>
                <a:r>
                  <a:rPr lang="en-IN">
                    <a:noFill/>
                  </a:rPr>
                  <a:t> </a:t>
                </a:r>
              </a:p>
            </p:txBody>
          </p:sp>
        </mc:Fallback>
      </mc:AlternateContent>
      <p:cxnSp>
        <p:nvCxnSpPr>
          <p:cNvPr id="91" name="Straight Arrow Connector 90"/>
          <p:cNvCxnSpPr>
            <a:stCxn id="85" idx="3"/>
            <a:endCxn id="93" idx="1"/>
          </p:cNvCxnSpPr>
          <p:nvPr/>
        </p:nvCxnSpPr>
        <p:spPr>
          <a:xfrm>
            <a:off x="2729273" y="2021596"/>
            <a:ext cx="8885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p:cNvSpPr txBox="1"/>
              <p:nvPr/>
            </p:nvSpPr>
            <p:spPr>
              <a:xfrm>
                <a:off x="2728263" y="1744383"/>
                <a:ext cx="889603"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𝑾</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1" i="1" smtClean="0">
                              <a:latin typeface="Cambria Math" panose="02040503050406030204" pitchFamily="18" charset="0"/>
                            </a:rPr>
                            <m:t>𝒃</m:t>
                          </m:r>
                        </m:e>
                        <m:sup>
                          <m:r>
                            <a:rPr lang="en-US" sz="1600" b="0" i="1" smtClean="0">
                              <a:latin typeface="Cambria Math" panose="02040503050406030204" pitchFamily="18" charset="0"/>
                            </a:rPr>
                            <m:t>(2)</m:t>
                          </m:r>
                        </m:sup>
                      </m:sSup>
                    </m:oMath>
                  </m:oMathPara>
                </a14:m>
                <a:endParaRPr lang="en-IN" sz="1600" dirty="0"/>
              </a:p>
            </p:txBody>
          </p:sp>
        </mc:Choice>
        <mc:Fallback xmlns="">
          <p:sp>
            <p:nvSpPr>
              <p:cNvPr id="92" name="TextBox 91"/>
              <p:cNvSpPr txBox="1">
                <a:spLocks noRot="1" noChangeAspect="1" noMove="1" noResize="1" noEditPoints="1" noAdjustHandles="1" noChangeArrowheads="1" noChangeShapeType="1" noTextEdit="1"/>
              </p:cNvSpPr>
              <p:nvPr/>
            </p:nvSpPr>
            <p:spPr>
              <a:xfrm>
                <a:off x="2728263" y="1744383"/>
                <a:ext cx="889603" cy="256480"/>
              </a:xfrm>
              <a:prstGeom prst="rect">
                <a:avLst/>
              </a:prstGeom>
              <a:blipFill rotWithShape="0">
                <a:blip r:embed="rId8"/>
                <a:stretch>
                  <a:fillRect l="-5517" t="-4762" r="-4138" b="-9524"/>
                </a:stretch>
              </a:blipFill>
            </p:spPr>
            <p:txBody>
              <a:bodyPr/>
              <a:lstStyle/>
              <a:p>
                <a:r>
                  <a:rPr lang="en-IN">
                    <a:noFill/>
                  </a:rPr>
                  <a:t> </a:t>
                </a:r>
              </a:p>
            </p:txBody>
          </p:sp>
        </mc:Fallback>
      </mc:AlternateContent>
      <p:sp>
        <p:nvSpPr>
          <p:cNvPr id="93" name="Rectangle 92"/>
          <p:cNvSpPr/>
          <p:nvPr/>
        </p:nvSpPr>
        <p:spPr>
          <a:xfrm>
            <a:off x="3617866" y="1520328"/>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4" name="Rectangle 93"/>
          <p:cNvSpPr/>
          <p:nvPr/>
        </p:nvSpPr>
        <p:spPr>
          <a:xfrm>
            <a:off x="4421950" y="1520328"/>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95" name="TextBox 94"/>
              <p:cNvSpPr txBox="1"/>
              <p:nvPr/>
            </p:nvSpPr>
            <p:spPr>
              <a:xfrm>
                <a:off x="4432967" y="1905847"/>
                <a:ext cx="396455"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𝒉</m:t>
                          </m:r>
                        </m:e>
                        <m:sup>
                          <m:r>
                            <a:rPr lang="en-US" sz="1600" b="0" i="1" smtClean="0">
                              <a:latin typeface="Cambria Math" panose="02040503050406030204" pitchFamily="18" charset="0"/>
                            </a:rPr>
                            <m:t>(2)</m:t>
                          </m:r>
                        </m:sup>
                      </m:sSup>
                    </m:oMath>
                  </m:oMathPara>
                </a14:m>
                <a:endParaRPr lang="en-IN" sz="1600" dirty="0"/>
              </a:p>
            </p:txBody>
          </p:sp>
        </mc:Choice>
        <mc:Fallback xmlns="">
          <p:sp>
            <p:nvSpPr>
              <p:cNvPr id="95" name="TextBox 94"/>
              <p:cNvSpPr txBox="1">
                <a:spLocks noRot="1" noChangeAspect="1" noMove="1" noResize="1" noEditPoints="1" noAdjustHandles="1" noChangeArrowheads="1" noChangeShapeType="1" noTextEdit="1"/>
              </p:cNvSpPr>
              <p:nvPr/>
            </p:nvSpPr>
            <p:spPr>
              <a:xfrm>
                <a:off x="4432967" y="1905847"/>
                <a:ext cx="396455" cy="256480"/>
              </a:xfrm>
              <a:prstGeom prst="rect">
                <a:avLst/>
              </a:prstGeom>
              <a:blipFill rotWithShape="0">
                <a:blip r:embed="rId9"/>
                <a:stretch>
                  <a:fillRect l="-12308" t="-4762" r="-9231" b="-7143"/>
                </a:stretch>
              </a:blipFill>
            </p:spPr>
            <p:txBody>
              <a:bodyPr/>
              <a:lstStyle/>
              <a:p>
                <a:r>
                  <a:rPr lang="en-IN">
                    <a:noFill/>
                  </a:rPr>
                  <a:t> </a:t>
                </a:r>
              </a:p>
            </p:txBody>
          </p:sp>
        </mc:Fallback>
      </mc:AlternateContent>
      <p:cxnSp>
        <p:nvCxnSpPr>
          <p:cNvPr id="96" name="Straight Arrow Connector 95"/>
          <p:cNvCxnSpPr/>
          <p:nvPr/>
        </p:nvCxnSpPr>
        <p:spPr>
          <a:xfrm>
            <a:off x="4003457" y="2021596"/>
            <a:ext cx="4184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p:cNvSpPr txBox="1"/>
              <p:nvPr/>
            </p:nvSpPr>
            <p:spPr>
              <a:xfrm>
                <a:off x="4012147" y="1744383"/>
                <a:ext cx="42082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𝑔</m:t>
                      </m:r>
                      <m:r>
                        <a:rPr lang="en-US" sz="1600" b="0" i="1" smtClean="0">
                          <a:latin typeface="Cambria Math" panose="02040503050406030204" pitchFamily="18" charset="0"/>
                        </a:rPr>
                        <m:t>(.)</m:t>
                      </m:r>
                    </m:oMath>
                  </m:oMathPara>
                </a14:m>
                <a:endParaRPr lang="en-IN" sz="1600" dirty="0"/>
              </a:p>
            </p:txBody>
          </p:sp>
        </mc:Choice>
        <mc:Fallback xmlns="">
          <p:sp>
            <p:nvSpPr>
              <p:cNvPr id="97" name="TextBox 96"/>
              <p:cNvSpPr txBox="1">
                <a:spLocks noRot="1" noChangeAspect="1" noMove="1" noResize="1" noEditPoints="1" noAdjustHandles="1" noChangeArrowheads="1" noChangeShapeType="1" noTextEdit="1"/>
              </p:cNvSpPr>
              <p:nvPr/>
            </p:nvSpPr>
            <p:spPr>
              <a:xfrm>
                <a:off x="4012147" y="1744383"/>
                <a:ext cx="420820" cy="246221"/>
              </a:xfrm>
              <a:prstGeom prst="rect">
                <a:avLst/>
              </a:prstGeom>
              <a:blipFill rotWithShape="0">
                <a:blip r:embed="rId10"/>
                <a:stretch>
                  <a:fillRect l="-11594" r="-17391" b="-3170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2" name="TextBox 101"/>
              <p:cNvSpPr txBox="1"/>
              <p:nvPr/>
            </p:nvSpPr>
            <p:spPr>
              <a:xfrm>
                <a:off x="3631898" y="1905847"/>
                <a:ext cx="394852"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𝒂</m:t>
                          </m:r>
                        </m:e>
                        <m:sup>
                          <m:r>
                            <a:rPr lang="en-US" sz="1600" b="0" i="1" smtClean="0">
                              <a:latin typeface="Cambria Math" panose="02040503050406030204" pitchFamily="18" charset="0"/>
                            </a:rPr>
                            <m:t>(2)</m:t>
                          </m:r>
                        </m:sup>
                      </m:sSup>
                    </m:oMath>
                  </m:oMathPara>
                </a14:m>
                <a:endParaRPr lang="en-IN" sz="1600" dirty="0"/>
              </a:p>
            </p:txBody>
          </p:sp>
        </mc:Choice>
        <mc:Fallback xmlns="">
          <p:sp>
            <p:nvSpPr>
              <p:cNvPr id="102" name="TextBox 101"/>
              <p:cNvSpPr txBox="1">
                <a:spLocks noRot="1" noChangeAspect="1" noMove="1" noResize="1" noEditPoints="1" noAdjustHandles="1" noChangeArrowheads="1" noChangeShapeType="1" noTextEdit="1"/>
              </p:cNvSpPr>
              <p:nvPr/>
            </p:nvSpPr>
            <p:spPr>
              <a:xfrm>
                <a:off x="3631898" y="1905847"/>
                <a:ext cx="394852" cy="256480"/>
              </a:xfrm>
              <a:prstGeom prst="rect">
                <a:avLst/>
              </a:prstGeom>
              <a:blipFill rotWithShape="0">
                <a:blip r:embed="rId11"/>
                <a:stretch>
                  <a:fillRect l="-7692" t="-4762" r="-7692"/>
                </a:stretch>
              </a:blipFill>
            </p:spPr>
            <p:txBody>
              <a:bodyPr/>
              <a:lstStyle/>
              <a:p>
                <a:r>
                  <a:rPr lang="en-IN">
                    <a:noFill/>
                  </a:rPr>
                  <a:t> </a:t>
                </a:r>
              </a:p>
            </p:txBody>
          </p:sp>
        </mc:Fallback>
      </mc:AlternateContent>
      <p:cxnSp>
        <p:nvCxnSpPr>
          <p:cNvPr id="103" name="Straight Arrow Connector 102"/>
          <p:cNvCxnSpPr/>
          <p:nvPr/>
        </p:nvCxnSpPr>
        <p:spPr>
          <a:xfrm>
            <a:off x="4807541" y="2021596"/>
            <a:ext cx="4184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endCxn id="106" idx="1"/>
          </p:cNvCxnSpPr>
          <p:nvPr/>
        </p:nvCxnSpPr>
        <p:spPr>
          <a:xfrm>
            <a:off x="5862749" y="2021596"/>
            <a:ext cx="8885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 name="TextBox 104"/>
              <p:cNvSpPr txBox="1"/>
              <p:nvPr/>
            </p:nvSpPr>
            <p:spPr>
              <a:xfrm>
                <a:off x="5861739" y="1744383"/>
                <a:ext cx="888064"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𝑾</m:t>
                          </m:r>
                        </m:e>
                        <m:sup>
                          <m:r>
                            <a:rPr lang="en-US" sz="1600" b="0" i="1" smtClean="0">
                              <a:latin typeface="Cambria Math" panose="02040503050406030204" pitchFamily="18" charset="0"/>
                            </a:rPr>
                            <m:t>(</m:t>
                          </m:r>
                          <m:r>
                            <a:rPr lang="en-US" sz="1600" b="0" i="1" smtClean="0">
                              <a:latin typeface="Cambria Math" panose="02040503050406030204" pitchFamily="18" charset="0"/>
                            </a:rPr>
                            <m:t>𝐿</m:t>
                          </m:r>
                          <m:r>
                            <a:rPr lang="en-US" sz="1600" b="0" i="1" smtClean="0">
                              <a:latin typeface="Cambria Math" panose="02040503050406030204" pitchFamily="18" charset="0"/>
                            </a:rPr>
                            <m:t>)</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1" i="1" smtClean="0">
                              <a:latin typeface="Cambria Math" panose="02040503050406030204" pitchFamily="18" charset="0"/>
                            </a:rPr>
                            <m:t>𝒃</m:t>
                          </m:r>
                        </m:e>
                        <m:sup>
                          <m:r>
                            <a:rPr lang="en-US" sz="1600" b="0" i="1" smtClean="0">
                              <a:latin typeface="Cambria Math" panose="02040503050406030204" pitchFamily="18" charset="0"/>
                            </a:rPr>
                            <m:t>(</m:t>
                          </m:r>
                          <m:r>
                            <a:rPr lang="en-US" sz="1600" b="0" i="1" smtClean="0">
                              <a:latin typeface="Cambria Math" panose="02040503050406030204" pitchFamily="18" charset="0"/>
                            </a:rPr>
                            <m:t>𝐿</m:t>
                          </m:r>
                          <m:r>
                            <a:rPr lang="en-US" sz="1600" b="0" i="1" smtClean="0">
                              <a:latin typeface="Cambria Math" panose="02040503050406030204" pitchFamily="18" charset="0"/>
                            </a:rPr>
                            <m:t>)</m:t>
                          </m:r>
                        </m:sup>
                      </m:sSup>
                    </m:oMath>
                  </m:oMathPara>
                </a14:m>
                <a:endParaRPr lang="en-IN" sz="1600" dirty="0"/>
              </a:p>
            </p:txBody>
          </p:sp>
        </mc:Choice>
        <mc:Fallback xmlns="">
          <p:sp>
            <p:nvSpPr>
              <p:cNvPr id="105" name="TextBox 104"/>
              <p:cNvSpPr txBox="1">
                <a:spLocks noRot="1" noChangeAspect="1" noMove="1" noResize="1" noEditPoints="1" noAdjustHandles="1" noChangeArrowheads="1" noChangeShapeType="1" noTextEdit="1"/>
              </p:cNvSpPr>
              <p:nvPr/>
            </p:nvSpPr>
            <p:spPr>
              <a:xfrm>
                <a:off x="5861739" y="1744383"/>
                <a:ext cx="888064" cy="256480"/>
              </a:xfrm>
              <a:prstGeom prst="rect">
                <a:avLst/>
              </a:prstGeom>
              <a:blipFill rotWithShape="0">
                <a:blip r:embed="rId12"/>
                <a:stretch>
                  <a:fillRect l="-5517" t="-4762" r="-4138" b="-9524"/>
                </a:stretch>
              </a:blipFill>
            </p:spPr>
            <p:txBody>
              <a:bodyPr/>
              <a:lstStyle/>
              <a:p>
                <a:r>
                  <a:rPr lang="en-IN">
                    <a:noFill/>
                  </a:rPr>
                  <a:t> </a:t>
                </a:r>
              </a:p>
            </p:txBody>
          </p:sp>
        </mc:Fallback>
      </mc:AlternateContent>
      <p:sp>
        <p:nvSpPr>
          <p:cNvPr id="106" name="Rectangle 105"/>
          <p:cNvSpPr/>
          <p:nvPr/>
        </p:nvSpPr>
        <p:spPr>
          <a:xfrm>
            <a:off x="6751342" y="1520328"/>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08" name="Straight Arrow Connector 107"/>
          <p:cNvCxnSpPr/>
          <p:nvPr/>
        </p:nvCxnSpPr>
        <p:spPr>
          <a:xfrm>
            <a:off x="7136933" y="2021596"/>
            <a:ext cx="486739" cy="5508"/>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p:cNvSpPr txBox="1"/>
              <p:nvPr/>
            </p:nvSpPr>
            <p:spPr>
              <a:xfrm>
                <a:off x="7189691" y="1744383"/>
                <a:ext cx="354777" cy="246221"/>
              </a:xfrm>
              <a:prstGeom prst="rect">
                <a:avLst/>
              </a:prstGeom>
              <a:noFill/>
            </p:spPr>
            <p:txBody>
              <a:bodyPr wrap="none" lIns="0" tIns="0" rIns="0" bIns="0" rtlCol="0">
                <a:spAutoFit/>
              </a:bodyPr>
              <a:lstStyle/>
              <a:p>
                <a:r>
                  <a:rPr lang="en-US" sz="1600" b="0" dirty="0"/>
                  <a:t>o</a:t>
                </a:r>
                <a14:m>
                  <m:oMath xmlns:m="http://schemas.openxmlformats.org/officeDocument/2006/math">
                    <m:r>
                      <a:rPr lang="en-US" sz="1600" b="0" i="1" smtClean="0">
                        <a:latin typeface="Cambria Math" panose="02040503050406030204" pitchFamily="18" charset="0"/>
                      </a:rPr>
                      <m:t>(.)</m:t>
                    </m:r>
                  </m:oMath>
                </a14:m>
                <a:endParaRPr lang="en-IN" sz="1600" dirty="0"/>
              </a:p>
            </p:txBody>
          </p:sp>
        </mc:Choice>
        <mc:Fallback xmlns="">
          <p:sp>
            <p:nvSpPr>
              <p:cNvPr id="109" name="TextBox 108"/>
              <p:cNvSpPr txBox="1">
                <a:spLocks noRot="1" noChangeAspect="1" noMove="1" noResize="1" noEditPoints="1" noAdjustHandles="1" noChangeArrowheads="1" noChangeShapeType="1" noTextEdit="1"/>
              </p:cNvSpPr>
              <p:nvPr/>
            </p:nvSpPr>
            <p:spPr>
              <a:xfrm>
                <a:off x="7189691" y="1744383"/>
                <a:ext cx="354777" cy="246221"/>
              </a:xfrm>
              <a:prstGeom prst="rect">
                <a:avLst/>
              </a:prstGeom>
              <a:blipFill rotWithShape="0">
                <a:blip r:embed="rId13"/>
                <a:stretch>
                  <a:fillRect l="-33898" t="-24390" r="-23729" b="-4878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0" name="TextBox 109"/>
              <p:cNvSpPr txBox="1"/>
              <p:nvPr/>
            </p:nvSpPr>
            <p:spPr>
              <a:xfrm>
                <a:off x="6765374" y="1905847"/>
                <a:ext cx="394082"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𝒂</m:t>
                          </m:r>
                        </m:e>
                        <m:sup>
                          <m:r>
                            <a:rPr lang="en-US" sz="1600" b="0" i="1" smtClean="0">
                              <a:latin typeface="Cambria Math" panose="02040503050406030204" pitchFamily="18" charset="0"/>
                            </a:rPr>
                            <m:t>(</m:t>
                          </m:r>
                          <m:r>
                            <a:rPr lang="en-US" sz="1600" b="0" i="1" smtClean="0">
                              <a:latin typeface="Cambria Math" panose="02040503050406030204" pitchFamily="18" charset="0"/>
                            </a:rPr>
                            <m:t>𝐿</m:t>
                          </m:r>
                          <m:r>
                            <a:rPr lang="en-US" sz="1600" b="0" i="1" smtClean="0">
                              <a:latin typeface="Cambria Math" panose="02040503050406030204" pitchFamily="18" charset="0"/>
                            </a:rPr>
                            <m:t>)</m:t>
                          </m:r>
                        </m:sup>
                      </m:sSup>
                    </m:oMath>
                  </m:oMathPara>
                </a14:m>
                <a:endParaRPr lang="en-IN" sz="1600" dirty="0"/>
              </a:p>
            </p:txBody>
          </p:sp>
        </mc:Choice>
        <mc:Fallback xmlns="">
          <p:sp>
            <p:nvSpPr>
              <p:cNvPr id="110" name="TextBox 109"/>
              <p:cNvSpPr txBox="1">
                <a:spLocks noRot="1" noChangeAspect="1" noMove="1" noResize="1" noEditPoints="1" noAdjustHandles="1" noChangeArrowheads="1" noChangeShapeType="1" noTextEdit="1"/>
              </p:cNvSpPr>
              <p:nvPr/>
            </p:nvSpPr>
            <p:spPr>
              <a:xfrm>
                <a:off x="6765374" y="1905847"/>
                <a:ext cx="394082" cy="256480"/>
              </a:xfrm>
              <a:prstGeom prst="rect">
                <a:avLst/>
              </a:prstGeom>
              <a:blipFill rotWithShape="0">
                <a:blip r:embed="rId14"/>
                <a:stretch>
                  <a:fillRect l="-7813" t="-4762" r="-93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1" name="TextBox 110"/>
              <p:cNvSpPr txBox="1"/>
              <p:nvPr/>
            </p:nvSpPr>
            <p:spPr>
              <a:xfrm>
                <a:off x="7628998" y="1877752"/>
                <a:ext cx="1044260" cy="24622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𝒚</m:t>
                      </m:r>
                      <m:r>
                        <a:rPr lang="en-US" sz="1600" b="1" i="1" smtClean="0">
                          <a:latin typeface="Cambria Math" panose="02040503050406030204" pitchFamily="18" charset="0"/>
                        </a:rPr>
                        <m:t>=</m:t>
                      </m:r>
                      <m:r>
                        <a:rPr lang="en-US" sz="1600" b="1" i="1" smtClean="0">
                          <a:latin typeface="Cambria Math" panose="02040503050406030204" pitchFamily="18" charset="0"/>
                        </a:rPr>
                        <m:t>𝒇</m:t>
                      </m:r>
                      <m:r>
                        <a:rPr lang="en-US" sz="1600" b="1" i="1" smtClean="0">
                          <a:latin typeface="Cambria Math" panose="02040503050406030204" pitchFamily="18" charset="0"/>
                        </a:rPr>
                        <m:t>(</m:t>
                      </m:r>
                      <m:r>
                        <a:rPr lang="en-US" sz="1600" b="1" i="1" smtClean="0">
                          <a:latin typeface="Cambria Math" panose="02040503050406030204" pitchFamily="18" charset="0"/>
                        </a:rPr>
                        <m:t>𝒙</m:t>
                      </m:r>
                      <m:r>
                        <a:rPr lang="en-US" sz="1600" b="1" i="1" smtClean="0">
                          <a:latin typeface="Cambria Math" panose="02040503050406030204" pitchFamily="18" charset="0"/>
                        </a:rPr>
                        <m:t>, </m:t>
                      </m:r>
                      <m:r>
                        <a:rPr lang="en-US" sz="1600" b="1" i="1" smtClean="0">
                          <a:latin typeface="Cambria Math" panose="02040503050406030204" pitchFamily="18" charset="0"/>
                        </a:rPr>
                        <m:t>𝜽</m:t>
                      </m:r>
                      <m:r>
                        <a:rPr lang="en-US" sz="1600" b="1" i="1" smtClean="0">
                          <a:latin typeface="Cambria Math" panose="02040503050406030204" pitchFamily="18" charset="0"/>
                        </a:rPr>
                        <m:t>)</m:t>
                      </m:r>
                    </m:oMath>
                  </m:oMathPara>
                </a14:m>
                <a:endParaRPr lang="en-US" sz="1600" b="1" i="1" dirty="0">
                  <a:latin typeface="Cambria Math" panose="02040503050406030204" pitchFamily="18" charset="0"/>
                </a:endParaRPr>
              </a:p>
            </p:txBody>
          </p:sp>
        </mc:Choice>
        <mc:Fallback xmlns="">
          <p:sp>
            <p:nvSpPr>
              <p:cNvPr id="111" name="TextBox 110"/>
              <p:cNvSpPr txBox="1">
                <a:spLocks noRot="1" noChangeAspect="1" noMove="1" noResize="1" noEditPoints="1" noAdjustHandles="1" noChangeArrowheads="1" noChangeShapeType="1" noTextEdit="1"/>
              </p:cNvSpPr>
              <p:nvPr/>
            </p:nvSpPr>
            <p:spPr>
              <a:xfrm>
                <a:off x="7628998" y="1877752"/>
                <a:ext cx="1044260" cy="246221"/>
              </a:xfrm>
              <a:prstGeom prst="rect">
                <a:avLst/>
              </a:prstGeom>
              <a:blipFill rotWithShape="0">
                <a:blip r:embed="rId15"/>
                <a:stretch>
                  <a:fillRect l="-6395" r="-4070" b="-37500"/>
                </a:stretch>
              </a:blipFill>
            </p:spPr>
            <p:txBody>
              <a:bodyPr/>
              <a:lstStyle/>
              <a:p>
                <a:r>
                  <a:rPr lang="en-IN">
                    <a:noFill/>
                  </a:rPr>
                  <a:t> </a:t>
                </a:r>
              </a:p>
            </p:txBody>
          </p:sp>
        </mc:Fallback>
      </mc:AlternateContent>
      <p:grpSp>
        <p:nvGrpSpPr>
          <p:cNvPr id="113" name="Group 112"/>
          <p:cNvGrpSpPr/>
          <p:nvPr/>
        </p:nvGrpSpPr>
        <p:grpSpPr>
          <a:xfrm rot="16200000">
            <a:off x="5521786" y="1863687"/>
            <a:ext cx="36000" cy="340800"/>
            <a:chOff x="2731586" y="4043627"/>
            <a:chExt cx="36000" cy="340800"/>
          </a:xfrm>
        </p:grpSpPr>
        <p:sp>
          <p:nvSpPr>
            <p:cNvPr id="114" name="Oval 113"/>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5" name="Oval 114"/>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5" name="Oval 154"/>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29" name="TextBox 28"/>
              <p:cNvSpPr txBox="1"/>
              <p:nvPr/>
            </p:nvSpPr>
            <p:spPr>
              <a:xfrm>
                <a:off x="9155017" y="1520328"/>
                <a:ext cx="2389283" cy="923330"/>
              </a:xfrm>
              <a:prstGeom prst="rect">
                <a:avLst/>
              </a:prstGeom>
              <a:noFill/>
            </p:spPr>
            <p:txBody>
              <a:bodyPr wrap="square" rtlCol="0">
                <a:spAutoFit/>
              </a:bodyPr>
              <a:lstStyle/>
              <a:p>
                <a:pPr algn="ctr"/>
                <a14:m>
                  <m:oMath xmlns:m="http://schemas.openxmlformats.org/officeDocument/2006/math">
                    <m:r>
                      <a:rPr lang="en-US" b="1" i="1" smtClean="0">
                        <a:latin typeface="Cambria Math" panose="02040503050406030204" pitchFamily="18" charset="0"/>
                      </a:rPr>
                      <m:t>𝜽</m:t>
                    </m:r>
                  </m:oMath>
                </a14:m>
                <a:r>
                  <a:rPr lang="en-IN" dirty="0"/>
                  <a:t> is the collection of all learnable parameters i.e., all </a:t>
                </a:r>
                <a14:m>
                  <m:oMath xmlns:m="http://schemas.openxmlformats.org/officeDocument/2006/math">
                    <m:r>
                      <a:rPr lang="en-US" b="1" i="1" smtClean="0">
                        <a:latin typeface="Cambria Math" panose="02040503050406030204" pitchFamily="18" charset="0"/>
                      </a:rPr>
                      <m:t>𝑾</m:t>
                    </m:r>
                  </m:oMath>
                </a14:m>
                <a:r>
                  <a:rPr lang="en-IN" b="1" dirty="0"/>
                  <a:t> </a:t>
                </a:r>
                <a:r>
                  <a:rPr lang="en-IN" dirty="0"/>
                  <a:t>and</a:t>
                </a:r>
                <a:r>
                  <a:rPr lang="en-IN" b="1" dirty="0"/>
                  <a:t> </a:t>
                </a:r>
                <a14:m>
                  <m:oMath xmlns:m="http://schemas.openxmlformats.org/officeDocument/2006/math">
                    <m:r>
                      <a:rPr lang="en-US" b="1" i="1" smtClean="0">
                        <a:latin typeface="Cambria Math" panose="02040503050406030204" pitchFamily="18" charset="0"/>
                      </a:rPr>
                      <m:t>𝒃</m:t>
                    </m:r>
                  </m:oMath>
                </a14:m>
                <a:endParaRPr lang="en-IN" b="1" dirty="0"/>
              </a:p>
            </p:txBody>
          </p:sp>
        </mc:Choice>
        <mc:Fallback xmlns="">
          <p:sp>
            <p:nvSpPr>
              <p:cNvPr id="29" name="TextBox 28"/>
              <p:cNvSpPr txBox="1">
                <a:spLocks noRot="1" noChangeAspect="1" noMove="1" noResize="1" noEditPoints="1" noAdjustHandles="1" noChangeArrowheads="1" noChangeShapeType="1" noTextEdit="1"/>
              </p:cNvSpPr>
              <p:nvPr/>
            </p:nvSpPr>
            <p:spPr>
              <a:xfrm>
                <a:off x="9155017" y="1520328"/>
                <a:ext cx="2389283" cy="923330"/>
              </a:xfrm>
              <a:prstGeom prst="rect">
                <a:avLst/>
              </a:prstGeom>
              <a:blipFill rotWithShape="0">
                <a:blip r:embed="rId16"/>
                <a:stretch>
                  <a:fillRect t="-3289" r="-3061" b="-921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253387" y="3326130"/>
                <a:ext cx="4019370" cy="664926"/>
              </a:xfrm>
              <a:prstGeom prst="rect">
                <a:avLst/>
              </a:prstGeom>
              <a:noFill/>
            </p:spPr>
            <p:txBody>
              <a:bodyPr wrap="none" rtlCol="0">
                <a:spAutoFit/>
              </a:bodyPr>
              <a:lstStyle/>
              <a:p>
                <a:r>
                  <a:rPr lang="en-US" dirty="0"/>
                  <a:t>Hidden layer pre-activation:</a:t>
                </a:r>
              </a:p>
              <a:p>
                <a:r>
                  <a:rPr lang="en-US" dirty="0"/>
                  <a:t>For </a:t>
                </a:r>
                <a14:m>
                  <m:oMath xmlns:m="http://schemas.openxmlformats.org/officeDocument/2006/math">
                    <m:r>
                      <a:rPr lang="en-US" b="0" i="1" smtClean="0">
                        <a:latin typeface="Cambria Math" panose="02040503050406030204" pitchFamily="18" charset="0"/>
                      </a:rPr>
                      <m:t>𝑙</m:t>
                    </m:r>
                    <m:r>
                      <a:rPr lang="en-US" b="0" i="1" smtClean="0">
                        <a:latin typeface="Cambria Math" panose="02040503050406030204" pitchFamily="18" charset="0"/>
                      </a:rPr>
                      <m:t>=1,…,</m:t>
                    </m:r>
                    <m:r>
                      <a:rPr lang="en-US" b="0" i="1" smtClean="0">
                        <a:latin typeface="Cambria Math" panose="02040503050406030204" pitchFamily="18" charset="0"/>
                      </a:rPr>
                      <m:t>𝐿</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1" i="1" smtClean="0">
                            <a:latin typeface="Cambria Math" panose="02040503050406030204" pitchFamily="18" charset="0"/>
                          </a:rPr>
                          <m:t>𝒂</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𝑙</m:t>
                            </m:r>
                          </m:e>
                        </m:d>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1" i="1" smtClean="0">
                            <a:latin typeface="Cambria Math" panose="02040503050406030204" pitchFamily="18" charset="0"/>
                          </a:rPr>
                          <m:t>𝑾</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𝑙</m:t>
                            </m:r>
                          </m:e>
                        </m:d>
                      </m:sup>
                    </m:sSup>
                    <m:sSup>
                      <m:sSupPr>
                        <m:ctrlPr>
                          <a:rPr lang="en-US" b="0" i="1" smtClean="0">
                            <a:latin typeface="Cambria Math" panose="02040503050406030204" pitchFamily="18" charset="0"/>
                          </a:rPr>
                        </m:ctrlPr>
                      </m:sSupPr>
                      <m:e>
                        <m:r>
                          <a:rPr lang="en-US" b="1" i="1" smtClean="0">
                            <a:latin typeface="Cambria Math" panose="02040503050406030204" pitchFamily="18" charset="0"/>
                          </a:rPr>
                          <m:t>𝒉</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𝑙</m:t>
                            </m:r>
                            <m:r>
                              <a:rPr lang="en-US" b="0" i="1" smtClean="0">
                                <a:latin typeface="Cambria Math" panose="02040503050406030204" pitchFamily="18" charset="0"/>
                              </a:rPr>
                              <m:t>−1</m:t>
                            </m:r>
                          </m:e>
                        </m:d>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1" i="1" smtClean="0">
                            <a:latin typeface="Cambria Math" panose="02040503050406030204" pitchFamily="18" charset="0"/>
                          </a:rPr>
                          <m:t>𝒃</m:t>
                        </m:r>
                      </m:e>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sup>
                    </m:sSup>
                  </m:oMath>
                </a14:m>
                <a:endParaRPr lang="en-IN" dirty="0"/>
              </a:p>
            </p:txBody>
          </p:sp>
        </mc:Choice>
        <mc:Fallback xmlns="">
          <p:sp>
            <p:nvSpPr>
              <p:cNvPr id="30" name="TextBox 29"/>
              <p:cNvSpPr txBox="1">
                <a:spLocks noRot="1" noChangeAspect="1" noMove="1" noResize="1" noEditPoints="1" noAdjustHandles="1" noChangeArrowheads="1" noChangeShapeType="1" noTextEdit="1"/>
              </p:cNvSpPr>
              <p:nvPr/>
            </p:nvSpPr>
            <p:spPr>
              <a:xfrm>
                <a:off x="253387" y="3326130"/>
                <a:ext cx="4019370" cy="664926"/>
              </a:xfrm>
              <a:prstGeom prst="rect">
                <a:avLst/>
              </a:prstGeom>
              <a:blipFill rotWithShape="0">
                <a:blip r:embed="rId17"/>
                <a:stretch>
                  <a:fillRect l="-1366" t="-5505" b="-1376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6" name="TextBox 155"/>
              <p:cNvSpPr txBox="1"/>
              <p:nvPr/>
            </p:nvSpPr>
            <p:spPr>
              <a:xfrm>
                <a:off x="253387" y="4305777"/>
                <a:ext cx="3466398" cy="664926"/>
              </a:xfrm>
              <a:prstGeom prst="rect">
                <a:avLst/>
              </a:prstGeom>
              <a:noFill/>
            </p:spPr>
            <p:txBody>
              <a:bodyPr wrap="none" rtlCol="0">
                <a:spAutoFit/>
              </a:bodyPr>
              <a:lstStyle/>
              <a:p>
                <a:r>
                  <a:rPr lang="en-US" dirty="0"/>
                  <a:t>Hidden layer activation:</a:t>
                </a:r>
              </a:p>
              <a:p>
                <a:r>
                  <a:rPr lang="en-US" dirty="0"/>
                  <a:t>For </a:t>
                </a:r>
                <a14:m>
                  <m:oMath xmlns:m="http://schemas.openxmlformats.org/officeDocument/2006/math">
                    <m:r>
                      <a:rPr lang="en-US" b="0" i="1" smtClean="0">
                        <a:latin typeface="Cambria Math" panose="02040503050406030204" pitchFamily="18" charset="0"/>
                      </a:rPr>
                      <m:t>𝑙</m:t>
                    </m:r>
                    <m:r>
                      <a:rPr lang="en-US" b="0" i="1" smtClean="0">
                        <a:latin typeface="Cambria Math" panose="02040503050406030204" pitchFamily="18" charset="0"/>
                      </a:rPr>
                      <m:t>=1,…,</m:t>
                    </m:r>
                    <m:r>
                      <a:rPr lang="en-US" b="0" i="1" smtClean="0">
                        <a:latin typeface="Cambria Math" panose="02040503050406030204" pitchFamily="18" charset="0"/>
                      </a:rPr>
                      <m:t>𝐿</m:t>
                    </m:r>
                    <m:r>
                      <a:rPr lang="en-US" b="0" i="1" smtClean="0">
                        <a:latin typeface="Cambria Math" panose="02040503050406030204" pitchFamily="18" charset="0"/>
                      </a:rPr>
                      <m:t>−1; </m:t>
                    </m:r>
                    <m:sSup>
                      <m:sSupPr>
                        <m:ctrlPr>
                          <a:rPr lang="en-US" b="0" i="1" smtClean="0">
                            <a:latin typeface="Cambria Math" panose="02040503050406030204" pitchFamily="18" charset="0"/>
                          </a:rPr>
                        </m:ctrlPr>
                      </m:sSupPr>
                      <m:e>
                        <m:r>
                          <a:rPr lang="en-US" b="1" i="1" smtClean="0">
                            <a:latin typeface="Cambria Math" panose="02040503050406030204" pitchFamily="18" charset="0"/>
                          </a:rPr>
                          <m:t>𝒉</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𝑙</m:t>
                            </m:r>
                          </m:e>
                        </m:d>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𝑔</m:t>
                        </m:r>
                        <m:r>
                          <a:rPr lang="en-US" b="0" i="1" smtClean="0">
                            <a:latin typeface="Cambria Math" panose="02040503050406030204" pitchFamily="18" charset="0"/>
                          </a:rPr>
                          <m:t>(</m:t>
                        </m:r>
                        <m:r>
                          <a:rPr lang="en-US" b="1" i="1" smtClean="0">
                            <a:latin typeface="Cambria Math" panose="02040503050406030204" pitchFamily="18" charset="0"/>
                          </a:rPr>
                          <m:t>𝒂</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𝑙</m:t>
                            </m:r>
                          </m:e>
                        </m:d>
                      </m:sup>
                    </m:sSup>
                    <m:r>
                      <a:rPr lang="en-US" b="0" i="1" smtClean="0">
                        <a:latin typeface="Cambria Math" panose="02040503050406030204" pitchFamily="18" charset="0"/>
                      </a:rPr>
                      <m:t>)</m:t>
                    </m:r>
                  </m:oMath>
                </a14:m>
                <a:endParaRPr lang="en-IN" dirty="0"/>
              </a:p>
            </p:txBody>
          </p:sp>
        </mc:Choice>
        <mc:Fallback xmlns="">
          <p:sp>
            <p:nvSpPr>
              <p:cNvPr id="156" name="TextBox 155"/>
              <p:cNvSpPr txBox="1">
                <a:spLocks noRot="1" noChangeAspect="1" noMove="1" noResize="1" noEditPoints="1" noAdjustHandles="1" noChangeArrowheads="1" noChangeShapeType="1" noTextEdit="1"/>
              </p:cNvSpPr>
              <p:nvPr/>
            </p:nvSpPr>
            <p:spPr>
              <a:xfrm>
                <a:off x="253387" y="4305777"/>
                <a:ext cx="3466398" cy="664926"/>
              </a:xfrm>
              <a:prstGeom prst="rect">
                <a:avLst/>
              </a:prstGeom>
              <a:blipFill rotWithShape="0">
                <a:blip r:embed="rId18"/>
                <a:stretch>
                  <a:fillRect l="-1585" t="-4587" r="-176" b="-1376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7" name="TextBox 156"/>
              <p:cNvSpPr txBox="1"/>
              <p:nvPr/>
            </p:nvSpPr>
            <p:spPr>
              <a:xfrm>
                <a:off x="253387" y="5202065"/>
                <a:ext cx="3590727" cy="664926"/>
              </a:xfrm>
              <a:prstGeom prst="rect">
                <a:avLst/>
              </a:prstGeom>
              <a:noFill/>
            </p:spPr>
            <p:txBody>
              <a:bodyPr wrap="none" rtlCol="0">
                <a:spAutoFit/>
              </a:bodyPr>
              <a:lstStyle/>
              <a:p>
                <a:r>
                  <a:rPr lang="en-US" dirty="0"/>
                  <a:t>Output layer activation:</a:t>
                </a:r>
              </a:p>
              <a:p>
                <a:r>
                  <a:rPr lang="en-US" dirty="0"/>
                  <a:t>For </a:t>
                </a:r>
                <a14:m>
                  <m:oMath xmlns:m="http://schemas.openxmlformats.org/officeDocument/2006/math">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𝐿</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1" i="1" smtClean="0">
                            <a:latin typeface="Cambria Math" panose="02040503050406030204" pitchFamily="18" charset="0"/>
                          </a:rPr>
                          <m:t>𝒉</m:t>
                        </m:r>
                      </m:e>
                      <m:sup>
                        <m:d>
                          <m:dPr>
                            <m:ctrlPr>
                              <a:rPr lang="en-US" b="0" i="1" smtClean="0">
                                <a:latin typeface="Cambria Math" panose="02040503050406030204" pitchFamily="18" charset="0"/>
                              </a:rPr>
                            </m:ctrlPr>
                          </m:dPr>
                          <m:e>
                            <m:r>
                              <a:rPr lang="en-US" b="0" i="1" smtClean="0">
                                <a:latin typeface="Cambria Math" panose="02040503050406030204" pitchFamily="18" charset="0"/>
                              </a:rPr>
                              <m:t>𝐿</m:t>
                            </m:r>
                          </m:e>
                        </m:d>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𝑜</m:t>
                        </m:r>
                        <m:r>
                          <a:rPr lang="en-US" b="0" i="1" smtClean="0">
                            <a:latin typeface="Cambria Math" panose="02040503050406030204" pitchFamily="18" charset="0"/>
                          </a:rPr>
                          <m:t>(</m:t>
                        </m:r>
                        <m:r>
                          <a:rPr lang="en-US" b="1" i="1" smtClean="0">
                            <a:latin typeface="Cambria Math" panose="02040503050406030204" pitchFamily="18" charset="0"/>
                          </a:rPr>
                          <m:t>𝒂</m:t>
                        </m:r>
                      </m:e>
                      <m:sup>
                        <m:d>
                          <m:dPr>
                            <m:ctrlPr>
                              <a:rPr lang="en-US" b="0" i="1" smtClean="0">
                                <a:latin typeface="Cambria Math" panose="02040503050406030204" pitchFamily="18" charset="0"/>
                              </a:rPr>
                            </m:ctrlPr>
                          </m:dPr>
                          <m:e>
                            <m:r>
                              <a:rPr lang="en-US" b="0" i="1" smtClean="0">
                                <a:latin typeface="Cambria Math" panose="02040503050406030204" pitchFamily="18" charset="0"/>
                              </a:rPr>
                              <m:t>𝐿</m:t>
                            </m:r>
                          </m:e>
                        </m:d>
                      </m:sup>
                    </m:sSup>
                    <m:r>
                      <a:rPr lang="en-US" b="0" i="1" smtClean="0">
                        <a:latin typeface="Cambria Math" panose="02040503050406030204" pitchFamily="18" charset="0"/>
                      </a:rPr>
                      <m:t>)=</m:t>
                    </m:r>
                    <m:r>
                      <a:rPr lang="en-US" b="1" i="1" smtClean="0">
                        <a:latin typeface="Cambria Math" panose="02040503050406030204" pitchFamily="18" charset="0"/>
                      </a:rPr>
                      <m:t>𝒇</m:t>
                    </m:r>
                    <m:r>
                      <a:rPr lang="en-US" b="1" i="1" smtClean="0">
                        <a:latin typeface="Cambria Math" panose="02040503050406030204" pitchFamily="18" charset="0"/>
                      </a:rPr>
                      <m:t>(</m:t>
                    </m:r>
                    <m:r>
                      <a:rPr lang="en-US" b="1" i="1">
                        <a:latin typeface="Cambria Math" panose="02040503050406030204" pitchFamily="18" charset="0"/>
                      </a:rPr>
                      <m:t>𝒙</m:t>
                    </m:r>
                    <m:r>
                      <a:rPr lang="en-US" b="1" i="1">
                        <a:latin typeface="Cambria Math" panose="02040503050406030204" pitchFamily="18" charset="0"/>
                      </a:rPr>
                      <m:t>, </m:t>
                    </m:r>
                    <m:r>
                      <a:rPr lang="en-US" b="1" i="1">
                        <a:latin typeface="Cambria Math" panose="02040503050406030204" pitchFamily="18" charset="0"/>
                      </a:rPr>
                      <m:t>𝜽</m:t>
                    </m:r>
                    <m:r>
                      <a:rPr lang="en-US" b="1" i="1" smtClean="0">
                        <a:latin typeface="Cambria Math" panose="02040503050406030204" pitchFamily="18" charset="0"/>
                      </a:rPr>
                      <m:t>)</m:t>
                    </m:r>
                  </m:oMath>
                </a14:m>
                <a:endParaRPr lang="en-IN" b="1" dirty="0"/>
              </a:p>
            </p:txBody>
          </p:sp>
        </mc:Choice>
        <mc:Fallback xmlns="">
          <p:sp>
            <p:nvSpPr>
              <p:cNvPr id="157" name="TextBox 156"/>
              <p:cNvSpPr txBox="1">
                <a:spLocks noRot="1" noChangeAspect="1" noMove="1" noResize="1" noEditPoints="1" noAdjustHandles="1" noChangeArrowheads="1" noChangeShapeType="1" noTextEdit="1"/>
              </p:cNvSpPr>
              <p:nvPr/>
            </p:nvSpPr>
            <p:spPr>
              <a:xfrm>
                <a:off x="253387" y="5202065"/>
                <a:ext cx="3590727" cy="664926"/>
              </a:xfrm>
              <a:prstGeom prst="rect">
                <a:avLst/>
              </a:prstGeom>
              <a:blipFill rotWithShape="0">
                <a:blip r:embed="rId19"/>
                <a:stretch>
                  <a:fillRect l="-1528" t="-4587" b="-13761"/>
                </a:stretch>
              </a:blipFill>
            </p:spPr>
            <p:txBody>
              <a:bodyPr/>
              <a:lstStyle/>
              <a:p>
                <a:r>
                  <a:rPr lang="en-IN">
                    <a:noFill/>
                  </a:rPr>
                  <a:t> </a:t>
                </a:r>
              </a:p>
            </p:txBody>
          </p:sp>
        </mc:Fallback>
      </mc:AlternateContent>
    </p:spTree>
    <p:extLst>
      <p:ext uri="{BB962C8B-B14F-4D97-AF65-F5344CB8AC3E}">
        <p14:creationId xmlns:p14="http://schemas.microsoft.com/office/powerpoint/2010/main" val="2044503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156" grpId="0"/>
      <p:bldP spid="15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1861073" y="832857"/>
            <a:ext cx="8509299"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err="1">
                <a:solidFill>
                  <a:srgbClr val="434343"/>
                </a:solidFill>
              </a:rPr>
              <a:t>Backpropagation</a:t>
            </a:r>
            <a:endParaRPr sz="2800" dirty="0">
              <a:solidFill>
                <a:srgbClr val="434343"/>
              </a:solidFill>
            </a:endParaRPr>
          </a:p>
        </p:txBody>
      </p:sp>
      <p:sp>
        <p:nvSpPr>
          <p:cNvPr id="3" name="Footer Placeholder 2"/>
          <p:cNvSpPr>
            <a:spLocks noGrp="1"/>
          </p:cNvSpPr>
          <p:nvPr>
            <p:ph type="ftr" sz="quarter" idx="3"/>
          </p:nvPr>
        </p:nvSpPr>
        <p:spPr>
          <a:xfrm>
            <a:off x="2199486" y="6356350"/>
            <a:ext cx="8167606" cy="365125"/>
          </a:xfrm>
        </p:spPr>
        <p:txBody>
          <a:bodyPr/>
          <a:lstStyle/>
          <a:p>
            <a:r>
              <a:rPr lang="en-US"/>
              <a:t>CS21206 / FAIML | Perceptron and MLP (c) Abir Das, Ayan Chaudhury</a:t>
            </a:r>
          </a:p>
        </p:txBody>
      </p:sp>
      <p:sp>
        <p:nvSpPr>
          <p:cNvPr id="21" name="Slide Number Placeholder 20"/>
          <p:cNvSpPr>
            <a:spLocks noGrp="1"/>
          </p:cNvSpPr>
          <p:nvPr>
            <p:ph type="sldNum" sz="quarter" idx="4"/>
          </p:nvPr>
        </p:nvSpPr>
        <p:spPr>
          <a:xfrm>
            <a:off x="10757133" y="6356350"/>
            <a:ext cx="783956" cy="365125"/>
          </a:xfrm>
        </p:spPr>
        <p:txBody>
          <a:bodyPr/>
          <a:lstStyle/>
          <a:p>
            <a:fld id="{683B8651-0143-4140-839E-3D36292080E8}" type="slidenum">
              <a:rPr lang="en-US" smtClean="0"/>
              <a:t>28</a:t>
            </a:fld>
            <a:endParaRPr lang="en-US"/>
          </a:p>
        </p:txBody>
      </p:sp>
      <p:sp>
        <p:nvSpPr>
          <p:cNvPr id="2" name="Rectangle 1"/>
          <p:cNvSpPr/>
          <p:nvPr/>
        </p:nvSpPr>
        <p:spPr>
          <a:xfrm>
            <a:off x="682344" y="1520328"/>
            <a:ext cx="727824"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7" name="TextBox 6"/>
              <p:cNvSpPr txBox="1"/>
              <p:nvPr/>
            </p:nvSpPr>
            <p:spPr>
              <a:xfrm>
                <a:off x="772628" y="1862364"/>
                <a:ext cx="563488" cy="256480"/>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p>
                        <m:sSupPr>
                          <m:ctrlPr>
                            <a:rPr lang="en-US" sz="1600" b="0" i="1" smtClean="0">
                              <a:solidFill>
                                <a:schemeClr val="tx1"/>
                              </a:solidFill>
                              <a:latin typeface="Cambria Math" panose="02040503050406030204" pitchFamily="18" charset="0"/>
                            </a:rPr>
                          </m:ctrlPr>
                        </m:sSupPr>
                        <m:e>
                          <m:r>
                            <a:rPr lang="en-US" sz="1600" b="1" i="1" smtClean="0">
                              <a:solidFill>
                                <a:schemeClr val="tx1"/>
                              </a:solidFill>
                              <a:latin typeface="Cambria Math" panose="02040503050406030204" pitchFamily="18" charset="0"/>
                            </a:rPr>
                            <m:t>𝒉</m:t>
                          </m:r>
                        </m:e>
                        <m:sup>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𝑙</m:t>
                          </m:r>
                          <m:r>
                            <a:rPr lang="en-US" sz="1600" b="0" i="1" smtClean="0">
                              <a:solidFill>
                                <a:schemeClr val="tx1"/>
                              </a:solidFill>
                              <a:latin typeface="Cambria Math" panose="02040503050406030204" pitchFamily="18" charset="0"/>
                            </a:rPr>
                            <m:t>−1)</m:t>
                          </m:r>
                        </m:sup>
                      </m:sSup>
                    </m:oMath>
                  </m:oMathPara>
                </a14:m>
                <a:endParaRPr lang="en-IN" sz="1600" dirty="0">
                  <a:solidFill>
                    <a:schemeClr val="tx1"/>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72628" y="1862364"/>
                <a:ext cx="563488" cy="256480"/>
              </a:xfrm>
              <a:prstGeom prst="rect">
                <a:avLst/>
              </a:prstGeom>
              <a:blipFill rotWithShape="0">
                <a:blip r:embed="rId3"/>
                <a:stretch>
                  <a:fillRect l="-13043" t="-4762" r="-3261" b="-7143"/>
                </a:stretch>
              </a:blipFill>
            </p:spPr>
            <p:txBody>
              <a:bodyPr/>
              <a:lstStyle/>
              <a:p>
                <a:r>
                  <a:rPr lang="en-IN">
                    <a:noFill/>
                  </a:rPr>
                  <a:t> </a:t>
                </a:r>
              </a:p>
            </p:txBody>
          </p:sp>
        </mc:Fallback>
      </mc:AlternateContent>
      <p:cxnSp>
        <p:nvCxnSpPr>
          <p:cNvPr id="14" name="Straight Arrow Connector 13"/>
          <p:cNvCxnSpPr>
            <a:stCxn id="2" idx="3"/>
            <a:endCxn id="83" idx="1"/>
          </p:cNvCxnSpPr>
          <p:nvPr/>
        </p:nvCxnSpPr>
        <p:spPr>
          <a:xfrm>
            <a:off x="1410168" y="2021596"/>
            <a:ext cx="900620"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1421185" y="1744383"/>
                <a:ext cx="832536"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𝑾</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1" i="1" smtClean="0">
                              <a:latin typeface="Cambria Math" panose="02040503050406030204" pitchFamily="18" charset="0"/>
                            </a:rPr>
                            <m:t>𝒃</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m:t>
                          </m:r>
                        </m:sup>
                      </m:sSup>
                    </m:oMath>
                  </m:oMathPara>
                </a14:m>
                <a:endParaRPr lang="en-IN" sz="1600" dirty="0"/>
              </a:p>
            </p:txBody>
          </p:sp>
        </mc:Choice>
        <mc:Fallback xmlns="">
          <p:sp>
            <p:nvSpPr>
              <p:cNvPr id="16" name="TextBox 15"/>
              <p:cNvSpPr txBox="1">
                <a:spLocks noRot="1" noChangeAspect="1" noMove="1" noResize="1" noEditPoints="1" noAdjustHandles="1" noChangeArrowheads="1" noChangeShapeType="1" noTextEdit="1"/>
              </p:cNvSpPr>
              <p:nvPr/>
            </p:nvSpPr>
            <p:spPr>
              <a:xfrm>
                <a:off x="1421185" y="1744383"/>
                <a:ext cx="832536" cy="256480"/>
              </a:xfrm>
              <a:prstGeom prst="rect">
                <a:avLst/>
              </a:prstGeom>
              <a:blipFill rotWithShape="0">
                <a:blip r:embed="rId4"/>
                <a:stretch>
                  <a:fillRect l="-5109" t="-4762" r="-4380" b="-9524"/>
                </a:stretch>
              </a:blipFill>
            </p:spPr>
            <p:txBody>
              <a:bodyPr/>
              <a:lstStyle/>
              <a:p>
                <a:r>
                  <a:rPr lang="en-IN">
                    <a:noFill/>
                  </a:rPr>
                  <a:t> </a:t>
                </a:r>
              </a:p>
            </p:txBody>
          </p:sp>
        </mc:Fallback>
      </mc:AlternateContent>
      <p:sp>
        <p:nvSpPr>
          <p:cNvPr id="83" name="Rectangle 82"/>
          <p:cNvSpPr/>
          <p:nvPr/>
        </p:nvSpPr>
        <p:spPr>
          <a:xfrm>
            <a:off x="2310788" y="1520328"/>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19" name="TextBox 18"/>
              <p:cNvSpPr txBox="1"/>
              <p:nvPr/>
            </p:nvSpPr>
            <p:spPr>
              <a:xfrm>
                <a:off x="2323412" y="1905847"/>
                <a:ext cx="366319"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𝒂</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m:t>
                          </m:r>
                        </m:sup>
                      </m:sSup>
                    </m:oMath>
                  </m:oMathPara>
                </a14:m>
                <a:endParaRPr lang="en-IN" sz="1600" dirty="0"/>
              </a:p>
            </p:txBody>
          </p:sp>
        </mc:Choice>
        <mc:Fallback xmlns="">
          <p:sp>
            <p:nvSpPr>
              <p:cNvPr id="19" name="TextBox 18"/>
              <p:cNvSpPr txBox="1">
                <a:spLocks noRot="1" noChangeAspect="1" noMove="1" noResize="1" noEditPoints="1" noAdjustHandles="1" noChangeArrowheads="1" noChangeShapeType="1" noTextEdit="1"/>
              </p:cNvSpPr>
              <p:nvPr/>
            </p:nvSpPr>
            <p:spPr>
              <a:xfrm>
                <a:off x="2323412" y="1905847"/>
                <a:ext cx="366319" cy="256480"/>
              </a:xfrm>
              <a:prstGeom prst="rect">
                <a:avLst/>
              </a:prstGeom>
              <a:blipFill rotWithShape="0">
                <a:blip r:embed="rId5"/>
                <a:stretch>
                  <a:fillRect l="-6667" t="-4762" r="-10000"/>
                </a:stretch>
              </a:blipFill>
            </p:spPr>
            <p:txBody>
              <a:bodyPr/>
              <a:lstStyle/>
              <a:p>
                <a:r>
                  <a:rPr lang="en-IN">
                    <a:noFill/>
                  </a:rPr>
                  <a:t> </a:t>
                </a:r>
              </a:p>
            </p:txBody>
          </p:sp>
        </mc:Fallback>
      </mc:AlternateContent>
      <p:sp>
        <p:nvSpPr>
          <p:cNvPr id="85" name="Rectangle 84"/>
          <p:cNvSpPr/>
          <p:nvPr/>
        </p:nvSpPr>
        <p:spPr>
          <a:xfrm>
            <a:off x="3114872" y="1520328"/>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86" name="TextBox 85"/>
              <p:cNvSpPr txBox="1"/>
              <p:nvPr/>
            </p:nvSpPr>
            <p:spPr>
              <a:xfrm>
                <a:off x="3125889" y="1905847"/>
                <a:ext cx="367921"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𝒉</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m:t>
                          </m:r>
                        </m:sup>
                      </m:sSup>
                    </m:oMath>
                  </m:oMathPara>
                </a14:m>
                <a:endParaRPr lang="en-IN" sz="1600" dirty="0"/>
              </a:p>
            </p:txBody>
          </p:sp>
        </mc:Choice>
        <mc:Fallback xmlns="">
          <p:sp>
            <p:nvSpPr>
              <p:cNvPr id="86" name="TextBox 85"/>
              <p:cNvSpPr txBox="1">
                <a:spLocks noRot="1" noChangeAspect="1" noMove="1" noResize="1" noEditPoints="1" noAdjustHandles="1" noChangeArrowheads="1" noChangeShapeType="1" noTextEdit="1"/>
              </p:cNvSpPr>
              <p:nvPr/>
            </p:nvSpPr>
            <p:spPr>
              <a:xfrm>
                <a:off x="3125889" y="1905847"/>
                <a:ext cx="367921" cy="256480"/>
              </a:xfrm>
              <a:prstGeom prst="rect">
                <a:avLst/>
              </a:prstGeom>
              <a:blipFill rotWithShape="0">
                <a:blip r:embed="rId6"/>
                <a:stretch>
                  <a:fillRect l="-15000" t="-4762" r="-10000" b="-7143"/>
                </a:stretch>
              </a:blipFill>
            </p:spPr>
            <p:txBody>
              <a:bodyPr/>
              <a:lstStyle/>
              <a:p>
                <a:r>
                  <a:rPr lang="en-IN">
                    <a:noFill/>
                  </a:rPr>
                  <a:t> </a:t>
                </a:r>
              </a:p>
            </p:txBody>
          </p:sp>
        </mc:Fallback>
      </mc:AlternateContent>
      <p:cxnSp>
        <p:nvCxnSpPr>
          <p:cNvPr id="87" name="Straight Arrow Connector 86"/>
          <p:cNvCxnSpPr>
            <a:stCxn id="83" idx="3"/>
            <a:endCxn id="85" idx="1"/>
          </p:cNvCxnSpPr>
          <p:nvPr/>
        </p:nvCxnSpPr>
        <p:spPr>
          <a:xfrm>
            <a:off x="2696379" y="2021596"/>
            <a:ext cx="4184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p:cNvSpPr txBox="1"/>
              <p:nvPr/>
            </p:nvSpPr>
            <p:spPr>
              <a:xfrm>
                <a:off x="2705069" y="1744383"/>
                <a:ext cx="42082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𝑔</m:t>
                      </m:r>
                      <m:r>
                        <a:rPr lang="en-US" sz="1600" b="0" i="1" smtClean="0">
                          <a:latin typeface="Cambria Math" panose="02040503050406030204" pitchFamily="18" charset="0"/>
                        </a:rPr>
                        <m:t>(.)</m:t>
                      </m:r>
                    </m:oMath>
                  </m:oMathPara>
                </a14:m>
                <a:endParaRPr lang="en-IN" sz="1600" dirty="0"/>
              </a:p>
            </p:txBody>
          </p:sp>
        </mc:Choice>
        <mc:Fallback xmlns="">
          <p:sp>
            <p:nvSpPr>
              <p:cNvPr id="23" name="TextBox 22"/>
              <p:cNvSpPr txBox="1">
                <a:spLocks noRot="1" noChangeAspect="1" noMove="1" noResize="1" noEditPoints="1" noAdjustHandles="1" noChangeArrowheads="1" noChangeShapeType="1" noTextEdit="1"/>
              </p:cNvSpPr>
              <p:nvPr/>
            </p:nvSpPr>
            <p:spPr>
              <a:xfrm>
                <a:off x="2705069" y="1744383"/>
                <a:ext cx="420820" cy="246221"/>
              </a:xfrm>
              <a:prstGeom prst="rect">
                <a:avLst/>
              </a:prstGeom>
              <a:blipFill rotWithShape="0">
                <a:blip r:embed="rId7"/>
                <a:stretch>
                  <a:fillRect l="-11594" r="-15942" b="-31707"/>
                </a:stretch>
              </a:blipFill>
            </p:spPr>
            <p:txBody>
              <a:bodyPr/>
              <a:lstStyle/>
              <a:p>
                <a:r>
                  <a:rPr lang="en-IN">
                    <a:noFill/>
                  </a:rPr>
                  <a:t> </a:t>
                </a:r>
              </a:p>
            </p:txBody>
          </p:sp>
        </mc:Fallback>
      </mc:AlternateContent>
      <p:cxnSp>
        <p:nvCxnSpPr>
          <p:cNvPr id="91" name="Straight Arrow Connector 90"/>
          <p:cNvCxnSpPr>
            <a:stCxn id="85" idx="3"/>
            <a:endCxn id="93" idx="1"/>
          </p:cNvCxnSpPr>
          <p:nvPr/>
        </p:nvCxnSpPr>
        <p:spPr>
          <a:xfrm>
            <a:off x="3500463" y="2021596"/>
            <a:ext cx="1197069"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p:cNvSpPr txBox="1"/>
              <p:nvPr/>
            </p:nvSpPr>
            <p:spPr>
              <a:xfrm>
                <a:off x="3499453" y="1744383"/>
                <a:ext cx="1223668"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𝑾</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+1)</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1" i="1" smtClean="0">
                              <a:latin typeface="Cambria Math" panose="02040503050406030204" pitchFamily="18" charset="0"/>
                            </a:rPr>
                            <m:t>𝒃</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+1)</m:t>
                          </m:r>
                        </m:sup>
                      </m:sSup>
                    </m:oMath>
                  </m:oMathPara>
                </a14:m>
                <a:endParaRPr lang="en-IN" sz="1600" dirty="0"/>
              </a:p>
            </p:txBody>
          </p:sp>
        </mc:Choice>
        <mc:Fallback xmlns="">
          <p:sp>
            <p:nvSpPr>
              <p:cNvPr id="92" name="TextBox 91"/>
              <p:cNvSpPr txBox="1">
                <a:spLocks noRot="1" noChangeAspect="1" noMove="1" noResize="1" noEditPoints="1" noAdjustHandles="1" noChangeArrowheads="1" noChangeShapeType="1" noTextEdit="1"/>
              </p:cNvSpPr>
              <p:nvPr/>
            </p:nvSpPr>
            <p:spPr>
              <a:xfrm>
                <a:off x="3499453" y="1744383"/>
                <a:ext cx="1223668" cy="256480"/>
              </a:xfrm>
              <a:prstGeom prst="rect">
                <a:avLst/>
              </a:prstGeom>
              <a:blipFill rotWithShape="0">
                <a:blip r:embed="rId8"/>
                <a:stretch>
                  <a:fillRect l="-2985" t="-4762" r="-2488" b="-9524"/>
                </a:stretch>
              </a:blipFill>
            </p:spPr>
            <p:txBody>
              <a:bodyPr/>
              <a:lstStyle/>
              <a:p>
                <a:r>
                  <a:rPr lang="en-IN">
                    <a:noFill/>
                  </a:rPr>
                  <a:t> </a:t>
                </a:r>
              </a:p>
            </p:txBody>
          </p:sp>
        </mc:Fallback>
      </mc:AlternateContent>
      <p:sp>
        <p:nvSpPr>
          <p:cNvPr id="93" name="Rectangle 92"/>
          <p:cNvSpPr/>
          <p:nvPr/>
        </p:nvSpPr>
        <p:spPr>
          <a:xfrm>
            <a:off x="4697532" y="1520328"/>
            <a:ext cx="575917"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4" name="Rectangle 93"/>
          <p:cNvSpPr/>
          <p:nvPr/>
        </p:nvSpPr>
        <p:spPr>
          <a:xfrm>
            <a:off x="5699921" y="1525836"/>
            <a:ext cx="522919"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95" name="TextBox 94"/>
              <p:cNvSpPr txBox="1"/>
              <p:nvPr/>
            </p:nvSpPr>
            <p:spPr>
              <a:xfrm>
                <a:off x="5699921" y="1923847"/>
                <a:ext cx="563488"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𝒉</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+1)</m:t>
                          </m:r>
                        </m:sup>
                      </m:sSup>
                    </m:oMath>
                  </m:oMathPara>
                </a14:m>
                <a:endParaRPr lang="en-IN" sz="1600" dirty="0"/>
              </a:p>
            </p:txBody>
          </p:sp>
        </mc:Choice>
        <mc:Fallback xmlns="">
          <p:sp>
            <p:nvSpPr>
              <p:cNvPr id="95" name="TextBox 94"/>
              <p:cNvSpPr txBox="1">
                <a:spLocks noRot="1" noChangeAspect="1" noMove="1" noResize="1" noEditPoints="1" noAdjustHandles="1" noChangeArrowheads="1" noChangeShapeType="1" noTextEdit="1"/>
              </p:cNvSpPr>
              <p:nvPr/>
            </p:nvSpPr>
            <p:spPr>
              <a:xfrm>
                <a:off x="5699921" y="1923847"/>
                <a:ext cx="563488" cy="256480"/>
              </a:xfrm>
              <a:prstGeom prst="rect">
                <a:avLst/>
              </a:prstGeom>
              <a:blipFill rotWithShape="0">
                <a:blip r:embed="rId9"/>
                <a:stretch>
                  <a:fillRect l="-8696" t="-4762" r="-7609" b="-7143"/>
                </a:stretch>
              </a:blipFill>
            </p:spPr>
            <p:txBody>
              <a:bodyPr/>
              <a:lstStyle/>
              <a:p>
                <a:r>
                  <a:rPr lang="en-IN">
                    <a:noFill/>
                  </a:rPr>
                  <a:t> </a:t>
                </a:r>
              </a:p>
            </p:txBody>
          </p:sp>
        </mc:Fallback>
      </mc:AlternateContent>
      <p:cxnSp>
        <p:nvCxnSpPr>
          <p:cNvPr id="96" name="Straight Arrow Connector 95"/>
          <p:cNvCxnSpPr/>
          <p:nvPr/>
        </p:nvCxnSpPr>
        <p:spPr>
          <a:xfrm>
            <a:off x="5281428" y="2021596"/>
            <a:ext cx="4184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p:cNvSpPr txBox="1"/>
              <p:nvPr/>
            </p:nvSpPr>
            <p:spPr>
              <a:xfrm>
                <a:off x="5290118" y="1744383"/>
                <a:ext cx="42082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𝑔</m:t>
                      </m:r>
                      <m:r>
                        <a:rPr lang="en-US" sz="1600" b="0" i="1" smtClean="0">
                          <a:latin typeface="Cambria Math" panose="02040503050406030204" pitchFamily="18" charset="0"/>
                        </a:rPr>
                        <m:t>(.)</m:t>
                      </m:r>
                    </m:oMath>
                  </m:oMathPara>
                </a14:m>
                <a:endParaRPr lang="en-IN" sz="1600" dirty="0"/>
              </a:p>
            </p:txBody>
          </p:sp>
        </mc:Choice>
        <mc:Fallback xmlns="">
          <p:sp>
            <p:nvSpPr>
              <p:cNvPr id="97" name="TextBox 96"/>
              <p:cNvSpPr txBox="1">
                <a:spLocks noRot="1" noChangeAspect="1" noMove="1" noResize="1" noEditPoints="1" noAdjustHandles="1" noChangeArrowheads="1" noChangeShapeType="1" noTextEdit="1"/>
              </p:cNvSpPr>
              <p:nvPr/>
            </p:nvSpPr>
            <p:spPr>
              <a:xfrm>
                <a:off x="5290118" y="1744383"/>
                <a:ext cx="420820" cy="246221"/>
              </a:xfrm>
              <a:prstGeom prst="rect">
                <a:avLst/>
              </a:prstGeom>
              <a:blipFill rotWithShape="0">
                <a:blip r:embed="rId10"/>
                <a:stretch>
                  <a:fillRect l="-11594" r="-15942" b="-3170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2" name="TextBox 101"/>
              <p:cNvSpPr txBox="1"/>
              <p:nvPr/>
            </p:nvSpPr>
            <p:spPr>
              <a:xfrm>
                <a:off x="4711564" y="1905847"/>
                <a:ext cx="561885"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𝒂</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+1)</m:t>
                          </m:r>
                        </m:sup>
                      </m:sSup>
                    </m:oMath>
                  </m:oMathPara>
                </a14:m>
                <a:endParaRPr lang="en-IN" sz="1600" dirty="0"/>
              </a:p>
            </p:txBody>
          </p:sp>
        </mc:Choice>
        <mc:Fallback xmlns="">
          <p:sp>
            <p:nvSpPr>
              <p:cNvPr id="102" name="TextBox 101"/>
              <p:cNvSpPr txBox="1">
                <a:spLocks noRot="1" noChangeAspect="1" noMove="1" noResize="1" noEditPoints="1" noAdjustHandles="1" noChangeArrowheads="1" noChangeShapeType="1" noTextEdit="1"/>
              </p:cNvSpPr>
              <p:nvPr/>
            </p:nvSpPr>
            <p:spPr>
              <a:xfrm>
                <a:off x="4711564" y="1905847"/>
                <a:ext cx="561885" cy="256480"/>
              </a:xfrm>
              <a:prstGeom prst="rect">
                <a:avLst/>
              </a:prstGeom>
              <a:blipFill rotWithShape="0">
                <a:blip r:embed="rId11"/>
                <a:stretch>
                  <a:fillRect l="-5435" t="-4762" r="-5435"/>
                </a:stretch>
              </a:blipFill>
            </p:spPr>
            <p:txBody>
              <a:bodyPr/>
              <a:lstStyle/>
              <a:p>
                <a:r>
                  <a:rPr lang="en-IN">
                    <a:noFill/>
                  </a:rPr>
                  <a:t> </a:t>
                </a:r>
              </a:p>
            </p:txBody>
          </p:sp>
        </mc:Fallback>
      </mc:AlternateContent>
      <p:cxnSp>
        <p:nvCxnSpPr>
          <p:cNvPr id="103" name="Straight Arrow Connector 102"/>
          <p:cNvCxnSpPr/>
          <p:nvPr/>
        </p:nvCxnSpPr>
        <p:spPr>
          <a:xfrm>
            <a:off x="6239742" y="2021596"/>
            <a:ext cx="4184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endCxn id="106" idx="1"/>
          </p:cNvCxnSpPr>
          <p:nvPr/>
        </p:nvCxnSpPr>
        <p:spPr>
          <a:xfrm>
            <a:off x="7239865" y="2021596"/>
            <a:ext cx="8885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 name="TextBox 104"/>
              <p:cNvSpPr txBox="1"/>
              <p:nvPr/>
            </p:nvSpPr>
            <p:spPr>
              <a:xfrm>
                <a:off x="7238855" y="1744383"/>
                <a:ext cx="888064"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𝑾</m:t>
                          </m:r>
                        </m:e>
                        <m:sup>
                          <m:r>
                            <a:rPr lang="en-US" sz="1600" b="0" i="1" smtClean="0">
                              <a:latin typeface="Cambria Math" panose="02040503050406030204" pitchFamily="18" charset="0"/>
                            </a:rPr>
                            <m:t>(</m:t>
                          </m:r>
                          <m:r>
                            <a:rPr lang="en-US" sz="1600" b="0" i="1" smtClean="0">
                              <a:latin typeface="Cambria Math" panose="02040503050406030204" pitchFamily="18" charset="0"/>
                            </a:rPr>
                            <m:t>𝐿</m:t>
                          </m:r>
                          <m:r>
                            <a:rPr lang="en-US" sz="1600" b="0" i="1" smtClean="0">
                              <a:latin typeface="Cambria Math" panose="02040503050406030204" pitchFamily="18" charset="0"/>
                            </a:rPr>
                            <m:t>)</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1" i="1" smtClean="0">
                              <a:latin typeface="Cambria Math" panose="02040503050406030204" pitchFamily="18" charset="0"/>
                            </a:rPr>
                            <m:t>𝒃</m:t>
                          </m:r>
                        </m:e>
                        <m:sup>
                          <m:r>
                            <a:rPr lang="en-US" sz="1600" b="0" i="1" smtClean="0">
                              <a:latin typeface="Cambria Math" panose="02040503050406030204" pitchFamily="18" charset="0"/>
                            </a:rPr>
                            <m:t>(</m:t>
                          </m:r>
                          <m:r>
                            <a:rPr lang="en-US" sz="1600" b="0" i="1" smtClean="0">
                              <a:latin typeface="Cambria Math" panose="02040503050406030204" pitchFamily="18" charset="0"/>
                            </a:rPr>
                            <m:t>𝐿</m:t>
                          </m:r>
                          <m:r>
                            <a:rPr lang="en-US" sz="1600" b="0" i="1" smtClean="0">
                              <a:latin typeface="Cambria Math" panose="02040503050406030204" pitchFamily="18" charset="0"/>
                            </a:rPr>
                            <m:t>)</m:t>
                          </m:r>
                        </m:sup>
                      </m:sSup>
                    </m:oMath>
                  </m:oMathPara>
                </a14:m>
                <a:endParaRPr lang="en-IN" sz="1600" dirty="0"/>
              </a:p>
            </p:txBody>
          </p:sp>
        </mc:Choice>
        <mc:Fallback xmlns="">
          <p:sp>
            <p:nvSpPr>
              <p:cNvPr id="105" name="TextBox 104"/>
              <p:cNvSpPr txBox="1">
                <a:spLocks noRot="1" noChangeAspect="1" noMove="1" noResize="1" noEditPoints="1" noAdjustHandles="1" noChangeArrowheads="1" noChangeShapeType="1" noTextEdit="1"/>
              </p:cNvSpPr>
              <p:nvPr/>
            </p:nvSpPr>
            <p:spPr>
              <a:xfrm>
                <a:off x="7238855" y="1744383"/>
                <a:ext cx="888064" cy="256480"/>
              </a:xfrm>
              <a:prstGeom prst="rect">
                <a:avLst/>
              </a:prstGeom>
              <a:blipFill rotWithShape="0">
                <a:blip r:embed="rId12"/>
                <a:stretch>
                  <a:fillRect l="-4795" t="-4762" r="-4110" b="-9524"/>
                </a:stretch>
              </a:blipFill>
            </p:spPr>
            <p:txBody>
              <a:bodyPr/>
              <a:lstStyle/>
              <a:p>
                <a:r>
                  <a:rPr lang="en-IN">
                    <a:noFill/>
                  </a:rPr>
                  <a:t> </a:t>
                </a:r>
              </a:p>
            </p:txBody>
          </p:sp>
        </mc:Fallback>
      </mc:AlternateContent>
      <p:sp>
        <p:nvSpPr>
          <p:cNvPr id="106" name="Rectangle 105"/>
          <p:cNvSpPr/>
          <p:nvPr/>
        </p:nvSpPr>
        <p:spPr>
          <a:xfrm>
            <a:off x="8128458" y="1520328"/>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08" name="Straight Arrow Connector 107"/>
          <p:cNvCxnSpPr/>
          <p:nvPr/>
        </p:nvCxnSpPr>
        <p:spPr>
          <a:xfrm>
            <a:off x="8514049" y="2021596"/>
            <a:ext cx="486739" cy="5508"/>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p:cNvSpPr txBox="1"/>
              <p:nvPr/>
            </p:nvSpPr>
            <p:spPr>
              <a:xfrm>
                <a:off x="8566807" y="1744383"/>
                <a:ext cx="354777" cy="246221"/>
              </a:xfrm>
              <a:prstGeom prst="rect">
                <a:avLst/>
              </a:prstGeom>
              <a:noFill/>
            </p:spPr>
            <p:txBody>
              <a:bodyPr wrap="none" lIns="0" tIns="0" rIns="0" bIns="0" rtlCol="0">
                <a:spAutoFit/>
              </a:bodyPr>
              <a:lstStyle/>
              <a:p>
                <a:r>
                  <a:rPr lang="en-US" sz="1600" b="0" dirty="0"/>
                  <a:t>o</a:t>
                </a:r>
                <a14:m>
                  <m:oMath xmlns:m="http://schemas.openxmlformats.org/officeDocument/2006/math">
                    <m:r>
                      <a:rPr lang="en-US" sz="1600" b="0" i="1" smtClean="0">
                        <a:latin typeface="Cambria Math" panose="02040503050406030204" pitchFamily="18" charset="0"/>
                      </a:rPr>
                      <m:t>(.)</m:t>
                    </m:r>
                  </m:oMath>
                </a14:m>
                <a:endParaRPr lang="en-IN" sz="1600" dirty="0"/>
              </a:p>
            </p:txBody>
          </p:sp>
        </mc:Choice>
        <mc:Fallback xmlns="">
          <p:sp>
            <p:nvSpPr>
              <p:cNvPr id="109" name="TextBox 108"/>
              <p:cNvSpPr txBox="1">
                <a:spLocks noRot="1" noChangeAspect="1" noMove="1" noResize="1" noEditPoints="1" noAdjustHandles="1" noChangeArrowheads="1" noChangeShapeType="1" noTextEdit="1"/>
              </p:cNvSpPr>
              <p:nvPr/>
            </p:nvSpPr>
            <p:spPr>
              <a:xfrm>
                <a:off x="8566807" y="1744383"/>
                <a:ext cx="354777" cy="246221"/>
              </a:xfrm>
              <a:prstGeom prst="rect">
                <a:avLst/>
              </a:prstGeom>
              <a:blipFill rotWithShape="0">
                <a:blip r:embed="rId13"/>
                <a:stretch>
                  <a:fillRect l="-33898" t="-24390" r="-23729" b="-4878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0" name="TextBox 109"/>
              <p:cNvSpPr txBox="1"/>
              <p:nvPr/>
            </p:nvSpPr>
            <p:spPr>
              <a:xfrm>
                <a:off x="8142490" y="1905847"/>
                <a:ext cx="394082"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𝒂</m:t>
                          </m:r>
                        </m:e>
                        <m:sup>
                          <m:r>
                            <a:rPr lang="en-US" sz="1600" b="0" i="1" smtClean="0">
                              <a:latin typeface="Cambria Math" panose="02040503050406030204" pitchFamily="18" charset="0"/>
                            </a:rPr>
                            <m:t>(</m:t>
                          </m:r>
                          <m:r>
                            <a:rPr lang="en-US" sz="1600" b="0" i="1" smtClean="0">
                              <a:latin typeface="Cambria Math" panose="02040503050406030204" pitchFamily="18" charset="0"/>
                            </a:rPr>
                            <m:t>𝐿</m:t>
                          </m:r>
                          <m:r>
                            <a:rPr lang="en-US" sz="1600" b="0" i="1" smtClean="0">
                              <a:latin typeface="Cambria Math" panose="02040503050406030204" pitchFamily="18" charset="0"/>
                            </a:rPr>
                            <m:t>)</m:t>
                          </m:r>
                        </m:sup>
                      </m:sSup>
                    </m:oMath>
                  </m:oMathPara>
                </a14:m>
                <a:endParaRPr lang="en-IN" sz="1600" dirty="0"/>
              </a:p>
            </p:txBody>
          </p:sp>
        </mc:Choice>
        <mc:Fallback xmlns="">
          <p:sp>
            <p:nvSpPr>
              <p:cNvPr id="110" name="TextBox 109"/>
              <p:cNvSpPr txBox="1">
                <a:spLocks noRot="1" noChangeAspect="1" noMove="1" noResize="1" noEditPoints="1" noAdjustHandles="1" noChangeArrowheads="1" noChangeShapeType="1" noTextEdit="1"/>
              </p:cNvSpPr>
              <p:nvPr/>
            </p:nvSpPr>
            <p:spPr>
              <a:xfrm>
                <a:off x="8142490" y="1905847"/>
                <a:ext cx="394082" cy="256480"/>
              </a:xfrm>
              <a:prstGeom prst="rect">
                <a:avLst/>
              </a:prstGeom>
              <a:blipFill rotWithShape="0">
                <a:blip r:embed="rId14"/>
                <a:stretch>
                  <a:fillRect l="-7813" t="-4762" r="-93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1" name="TextBox 110"/>
              <p:cNvSpPr txBox="1"/>
              <p:nvPr/>
            </p:nvSpPr>
            <p:spPr>
              <a:xfrm>
                <a:off x="9006114" y="1877752"/>
                <a:ext cx="1044260" cy="24622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𝒚</m:t>
                      </m:r>
                      <m:r>
                        <a:rPr lang="en-US" sz="1600" b="1" i="1" smtClean="0">
                          <a:latin typeface="Cambria Math" panose="02040503050406030204" pitchFamily="18" charset="0"/>
                        </a:rPr>
                        <m:t>=</m:t>
                      </m:r>
                      <m:r>
                        <a:rPr lang="en-US" sz="1600" b="1" i="1" smtClean="0">
                          <a:latin typeface="Cambria Math" panose="02040503050406030204" pitchFamily="18" charset="0"/>
                        </a:rPr>
                        <m:t>𝒇</m:t>
                      </m:r>
                      <m:r>
                        <a:rPr lang="en-US" sz="1600" b="1" i="1" smtClean="0">
                          <a:latin typeface="Cambria Math" panose="02040503050406030204" pitchFamily="18" charset="0"/>
                        </a:rPr>
                        <m:t>(</m:t>
                      </m:r>
                      <m:r>
                        <a:rPr lang="en-US" sz="1600" b="1" i="1" smtClean="0">
                          <a:latin typeface="Cambria Math" panose="02040503050406030204" pitchFamily="18" charset="0"/>
                        </a:rPr>
                        <m:t>𝒙</m:t>
                      </m:r>
                      <m:r>
                        <a:rPr lang="en-US" sz="1600" b="1" i="1" smtClean="0">
                          <a:latin typeface="Cambria Math" panose="02040503050406030204" pitchFamily="18" charset="0"/>
                        </a:rPr>
                        <m:t>, </m:t>
                      </m:r>
                      <m:r>
                        <a:rPr lang="en-US" sz="1600" b="1" i="1" smtClean="0">
                          <a:latin typeface="Cambria Math" panose="02040503050406030204" pitchFamily="18" charset="0"/>
                        </a:rPr>
                        <m:t>𝜽</m:t>
                      </m:r>
                      <m:r>
                        <a:rPr lang="en-US" sz="1600" b="1" i="1" smtClean="0">
                          <a:latin typeface="Cambria Math" panose="02040503050406030204" pitchFamily="18" charset="0"/>
                        </a:rPr>
                        <m:t>)</m:t>
                      </m:r>
                    </m:oMath>
                  </m:oMathPara>
                </a14:m>
                <a:endParaRPr lang="en-US" sz="1600" b="1" i="1" dirty="0">
                  <a:latin typeface="Cambria Math" panose="02040503050406030204" pitchFamily="18" charset="0"/>
                </a:endParaRPr>
              </a:p>
            </p:txBody>
          </p:sp>
        </mc:Choice>
        <mc:Fallback xmlns="">
          <p:sp>
            <p:nvSpPr>
              <p:cNvPr id="111" name="TextBox 110"/>
              <p:cNvSpPr txBox="1">
                <a:spLocks noRot="1" noChangeAspect="1" noMove="1" noResize="1" noEditPoints="1" noAdjustHandles="1" noChangeArrowheads="1" noChangeShapeType="1" noTextEdit="1"/>
              </p:cNvSpPr>
              <p:nvPr/>
            </p:nvSpPr>
            <p:spPr>
              <a:xfrm>
                <a:off x="9006114" y="1877752"/>
                <a:ext cx="1044260" cy="246221"/>
              </a:xfrm>
              <a:prstGeom prst="rect">
                <a:avLst/>
              </a:prstGeom>
              <a:blipFill rotWithShape="0">
                <a:blip r:embed="rId15"/>
                <a:stretch>
                  <a:fillRect l="-6395" r="-4070" b="-37500"/>
                </a:stretch>
              </a:blipFill>
            </p:spPr>
            <p:txBody>
              <a:bodyPr/>
              <a:lstStyle/>
              <a:p>
                <a:r>
                  <a:rPr lang="en-IN">
                    <a:noFill/>
                  </a:rPr>
                  <a:t> </a:t>
                </a:r>
              </a:p>
            </p:txBody>
          </p:sp>
        </mc:Fallback>
      </mc:AlternateContent>
      <p:grpSp>
        <p:nvGrpSpPr>
          <p:cNvPr id="113" name="Group 112"/>
          <p:cNvGrpSpPr/>
          <p:nvPr/>
        </p:nvGrpSpPr>
        <p:grpSpPr>
          <a:xfrm rot="16200000">
            <a:off x="6953987" y="1863687"/>
            <a:ext cx="36000" cy="340800"/>
            <a:chOff x="2731586" y="4043627"/>
            <a:chExt cx="36000" cy="340800"/>
          </a:xfrm>
        </p:grpSpPr>
        <p:sp>
          <p:nvSpPr>
            <p:cNvPr id="114" name="Oval 113"/>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5" name="Oval 114"/>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5" name="Oval 154"/>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42" name="Straight Arrow Connector 41"/>
          <p:cNvCxnSpPr/>
          <p:nvPr/>
        </p:nvCxnSpPr>
        <p:spPr>
          <a:xfrm>
            <a:off x="10103001" y="2031600"/>
            <a:ext cx="486739" cy="5508"/>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p:cNvSpPr txBox="1"/>
              <p:nvPr/>
            </p:nvSpPr>
            <p:spPr>
              <a:xfrm>
                <a:off x="10573660" y="1887756"/>
                <a:ext cx="1131142" cy="24622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𝐽</m:t>
                      </m:r>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𝒇</m:t>
                          </m:r>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𝒙</m:t>
                              </m:r>
                              <m:r>
                                <a:rPr lang="en-US" sz="1600" b="1" i="1" smtClean="0">
                                  <a:latin typeface="Cambria Math" panose="02040503050406030204" pitchFamily="18" charset="0"/>
                                </a:rPr>
                                <m:t>, </m:t>
                              </m:r>
                              <m:r>
                                <a:rPr lang="en-US" sz="1600" b="1" i="1" smtClean="0">
                                  <a:latin typeface="Cambria Math" panose="02040503050406030204" pitchFamily="18" charset="0"/>
                                </a:rPr>
                                <m:t>𝜽</m:t>
                              </m:r>
                            </m:e>
                          </m:d>
                          <m:r>
                            <a:rPr lang="en-US" sz="1600" b="1" i="1" smtClean="0">
                              <a:latin typeface="Cambria Math" panose="02040503050406030204" pitchFamily="18" charset="0"/>
                            </a:rPr>
                            <m:t>,</m:t>
                          </m:r>
                          <m:r>
                            <a:rPr lang="en-US" sz="1600" b="1" i="1" smtClean="0">
                              <a:latin typeface="Cambria Math" panose="02040503050406030204" pitchFamily="18" charset="0"/>
                            </a:rPr>
                            <m:t>𝒄</m:t>
                          </m:r>
                          <m:r>
                            <a:rPr lang="en-US" sz="1600" b="1" i="1" smtClean="0">
                              <a:latin typeface="Cambria Math" panose="02040503050406030204" pitchFamily="18" charset="0"/>
                            </a:rPr>
                            <m:t> </m:t>
                          </m:r>
                        </m:e>
                      </m:d>
                    </m:oMath>
                  </m:oMathPara>
                </a14:m>
                <a:endParaRPr lang="en-US" sz="1600" b="1" i="1" dirty="0">
                  <a:latin typeface="Cambria Math" panose="02040503050406030204" pitchFamily="18" charset="0"/>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10573660" y="1887756"/>
                <a:ext cx="1131142" cy="246221"/>
              </a:xfrm>
              <a:prstGeom prst="rect">
                <a:avLst/>
              </a:prstGeom>
              <a:blipFill rotWithShape="0">
                <a:blip r:embed="rId16"/>
                <a:stretch>
                  <a:fillRect l="-8108" b="-35000"/>
                </a:stretch>
              </a:blipFill>
            </p:spPr>
            <p:txBody>
              <a:bodyPr/>
              <a:lstStyle/>
              <a:p>
                <a:r>
                  <a:rPr lang="en-IN">
                    <a:noFill/>
                  </a:rPr>
                  <a:t> </a:t>
                </a:r>
              </a:p>
            </p:txBody>
          </p:sp>
        </mc:Fallback>
      </mc:AlternateContent>
      <p:cxnSp>
        <p:nvCxnSpPr>
          <p:cNvPr id="52" name="Straight Arrow Connector 51"/>
          <p:cNvCxnSpPr/>
          <p:nvPr/>
        </p:nvCxnSpPr>
        <p:spPr>
          <a:xfrm>
            <a:off x="451581" y="2052087"/>
            <a:ext cx="222057"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53" name="Group 52"/>
          <p:cNvGrpSpPr/>
          <p:nvPr/>
        </p:nvGrpSpPr>
        <p:grpSpPr>
          <a:xfrm rot="16200000">
            <a:off x="280755" y="1950254"/>
            <a:ext cx="45719" cy="188400"/>
            <a:chOff x="2731586" y="4043627"/>
            <a:chExt cx="36000" cy="340800"/>
          </a:xfrm>
        </p:grpSpPr>
        <p:sp>
          <p:nvSpPr>
            <p:cNvPr id="54" name="Oval 53"/>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Oval 54"/>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7" name="Rectangle 56"/>
          <p:cNvSpPr/>
          <p:nvPr/>
        </p:nvSpPr>
        <p:spPr>
          <a:xfrm>
            <a:off x="11398075" y="1918025"/>
            <a:ext cx="180000" cy="216000"/>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cxnSp>
        <p:nvCxnSpPr>
          <p:cNvPr id="58" name="Straight Arrow Connector 57"/>
          <p:cNvCxnSpPr/>
          <p:nvPr/>
        </p:nvCxnSpPr>
        <p:spPr>
          <a:xfrm>
            <a:off x="11482806" y="2151173"/>
            <a:ext cx="7943" cy="288000"/>
          </a:xfrm>
          <a:prstGeom prst="straightConnector1">
            <a:avLst/>
          </a:prstGeom>
          <a:ln w="22225">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0850375" y="2432332"/>
            <a:ext cx="1307335" cy="584775"/>
          </a:xfrm>
          <a:prstGeom prst="rect">
            <a:avLst/>
          </a:prstGeom>
          <a:noFill/>
        </p:spPr>
        <p:txBody>
          <a:bodyPr wrap="square" rtlCol="0">
            <a:spAutoFit/>
          </a:bodyPr>
          <a:lstStyle/>
          <a:p>
            <a:r>
              <a:rPr lang="en-US" sz="1600" dirty="0"/>
              <a:t>True class of the example</a:t>
            </a:r>
            <a:endParaRPr lang="en-IN" sz="1600" dirty="0"/>
          </a:p>
        </p:txBody>
      </p:sp>
      <p:sp>
        <p:nvSpPr>
          <p:cNvPr id="60" name="Google Shape;100;p14"/>
          <p:cNvSpPr txBox="1"/>
          <p:nvPr/>
        </p:nvSpPr>
        <p:spPr>
          <a:xfrm>
            <a:off x="302992" y="3206847"/>
            <a:ext cx="11012212"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dirty="0" err="1"/>
              <a:t>Backpropagation</a:t>
            </a:r>
            <a:r>
              <a:rPr lang="en-US" dirty="0"/>
              <a:t> consists of intelligent use of the chain rule of differentiation for computation of these gradients</a:t>
            </a:r>
            <a:endParaRPr dirty="0"/>
          </a:p>
        </p:txBody>
      </p:sp>
      <mc:AlternateContent xmlns:mc="http://schemas.openxmlformats.org/markup-compatibility/2006" xmlns:a14="http://schemas.microsoft.com/office/drawing/2010/main">
        <mc:Choice Requires="a14">
          <p:sp>
            <p:nvSpPr>
              <p:cNvPr id="62" name="Google Shape;100;p14"/>
              <p:cNvSpPr txBox="1"/>
              <p:nvPr/>
            </p:nvSpPr>
            <p:spPr>
              <a:xfrm>
                <a:off x="-108766" y="2661113"/>
                <a:ext cx="7347621" cy="577795"/>
              </a:xfrm>
              <a:prstGeom prst="rect">
                <a:avLst/>
              </a:prstGeom>
              <a:noFill/>
              <a:ln>
                <a:noFill/>
              </a:ln>
            </p:spPr>
            <p:txBody>
              <a:bodyPr spcFirstLastPara="1" wrap="square" lIns="91425" tIns="91425" rIns="91425" bIns="91425" anchor="t" anchorCtr="0">
                <a:noAutofit/>
              </a:bodyPr>
              <a:lstStyle/>
              <a:p>
                <a:pPr lvl="0" algn="ctr"/>
                <a:r>
                  <a:rPr lang="en-US" dirty="0"/>
                  <a:t>For gradient descent we need to compute </a:t>
                </a:r>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rPr>
                          <m:t>𝜕</m:t>
                        </m:r>
                        <m:r>
                          <a:rPr lang="en-IN" b="0" i="1" smtClean="0">
                            <a:latin typeface="Cambria Math" panose="02040503050406030204" pitchFamily="18" charset="0"/>
                          </a:rPr>
                          <m:t>𝐽</m:t>
                        </m:r>
                      </m:num>
                      <m:den>
                        <m:r>
                          <a:rPr lang="en-US" i="1" smtClean="0">
                            <a:latin typeface="Cambria Math" panose="02040503050406030204" pitchFamily="18" charset="0"/>
                          </a:rPr>
                          <m:t>𝜕</m:t>
                        </m:r>
                        <m:sSubSup>
                          <m:sSubSupPr>
                            <m:ctrlPr>
                              <a:rPr lang="en-US" i="1" smtClean="0">
                                <a:latin typeface="Cambria Math" panose="02040503050406030204" pitchFamily="18" charset="0"/>
                              </a:rPr>
                            </m:ctrlPr>
                          </m:sSubSupPr>
                          <m:e>
                            <m:r>
                              <a:rPr lang="en-IN" b="1" i="1" smtClean="0">
                                <a:latin typeface="Cambria Math" panose="02040503050406030204" pitchFamily="18" charset="0"/>
                              </a:rPr>
                              <m:t>𝑾</m:t>
                            </m:r>
                          </m:e>
                          <m:sub>
                            <m:r>
                              <a:rPr lang="en-IN" b="0" i="1" smtClean="0">
                                <a:latin typeface="Cambria Math" panose="02040503050406030204" pitchFamily="18" charset="0"/>
                              </a:rPr>
                              <m:t>𝑖</m:t>
                            </m:r>
                            <m:r>
                              <a:rPr lang="en-IN" b="0" i="1" smtClean="0">
                                <a:latin typeface="Cambria Math" panose="02040503050406030204" pitchFamily="18" charset="0"/>
                              </a:rPr>
                              <m:t>,</m:t>
                            </m:r>
                            <m:r>
                              <a:rPr lang="en-IN" b="0" i="1" smtClean="0">
                                <a:latin typeface="Cambria Math" panose="02040503050406030204" pitchFamily="18" charset="0"/>
                              </a:rPr>
                              <m:t>𝑗</m:t>
                            </m:r>
                          </m:sub>
                          <m:sup>
                            <m:r>
                              <a:rPr lang="en-IN" b="0" i="1" smtClean="0">
                                <a:latin typeface="Cambria Math" panose="02040503050406030204" pitchFamily="18" charset="0"/>
                              </a:rPr>
                              <m:t>(</m:t>
                            </m:r>
                            <m:r>
                              <a:rPr lang="en-IN" b="0" i="1" smtClean="0">
                                <a:latin typeface="Cambria Math" panose="02040503050406030204" pitchFamily="18" charset="0"/>
                              </a:rPr>
                              <m:t>𝑙</m:t>
                            </m:r>
                            <m:r>
                              <a:rPr lang="en-IN" b="0" i="1" smtClean="0">
                                <a:latin typeface="Cambria Math" panose="02040503050406030204" pitchFamily="18" charset="0"/>
                              </a:rPr>
                              <m:t>)</m:t>
                            </m:r>
                          </m:sup>
                        </m:sSubSup>
                      </m:den>
                    </m:f>
                  </m:oMath>
                </a14:m>
                <a:r>
                  <a:rPr lang="en-IN" dirty="0"/>
                  <a:t> and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r>
                          <a:rPr lang="en-IN" i="1" smtClean="0">
                            <a:latin typeface="Cambria Math" panose="02040503050406030204" pitchFamily="18" charset="0"/>
                          </a:rPr>
                          <m:t>𝐽</m:t>
                        </m:r>
                      </m:num>
                      <m:den>
                        <m:r>
                          <a:rPr lang="en-US" i="1">
                            <a:latin typeface="Cambria Math" panose="02040503050406030204" pitchFamily="18" charset="0"/>
                          </a:rPr>
                          <m:t>𝜕</m:t>
                        </m:r>
                        <m:sSubSup>
                          <m:sSubSupPr>
                            <m:ctrlPr>
                              <a:rPr lang="en-US" i="1">
                                <a:latin typeface="Cambria Math" panose="02040503050406030204" pitchFamily="18" charset="0"/>
                              </a:rPr>
                            </m:ctrlPr>
                          </m:sSubSupPr>
                          <m:e>
                            <m:r>
                              <a:rPr lang="en-US" b="1" i="1" smtClean="0">
                                <a:latin typeface="Cambria Math" charset="0"/>
                              </a:rPr>
                              <m:t>𝒃</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den>
                    </m:f>
                    <m:r>
                      <a:rPr lang="en-IN" b="0" i="1" smtClean="0">
                        <a:latin typeface="Cambria Math" panose="02040503050406030204" pitchFamily="18" charset="0"/>
                      </a:rPr>
                      <m:t> ∀</m:t>
                    </m:r>
                    <m:r>
                      <a:rPr lang="en-IN" b="0" i="1" smtClean="0">
                        <a:latin typeface="Cambria Math" panose="02040503050406030204" pitchFamily="18" charset="0"/>
                      </a:rPr>
                      <m:t>𝑖</m:t>
                    </m:r>
                    <m:r>
                      <a:rPr lang="en-IN" b="0" i="1" smtClean="0">
                        <a:latin typeface="Cambria Math" panose="02040503050406030204" pitchFamily="18" charset="0"/>
                      </a:rPr>
                      <m:t>,</m:t>
                    </m:r>
                    <m:r>
                      <a:rPr lang="en-IN" b="0" i="1" smtClean="0">
                        <a:latin typeface="Cambria Math" panose="02040503050406030204" pitchFamily="18" charset="0"/>
                      </a:rPr>
                      <m:t>𝑗</m:t>
                    </m:r>
                    <m:r>
                      <a:rPr lang="en-IN" b="0" i="1" smtClean="0">
                        <a:latin typeface="Cambria Math" panose="02040503050406030204" pitchFamily="18" charset="0"/>
                      </a:rPr>
                      <m:t>,</m:t>
                    </m:r>
                    <m:r>
                      <a:rPr lang="en-IN" b="0" i="1" smtClean="0">
                        <a:latin typeface="Cambria Math" panose="02040503050406030204" pitchFamily="18" charset="0"/>
                      </a:rPr>
                      <m:t>𝑙</m:t>
                    </m:r>
                  </m:oMath>
                </a14:m>
                <a:endParaRPr dirty="0"/>
              </a:p>
            </p:txBody>
          </p:sp>
        </mc:Choice>
        <mc:Fallback xmlns="">
          <p:sp>
            <p:nvSpPr>
              <p:cNvPr id="62" name="Google Shape;100;p14"/>
              <p:cNvSpPr txBox="1">
                <a:spLocks noRot="1" noChangeAspect="1" noMove="1" noResize="1" noEditPoints="1" noAdjustHandles="1" noChangeArrowheads="1" noChangeShapeType="1" noTextEdit="1"/>
              </p:cNvSpPr>
              <p:nvPr/>
            </p:nvSpPr>
            <p:spPr>
              <a:xfrm>
                <a:off x="-108766" y="2661113"/>
                <a:ext cx="7347621" cy="577795"/>
              </a:xfrm>
              <a:prstGeom prst="rect">
                <a:avLst/>
              </a:prstGeom>
              <a:blipFill rotWithShape="0">
                <a:blip r:embed="rId17"/>
                <a:stretch>
                  <a:fillRect t="-42553" b="-62766"/>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7183617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1861073" y="832857"/>
            <a:ext cx="8509299"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err="1">
                <a:solidFill>
                  <a:srgbClr val="434343"/>
                </a:solidFill>
              </a:rPr>
              <a:t>Backpropagation</a:t>
            </a:r>
            <a:endParaRPr sz="2800" dirty="0">
              <a:solidFill>
                <a:srgbClr val="434343"/>
              </a:solidFill>
            </a:endParaRPr>
          </a:p>
        </p:txBody>
      </p:sp>
      <p:sp>
        <p:nvSpPr>
          <p:cNvPr id="3" name="Footer Placeholder 2"/>
          <p:cNvSpPr>
            <a:spLocks noGrp="1"/>
          </p:cNvSpPr>
          <p:nvPr>
            <p:ph type="ftr" sz="quarter" idx="3"/>
          </p:nvPr>
        </p:nvSpPr>
        <p:spPr>
          <a:xfrm>
            <a:off x="2199486" y="6356350"/>
            <a:ext cx="8167606" cy="365125"/>
          </a:xfrm>
        </p:spPr>
        <p:txBody>
          <a:bodyPr/>
          <a:lstStyle/>
          <a:p>
            <a:r>
              <a:rPr lang="en-US"/>
              <a:t>CS21206 / FAIML | Perceptron and MLP (c) Abir Das, Ayan Chaudhury</a:t>
            </a:r>
          </a:p>
        </p:txBody>
      </p:sp>
      <p:sp>
        <p:nvSpPr>
          <p:cNvPr id="21" name="Slide Number Placeholder 20"/>
          <p:cNvSpPr>
            <a:spLocks noGrp="1"/>
          </p:cNvSpPr>
          <p:nvPr>
            <p:ph type="sldNum" sz="quarter" idx="4"/>
          </p:nvPr>
        </p:nvSpPr>
        <p:spPr>
          <a:xfrm>
            <a:off x="10757133" y="6356350"/>
            <a:ext cx="783956" cy="365125"/>
          </a:xfrm>
        </p:spPr>
        <p:txBody>
          <a:bodyPr/>
          <a:lstStyle/>
          <a:p>
            <a:fld id="{683B8651-0143-4140-839E-3D36292080E8}" type="slidenum">
              <a:rPr lang="en-US" smtClean="0"/>
              <a:t>29</a:t>
            </a:fld>
            <a:endParaRPr lang="en-US"/>
          </a:p>
        </p:txBody>
      </p:sp>
      <p:sp>
        <p:nvSpPr>
          <p:cNvPr id="2" name="Rectangle 1"/>
          <p:cNvSpPr/>
          <p:nvPr/>
        </p:nvSpPr>
        <p:spPr>
          <a:xfrm>
            <a:off x="682344" y="1520328"/>
            <a:ext cx="727824"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7" name="TextBox 6"/>
              <p:cNvSpPr txBox="1"/>
              <p:nvPr/>
            </p:nvSpPr>
            <p:spPr>
              <a:xfrm>
                <a:off x="772628" y="1862364"/>
                <a:ext cx="563488" cy="256480"/>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p>
                        <m:sSupPr>
                          <m:ctrlPr>
                            <a:rPr lang="en-US" sz="1600" b="0" i="1" smtClean="0">
                              <a:solidFill>
                                <a:schemeClr val="tx1"/>
                              </a:solidFill>
                              <a:latin typeface="Cambria Math" panose="02040503050406030204" pitchFamily="18" charset="0"/>
                            </a:rPr>
                          </m:ctrlPr>
                        </m:sSupPr>
                        <m:e>
                          <m:r>
                            <a:rPr lang="en-US" sz="1600" b="1" i="1" smtClean="0">
                              <a:solidFill>
                                <a:schemeClr val="tx1"/>
                              </a:solidFill>
                              <a:latin typeface="Cambria Math" panose="02040503050406030204" pitchFamily="18" charset="0"/>
                            </a:rPr>
                            <m:t>𝒉</m:t>
                          </m:r>
                        </m:e>
                        <m:sup>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𝑙</m:t>
                          </m:r>
                          <m:r>
                            <a:rPr lang="en-US" sz="1600" b="0" i="1" smtClean="0">
                              <a:solidFill>
                                <a:schemeClr val="tx1"/>
                              </a:solidFill>
                              <a:latin typeface="Cambria Math" panose="02040503050406030204" pitchFamily="18" charset="0"/>
                            </a:rPr>
                            <m:t>−1)</m:t>
                          </m:r>
                        </m:sup>
                      </m:sSup>
                    </m:oMath>
                  </m:oMathPara>
                </a14:m>
                <a:endParaRPr lang="en-IN" sz="1600" dirty="0">
                  <a:solidFill>
                    <a:schemeClr val="tx1"/>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72628" y="1862364"/>
                <a:ext cx="563488" cy="256480"/>
              </a:xfrm>
              <a:prstGeom prst="rect">
                <a:avLst/>
              </a:prstGeom>
              <a:blipFill rotWithShape="0">
                <a:blip r:embed="rId3"/>
                <a:stretch>
                  <a:fillRect l="-13043" t="-4762" r="-3261" b="-7143"/>
                </a:stretch>
              </a:blipFill>
            </p:spPr>
            <p:txBody>
              <a:bodyPr/>
              <a:lstStyle/>
              <a:p>
                <a:r>
                  <a:rPr lang="en-IN">
                    <a:noFill/>
                  </a:rPr>
                  <a:t> </a:t>
                </a:r>
              </a:p>
            </p:txBody>
          </p:sp>
        </mc:Fallback>
      </mc:AlternateContent>
      <p:cxnSp>
        <p:nvCxnSpPr>
          <p:cNvPr id="14" name="Straight Arrow Connector 13"/>
          <p:cNvCxnSpPr>
            <a:stCxn id="2" idx="3"/>
            <a:endCxn id="83" idx="1"/>
          </p:cNvCxnSpPr>
          <p:nvPr/>
        </p:nvCxnSpPr>
        <p:spPr>
          <a:xfrm>
            <a:off x="1410168" y="2021596"/>
            <a:ext cx="900620"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1421185" y="1744383"/>
                <a:ext cx="832536"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𝑾</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1" i="1" smtClean="0">
                              <a:latin typeface="Cambria Math" panose="02040503050406030204" pitchFamily="18" charset="0"/>
                            </a:rPr>
                            <m:t>𝒃</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m:t>
                          </m:r>
                        </m:sup>
                      </m:sSup>
                    </m:oMath>
                  </m:oMathPara>
                </a14:m>
                <a:endParaRPr lang="en-IN" sz="1600" dirty="0"/>
              </a:p>
            </p:txBody>
          </p:sp>
        </mc:Choice>
        <mc:Fallback xmlns="">
          <p:sp>
            <p:nvSpPr>
              <p:cNvPr id="16" name="TextBox 15"/>
              <p:cNvSpPr txBox="1">
                <a:spLocks noRot="1" noChangeAspect="1" noMove="1" noResize="1" noEditPoints="1" noAdjustHandles="1" noChangeArrowheads="1" noChangeShapeType="1" noTextEdit="1"/>
              </p:cNvSpPr>
              <p:nvPr/>
            </p:nvSpPr>
            <p:spPr>
              <a:xfrm>
                <a:off x="1421185" y="1744383"/>
                <a:ext cx="832536" cy="256480"/>
              </a:xfrm>
              <a:prstGeom prst="rect">
                <a:avLst/>
              </a:prstGeom>
              <a:blipFill rotWithShape="0">
                <a:blip r:embed="rId4"/>
                <a:stretch>
                  <a:fillRect l="-5109" t="-4762" r="-4380" b="-9524"/>
                </a:stretch>
              </a:blipFill>
            </p:spPr>
            <p:txBody>
              <a:bodyPr/>
              <a:lstStyle/>
              <a:p>
                <a:r>
                  <a:rPr lang="en-IN">
                    <a:noFill/>
                  </a:rPr>
                  <a:t> </a:t>
                </a:r>
              </a:p>
            </p:txBody>
          </p:sp>
        </mc:Fallback>
      </mc:AlternateContent>
      <p:sp>
        <p:nvSpPr>
          <p:cNvPr id="83" name="Rectangle 82"/>
          <p:cNvSpPr/>
          <p:nvPr/>
        </p:nvSpPr>
        <p:spPr>
          <a:xfrm>
            <a:off x="2310788" y="1520328"/>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19" name="TextBox 18"/>
              <p:cNvSpPr txBox="1"/>
              <p:nvPr/>
            </p:nvSpPr>
            <p:spPr>
              <a:xfrm>
                <a:off x="2323412" y="1905847"/>
                <a:ext cx="366319"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𝒂</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m:t>
                          </m:r>
                        </m:sup>
                      </m:sSup>
                    </m:oMath>
                  </m:oMathPara>
                </a14:m>
                <a:endParaRPr lang="en-IN" sz="1600" dirty="0"/>
              </a:p>
            </p:txBody>
          </p:sp>
        </mc:Choice>
        <mc:Fallback xmlns="">
          <p:sp>
            <p:nvSpPr>
              <p:cNvPr id="19" name="TextBox 18"/>
              <p:cNvSpPr txBox="1">
                <a:spLocks noRot="1" noChangeAspect="1" noMove="1" noResize="1" noEditPoints="1" noAdjustHandles="1" noChangeArrowheads="1" noChangeShapeType="1" noTextEdit="1"/>
              </p:cNvSpPr>
              <p:nvPr/>
            </p:nvSpPr>
            <p:spPr>
              <a:xfrm>
                <a:off x="2323412" y="1905847"/>
                <a:ext cx="366319" cy="256480"/>
              </a:xfrm>
              <a:prstGeom prst="rect">
                <a:avLst/>
              </a:prstGeom>
              <a:blipFill rotWithShape="0">
                <a:blip r:embed="rId5"/>
                <a:stretch>
                  <a:fillRect l="-6667" t="-4762" r="-10000"/>
                </a:stretch>
              </a:blipFill>
            </p:spPr>
            <p:txBody>
              <a:bodyPr/>
              <a:lstStyle/>
              <a:p>
                <a:r>
                  <a:rPr lang="en-IN">
                    <a:noFill/>
                  </a:rPr>
                  <a:t> </a:t>
                </a:r>
              </a:p>
            </p:txBody>
          </p:sp>
        </mc:Fallback>
      </mc:AlternateContent>
      <p:sp>
        <p:nvSpPr>
          <p:cNvPr id="85" name="Rectangle 84"/>
          <p:cNvSpPr/>
          <p:nvPr/>
        </p:nvSpPr>
        <p:spPr>
          <a:xfrm>
            <a:off x="3114872" y="1520328"/>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86" name="TextBox 85"/>
              <p:cNvSpPr txBox="1"/>
              <p:nvPr/>
            </p:nvSpPr>
            <p:spPr>
              <a:xfrm>
                <a:off x="3125889" y="1905847"/>
                <a:ext cx="367921"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𝒉</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m:t>
                          </m:r>
                        </m:sup>
                      </m:sSup>
                    </m:oMath>
                  </m:oMathPara>
                </a14:m>
                <a:endParaRPr lang="en-IN" sz="1600" dirty="0"/>
              </a:p>
            </p:txBody>
          </p:sp>
        </mc:Choice>
        <mc:Fallback xmlns="">
          <p:sp>
            <p:nvSpPr>
              <p:cNvPr id="86" name="TextBox 85"/>
              <p:cNvSpPr txBox="1">
                <a:spLocks noRot="1" noChangeAspect="1" noMove="1" noResize="1" noEditPoints="1" noAdjustHandles="1" noChangeArrowheads="1" noChangeShapeType="1" noTextEdit="1"/>
              </p:cNvSpPr>
              <p:nvPr/>
            </p:nvSpPr>
            <p:spPr>
              <a:xfrm>
                <a:off x="3125889" y="1905847"/>
                <a:ext cx="367921" cy="256480"/>
              </a:xfrm>
              <a:prstGeom prst="rect">
                <a:avLst/>
              </a:prstGeom>
              <a:blipFill rotWithShape="0">
                <a:blip r:embed="rId6"/>
                <a:stretch>
                  <a:fillRect l="-15000" t="-4762" r="-10000" b="-7143"/>
                </a:stretch>
              </a:blipFill>
            </p:spPr>
            <p:txBody>
              <a:bodyPr/>
              <a:lstStyle/>
              <a:p>
                <a:r>
                  <a:rPr lang="en-IN">
                    <a:noFill/>
                  </a:rPr>
                  <a:t> </a:t>
                </a:r>
              </a:p>
            </p:txBody>
          </p:sp>
        </mc:Fallback>
      </mc:AlternateContent>
      <p:cxnSp>
        <p:nvCxnSpPr>
          <p:cNvPr id="87" name="Straight Arrow Connector 86"/>
          <p:cNvCxnSpPr>
            <a:stCxn id="83" idx="3"/>
            <a:endCxn id="85" idx="1"/>
          </p:cNvCxnSpPr>
          <p:nvPr/>
        </p:nvCxnSpPr>
        <p:spPr>
          <a:xfrm>
            <a:off x="2696379" y="2021596"/>
            <a:ext cx="4184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p:cNvSpPr txBox="1"/>
              <p:nvPr/>
            </p:nvSpPr>
            <p:spPr>
              <a:xfrm>
                <a:off x="2705069" y="1744383"/>
                <a:ext cx="42082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𝑔</m:t>
                      </m:r>
                      <m:r>
                        <a:rPr lang="en-US" sz="1600" b="0" i="1" smtClean="0">
                          <a:latin typeface="Cambria Math" panose="02040503050406030204" pitchFamily="18" charset="0"/>
                        </a:rPr>
                        <m:t>(.)</m:t>
                      </m:r>
                    </m:oMath>
                  </m:oMathPara>
                </a14:m>
                <a:endParaRPr lang="en-IN" sz="1600" dirty="0"/>
              </a:p>
            </p:txBody>
          </p:sp>
        </mc:Choice>
        <mc:Fallback xmlns="">
          <p:sp>
            <p:nvSpPr>
              <p:cNvPr id="23" name="TextBox 22"/>
              <p:cNvSpPr txBox="1">
                <a:spLocks noRot="1" noChangeAspect="1" noMove="1" noResize="1" noEditPoints="1" noAdjustHandles="1" noChangeArrowheads="1" noChangeShapeType="1" noTextEdit="1"/>
              </p:cNvSpPr>
              <p:nvPr/>
            </p:nvSpPr>
            <p:spPr>
              <a:xfrm>
                <a:off x="2705069" y="1744383"/>
                <a:ext cx="420820" cy="246221"/>
              </a:xfrm>
              <a:prstGeom prst="rect">
                <a:avLst/>
              </a:prstGeom>
              <a:blipFill rotWithShape="0">
                <a:blip r:embed="rId7"/>
                <a:stretch>
                  <a:fillRect l="-11594" r="-15942" b="-31707"/>
                </a:stretch>
              </a:blipFill>
            </p:spPr>
            <p:txBody>
              <a:bodyPr/>
              <a:lstStyle/>
              <a:p>
                <a:r>
                  <a:rPr lang="en-IN">
                    <a:noFill/>
                  </a:rPr>
                  <a:t> </a:t>
                </a:r>
              </a:p>
            </p:txBody>
          </p:sp>
        </mc:Fallback>
      </mc:AlternateContent>
      <p:cxnSp>
        <p:nvCxnSpPr>
          <p:cNvPr id="91" name="Straight Arrow Connector 90"/>
          <p:cNvCxnSpPr>
            <a:stCxn id="85" idx="3"/>
            <a:endCxn id="93" idx="1"/>
          </p:cNvCxnSpPr>
          <p:nvPr/>
        </p:nvCxnSpPr>
        <p:spPr>
          <a:xfrm>
            <a:off x="3500463" y="2021596"/>
            <a:ext cx="1197069"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p:cNvSpPr txBox="1"/>
              <p:nvPr/>
            </p:nvSpPr>
            <p:spPr>
              <a:xfrm>
                <a:off x="3499453" y="1744383"/>
                <a:ext cx="1223668"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𝑾</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+1)</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1" i="1" smtClean="0">
                              <a:latin typeface="Cambria Math" panose="02040503050406030204" pitchFamily="18" charset="0"/>
                            </a:rPr>
                            <m:t>𝒃</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+1)</m:t>
                          </m:r>
                        </m:sup>
                      </m:sSup>
                    </m:oMath>
                  </m:oMathPara>
                </a14:m>
                <a:endParaRPr lang="en-IN" sz="1600" dirty="0"/>
              </a:p>
            </p:txBody>
          </p:sp>
        </mc:Choice>
        <mc:Fallback xmlns="">
          <p:sp>
            <p:nvSpPr>
              <p:cNvPr id="92" name="TextBox 91"/>
              <p:cNvSpPr txBox="1">
                <a:spLocks noRot="1" noChangeAspect="1" noMove="1" noResize="1" noEditPoints="1" noAdjustHandles="1" noChangeArrowheads="1" noChangeShapeType="1" noTextEdit="1"/>
              </p:cNvSpPr>
              <p:nvPr/>
            </p:nvSpPr>
            <p:spPr>
              <a:xfrm>
                <a:off x="3499453" y="1744383"/>
                <a:ext cx="1223668" cy="256480"/>
              </a:xfrm>
              <a:prstGeom prst="rect">
                <a:avLst/>
              </a:prstGeom>
              <a:blipFill rotWithShape="0">
                <a:blip r:embed="rId8"/>
                <a:stretch>
                  <a:fillRect l="-2985" t="-4762" r="-2488" b="-9524"/>
                </a:stretch>
              </a:blipFill>
            </p:spPr>
            <p:txBody>
              <a:bodyPr/>
              <a:lstStyle/>
              <a:p>
                <a:r>
                  <a:rPr lang="en-IN">
                    <a:noFill/>
                  </a:rPr>
                  <a:t> </a:t>
                </a:r>
              </a:p>
            </p:txBody>
          </p:sp>
        </mc:Fallback>
      </mc:AlternateContent>
      <p:sp>
        <p:nvSpPr>
          <p:cNvPr id="93" name="Rectangle 92"/>
          <p:cNvSpPr/>
          <p:nvPr/>
        </p:nvSpPr>
        <p:spPr>
          <a:xfrm>
            <a:off x="4697532" y="1520328"/>
            <a:ext cx="575917"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4" name="Rectangle 93"/>
          <p:cNvSpPr/>
          <p:nvPr/>
        </p:nvSpPr>
        <p:spPr>
          <a:xfrm>
            <a:off x="5699921" y="1525836"/>
            <a:ext cx="522919"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95" name="TextBox 94"/>
              <p:cNvSpPr txBox="1"/>
              <p:nvPr/>
            </p:nvSpPr>
            <p:spPr>
              <a:xfrm>
                <a:off x="5699921" y="1923847"/>
                <a:ext cx="563488"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𝒉</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+1)</m:t>
                          </m:r>
                        </m:sup>
                      </m:sSup>
                    </m:oMath>
                  </m:oMathPara>
                </a14:m>
                <a:endParaRPr lang="en-IN" sz="1600" dirty="0"/>
              </a:p>
            </p:txBody>
          </p:sp>
        </mc:Choice>
        <mc:Fallback xmlns="">
          <p:sp>
            <p:nvSpPr>
              <p:cNvPr id="95" name="TextBox 94"/>
              <p:cNvSpPr txBox="1">
                <a:spLocks noRot="1" noChangeAspect="1" noMove="1" noResize="1" noEditPoints="1" noAdjustHandles="1" noChangeArrowheads="1" noChangeShapeType="1" noTextEdit="1"/>
              </p:cNvSpPr>
              <p:nvPr/>
            </p:nvSpPr>
            <p:spPr>
              <a:xfrm>
                <a:off x="5699921" y="1923847"/>
                <a:ext cx="563488" cy="256480"/>
              </a:xfrm>
              <a:prstGeom prst="rect">
                <a:avLst/>
              </a:prstGeom>
              <a:blipFill rotWithShape="0">
                <a:blip r:embed="rId9"/>
                <a:stretch>
                  <a:fillRect l="-8696" t="-4762" r="-7609" b="-7143"/>
                </a:stretch>
              </a:blipFill>
            </p:spPr>
            <p:txBody>
              <a:bodyPr/>
              <a:lstStyle/>
              <a:p>
                <a:r>
                  <a:rPr lang="en-IN">
                    <a:noFill/>
                  </a:rPr>
                  <a:t> </a:t>
                </a:r>
              </a:p>
            </p:txBody>
          </p:sp>
        </mc:Fallback>
      </mc:AlternateContent>
      <p:cxnSp>
        <p:nvCxnSpPr>
          <p:cNvPr id="96" name="Straight Arrow Connector 95"/>
          <p:cNvCxnSpPr/>
          <p:nvPr/>
        </p:nvCxnSpPr>
        <p:spPr>
          <a:xfrm>
            <a:off x="5281428" y="2021596"/>
            <a:ext cx="4184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p:cNvSpPr txBox="1"/>
              <p:nvPr/>
            </p:nvSpPr>
            <p:spPr>
              <a:xfrm>
                <a:off x="5290118" y="1744383"/>
                <a:ext cx="42082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𝑔</m:t>
                      </m:r>
                      <m:r>
                        <a:rPr lang="en-US" sz="1600" b="0" i="1" smtClean="0">
                          <a:latin typeface="Cambria Math" panose="02040503050406030204" pitchFamily="18" charset="0"/>
                        </a:rPr>
                        <m:t>(.)</m:t>
                      </m:r>
                    </m:oMath>
                  </m:oMathPara>
                </a14:m>
                <a:endParaRPr lang="en-IN" sz="1600" dirty="0"/>
              </a:p>
            </p:txBody>
          </p:sp>
        </mc:Choice>
        <mc:Fallback xmlns="">
          <p:sp>
            <p:nvSpPr>
              <p:cNvPr id="97" name="TextBox 96"/>
              <p:cNvSpPr txBox="1">
                <a:spLocks noRot="1" noChangeAspect="1" noMove="1" noResize="1" noEditPoints="1" noAdjustHandles="1" noChangeArrowheads="1" noChangeShapeType="1" noTextEdit="1"/>
              </p:cNvSpPr>
              <p:nvPr/>
            </p:nvSpPr>
            <p:spPr>
              <a:xfrm>
                <a:off x="5290118" y="1744383"/>
                <a:ext cx="420820" cy="246221"/>
              </a:xfrm>
              <a:prstGeom prst="rect">
                <a:avLst/>
              </a:prstGeom>
              <a:blipFill rotWithShape="0">
                <a:blip r:embed="rId10"/>
                <a:stretch>
                  <a:fillRect l="-11594" r="-15942" b="-3170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2" name="TextBox 101"/>
              <p:cNvSpPr txBox="1"/>
              <p:nvPr/>
            </p:nvSpPr>
            <p:spPr>
              <a:xfrm>
                <a:off x="4711564" y="1905847"/>
                <a:ext cx="561885"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𝒂</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+1)</m:t>
                          </m:r>
                        </m:sup>
                      </m:sSup>
                    </m:oMath>
                  </m:oMathPara>
                </a14:m>
                <a:endParaRPr lang="en-IN" sz="1600" dirty="0"/>
              </a:p>
            </p:txBody>
          </p:sp>
        </mc:Choice>
        <mc:Fallback xmlns="">
          <p:sp>
            <p:nvSpPr>
              <p:cNvPr id="102" name="TextBox 101"/>
              <p:cNvSpPr txBox="1">
                <a:spLocks noRot="1" noChangeAspect="1" noMove="1" noResize="1" noEditPoints="1" noAdjustHandles="1" noChangeArrowheads="1" noChangeShapeType="1" noTextEdit="1"/>
              </p:cNvSpPr>
              <p:nvPr/>
            </p:nvSpPr>
            <p:spPr>
              <a:xfrm>
                <a:off x="4711564" y="1905847"/>
                <a:ext cx="561885" cy="256480"/>
              </a:xfrm>
              <a:prstGeom prst="rect">
                <a:avLst/>
              </a:prstGeom>
              <a:blipFill rotWithShape="0">
                <a:blip r:embed="rId11"/>
                <a:stretch>
                  <a:fillRect l="-5435" t="-4762" r="-5435"/>
                </a:stretch>
              </a:blipFill>
            </p:spPr>
            <p:txBody>
              <a:bodyPr/>
              <a:lstStyle/>
              <a:p>
                <a:r>
                  <a:rPr lang="en-IN">
                    <a:noFill/>
                  </a:rPr>
                  <a:t> </a:t>
                </a:r>
              </a:p>
            </p:txBody>
          </p:sp>
        </mc:Fallback>
      </mc:AlternateContent>
      <p:cxnSp>
        <p:nvCxnSpPr>
          <p:cNvPr id="103" name="Straight Arrow Connector 102"/>
          <p:cNvCxnSpPr/>
          <p:nvPr/>
        </p:nvCxnSpPr>
        <p:spPr>
          <a:xfrm>
            <a:off x="6239742" y="2021596"/>
            <a:ext cx="4184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endCxn id="106" idx="1"/>
          </p:cNvCxnSpPr>
          <p:nvPr/>
        </p:nvCxnSpPr>
        <p:spPr>
          <a:xfrm>
            <a:off x="7239865" y="2021596"/>
            <a:ext cx="8885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 name="TextBox 104"/>
              <p:cNvSpPr txBox="1"/>
              <p:nvPr/>
            </p:nvSpPr>
            <p:spPr>
              <a:xfrm>
                <a:off x="7238855" y="1744383"/>
                <a:ext cx="888064"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𝑾</m:t>
                          </m:r>
                        </m:e>
                        <m:sup>
                          <m:r>
                            <a:rPr lang="en-US" sz="1600" b="0" i="1" smtClean="0">
                              <a:latin typeface="Cambria Math" panose="02040503050406030204" pitchFamily="18" charset="0"/>
                            </a:rPr>
                            <m:t>(</m:t>
                          </m:r>
                          <m:r>
                            <a:rPr lang="en-US" sz="1600" b="0" i="1" smtClean="0">
                              <a:latin typeface="Cambria Math" panose="02040503050406030204" pitchFamily="18" charset="0"/>
                            </a:rPr>
                            <m:t>𝐿</m:t>
                          </m:r>
                          <m:r>
                            <a:rPr lang="en-US" sz="1600" b="0" i="1" smtClean="0">
                              <a:latin typeface="Cambria Math" panose="02040503050406030204" pitchFamily="18" charset="0"/>
                            </a:rPr>
                            <m:t>)</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1" i="1" smtClean="0">
                              <a:latin typeface="Cambria Math" panose="02040503050406030204" pitchFamily="18" charset="0"/>
                            </a:rPr>
                            <m:t>𝒃</m:t>
                          </m:r>
                        </m:e>
                        <m:sup>
                          <m:r>
                            <a:rPr lang="en-US" sz="1600" b="0" i="1" smtClean="0">
                              <a:latin typeface="Cambria Math" panose="02040503050406030204" pitchFamily="18" charset="0"/>
                            </a:rPr>
                            <m:t>(</m:t>
                          </m:r>
                          <m:r>
                            <a:rPr lang="en-US" sz="1600" b="0" i="1" smtClean="0">
                              <a:latin typeface="Cambria Math" panose="02040503050406030204" pitchFamily="18" charset="0"/>
                            </a:rPr>
                            <m:t>𝐿</m:t>
                          </m:r>
                          <m:r>
                            <a:rPr lang="en-US" sz="1600" b="0" i="1" smtClean="0">
                              <a:latin typeface="Cambria Math" panose="02040503050406030204" pitchFamily="18" charset="0"/>
                            </a:rPr>
                            <m:t>)</m:t>
                          </m:r>
                        </m:sup>
                      </m:sSup>
                    </m:oMath>
                  </m:oMathPara>
                </a14:m>
                <a:endParaRPr lang="en-IN" sz="1600" dirty="0"/>
              </a:p>
            </p:txBody>
          </p:sp>
        </mc:Choice>
        <mc:Fallback xmlns="">
          <p:sp>
            <p:nvSpPr>
              <p:cNvPr id="105" name="TextBox 104"/>
              <p:cNvSpPr txBox="1">
                <a:spLocks noRot="1" noChangeAspect="1" noMove="1" noResize="1" noEditPoints="1" noAdjustHandles="1" noChangeArrowheads="1" noChangeShapeType="1" noTextEdit="1"/>
              </p:cNvSpPr>
              <p:nvPr/>
            </p:nvSpPr>
            <p:spPr>
              <a:xfrm>
                <a:off x="7238855" y="1744383"/>
                <a:ext cx="888064" cy="256480"/>
              </a:xfrm>
              <a:prstGeom prst="rect">
                <a:avLst/>
              </a:prstGeom>
              <a:blipFill rotWithShape="0">
                <a:blip r:embed="rId12"/>
                <a:stretch>
                  <a:fillRect l="-4795" t="-4762" r="-4110" b="-9524"/>
                </a:stretch>
              </a:blipFill>
            </p:spPr>
            <p:txBody>
              <a:bodyPr/>
              <a:lstStyle/>
              <a:p>
                <a:r>
                  <a:rPr lang="en-IN">
                    <a:noFill/>
                  </a:rPr>
                  <a:t> </a:t>
                </a:r>
              </a:p>
            </p:txBody>
          </p:sp>
        </mc:Fallback>
      </mc:AlternateContent>
      <p:sp>
        <p:nvSpPr>
          <p:cNvPr id="106" name="Rectangle 105"/>
          <p:cNvSpPr/>
          <p:nvPr/>
        </p:nvSpPr>
        <p:spPr>
          <a:xfrm>
            <a:off x="8128458" y="1520328"/>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08" name="Straight Arrow Connector 107"/>
          <p:cNvCxnSpPr/>
          <p:nvPr/>
        </p:nvCxnSpPr>
        <p:spPr>
          <a:xfrm>
            <a:off x="8514049" y="2021596"/>
            <a:ext cx="486739" cy="5508"/>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p:cNvSpPr txBox="1"/>
              <p:nvPr/>
            </p:nvSpPr>
            <p:spPr>
              <a:xfrm>
                <a:off x="8566807" y="1744383"/>
                <a:ext cx="354777" cy="246221"/>
              </a:xfrm>
              <a:prstGeom prst="rect">
                <a:avLst/>
              </a:prstGeom>
              <a:noFill/>
            </p:spPr>
            <p:txBody>
              <a:bodyPr wrap="none" lIns="0" tIns="0" rIns="0" bIns="0" rtlCol="0">
                <a:spAutoFit/>
              </a:bodyPr>
              <a:lstStyle/>
              <a:p>
                <a:r>
                  <a:rPr lang="en-US" sz="1600" b="0" dirty="0"/>
                  <a:t>o</a:t>
                </a:r>
                <a14:m>
                  <m:oMath xmlns:m="http://schemas.openxmlformats.org/officeDocument/2006/math">
                    <m:r>
                      <a:rPr lang="en-US" sz="1600" b="0" i="1" smtClean="0">
                        <a:latin typeface="Cambria Math" panose="02040503050406030204" pitchFamily="18" charset="0"/>
                      </a:rPr>
                      <m:t>(.)</m:t>
                    </m:r>
                  </m:oMath>
                </a14:m>
                <a:endParaRPr lang="en-IN" sz="1600" dirty="0"/>
              </a:p>
            </p:txBody>
          </p:sp>
        </mc:Choice>
        <mc:Fallback xmlns="">
          <p:sp>
            <p:nvSpPr>
              <p:cNvPr id="109" name="TextBox 108"/>
              <p:cNvSpPr txBox="1">
                <a:spLocks noRot="1" noChangeAspect="1" noMove="1" noResize="1" noEditPoints="1" noAdjustHandles="1" noChangeArrowheads="1" noChangeShapeType="1" noTextEdit="1"/>
              </p:cNvSpPr>
              <p:nvPr/>
            </p:nvSpPr>
            <p:spPr>
              <a:xfrm>
                <a:off x="8566807" y="1744383"/>
                <a:ext cx="354777" cy="246221"/>
              </a:xfrm>
              <a:prstGeom prst="rect">
                <a:avLst/>
              </a:prstGeom>
              <a:blipFill rotWithShape="0">
                <a:blip r:embed="rId13"/>
                <a:stretch>
                  <a:fillRect l="-33898" t="-24390" r="-23729" b="-4878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0" name="TextBox 109"/>
              <p:cNvSpPr txBox="1"/>
              <p:nvPr/>
            </p:nvSpPr>
            <p:spPr>
              <a:xfrm>
                <a:off x="8142490" y="1905847"/>
                <a:ext cx="394082"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𝒂</m:t>
                          </m:r>
                        </m:e>
                        <m:sup>
                          <m:r>
                            <a:rPr lang="en-US" sz="1600" b="0" i="1" smtClean="0">
                              <a:latin typeface="Cambria Math" panose="02040503050406030204" pitchFamily="18" charset="0"/>
                            </a:rPr>
                            <m:t>(</m:t>
                          </m:r>
                          <m:r>
                            <a:rPr lang="en-US" sz="1600" b="0" i="1" smtClean="0">
                              <a:latin typeface="Cambria Math" panose="02040503050406030204" pitchFamily="18" charset="0"/>
                            </a:rPr>
                            <m:t>𝐿</m:t>
                          </m:r>
                          <m:r>
                            <a:rPr lang="en-US" sz="1600" b="0" i="1" smtClean="0">
                              <a:latin typeface="Cambria Math" panose="02040503050406030204" pitchFamily="18" charset="0"/>
                            </a:rPr>
                            <m:t>)</m:t>
                          </m:r>
                        </m:sup>
                      </m:sSup>
                    </m:oMath>
                  </m:oMathPara>
                </a14:m>
                <a:endParaRPr lang="en-IN" sz="1600" dirty="0"/>
              </a:p>
            </p:txBody>
          </p:sp>
        </mc:Choice>
        <mc:Fallback xmlns="">
          <p:sp>
            <p:nvSpPr>
              <p:cNvPr id="110" name="TextBox 109"/>
              <p:cNvSpPr txBox="1">
                <a:spLocks noRot="1" noChangeAspect="1" noMove="1" noResize="1" noEditPoints="1" noAdjustHandles="1" noChangeArrowheads="1" noChangeShapeType="1" noTextEdit="1"/>
              </p:cNvSpPr>
              <p:nvPr/>
            </p:nvSpPr>
            <p:spPr>
              <a:xfrm>
                <a:off x="8142490" y="1905847"/>
                <a:ext cx="394082" cy="256480"/>
              </a:xfrm>
              <a:prstGeom prst="rect">
                <a:avLst/>
              </a:prstGeom>
              <a:blipFill rotWithShape="0">
                <a:blip r:embed="rId14"/>
                <a:stretch>
                  <a:fillRect l="-7813" t="-4762" r="-93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1" name="TextBox 110"/>
              <p:cNvSpPr txBox="1"/>
              <p:nvPr/>
            </p:nvSpPr>
            <p:spPr>
              <a:xfrm>
                <a:off x="9006114" y="1877752"/>
                <a:ext cx="1044260" cy="24622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𝒚</m:t>
                      </m:r>
                      <m:r>
                        <a:rPr lang="en-US" sz="1600" b="1" i="1" smtClean="0">
                          <a:latin typeface="Cambria Math" panose="02040503050406030204" pitchFamily="18" charset="0"/>
                        </a:rPr>
                        <m:t>=</m:t>
                      </m:r>
                      <m:r>
                        <a:rPr lang="en-US" sz="1600" b="1" i="1" smtClean="0">
                          <a:latin typeface="Cambria Math" panose="02040503050406030204" pitchFamily="18" charset="0"/>
                        </a:rPr>
                        <m:t>𝒇</m:t>
                      </m:r>
                      <m:r>
                        <a:rPr lang="en-US" sz="1600" b="1" i="1" smtClean="0">
                          <a:latin typeface="Cambria Math" panose="02040503050406030204" pitchFamily="18" charset="0"/>
                        </a:rPr>
                        <m:t>(</m:t>
                      </m:r>
                      <m:r>
                        <a:rPr lang="en-US" sz="1600" b="1" i="1" smtClean="0">
                          <a:latin typeface="Cambria Math" panose="02040503050406030204" pitchFamily="18" charset="0"/>
                        </a:rPr>
                        <m:t>𝒙</m:t>
                      </m:r>
                      <m:r>
                        <a:rPr lang="en-US" sz="1600" b="1" i="1" smtClean="0">
                          <a:latin typeface="Cambria Math" panose="02040503050406030204" pitchFamily="18" charset="0"/>
                        </a:rPr>
                        <m:t>, </m:t>
                      </m:r>
                      <m:r>
                        <a:rPr lang="en-US" sz="1600" b="1" i="1" smtClean="0">
                          <a:latin typeface="Cambria Math" panose="02040503050406030204" pitchFamily="18" charset="0"/>
                        </a:rPr>
                        <m:t>𝜽</m:t>
                      </m:r>
                      <m:r>
                        <a:rPr lang="en-US" sz="1600" b="1" i="1" smtClean="0">
                          <a:latin typeface="Cambria Math" panose="02040503050406030204" pitchFamily="18" charset="0"/>
                        </a:rPr>
                        <m:t>)</m:t>
                      </m:r>
                    </m:oMath>
                  </m:oMathPara>
                </a14:m>
                <a:endParaRPr lang="en-US" sz="1600" b="1" i="1" dirty="0">
                  <a:latin typeface="Cambria Math" panose="02040503050406030204" pitchFamily="18" charset="0"/>
                </a:endParaRPr>
              </a:p>
            </p:txBody>
          </p:sp>
        </mc:Choice>
        <mc:Fallback xmlns="">
          <p:sp>
            <p:nvSpPr>
              <p:cNvPr id="111" name="TextBox 110"/>
              <p:cNvSpPr txBox="1">
                <a:spLocks noRot="1" noChangeAspect="1" noMove="1" noResize="1" noEditPoints="1" noAdjustHandles="1" noChangeArrowheads="1" noChangeShapeType="1" noTextEdit="1"/>
              </p:cNvSpPr>
              <p:nvPr/>
            </p:nvSpPr>
            <p:spPr>
              <a:xfrm>
                <a:off x="9006114" y="1877752"/>
                <a:ext cx="1044260" cy="246221"/>
              </a:xfrm>
              <a:prstGeom prst="rect">
                <a:avLst/>
              </a:prstGeom>
              <a:blipFill rotWithShape="0">
                <a:blip r:embed="rId15"/>
                <a:stretch>
                  <a:fillRect l="-6395" r="-4070" b="-37500"/>
                </a:stretch>
              </a:blipFill>
            </p:spPr>
            <p:txBody>
              <a:bodyPr/>
              <a:lstStyle/>
              <a:p>
                <a:r>
                  <a:rPr lang="en-IN">
                    <a:noFill/>
                  </a:rPr>
                  <a:t> </a:t>
                </a:r>
              </a:p>
            </p:txBody>
          </p:sp>
        </mc:Fallback>
      </mc:AlternateContent>
      <p:grpSp>
        <p:nvGrpSpPr>
          <p:cNvPr id="113" name="Group 112"/>
          <p:cNvGrpSpPr/>
          <p:nvPr/>
        </p:nvGrpSpPr>
        <p:grpSpPr>
          <a:xfrm rot="16200000">
            <a:off x="6953987" y="1863687"/>
            <a:ext cx="36000" cy="340800"/>
            <a:chOff x="2731586" y="4043627"/>
            <a:chExt cx="36000" cy="340800"/>
          </a:xfrm>
        </p:grpSpPr>
        <p:sp>
          <p:nvSpPr>
            <p:cNvPr id="114" name="Oval 113"/>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5" name="Oval 114"/>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5" name="Oval 154"/>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42" name="Straight Arrow Connector 41"/>
          <p:cNvCxnSpPr/>
          <p:nvPr/>
        </p:nvCxnSpPr>
        <p:spPr>
          <a:xfrm>
            <a:off x="10103001" y="2031600"/>
            <a:ext cx="486739" cy="5508"/>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p:cNvSpPr txBox="1"/>
              <p:nvPr/>
            </p:nvSpPr>
            <p:spPr>
              <a:xfrm>
                <a:off x="10573660" y="1887756"/>
                <a:ext cx="1131142" cy="24622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𝐽</m:t>
                      </m:r>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𝒇</m:t>
                          </m:r>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𝒙</m:t>
                              </m:r>
                              <m:r>
                                <a:rPr lang="en-US" sz="1600" b="1" i="1" smtClean="0">
                                  <a:latin typeface="Cambria Math" panose="02040503050406030204" pitchFamily="18" charset="0"/>
                                </a:rPr>
                                <m:t>, </m:t>
                              </m:r>
                              <m:r>
                                <a:rPr lang="en-US" sz="1600" b="1" i="1" smtClean="0">
                                  <a:latin typeface="Cambria Math" panose="02040503050406030204" pitchFamily="18" charset="0"/>
                                </a:rPr>
                                <m:t>𝜽</m:t>
                              </m:r>
                            </m:e>
                          </m:d>
                          <m:r>
                            <a:rPr lang="en-US" sz="1600" b="1" i="1" smtClean="0">
                              <a:latin typeface="Cambria Math" panose="02040503050406030204" pitchFamily="18" charset="0"/>
                            </a:rPr>
                            <m:t>,</m:t>
                          </m:r>
                          <m:r>
                            <a:rPr lang="en-US" sz="1600" b="1" i="1" smtClean="0">
                              <a:latin typeface="Cambria Math" panose="02040503050406030204" pitchFamily="18" charset="0"/>
                            </a:rPr>
                            <m:t>𝒄</m:t>
                          </m:r>
                          <m:r>
                            <a:rPr lang="en-US" sz="1600" b="1" i="1" smtClean="0">
                              <a:latin typeface="Cambria Math" panose="02040503050406030204" pitchFamily="18" charset="0"/>
                            </a:rPr>
                            <m:t> </m:t>
                          </m:r>
                        </m:e>
                      </m:d>
                    </m:oMath>
                  </m:oMathPara>
                </a14:m>
                <a:endParaRPr lang="en-US" sz="1600" b="1" i="1" dirty="0">
                  <a:latin typeface="Cambria Math" panose="02040503050406030204" pitchFamily="18" charset="0"/>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10573660" y="1887756"/>
                <a:ext cx="1131142" cy="246221"/>
              </a:xfrm>
              <a:prstGeom prst="rect">
                <a:avLst/>
              </a:prstGeom>
              <a:blipFill rotWithShape="0">
                <a:blip r:embed="rId16"/>
                <a:stretch>
                  <a:fillRect l="-8108" b="-35000"/>
                </a:stretch>
              </a:blipFill>
            </p:spPr>
            <p:txBody>
              <a:bodyPr/>
              <a:lstStyle/>
              <a:p>
                <a:r>
                  <a:rPr lang="en-IN">
                    <a:noFill/>
                  </a:rPr>
                  <a:t> </a:t>
                </a:r>
              </a:p>
            </p:txBody>
          </p:sp>
        </mc:Fallback>
      </mc:AlternateContent>
      <p:cxnSp>
        <p:nvCxnSpPr>
          <p:cNvPr id="52" name="Straight Arrow Connector 51"/>
          <p:cNvCxnSpPr/>
          <p:nvPr/>
        </p:nvCxnSpPr>
        <p:spPr>
          <a:xfrm>
            <a:off x="451581" y="2052087"/>
            <a:ext cx="222057"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53" name="Group 52"/>
          <p:cNvGrpSpPr/>
          <p:nvPr/>
        </p:nvGrpSpPr>
        <p:grpSpPr>
          <a:xfrm rot="16200000">
            <a:off x="280755" y="1950254"/>
            <a:ext cx="45719" cy="188400"/>
            <a:chOff x="2731586" y="4043627"/>
            <a:chExt cx="36000" cy="340800"/>
          </a:xfrm>
        </p:grpSpPr>
        <p:sp>
          <p:nvSpPr>
            <p:cNvPr id="54" name="Oval 53"/>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Oval 54"/>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61" name="TextBox 60"/>
              <p:cNvSpPr txBox="1"/>
              <p:nvPr/>
            </p:nvSpPr>
            <p:spPr>
              <a:xfrm>
                <a:off x="1970598" y="4001232"/>
                <a:ext cx="7458645" cy="6253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600" b="0" i="1" smtClean="0">
                              <a:latin typeface="Cambria Math" panose="02040503050406030204" pitchFamily="18" charset="0"/>
                            </a:rPr>
                          </m:ctrlPr>
                        </m:sSubSupPr>
                        <m:e>
                          <m:r>
                            <a:rPr lang="en-IN" sz="1600" b="1" i="1" smtClean="0">
                              <a:latin typeface="Cambria Math" panose="02040503050406030204" pitchFamily="18" charset="0"/>
                            </a:rPr>
                            <m:t>𝒂</m:t>
                          </m:r>
                        </m:e>
                        <m:sub>
                          <m:r>
                            <a:rPr lang="en-US" sz="1600" b="0" i="1" smtClean="0">
                              <a:latin typeface="Cambria Math" panose="02040503050406030204" pitchFamily="18" charset="0"/>
                            </a:rPr>
                            <m:t>𝑖</m:t>
                          </m:r>
                        </m:sub>
                        <m:sup>
                          <m:d>
                            <m:dPr>
                              <m:ctrlPr>
                                <a:rPr lang="en-IN" sz="1600" b="0" i="1" smtClean="0">
                                  <a:latin typeface="Cambria Math" panose="02040503050406030204" pitchFamily="18" charset="0"/>
                                </a:rPr>
                              </m:ctrlPr>
                            </m:dPr>
                            <m:e>
                              <m:r>
                                <a:rPr lang="en-US" sz="1600" b="0" i="1" smtClean="0">
                                  <a:latin typeface="Cambria Math" panose="02040503050406030204" pitchFamily="18" charset="0"/>
                                </a:rPr>
                                <m:t>𝑙</m:t>
                              </m:r>
                            </m:e>
                          </m:d>
                        </m:sup>
                      </m:sSubSup>
                      <m:r>
                        <a:rPr lang="en-US" sz="1600" b="0" i="1" smtClean="0">
                          <a:latin typeface="Cambria Math" panose="02040503050406030204" pitchFamily="18" charset="0"/>
                        </a:rPr>
                        <m:t>=</m:t>
                      </m:r>
                      <m:nary>
                        <m:naryPr>
                          <m:chr m:val="∑"/>
                          <m:supHide m:val="on"/>
                          <m:ctrlPr>
                            <a:rPr lang="en-US" sz="1600" b="0" i="1" smtClean="0">
                              <a:latin typeface="Cambria Math" panose="02040503050406030204" pitchFamily="18" charset="0"/>
                            </a:rPr>
                          </m:ctrlPr>
                        </m:naryPr>
                        <m:sub>
                          <m:r>
                            <m:rPr>
                              <m:brk m:alnAt="23"/>
                            </m:rPr>
                            <a:rPr lang="en-US" sz="1600" b="0" i="1" smtClean="0">
                              <a:latin typeface="Cambria Math" panose="02040503050406030204" pitchFamily="18" charset="0"/>
                            </a:rPr>
                            <m:t>𝑗</m:t>
                          </m:r>
                        </m:sub>
                        <m:sup/>
                        <m:e>
                          <m:sSubSup>
                            <m:sSubSupPr>
                              <m:ctrlPr>
                                <a:rPr lang="en-IN" sz="1600" i="1" smtClean="0">
                                  <a:latin typeface="Cambria Math" panose="02040503050406030204" pitchFamily="18" charset="0"/>
                                </a:rPr>
                              </m:ctrlPr>
                            </m:sSubSupPr>
                            <m:e>
                              <m:r>
                                <a:rPr lang="en-US" sz="1600" b="1" i="1" smtClean="0">
                                  <a:latin typeface="Cambria Math" panose="02040503050406030204" pitchFamily="18" charset="0"/>
                                </a:rPr>
                                <m:t>𝑾</m:t>
                              </m:r>
                            </m:e>
                            <m:sub>
                              <m:r>
                                <a:rPr lang="en-US" sz="1600" b="0" i="1" smtClean="0">
                                  <a:latin typeface="Cambria Math" panose="02040503050406030204" pitchFamily="18" charset="0"/>
                                </a:rPr>
                                <m:t>𝑖</m:t>
                              </m:r>
                              <m:r>
                                <a:rPr lang="en-US" sz="1600" i="1">
                                  <a:latin typeface="Cambria Math" panose="02040503050406030204" pitchFamily="18" charset="0"/>
                                </a:rPr>
                                <m:t>,</m:t>
                              </m:r>
                              <m:r>
                                <a:rPr lang="en-US" sz="1600" b="0" i="1" smtClean="0">
                                  <a:latin typeface="Cambria Math" panose="02040503050406030204" pitchFamily="18" charset="0"/>
                                </a:rPr>
                                <m:t>𝑗</m:t>
                              </m:r>
                            </m:sub>
                            <m:sup>
                              <m:r>
                                <a:rPr lang="en-US" sz="1600" i="1">
                                  <a:latin typeface="Cambria Math" panose="02040503050406030204" pitchFamily="18" charset="0"/>
                                </a:rPr>
                                <m:t>(</m:t>
                              </m:r>
                              <m:r>
                                <a:rPr lang="en-US" sz="1600" b="0" i="1" smtClean="0">
                                  <a:latin typeface="Cambria Math" panose="02040503050406030204" pitchFamily="18" charset="0"/>
                                </a:rPr>
                                <m:t>𝑙</m:t>
                              </m:r>
                              <m:r>
                                <a:rPr lang="en-US" sz="1600" i="1">
                                  <a:latin typeface="Cambria Math" panose="02040503050406030204" pitchFamily="18" charset="0"/>
                                </a:rPr>
                                <m:t>)</m:t>
                              </m:r>
                            </m:sup>
                          </m:sSubSup>
                          <m:r>
                            <m:rPr>
                              <m:nor/>
                            </m:rPr>
                            <a:rPr lang="en-IN" sz="1600" dirty="0"/>
                            <m:t> </m:t>
                          </m:r>
                          <m:sSubSup>
                            <m:sSubSupPr>
                              <m:ctrlPr>
                                <a:rPr lang="en-IN" sz="1600" i="1" dirty="0" smtClean="0">
                                  <a:latin typeface="Cambria Math" panose="02040503050406030204" pitchFamily="18" charset="0"/>
                                </a:rPr>
                              </m:ctrlPr>
                            </m:sSubSupPr>
                            <m:e>
                              <m:r>
                                <a:rPr lang="en-US" sz="1600" b="1" i="1" dirty="0" smtClean="0">
                                  <a:latin typeface="Cambria Math" panose="02040503050406030204" pitchFamily="18" charset="0"/>
                                </a:rPr>
                                <m:t>𝒉</m:t>
                              </m:r>
                            </m:e>
                            <m:sub>
                              <m:r>
                                <a:rPr lang="en-US" sz="1600" b="0" i="1" dirty="0" smtClean="0">
                                  <a:latin typeface="Cambria Math" panose="02040503050406030204" pitchFamily="18" charset="0"/>
                                </a:rPr>
                                <m:t>𝑗</m:t>
                              </m:r>
                            </m:sub>
                            <m:sup>
                              <m:r>
                                <a:rPr lang="en-US" sz="1600" b="0" i="1" dirty="0" smtClean="0">
                                  <a:latin typeface="Cambria Math" panose="02040503050406030204" pitchFamily="18" charset="0"/>
                                </a:rPr>
                                <m:t>(</m:t>
                              </m:r>
                              <m:r>
                                <a:rPr lang="en-US" sz="1600" b="0" i="1" dirty="0" smtClean="0">
                                  <a:latin typeface="Cambria Math" panose="02040503050406030204" pitchFamily="18" charset="0"/>
                                </a:rPr>
                                <m:t>𝑙</m:t>
                              </m:r>
                              <m:r>
                                <a:rPr lang="en-US" sz="1600" b="0" i="1" dirty="0" smtClean="0">
                                  <a:latin typeface="Cambria Math" panose="02040503050406030204" pitchFamily="18" charset="0"/>
                                </a:rPr>
                                <m:t>−1)</m:t>
                              </m:r>
                            </m:sup>
                          </m:sSubSup>
                        </m:e>
                      </m:nary>
                      <m:r>
                        <a:rPr lang="en-US" sz="1600" i="1">
                          <a:latin typeface="Cambria Math" panose="02040503050406030204" pitchFamily="18" charset="0"/>
                        </a:rPr>
                        <m:t>+</m:t>
                      </m:r>
                      <m:sSubSup>
                        <m:sSubSupPr>
                          <m:ctrlPr>
                            <a:rPr lang="en-US" sz="1600" i="1">
                              <a:solidFill>
                                <a:prstClr val="black"/>
                              </a:solidFill>
                              <a:latin typeface="Cambria Math" panose="02040503050406030204" pitchFamily="18" charset="0"/>
                            </a:rPr>
                          </m:ctrlPr>
                        </m:sSubSupPr>
                        <m:e>
                          <m:r>
                            <a:rPr lang="en-US" sz="1600" b="1" i="1">
                              <a:solidFill>
                                <a:prstClr val="black"/>
                              </a:solidFill>
                              <a:latin typeface="Cambria Math" panose="02040503050406030204" pitchFamily="18" charset="0"/>
                            </a:rPr>
                            <m:t>𝒃</m:t>
                          </m:r>
                        </m:e>
                        <m:sub>
                          <m:r>
                            <a:rPr lang="en-US" sz="1600" i="1">
                              <a:solidFill>
                                <a:prstClr val="black"/>
                              </a:solidFill>
                              <a:latin typeface="Cambria Math" panose="02040503050406030204" pitchFamily="18" charset="0"/>
                            </a:rPr>
                            <m:t>𝑖</m:t>
                          </m:r>
                        </m:sub>
                        <m:sup>
                          <m:r>
                            <a:rPr lang="en-US" sz="1600" i="1">
                              <a:solidFill>
                                <a:prstClr val="black"/>
                              </a:solidFill>
                              <a:latin typeface="Cambria Math" panose="02040503050406030204" pitchFamily="18" charset="0"/>
                            </a:rPr>
                            <m:t>(</m:t>
                          </m:r>
                          <m:r>
                            <a:rPr lang="en-US" sz="1600" i="1">
                              <a:solidFill>
                                <a:prstClr val="black"/>
                              </a:solidFill>
                              <a:latin typeface="Cambria Math" panose="02040503050406030204" pitchFamily="18" charset="0"/>
                            </a:rPr>
                            <m:t>𝑙</m:t>
                          </m:r>
                          <m:r>
                            <a:rPr lang="en-US" sz="1600" i="1">
                              <a:solidFill>
                                <a:prstClr val="black"/>
                              </a:solidFill>
                              <a:latin typeface="Cambria Math" panose="02040503050406030204" pitchFamily="18" charset="0"/>
                            </a:rPr>
                            <m:t>)</m:t>
                          </m:r>
                        </m:sup>
                      </m:sSubSup>
                      <m:r>
                        <a:rPr lang="en-US" sz="1600" b="0" i="1" smtClean="0">
                          <a:solidFill>
                            <a:prstClr val="black"/>
                          </a:solidFill>
                          <a:latin typeface="Cambria Math" panose="02040503050406030204" pitchFamily="18" charset="0"/>
                        </a:rPr>
                        <m:t>=</m:t>
                      </m:r>
                      <m:sSubSup>
                        <m:sSubSupPr>
                          <m:ctrlPr>
                            <a:rPr lang="en-IN" sz="1600" i="1">
                              <a:latin typeface="Cambria Math" panose="02040503050406030204" pitchFamily="18" charset="0"/>
                            </a:rPr>
                          </m:ctrlPr>
                        </m:sSubSupPr>
                        <m:e>
                          <m:r>
                            <a:rPr lang="en-US" sz="1600" b="1" i="1">
                              <a:latin typeface="Cambria Math" panose="02040503050406030204" pitchFamily="18" charset="0"/>
                            </a:rPr>
                            <m:t>𝑾</m:t>
                          </m:r>
                        </m:e>
                        <m:sub>
                          <m:r>
                            <a:rPr lang="en-US" sz="1600" i="1">
                              <a:latin typeface="Cambria Math" panose="02040503050406030204" pitchFamily="18" charset="0"/>
                            </a:rPr>
                            <m:t>𝑖</m:t>
                          </m:r>
                          <m:r>
                            <a:rPr lang="en-US" sz="1600" i="1">
                              <a:latin typeface="Cambria Math" panose="02040503050406030204" pitchFamily="18" charset="0"/>
                            </a:rPr>
                            <m:t>,1</m:t>
                          </m:r>
                        </m:sub>
                        <m:sup>
                          <m:r>
                            <a:rPr lang="en-US" sz="1600" i="1">
                              <a:latin typeface="Cambria Math" panose="02040503050406030204" pitchFamily="18" charset="0"/>
                            </a:rPr>
                            <m:t>(</m:t>
                          </m:r>
                          <m:r>
                            <a:rPr lang="en-US" sz="1600" i="1">
                              <a:latin typeface="Cambria Math" panose="02040503050406030204" pitchFamily="18" charset="0"/>
                            </a:rPr>
                            <m:t>𝑙</m:t>
                          </m:r>
                          <m:r>
                            <a:rPr lang="en-US" sz="1600" i="1">
                              <a:latin typeface="Cambria Math" panose="02040503050406030204" pitchFamily="18" charset="0"/>
                            </a:rPr>
                            <m:t>)</m:t>
                          </m:r>
                        </m:sup>
                      </m:sSubSup>
                      <m:r>
                        <m:rPr>
                          <m:nor/>
                        </m:rPr>
                        <a:rPr lang="en-IN" sz="1600" dirty="0"/>
                        <m:t> </m:t>
                      </m:r>
                      <m:sSubSup>
                        <m:sSubSupPr>
                          <m:ctrlPr>
                            <a:rPr lang="en-IN" sz="1600" i="1" dirty="0">
                              <a:latin typeface="Cambria Math" panose="02040503050406030204" pitchFamily="18" charset="0"/>
                            </a:rPr>
                          </m:ctrlPr>
                        </m:sSubSupPr>
                        <m:e>
                          <m:r>
                            <a:rPr lang="en-US" sz="1600" b="1" i="1" dirty="0">
                              <a:latin typeface="Cambria Math" panose="02040503050406030204" pitchFamily="18" charset="0"/>
                            </a:rPr>
                            <m:t>𝒉</m:t>
                          </m:r>
                        </m:e>
                        <m:sub>
                          <m:r>
                            <a:rPr lang="en-US" sz="1600" b="0" i="1" dirty="0" smtClean="0">
                              <a:latin typeface="Cambria Math" panose="02040503050406030204" pitchFamily="18" charset="0"/>
                            </a:rPr>
                            <m:t>1</m:t>
                          </m:r>
                        </m:sub>
                        <m:sup>
                          <m:r>
                            <a:rPr lang="en-US" sz="1600" i="1" dirty="0">
                              <a:latin typeface="Cambria Math" panose="02040503050406030204" pitchFamily="18" charset="0"/>
                            </a:rPr>
                            <m:t>(</m:t>
                          </m:r>
                          <m:r>
                            <a:rPr lang="en-US" sz="1600" i="1" dirty="0">
                              <a:latin typeface="Cambria Math" panose="02040503050406030204" pitchFamily="18" charset="0"/>
                            </a:rPr>
                            <m:t>𝑙</m:t>
                          </m:r>
                          <m:r>
                            <a:rPr lang="en-US" sz="1600" i="1" dirty="0">
                              <a:latin typeface="Cambria Math" panose="02040503050406030204" pitchFamily="18" charset="0"/>
                            </a:rPr>
                            <m:t>−1)</m:t>
                          </m:r>
                        </m:sup>
                      </m:sSubSup>
                      <m:r>
                        <a:rPr lang="en-US" sz="1600" b="0" i="1" dirty="0" smtClean="0">
                          <a:latin typeface="Cambria Math" panose="02040503050406030204" pitchFamily="18" charset="0"/>
                        </a:rPr>
                        <m:t>+</m:t>
                      </m:r>
                      <m:sSubSup>
                        <m:sSubSupPr>
                          <m:ctrlPr>
                            <a:rPr lang="en-IN" sz="1600" i="1">
                              <a:latin typeface="Cambria Math" panose="02040503050406030204" pitchFamily="18" charset="0"/>
                            </a:rPr>
                          </m:ctrlPr>
                        </m:sSubSupPr>
                        <m:e>
                          <m:r>
                            <a:rPr lang="en-US" sz="1600" b="1" i="1">
                              <a:latin typeface="Cambria Math" panose="02040503050406030204" pitchFamily="18" charset="0"/>
                            </a:rPr>
                            <m:t>𝑾</m:t>
                          </m:r>
                        </m:e>
                        <m:sub>
                          <m:r>
                            <a:rPr lang="en-US" sz="1600" i="1">
                              <a:latin typeface="Cambria Math" panose="02040503050406030204" pitchFamily="18" charset="0"/>
                            </a:rPr>
                            <m:t>𝑖</m:t>
                          </m:r>
                          <m:r>
                            <a:rPr lang="en-US" sz="1600" i="1">
                              <a:latin typeface="Cambria Math" panose="02040503050406030204" pitchFamily="18" charset="0"/>
                            </a:rPr>
                            <m:t>,2</m:t>
                          </m:r>
                        </m:sub>
                        <m:sup>
                          <m:r>
                            <a:rPr lang="en-US" sz="1600" i="1">
                              <a:latin typeface="Cambria Math" panose="02040503050406030204" pitchFamily="18" charset="0"/>
                            </a:rPr>
                            <m:t>(</m:t>
                          </m:r>
                          <m:r>
                            <a:rPr lang="en-US" sz="1600" i="1">
                              <a:latin typeface="Cambria Math" panose="02040503050406030204" pitchFamily="18" charset="0"/>
                            </a:rPr>
                            <m:t>𝑙</m:t>
                          </m:r>
                          <m:r>
                            <a:rPr lang="en-US" sz="1600" i="1">
                              <a:latin typeface="Cambria Math" panose="02040503050406030204" pitchFamily="18" charset="0"/>
                            </a:rPr>
                            <m:t>)</m:t>
                          </m:r>
                        </m:sup>
                      </m:sSubSup>
                      <m:r>
                        <m:rPr>
                          <m:nor/>
                        </m:rPr>
                        <a:rPr lang="en-IN" sz="1600" dirty="0"/>
                        <m:t> </m:t>
                      </m:r>
                      <m:sSubSup>
                        <m:sSubSupPr>
                          <m:ctrlPr>
                            <a:rPr lang="en-IN" sz="1600" i="1" dirty="0">
                              <a:latin typeface="Cambria Math" panose="02040503050406030204" pitchFamily="18" charset="0"/>
                            </a:rPr>
                          </m:ctrlPr>
                        </m:sSubSupPr>
                        <m:e>
                          <m:r>
                            <a:rPr lang="en-US" sz="1600" b="1" i="1" dirty="0">
                              <a:latin typeface="Cambria Math" panose="02040503050406030204" pitchFamily="18" charset="0"/>
                            </a:rPr>
                            <m:t>𝒉</m:t>
                          </m:r>
                        </m:e>
                        <m:sub>
                          <m:r>
                            <a:rPr lang="en-US" sz="1600" b="0" i="1" dirty="0" smtClean="0">
                              <a:latin typeface="Cambria Math" panose="02040503050406030204" pitchFamily="18" charset="0"/>
                            </a:rPr>
                            <m:t>2</m:t>
                          </m:r>
                        </m:sub>
                        <m:sup>
                          <m:r>
                            <a:rPr lang="en-US" sz="1600" i="1" dirty="0">
                              <a:latin typeface="Cambria Math" panose="02040503050406030204" pitchFamily="18" charset="0"/>
                            </a:rPr>
                            <m:t>(</m:t>
                          </m:r>
                          <m:r>
                            <a:rPr lang="en-US" sz="1600" i="1" dirty="0">
                              <a:latin typeface="Cambria Math" panose="02040503050406030204" pitchFamily="18" charset="0"/>
                            </a:rPr>
                            <m:t>𝑙</m:t>
                          </m:r>
                          <m:r>
                            <a:rPr lang="en-US" sz="1600" i="1" dirty="0">
                              <a:latin typeface="Cambria Math" panose="02040503050406030204" pitchFamily="18" charset="0"/>
                            </a:rPr>
                            <m:t>−1)</m:t>
                          </m:r>
                        </m:sup>
                      </m:sSubSup>
                      <m:r>
                        <a:rPr lang="en-US" sz="1600" b="0" i="1" dirty="0" smtClean="0">
                          <a:latin typeface="Cambria Math" panose="02040503050406030204" pitchFamily="18" charset="0"/>
                        </a:rPr>
                        <m:t>+…+</m:t>
                      </m:r>
                      <m:sSubSup>
                        <m:sSubSupPr>
                          <m:ctrlPr>
                            <a:rPr lang="en-IN" sz="1600" i="1">
                              <a:latin typeface="Cambria Math" panose="02040503050406030204" pitchFamily="18" charset="0"/>
                            </a:rPr>
                          </m:ctrlPr>
                        </m:sSubSupPr>
                        <m:e>
                          <m:r>
                            <a:rPr lang="en-US" sz="1600" b="1" i="1">
                              <a:latin typeface="Cambria Math" panose="02040503050406030204" pitchFamily="18" charset="0"/>
                            </a:rPr>
                            <m:t>𝑾</m:t>
                          </m:r>
                        </m:e>
                        <m:sub>
                          <m:r>
                            <a:rPr lang="en-US" sz="1600" i="1">
                              <a:latin typeface="Cambria Math" panose="02040503050406030204" pitchFamily="18" charset="0"/>
                            </a:rPr>
                            <m:t>𝑖</m:t>
                          </m:r>
                          <m:r>
                            <a:rPr lang="en-US" sz="1600" i="1">
                              <a:latin typeface="Cambria Math" panose="02040503050406030204" pitchFamily="18" charset="0"/>
                            </a:rPr>
                            <m:t>,</m:t>
                          </m:r>
                          <m:r>
                            <a:rPr lang="en-US" sz="1600" i="1">
                              <a:latin typeface="Cambria Math" panose="02040503050406030204" pitchFamily="18" charset="0"/>
                            </a:rPr>
                            <m:t>𝑗</m:t>
                          </m:r>
                        </m:sub>
                        <m:sup>
                          <m:d>
                            <m:dPr>
                              <m:ctrlPr>
                                <a:rPr lang="en-US" sz="1600" i="1">
                                  <a:latin typeface="Cambria Math" panose="02040503050406030204" pitchFamily="18" charset="0"/>
                                </a:rPr>
                              </m:ctrlPr>
                            </m:dPr>
                            <m:e>
                              <m:r>
                                <a:rPr lang="en-US" sz="1600" i="1">
                                  <a:latin typeface="Cambria Math" panose="02040503050406030204" pitchFamily="18" charset="0"/>
                                </a:rPr>
                                <m:t>𝑙</m:t>
                              </m:r>
                            </m:e>
                          </m:d>
                        </m:sup>
                      </m:sSubSup>
                      <m:r>
                        <m:rPr>
                          <m:nor/>
                        </m:rPr>
                        <a:rPr lang="en-IN" sz="1600" dirty="0"/>
                        <m:t> </m:t>
                      </m:r>
                      <m:sSubSup>
                        <m:sSubSupPr>
                          <m:ctrlPr>
                            <a:rPr lang="en-IN" sz="1600" i="1" dirty="0">
                              <a:latin typeface="Cambria Math" panose="02040503050406030204" pitchFamily="18" charset="0"/>
                            </a:rPr>
                          </m:ctrlPr>
                        </m:sSubSupPr>
                        <m:e>
                          <m:r>
                            <a:rPr lang="en-US" sz="1600" b="1" i="1" dirty="0">
                              <a:latin typeface="Cambria Math" panose="02040503050406030204" pitchFamily="18" charset="0"/>
                            </a:rPr>
                            <m:t>𝒉</m:t>
                          </m:r>
                        </m:e>
                        <m:sub>
                          <m:r>
                            <a:rPr lang="en-US" sz="1600" i="1" dirty="0">
                              <a:latin typeface="Cambria Math" panose="02040503050406030204" pitchFamily="18" charset="0"/>
                            </a:rPr>
                            <m:t>𝑗</m:t>
                          </m:r>
                        </m:sub>
                        <m:sup>
                          <m:d>
                            <m:dPr>
                              <m:ctrlPr>
                                <a:rPr lang="en-US" sz="1600" i="1" dirty="0">
                                  <a:latin typeface="Cambria Math" panose="02040503050406030204" pitchFamily="18" charset="0"/>
                                </a:rPr>
                              </m:ctrlPr>
                            </m:dPr>
                            <m:e>
                              <m:r>
                                <a:rPr lang="en-US" sz="1600" i="1" dirty="0">
                                  <a:latin typeface="Cambria Math" panose="02040503050406030204" pitchFamily="18" charset="0"/>
                                </a:rPr>
                                <m:t>𝑙</m:t>
                              </m:r>
                              <m:r>
                                <a:rPr lang="en-US" sz="1600" i="1" dirty="0">
                                  <a:latin typeface="Cambria Math" panose="02040503050406030204" pitchFamily="18" charset="0"/>
                                </a:rPr>
                                <m:t>−1</m:t>
                              </m:r>
                            </m:e>
                          </m:d>
                        </m:sup>
                      </m:sSubSup>
                      <m:r>
                        <a:rPr lang="en-US" sz="1600" b="0" i="1" dirty="0" smtClean="0">
                          <a:latin typeface="Cambria Math" panose="02040503050406030204" pitchFamily="18" charset="0"/>
                        </a:rPr>
                        <m:t>+…+</m:t>
                      </m:r>
                      <m:sSubSup>
                        <m:sSubSupPr>
                          <m:ctrlPr>
                            <a:rPr lang="en-US" sz="1600" i="1">
                              <a:solidFill>
                                <a:prstClr val="black"/>
                              </a:solidFill>
                              <a:latin typeface="Cambria Math" panose="02040503050406030204" pitchFamily="18" charset="0"/>
                            </a:rPr>
                          </m:ctrlPr>
                        </m:sSubSupPr>
                        <m:e>
                          <m:r>
                            <a:rPr lang="en-US" sz="1600" b="1" i="1">
                              <a:solidFill>
                                <a:prstClr val="black"/>
                              </a:solidFill>
                              <a:latin typeface="Cambria Math" panose="02040503050406030204" pitchFamily="18" charset="0"/>
                            </a:rPr>
                            <m:t>𝒃</m:t>
                          </m:r>
                        </m:e>
                        <m:sub>
                          <m:r>
                            <a:rPr lang="en-US" sz="1600" i="1">
                              <a:solidFill>
                                <a:prstClr val="black"/>
                              </a:solidFill>
                              <a:latin typeface="Cambria Math" panose="02040503050406030204" pitchFamily="18" charset="0"/>
                            </a:rPr>
                            <m:t>𝑖</m:t>
                          </m:r>
                        </m:sub>
                        <m:sup>
                          <m:r>
                            <a:rPr lang="en-US" sz="1600" i="1">
                              <a:solidFill>
                                <a:prstClr val="black"/>
                              </a:solidFill>
                              <a:latin typeface="Cambria Math" panose="02040503050406030204" pitchFamily="18" charset="0"/>
                            </a:rPr>
                            <m:t>(</m:t>
                          </m:r>
                          <m:r>
                            <a:rPr lang="en-US" sz="1600" i="1">
                              <a:solidFill>
                                <a:prstClr val="black"/>
                              </a:solidFill>
                              <a:latin typeface="Cambria Math" panose="02040503050406030204" pitchFamily="18" charset="0"/>
                            </a:rPr>
                            <m:t>𝑙</m:t>
                          </m:r>
                          <m:r>
                            <a:rPr lang="en-US" sz="1600" i="1">
                              <a:solidFill>
                                <a:prstClr val="black"/>
                              </a:solidFill>
                              <a:latin typeface="Cambria Math" panose="02040503050406030204" pitchFamily="18" charset="0"/>
                            </a:rPr>
                            <m:t>)</m:t>
                          </m:r>
                        </m:sup>
                      </m:sSubSup>
                    </m:oMath>
                  </m:oMathPara>
                </a14:m>
                <a:endParaRPr lang="en-IN" sz="1600" dirty="0"/>
              </a:p>
            </p:txBody>
          </p:sp>
        </mc:Choice>
        <mc:Fallback xmlns="">
          <p:sp>
            <p:nvSpPr>
              <p:cNvPr id="61" name="TextBox 60"/>
              <p:cNvSpPr txBox="1">
                <a:spLocks noRot="1" noChangeAspect="1" noMove="1" noResize="1" noEditPoints="1" noAdjustHandles="1" noChangeArrowheads="1" noChangeShapeType="1" noTextEdit="1"/>
              </p:cNvSpPr>
              <p:nvPr/>
            </p:nvSpPr>
            <p:spPr>
              <a:xfrm>
                <a:off x="1970598" y="4001232"/>
                <a:ext cx="7458645" cy="625364"/>
              </a:xfrm>
              <a:prstGeom prst="rect">
                <a:avLst/>
              </a:prstGeom>
              <a:blipFill rotWithShape="0">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Google Shape;100;p14"/>
              <p:cNvSpPr txBox="1"/>
              <p:nvPr/>
            </p:nvSpPr>
            <p:spPr>
              <a:xfrm>
                <a:off x="687670" y="2661113"/>
                <a:ext cx="10650890" cy="577795"/>
              </a:xfrm>
              <a:prstGeom prst="rect">
                <a:avLst/>
              </a:prstGeom>
              <a:noFill/>
              <a:ln>
                <a:noFill/>
              </a:ln>
            </p:spPr>
            <p:txBody>
              <a:bodyPr spcFirstLastPara="1" wrap="square" lIns="91425" tIns="91425" rIns="91425" bIns="91425" anchor="t" anchorCtr="0">
                <a:noAutofit/>
              </a:bodyPr>
              <a:lstStyle/>
              <a:p>
                <a:pPr lvl="0"/>
                <a14:m>
                  <m:oMath xmlns:m="http://schemas.openxmlformats.org/officeDocument/2006/math">
                    <m:sSubSup>
                      <m:sSubSupPr>
                        <m:ctrlPr>
                          <a:rPr lang="en-IN" i="1" smtClean="0">
                            <a:latin typeface="Cambria Math" panose="02040503050406030204" pitchFamily="18" charset="0"/>
                          </a:rPr>
                        </m:ctrlPr>
                      </m:sSubSupPr>
                      <m:e>
                        <m:r>
                          <a:rPr lang="en-IN" b="1" i="1" smtClean="0">
                            <a:latin typeface="Cambria Math" panose="02040503050406030204" pitchFamily="18" charset="0"/>
                          </a:rPr>
                          <m:t>𝑾</m:t>
                        </m:r>
                      </m:e>
                      <m:sub>
                        <m:r>
                          <a:rPr lang="en-IN" b="0" i="1" smtClean="0">
                            <a:latin typeface="Cambria Math" panose="02040503050406030204" pitchFamily="18" charset="0"/>
                          </a:rPr>
                          <m:t>𝑖</m:t>
                        </m:r>
                        <m:r>
                          <a:rPr lang="en-IN" b="0" i="1" smtClean="0">
                            <a:latin typeface="Cambria Math" panose="02040503050406030204" pitchFamily="18" charset="0"/>
                          </a:rPr>
                          <m:t>,</m:t>
                        </m:r>
                        <m:r>
                          <a:rPr lang="en-IN" b="0" i="1" smtClean="0">
                            <a:latin typeface="Cambria Math" panose="02040503050406030204" pitchFamily="18" charset="0"/>
                          </a:rPr>
                          <m:t>𝑗</m:t>
                        </m:r>
                      </m:sub>
                      <m:sup>
                        <m:r>
                          <a:rPr lang="en-IN" b="0" i="1" smtClean="0">
                            <a:latin typeface="Cambria Math" panose="02040503050406030204" pitchFamily="18" charset="0"/>
                          </a:rPr>
                          <m:t>(</m:t>
                        </m:r>
                        <m:r>
                          <a:rPr lang="en-IN" b="0" i="1" smtClean="0">
                            <a:latin typeface="Cambria Math" panose="02040503050406030204" pitchFamily="18" charset="0"/>
                          </a:rPr>
                          <m:t>𝑙</m:t>
                        </m:r>
                        <m:r>
                          <a:rPr lang="en-IN" b="0" i="1" smtClean="0">
                            <a:latin typeface="Cambria Math" panose="02040503050406030204" pitchFamily="18" charset="0"/>
                          </a:rPr>
                          <m:t>)</m:t>
                        </m:r>
                      </m:sup>
                    </m:sSubSup>
                  </m:oMath>
                </a14:m>
                <a:r>
                  <a:rPr lang="en-IN" dirty="0"/>
                  <a:t> influences </a:t>
                </a:r>
                <a14:m>
                  <m:oMath xmlns:m="http://schemas.openxmlformats.org/officeDocument/2006/math">
                    <m:r>
                      <a:rPr lang="en-IN" b="0" i="1" smtClean="0">
                        <a:latin typeface="Cambria Math" panose="02040503050406030204" pitchFamily="18" charset="0"/>
                      </a:rPr>
                      <m:t>𝐽</m:t>
                    </m:r>
                  </m:oMath>
                </a14:m>
                <a:r>
                  <a:rPr lang="en-IN" dirty="0"/>
                  <a:t> through </a:t>
                </a:r>
                <a14:m>
                  <m:oMath xmlns:m="http://schemas.openxmlformats.org/officeDocument/2006/math">
                    <m:sSubSup>
                      <m:sSubSupPr>
                        <m:ctrlPr>
                          <a:rPr lang="en-IN" i="1" smtClean="0">
                            <a:latin typeface="Cambria Math" panose="02040503050406030204" pitchFamily="18" charset="0"/>
                          </a:rPr>
                        </m:ctrlPr>
                      </m:sSubSupPr>
                      <m:e>
                        <m:r>
                          <a:rPr lang="en-IN" b="1" i="1" smtClean="0">
                            <a:latin typeface="Cambria Math" panose="02040503050406030204" pitchFamily="18" charset="0"/>
                          </a:rPr>
                          <m:t>𝒂</m:t>
                        </m:r>
                      </m:e>
                      <m:sub>
                        <m:r>
                          <a:rPr lang="en-IN" b="0" i="1" smtClean="0">
                            <a:latin typeface="Cambria Math" panose="02040503050406030204" pitchFamily="18" charset="0"/>
                          </a:rPr>
                          <m:t>𝑖</m:t>
                        </m:r>
                      </m:sub>
                      <m:sup>
                        <m:r>
                          <a:rPr lang="en-IN" b="0" i="1" smtClean="0">
                            <a:latin typeface="Cambria Math" panose="02040503050406030204" pitchFamily="18" charset="0"/>
                          </a:rPr>
                          <m:t>(</m:t>
                        </m:r>
                        <m:r>
                          <a:rPr lang="en-IN" b="0" i="1" smtClean="0">
                            <a:latin typeface="Cambria Math" panose="02040503050406030204" pitchFamily="18" charset="0"/>
                          </a:rPr>
                          <m:t>𝑙</m:t>
                        </m:r>
                        <m:r>
                          <a:rPr lang="en-IN" b="0" i="1" smtClean="0">
                            <a:latin typeface="Cambria Math" panose="02040503050406030204" pitchFamily="18" charset="0"/>
                          </a:rPr>
                          <m:t>)</m:t>
                        </m:r>
                      </m:sup>
                    </m:sSubSup>
                  </m:oMath>
                </a14:m>
                <a:r>
                  <a:rPr lang="en-IN" dirty="0"/>
                  <a:t>. That means </a:t>
                </a:r>
                <a14:m>
                  <m:oMath xmlns:m="http://schemas.openxmlformats.org/officeDocument/2006/math">
                    <m:r>
                      <a:rPr lang="en-IN" i="1">
                        <a:latin typeface="Cambria Math" panose="02040503050406030204" pitchFamily="18" charset="0"/>
                      </a:rPr>
                      <m:t>𝐽</m:t>
                    </m:r>
                  </m:oMath>
                </a14:m>
                <a:r>
                  <a:rPr lang="en-IN" dirty="0"/>
                  <a:t> is a function of </a:t>
                </a:r>
                <a14:m>
                  <m:oMath xmlns:m="http://schemas.openxmlformats.org/officeDocument/2006/math">
                    <m:sSubSup>
                      <m:sSubSupPr>
                        <m:ctrlPr>
                          <a:rPr lang="en-IN" i="1">
                            <a:latin typeface="Cambria Math" panose="02040503050406030204" pitchFamily="18" charset="0"/>
                          </a:rPr>
                        </m:ctrlPr>
                      </m:sSubSupPr>
                      <m:e>
                        <m:r>
                          <a:rPr lang="en-IN" b="1" i="1">
                            <a:latin typeface="Cambria Math" panose="02040503050406030204" pitchFamily="18" charset="0"/>
                          </a:rPr>
                          <m:t>𝒂</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oMath>
                </a14:m>
                <a:r>
                  <a:rPr lang="en-IN" dirty="0"/>
                  <a:t> and </a:t>
                </a:r>
                <a14:m>
                  <m:oMath xmlns:m="http://schemas.openxmlformats.org/officeDocument/2006/math">
                    <m:sSubSup>
                      <m:sSubSupPr>
                        <m:ctrlPr>
                          <a:rPr lang="en-IN" i="1">
                            <a:latin typeface="Cambria Math" panose="02040503050406030204" pitchFamily="18" charset="0"/>
                          </a:rPr>
                        </m:ctrlPr>
                      </m:sSubSupPr>
                      <m:e>
                        <m:r>
                          <a:rPr lang="en-IN" b="1" i="1">
                            <a:latin typeface="Cambria Math" panose="02040503050406030204" pitchFamily="18" charset="0"/>
                          </a:rPr>
                          <m:t>𝒂</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oMath>
                </a14:m>
                <a:r>
                  <a:rPr lang="en-IN" dirty="0"/>
                  <a:t>, in turn, is a function of</a:t>
                </a:r>
                <a14:m>
                  <m:oMath xmlns:m="http://schemas.openxmlformats.org/officeDocument/2006/math">
                    <m:r>
                      <a:rPr lang="en-IN" b="0" i="0" smtClean="0">
                        <a:latin typeface="Cambria Math" panose="02040503050406030204" pitchFamily="18" charset="0"/>
                      </a:rPr>
                      <m:t> </m:t>
                    </m:r>
                    <m:sSubSup>
                      <m:sSubSupPr>
                        <m:ctrlPr>
                          <a:rPr lang="en-IN" i="1">
                            <a:latin typeface="Cambria Math" panose="02040503050406030204" pitchFamily="18" charset="0"/>
                          </a:rPr>
                        </m:ctrlPr>
                      </m:sSubSupPr>
                      <m:e>
                        <m:r>
                          <a:rPr lang="en-IN" b="1" i="1">
                            <a:latin typeface="Cambria Math" panose="02040503050406030204" pitchFamily="18" charset="0"/>
                          </a:rPr>
                          <m:t>𝑾</m:t>
                        </m:r>
                      </m:e>
                      <m:sub>
                        <m:r>
                          <a:rPr lang="en-IN" i="1">
                            <a:latin typeface="Cambria Math" panose="02040503050406030204" pitchFamily="18" charset="0"/>
                          </a:rPr>
                          <m:t>𝑖</m:t>
                        </m:r>
                        <m:r>
                          <a:rPr lang="en-IN" i="1">
                            <a:latin typeface="Cambria Math" panose="02040503050406030204" pitchFamily="18" charset="0"/>
                          </a:rPr>
                          <m:t>,</m:t>
                        </m:r>
                        <m:r>
                          <a:rPr lang="en-IN" i="1">
                            <a:latin typeface="Cambria Math" panose="02040503050406030204" pitchFamily="18" charset="0"/>
                          </a:rPr>
                          <m:t>𝑗</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oMath>
                </a14:m>
                <a:endParaRPr dirty="0"/>
              </a:p>
            </p:txBody>
          </p:sp>
        </mc:Choice>
        <mc:Fallback xmlns="">
          <p:sp>
            <p:nvSpPr>
              <p:cNvPr id="49" name="Google Shape;100;p14"/>
              <p:cNvSpPr txBox="1">
                <a:spLocks noRot="1" noChangeAspect="1" noMove="1" noResize="1" noEditPoints="1" noAdjustHandles="1" noChangeArrowheads="1" noChangeShapeType="1" noTextEdit="1"/>
              </p:cNvSpPr>
              <p:nvPr/>
            </p:nvSpPr>
            <p:spPr>
              <a:xfrm>
                <a:off x="687670" y="2661113"/>
                <a:ext cx="10650890" cy="577795"/>
              </a:xfrm>
              <a:prstGeom prst="rect">
                <a:avLst/>
              </a:prstGeom>
              <a:blipFill rotWithShape="0">
                <a:blip r:embed="rId18"/>
                <a:stretch>
                  <a:fillRect/>
                </a:stretch>
              </a:blipFill>
              <a:ln>
                <a:noFill/>
              </a:ln>
            </p:spPr>
            <p:txBody>
              <a:bodyPr/>
              <a:lstStyle/>
              <a:p>
                <a:r>
                  <a:rPr lang="en-IN">
                    <a:noFill/>
                  </a:rPr>
                  <a:t> </a:t>
                </a:r>
              </a:p>
            </p:txBody>
          </p:sp>
        </mc:Fallback>
      </mc:AlternateContent>
      <p:sp>
        <p:nvSpPr>
          <p:cNvPr id="50" name="Rectangle 49"/>
          <p:cNvSpPr/>
          <p:nvPr/>
        </p:nvSpPr>
        <p:spPr>
          <a:xfrm>
            <a:off x="601854" y="1379797"/>
            <a:ext cx="2192662" cy="1281316"/>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51" name="Rectangle 50"/>
          <p:cNvSpPr/>
          <p:nvPr/>
        </p:nvSpPr>
        <p:spPr>
          <a:xfrm>
            <a:off x="10513724" y="1744382"/>
            <a:ext cx="1326871" cy="530187"/>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5" name="Rectangle 4"/>
              <p:cNvSpPr/>
              <p:nvPr/>
            </p:nvSpPr>
            <p:spPr>
              <a:xfrm>
                <a:off x="1915928" y="3145224"/>
                <a:ext cx="2224648" cy="8762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m:t>
                          </m:r>
                          <m:r>
                            <a:rPr lang="en-IN" i="1">
                              <a:latin typeface="Cambria Math" panose="02040503050406030204" pitchFamily="18" charset="0"/>
                            </a:rPr>
                            <m:t>𝐽</m:t>
                          </m:r>
                        </m:num>
                        <m:den>
                          <m:r>
                            <a:rPr lang="en-US" i="1">
                              <a:latin typeface="Cambria Math" panose="02040503050406030204" pitchFamily="18" charset="0"/>
                            </a:rPr>
                            <m:t>𝜕</m:t>
                          </m:r>
                          <m:sSubSup>
                            <m:sSubSupPr>
                              <m:ctrlPr>
                                <a:rPr lang="en-US" i="1">
                                  <a:latin typeface="Cambria Math" panose="02040503050406030204" pitchFamily="18" charset="0"/>
                                </a:rPr>
                              </m:ctrlPr>
                            </m:sSubSupPr>
                            <m:e>
                              <m:r>
                                <a:rPr lang="en-IN" b="1" i="1">
                                  <a:latin typeface="Cambria Math" panose="02040503050406030204" pitchFamily="18" charset="0"/>
                                </a:rPr>
                                <m:t>𝑾</m:t>
                              </m:r>
                            </m:e>
                            <m:sub>
                              <m:r>
                                <a:rPr lang="en-IN" i="1">
                                  <a:latin typeface="Cambria Math" panose="02040503050406030204" pitchFamily="18" charset="0"/>
                                </a:rPr>
                                <m:t>𝑖</m:t>
                              </m:r>
                              <m:r>
                                <a:rPr lang="en-IN" i="1">
                                  <a:latin typeface="Cambria Math" panose="02040503050406030204" pitchFamily="18" charset="0"/>
                                </a:rPr>
                                <m:t>,</m:t>
                              </m:r>
                              <m:r>
                                <a:rPr lang="en-IN" i="1">
                                  <a:latin typeface="Cambria Math" panose="02040503050406030204" pitchFamily="18" charset="0"/>
                                </a:rPr>
                                <m:t>𝑗</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m:t>
                          </m:r>
                          <m:r>
                            <a:rPr lang="en-IN" b="0" i="1" smtClean="0">
                              <a:latin typeface="Cambria Math" panose="02040503050406030204" pitchFamily="18" charset="0"/>
                            </a:rPr>
                            <m:t>𝐽</m:t>
                          </m:r>
                        </m:num>
                        <m:den>
                          <m:r>
                            <a:rPr lang="en-IN" b="0" i="1" smtClean="0">
                              <a:latin typeface="Cambria Math" panose="02040503050406030204" pitchFamily="18" charset="0"/>
                            </a:rPr>
                            <m:t>𝜕</m:t>
                          </m:r>
                          <m:sSubSup>
                            <m:sSubSupPr>
                              <m:ctrlPr>
                                <a:rPr lang="en-IN" i="1">
                                  <a:latin typeface="Cambria Math" panose="02040503050406030204" pitchFamily="18" charset="0"/>
                                </a:rPr>
                              </m:ctrlPr>
                            </m:sSubSupPr>
                            <m:e>
                              <m:r>
                                <a:rPr lang="en-IN" b="1" i="1">
                                  <a:latin typeface="Cambria Math" panose="02040503050406030204" pitchFamily="18" charset="0"/>
                                </a:rPr>
                                <m:t>𝒂</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den>
                      </m:f>
                      <m:f>
                        <m:fPr>
                          <m:ctrlPr>
                            <a:rPr lang="en-IN" b="0" i="1" smtClean="0">
                              <a:latin typeface="Cambria Math" panose="02040503050406030204" pitchFamily="18" charset="0"/>
                            </a:rPr>
                          </m:ctrlPr>
                        </m:fPr>
                        <m:num>
                          <m:r>
                            <a:rPr lang="en-IN" b="0" i="1" smtClean="0">
                              <a:latin typeface="Cambria Math" panose="02040503050406030204" pitchFamily="18" charset="0"/>
                            </a:rPr>
                            <m:t>𝜕</m:t>
                          </m:r>
                          <m:sSubSup>
                            <m:sSubSupPr>
                              <m:ctrlPr>
                                <a:rPr lang="en-IN" i="1">
                                  <a:latin typeface="Cambria Math" panose="02040503050406030204" pitchFamily="18" charset="0"/>
                                </a:rPr>
                              </m:ctrlPr>
                            </m:sSubSupPr>
                            <m:e>
                              <m:r>
                                <a:rPr lang="en-IN" b="1" i="1">
                                  <a:latin typeface="Cambria Math" panose="02040503050406030204" pitchFamily="18" charset="0"/>
                                </a:rPr>
                                <m:t>𝒂</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num>
                        <m:den>
                          <m:r>
                            <a:rPr lang="en-IN" b="0" i="1" smtClean="0">
                              <a:latin typeface="Cambria Math" panose="02040503050406030204" pitchFamily="18" charset="0"/>
                            </a:rPr>
                            <m:t>𝜕</m:t>
                          </m:r>
                          <m:sSubSup>
                            <m:sSubSupPr>
                              <m:ctrlPr>
                                <a:rPr lang="en-IN" i="1">
                                  <a:latin typeface="Cambria Math" panose="02040503050406030204" pitchFamily="18" charset="0"/>
                                </a:rPr>
                              </m:ctrlPr>
                            </m:sSubSupPr>
                            <m:e>
                              <m:r>
                                <a:rPr lang="en-IN" b="1" i="1">
                                  <a:latin typeface="Cambria Math" panose="02040503050406030204" pitchFamily="18" charset="0"/>
                                </a:rPr>
                                <m:t>𝑾</m:t>
                              </m:r>
                            </m:e>
                            <m:sub>
                              <m:r>
                                <a:rPr lang="en-IN" i="1">
                                  <a:latin typeface="Cambria Math" panose="02040503050406030204" pitchFamily="18" charset="0"/>
                                </a:rPr>
                                <m:t>𝑖</m:t>
                              </m:r>
                              <m:r>
                                <a:rPr lang="en-IN" i="1">
                                  <a:latin typeface="Cambria Math" panose="02040503050406030204" pitchFamily="18" charset="0"/>
                                </a:rPr>
                                <m:t>,</m:t>
                              </m:r>
                              <m:r>
                                <a:rPr lang="en-IN" i="1">
                                  <a:latin typeface="Cambria Math" panose="02040503050406030204" pitchFamily="18" charset="0"/>
                                </a:rPr>
                                <m:t>𝑗</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den>
                      </m:f>
                    </m:oMath>
                  </m:oMathPara>
                </a14:m>
                <a:endParaRPr lang="en-IN" dirty="0"/>
              </a:p>
            </p:txBody>
          </p:sp>
        </mc:Choice>
        <mc:Fallback xmlns="">
          <p:sp>
            <p:nvSpPr>
              <p:cNvPr id="5" name="Rectangle 4"/>
              <p:cNvSpPr>
                <a:spLocks noRot="1" noChangeAspect="1" noMove="1" noResize="1" noEditPoints="1" noAdjustHandles="1" noChangeArrowheads="1" noChangeShapeType="1" noTextEdit="1"/>
              </p:cNvSpPr>
              <p:nvPr/>
            </p:nvSpPr>
            <p:spPr>
              <a:xfrm>
                <a:off x="1915928" y="3145224"/>
                <a:ext cx="2224648" cy="876266"/>
              </a:xfrm>
              <a:prstGeom prst="rect">
                <a:avLst/>
              </a:prstGeom>
              <a:blipFill rotWithShape="0">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Rectangle 58"/>
              <p:cNvSpPr/>
              <p:nvPr/>
            </p:nvSpPr>
            <p:spPr>
              <a:xfrm>
                <a:off x="1829104" y="4615207"/>
                <a:ext cx="3901453" cy="8762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rPr>
                          </m:ctrlPr>
                        </m:fPr>
                        <m:num>
                          <m:r>
                            <a:rPr lang="en-US" i="1">
                              <a:latin typeface="Cambria Math" panose="02040503050406030204" pitchFamily="18" charset="0"/>
                            </a:rPr>
                            <m:t>𝜕</m:t>
                          </m:r>
                          <m:r>
                            <a:rPr lang="en-IN" i="1">
                              <a:latin typeface="Cambria Math" panose="02040503050406030204" pitchFamily="18" charset="0"/>
                            </a:rPr>
                            <m:t>𝐽</m:t>
                          </m:r>
                        </m:num>
                        <m:den>
                          <m:r>
                            <a:rPr lang="en-US" i="1">
                              <a:latin typeface="Cambria Math" panose="02040503050406030204" pitchFamily="18" charset="0"/>
                            </a:rPr>
                            <m:t>𝜕</m:t>
                          </m:r>
                          <m:sSubSup>
                            <m:sSubSupPr>
                              <m:ctrlPr>
                                <a:rPr lang="en-US" i="1">
                                  <a:latin typeface="Cambria Math" panose="02040503050406030204" pitchFamily="18" charset="0"/>
                                </a:rPr>
                              </m:ctrlPr>
                            </m:sSubSupPr>
                            <m:e>
                              <m:r>
                                <a:rPr lang="en-IN" b="1" i="1">
                                  <a:latin typeface="Cambria Math" panose="02040503050406030204" pitchFamily="18" charset="0"/>
                                </a:rPr>
                                <m:t>𝑾</m:t>
                              </m:r>
                            </m:e>
                            <m:sub>
                              <m:r>
                                <a:rPr lang="en-IN" i="1">
                                  <a:latin typeface="Cambria Math" panose="02040503050406030204" pitchFamily="18" charset="0"/>
                                </a:rPr>
                                <m:t>𝑖</m:t>
                              </m:r>
                              <m:r>
                                <a:rPr lang="en-IN" i="1">
                                  <a:latin typeface="Cambria Math" panose="02040503050406030204" pitchFamily="18" charset="0"/>
                                </a:rPr>
                                <m:t>,</m:t>
                              </m:r>
                              <m:r>
                                <a:rPr lang="en-IN" i="1">
                                  <a:latin typeface="Cambria Math" panose="02040503050406030204" pitchFamily="18" charset="0"/>
                                </a:rPr>
                                <m:t>𝑗</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m:t>
                          </m:r>
                          <m:r>
                            <a:rPr lang="en-IN" b="0" i="1" smtClean="0">
                              <a:latin typeface="Cambria Math" panose="02040503050406030204" pitchFamily="18" charset="0"/>
                            </a:rPr>
                            <m:t>𝐽</m:t>
                          </m:r>
                        </m:num>
                        <m:den>
                          <m:r>
                            <a:rPr lang="en-IN" b="0" i="1" smtClean="0">
                              <a:latin typeface="Cambria Math" panose="02040503050406030204" pitchFamily="18" charset="0"/>
                            </a:rPr>
                            <m:t>𝜕</m:t>
                          </m:r>
                          <m:sSubSup>
                            <m:sSubSupPr>
                              <m:ctrlPr>
                                <a:rPr lang="en-IN" i="1">
                                  <a:latin typeface="Cambria Math" panose="02040503050406030204" pitchFamily="18" charset="0"/>
                                </a:rPr>
                              </m:ctrlPr>
                            </m:sSubSupPr>
                            <m:e>
                              <m:r>
                                <a:rPr lang="en-IN" b="1" i="1">
                                  <a:latin typeface="Cambria Math" panose="02040503050406030204" pitchFamily="18" charset="0"/>
                                </a:rPr>
                                <m:t>𝒂</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den>
                      </m:f>
                      <m:f>
                        <m:fPr>
                          <m:ctrlPr>
                            <a:rPr lang="en-IN" b="0" i="1" smtClean="0">
                              <a:latin typeface="Cambria Math" panose="02040503050406030204" pitchFamily="18" charset="0"/>
                            </a:rPr>
                          </m:ctrlPr>
                        </m:fPr>
                        <m:num>
                          <m:r>
                            <a:rPr lang="en-IN" b="0" i="1" smtClean="0">
                              <a:latin typeface="Cambria Math" panose="02040503050406030204" pitchFamily="18" charset="0"/>
                            </a:rPr>
                            <m:t>𝜕</m:t>
                          </m:r>
                          <m:sSubSup>
                            <m:sSubSupPr>
                              <m:ctrlPr>
                                <a:rPr lang="en-IN" i="1">
                                  <a:latin typeface="Cambria Math" panose="02040503050406030204" pitchFamily="18" charset="0"/>
                                </a:rPr>
                              </m:ctrlPr>
                            </m:sSubSupPr>
                            <m:e>
                              <m:r>
                                <a:rPr lang="en-IN" b="1" i="1">
                                  <a:latin typeface="Cambria Math" panose="02040503050406030204" pitchFamily="18" charset="0"/>
                                </a:rPr>
                                <m:t>𝒂</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num>
                        <m:den>
                          <m:r>
                            <a:rPr lang="en-IN" b="0" i="1" smtClean="0">
                              <a:latin typeface="Cambria Math" panose="02040503050406030204" pitchFamily="18" charset="0"/>
                            </a:rPr>
                            <m:t>𝜕</m:t>
                          </m:r>
                          <m:sSubSup>
                            <m:sSubSupPr>
                              <m:ctrlPr>
                                <a:rPr lang="en-IN" i="1">
                                  <a:latin typeface="Cambria Math" panose="02040503050406030204" pitchFamily="18" charset="0"/>
                                </a:rPr>
                              </m:ctrlPr>
                            </m:sSubSupPr>
                            <m:e>
                              <m:r>
                                <a:rPr lang="en-IN" b="1" i="1">
                                  <a:latin typeface="Cambria Math" panose="02040503050406030204" pitchFamily="18" charset="0"/>
                                </a:rPr>
                                <m:t>𝑾</m:t>
                              </m:r>
                            </m:e>
                            <m:sub>
                              <m:r>
                                <a:rPr lang="en-IN" i="1">
                                  <a:latin typeface="Cambria Math" panose="02040503050406030204" pitchFamily="18" charset="0"/>
                                </a:rPr>
                                <m:t>𝑖</m:t>
                              </m:r>
                              <m:r>
                                <a:rPr lang="en-IN" i="1">
                                  <a:latin typeface="Cambria Math" panose="02040503050406030204" pitchFamily="18" charset="0"/>
                                </a:rPr>
                                <m:t>,</m:t>
                              </m:r>
                              <m:r>
                                <a:rPr lang="en-IN" i="1">
                                  <a:latin typeface="Cambria Math" panose="02040503050406030204" pitchFamily="18" charset="0"/>
                                </a:rPr>
                                <m:t>𝑗</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den>
                      </m:f>
                      <m:r>
                        <a:rPr lang="en-IN" b="0" i="1" smtClean="0">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m:t>
                          </m:r>
                          <m:r>
                            <a:rPr lang="en-IN" i="1">
                              <a:latin typeface="Cambria Math" panose="02040503050406030204" pitchFamily="18" charset="0"/>
                            </a:rPr>
                            <m:t>𝐽</m:t>
                          </m:r>
                        </m:num>
                        <m:den>
                          <m:r>
                            <a:rPr lang="en-IN" i="1">
                              <a:latin typeface="Cambria Math" panose="02040503050406030204" pitchFamily="18" charset="0"/>
                            </a:rPr>
                            <m:t>𝜕</m:t>
                          </m:r>
                          <m:sSubSup>
                            <m:sSubSupPr>
                              <m:ctrlPr>
                                <a:rPr lang="en-IN" i="1">
                                  <a:latin typeface="Cambria Math" panose="02040503050406030204" pitchFamily="18" charset="0"/>
                                </a:rPr>
                              </m:ctrlPr>
                            </m:sSubSupPr>
                            <m:e>
                              <m:r>
                                <a:rPr lang="en-IN" b="1" i="1">
                                  <a:latin typeface="Cambria Math" panose="02040503050406030204" pitchFamily="18" charset="0"/>
                                </a:rPr>
                                <m:t>𝒂</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den>
                      </m:f>
                      <m:sSubSup>
                        <m:sSubSupPr>
                          <m:ctrlPr>
                            <a:rPr lang="en-IN" i="1" dirty="0">
                              <a:latin typeface="Cambria Math" panose="02040503050406030204" pitchFamily="18" charset="0"/>
                            </a:rPr>
                          </m:ctrlPr>
                        </m:sSubSupPr>
                        <m:e>
                          <m:r>
                            <a:rPr lang="en-US" b="1" i="1" dirty="0">
                              <a:latin typeface="Cambria Math" panose="02040503050406030204" pitchFamily="18" charset="0"/>
                            </a:rPr>
                            <m:t>𝒉</m:t>
                          </m:r>
                        </m:e>
                        <m:sub>
                          <m:r>
                            <a:rPr lang="en-US" i="1" dirty="0">
                              <a:latin typeface="Cambria Math" panose="02040503050406030204" pitchFamily="18" charset="0"/>
                            </a:rPr>
                            <m:t>𝑗</m:t>
                          </m:r>
                        </m:sub>
                        <m:sup>
                          <m:d>
                            <m:dPr>
                              <m:ctrlPr>
                                <a:rPr lang="en-US" i="1" dirty="0">
                                  <a:latin typeface="Cambria Math" panose="02040503050406030204" pitchFamily="18" charset="0"/>
                                </a:rPr>
                              </m:ctrlPr>
                            </m:dPr>
                            <m:e>
                              <m:r>
                                <a:rPr lang="en-US" i="1" dirty="0">
                                  <a:latin typeface="Cambria Math" panose="02040503050406030204" pitchFamily="18" charset="0"/>
                                </a:rPr>
                                <m:t>𝑙</m:t>
                              </m:r>
                              <m:r>
                                <a:rPr lang="en-US" i="1" dirty="0">
                                  <a:latin typeface="Cambria Math" panose="02040503050406030204" pitchFamily="18" charset="0"/>
                                </a:rPr>
                                <m:t>−1</m:t>
                              </m:r>
                            </m:e>
                          </m:d>
                        </m:sup>
                      </m:sSubSup>
                    </m:oMath>
                  </m:oMathPara>
                </a14:m>
                <a:endParaRPr lang="en-IN" dirty="0"/>
              </a:p>
            </p:txBody>
          </p:sp>
        </mc:Choice>
        <mc:Fallback xmlns="">
          <p:sp>
            <p:nvSpPr>
              <p:cNvPr id="59" name="Rectangle 58"/>
              <p:cNvSpPr>
                <a:spLocks noRot="1" noChangeAspect="1" noMove="1" noResize="1" noEditPoints="1" noAdjustHandles="1" noChangeArrowheads="1" noChangeShapeType="1" noTextEdit="1"/>
              </p:cNvSpPr>
              <p:nvPr/>
            </p:nvSpPr>
            <p:spPr>
              <a:xfrm>
                <a:off x="1829104" y="4615207"/>
                <a:ext cx="3901453" cy="876266"/>
              </a:xfrm>
              <a:prstGeom prst="rect">
                <a:avLst/>
              </a:prstGeom>
              <a:blipFill rotWithShape="0">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Rectangle 62"/>
              <p:cNvSpPr/>
              <p:nvPr/>
            </p:nvSpPr>
            <p:spPr>
              <a:xfrm>
                <a:off x="1832397" y="5548865"/>
                <a:ext cx="3745192" cy="690254"/>
              </a:xfrm>
              <a:prstGeom prst="rect">
                <a:avLst/>
              </a:prstGeom>
            </p:spPr>
            <p:txBody>
              <a:bodyPr wrap="none">
                <a:spAutoFit/>
              </a:bodyPr>
              <a:lstStyle/>
              <a:p>
                <a:r>
                  <a:rPr lang="en-US" dirty="0">
                    <a:ea typeface="Cambria Math" panose="02040503050406030204" pitchFamily="18" charset="0"/>
                  </a:rPr>
                  <a:t>And similarly   </a:t>
                </a:r>
                <a14:m>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m:t>
                        </m:r>
                        <m:r>
                          <a:rPr lang="en-IN" i="1">
                            <a:latin typeface="Cambria Math" panose="02040503050406030204" pitchFamily="18" charset="0"/>
                          </a:rPr>
                          <m:t>𝐽</m:t>
                        </m:r>
                      </m:num>
                      <m:den>
                        <m:r>
                          <a:rPr lang="en-US" i="1">
                            <a:latin typeface="Cambria Math" panose="02040503050406030204" pitchFamily="18" charset="0"/>
                          </a:rPr>
                          <m:t>𝜕</m:t>
                        </m:r>
                        <m:sSubSup>
                          <m:sSubSupPr>
                            <m:ctrlPr>
                              <a:rPr lang="en-US" i="1">
                                <a:latin typeface="Cambria Math" panose="02040503050406030204" pitchFamily="18" charset="0"/>
                              </a:rPr>
                            </m:ctrlPr>
                          </m:sSubSupPr>
                          <m:e>
                            <m:r>
                              <a:rPr lang="en-IN" b="1" i="1" smtClean="0">
                                <a:latin typeface="Cambria Math" panose="02040503050406030204" pitchFamily="18" charset="0"/>
                              </a:rPr>
                              <m:t>𝒃</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m:t>
                        </m:r>
                        <m:r>
                          <a:rPr lang="en-IN" b="0" i="1" smtClean="0">
                            <a:latin typeface="Cambria Math" panose="02040503050406030204" pitchFamily="18" charset="0"/>
                          </a:rPr>
                          <m:t>𝐽</m:t>
                        </m:r>
                      </m:num>
                      <m:den>
                        <m:r>
                          <a:rPr lang="en-IN" b="0" i="1" smtClean="0">
                            <a:latin typeface="Cambria Math" panose="02040503050406030204" pitchFamily="18" charset="0"/>
                          </a:rPr>
                          <m:t>𝜕</m:t>
                        </m:r>
                        <m:sSubSup>
                          <m:sSubSupPr>
                            <m:ctrlPr>
                              <a:rPr lang="en-IN" i="1">
                                <a:latin typeface="Cambria Math" panose="02040503050406030204" pitchFamily="18" charset="0"/>
                              </a:rPr>
                            </m:ctrlPr>
                          </m:sSubSupPr>
                          <m:e>
                            <m:r>
                              <a:rPr lang="en-IN" b="1" i="1">
                                <a:latin typeface="Cambria Math" panose="02040503050406030204" pitchFamily="18" charset="0"/>
                              </a:rPr>
                              <m:t>𝒂</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den>
                    </m:f>
                    <m:f>
                      <m:fPr>
                        <m:ctrlPr>
                          <a:rPr lang="en-IN" b="0" i="1" smtClean="0">
                            <a:latin typeface="Cambria Math" panose="02040503050406030204" pitchFamily="18" charset="0"/>
                          </a:rPr>
                        </m:ctrlPr>
                      </m:fPr>
                      <m:num>
                        <m:r>
                          <a:rPr lang="en-IN" b="0" i="1" smtClean="0">
                            <a:latin typeface="Cambria Math" panose="02040503050406030204" pitchFamily="18" charset="0"/>
                          </a:rPr>
                          <m:t>𝜕</m:t>
                        </m:r>
                        <m:sSubSup>
                          <m:sSubSupPr>
                            <m:ctrlPr>
                              <a:rPr lang="en-IN" i="1">
                                <a:latin typeface="Cambria Math" panose="02040503050406030204" pitchFamily="18" charset="0"/>
                              </a:rPr>
                            </m:ctrlPr>
                          </m:sSubSupPr>
                          <m:e>
                            <m:r>
                              <a:rPr lang="en-IN" b="1" i="1">
                                <a:latin typeface="Cambria Math" panose="02040503050406030204" pitchFamily="18" charset="0"/>
                              </a:rPr>
                              <m:t>𝒂</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num>
                      <m:den>
                        <m:r>
                          <a:rPr lang="en-IN" b="0" i="1" smtClean="0">
                            <a:latin typeface="Cambria Math" panose="02040503050406030204" pitchFamily="18" charset="0"/>
                          </a:rPr>
                          <m:t>𝜕</m:t>
                        </m:r>
                        <m:sSubSup>
                          <m:sSubSupPr>
                            <m:ctrlPr>
                              <a:rPr lang="en-IN" i="1">
                                <a:latin typeface="Cambria Math" panose="02040503050406030204" pitchFamily="18" charset="0"/>
                              </a:rPr>
                            </m:ctrlPr>
                          </m:sSubSupPr>
                          <m:e>
                            <m:r>
                              <a:rPr lang="en-IN" b="1" i="1" smtClean="0">
                                <a:latin typeface="Cambria Math" panose="02040503050406030204" pitchFamily="18" charset="0"/>
                              </a:rPr>
                              <m:t>𝒃</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den>
                    </m:f>
                    <m:r>
                      <a:rPr lang="en-IN" b="0" i="1" smtClean="0">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m:t>
                        </m:r>
                        <m:r>
                          <a:rPr lang="en-IN" i="1">
                            <a:latin typeface="Cambria Math" panose="02040503050406030204" pitchFamily="18" charset="0"/>
                          </a:rPr>
                          <m:t>𝐽</m:t>
                        </m:r>
                      </m:num>
                      <m:den>
                        <m:r>
                          <a:rPr lang="en-IN" i="1">
                            <a:latin typeface="Cambria Math" panose="02040503050406030204" pitchFamily="18" charset="0"/>
                          </a:rPr>
                          <m:t>𝜕</m:t>
                        </m:r>
                        <m:sSubSup>
                          <m:sSubSupPr>
                            <m:ctrlPr>
                              <a:rPr lang="en-IN" i="1">
                                <a:latin typeface="Cambria Math" panose="02040503050406030204" pitchFamily="18" charset="0"/>
                              </a:rPr>
                            </m:ctrlPr>
                          </m:sSubSupPr>
                          <m:e>
                            <m:r>
                              <a:rPr lang="en-IN" b="1" i="1">
                                <a:latin typeface="Cambria Math" panose="02040503050406030204" pitchFamily="18" charset="0"/>
                              </a:rPr>
                              <m:t>𝒂</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den>
                    </m:f>
                  </m:oMath>
                </a14:m>
                <a:endParaRPr lang="en-IN" dirty="0"/>
              </a:p>
            </p:txBody>
          </p:sp>
        </mc:Choice>
        <mc:Fallback xmlns="">
          <p:sp>
            <p:nvSpPr>
              <p:cNvPr id="63" name="Rectangle 62"/>
              <p:cNvSpPr>
                <a:spLocks noRot="1" noChangeAspect="1" noMove="1" noResize="1" noEditPoints="1" noAdjustHandles="1" noChangeArrowheads="1" noChangeShapeType="1" noTextEdit="1"/>
              </p:cNvSpPr>
              <p:nvPr/>
            </p:nvSpPr>
            <p:spPr>
              <a:xfrm>
                <a:off x="1832397" y="5548865"/>
                <a:ext cx="3745192" cy="690254"/>
              </a:xfrm>
              <a:prstGeom prst="rect">
                <a:avLst/>
              </a:prstGeom>
              <a:blipFill rotWithShape="0">
                <a:blip r:embed="rId21"/>
                <a:stretch>
                  <a:fillRect l="-1466"/>
                </a:stretch>
              </a:blipFill>
            </p:spPr>
            <p:txBody>
              <a:bodyPr/>
              <a:lstStyle/>
              <a:p>
                <a:r>
                  <a:rPr lang="en-IN">
                    <a:noFill/>
                  </a:rPr>
                  <a:t> </a:t>
                </a:r>
              </a:p>
            </p:txBody>
          </p:sp>
        </mc:Fallback>
      </mc:AlternateContent>
      <p:sp>
        <p:nvSpPr>
          <p:cNvPr id="6" name="TextBox 5"/>
          <p:cNvSpPr txBox="1"/>
          <p:nvPr/>
        </p:nvSpPr>
        <p:spPr>
          <a:xfrm>
            <a:off x="6115722" y="4868674"/>
            <a:ext cx="654346" cy="369332"/>
          </a:xfrm>
          <a:prstGeom prst="rect">
            <a:avLst/>
          </a:prstGeom>
          <a:noFill/>
        </p:spPr>
        <p:txBody>
          <a:bodyPr wrap="none" rtlCol="0">
            <a:spAutoFit/>
          </a:bodyPr>
          <a:lstStyle/>
          <a:p>
            <a:r>
              <a:rPr lang="en-IN" dirty="0"/>
              <a:t>… (1)</a:t>
            </a:r>
          </a:p>
        </p:txBody>
      </p:sp>
      <p:sp>
        <p:nvSpPr>
          <p:cNvPr id="64" name="TextBox 63"/>
          <p:cNvSpPr txBox="1"/>
          <p:nvPr/>
        </p:nvSpPr>
        <p:spPr>
          <a:xfrm>
            <a:off x="6115722" y="5646802"/>
            <a:ext cx="654346" cy="369332"/>
          </a:xfrm>
          <a:prstGeom prst="rect">
            <a:avLst/>
          </a:prstGeom>
          <a:noFill/>
        </p:spPr>
        <p:txBody>
          <a:bodyPr wrap="none" rtlCol="0">
            <a:spAutoFit/>
          </a:bodyPr>
          <a:lstStyle/>
          <a:p>
            <a:r>
              <a:rPr lang="en-IN" dirty="0"/>
              <a:t>… (2)</a:t>
            </a:r>
          </a:p>
        </p:txBody>
      </p:sp>
      <mc:AlternateContent xmlns:mc="http://schemas.openxmlformats.org/markup-compatibility/2006" xmlns:a14="http://schemas.microsoft.com/office/drawing/2010/main">
        <mc:Choice Requires="a14">
          <p:sp>
            <p:nvSpPr>
              <p:cNvPr id="8" name="TextBox 7"/>
              <p:cNvSpPr txBox="1"/>
              <p:nvPr/>
            </p:nvSpPr>
            <p:spPr>
              <a:xfrm>
                <a:off x="7758810" y="5034903"/>
                <a:ext cx="3614746" cy="981231"/>
              </a:xfrm>
              <a:prstGeom prst="rect">
                <a:avLst/>
              </a:prstGeom>
              <a:noFill/>
            </p:spPr>
            <p:txBody>
              <a:bodyPr wrap="square" rtlCol="0">
                <a:spAutoFit/>
              </a:bodyPr>
              <a:lstStyle/>
              <a:p>
                <a:pPr algn="ctr"/>
                <a:r>
                  <a:rPr lang="en-IN" dirty="0"/>
                  <a:t>We know </a:t>
                </a:r>
                <a14:m>
                  <m:oMath xmlns:m="http://schemas.openxmlformats.org/officeDocument/2006/math">
                    <m:sSubSup>
                      <m:sSubSupPr>
                        <m:ctrlPr>
                          <a:rPr lang="en-IN" i="1" dirty="0">
                            <a:latin typeface="Cambria Math" panose="02040503050406030204" pitchFamily="18" charset="0"/>
                          </a:rPr>
                        </m:ctrlPr>
                      </m:sSubSupPr>
                      <m:e>
                        <m:r>
                          <a:rPr lang="en-US" b="1" i="1" dirty="0">
                            <a:latin typeface="Cambria Math" panose="02040503050406030204" pitchFamily="18" charset="0"/>
                          </a:rPr>
                          <m:t>𝒉</m:t>
                        </m:r>
                      </m:e>
                      <m:sub>
                        <m:r>
                          <a:rPr lang="en-US" i="1" dirty="0">
                            <a:latin typeface="Cambria Math" panose="02040503050406030204" pitchFamily="18" charset="0"/>
                          </a:rPr>
                          <m:t>𝑗</m:t>
                        </m:r>
                      </m:sub>
                      <m:sup>
                        <m:d>
                          <m:dPr>
                            <m:ctrlPr>
                              <a:rPr lang="en-US" i="1" dirty="0">
                                <a:latin typeface="Cambria Math" panose="02040503050406030204" pitchFamily="18" charset="0"/>
                              </a:rPr>
                            </m:ctrlPr>
                          </m:dPr>
                          <m:e>
                            <m:r>
                              <a:rPr lang="en-US" i="1" dirty="0">
                                <a:latin typeface="Cambria Math" panose="02040503050406030204" pitchFamily="18" charset="0"/>
                              </a:rPr>
                              <m:t>𝑙</m:t>
                            </m:r>
                            <m:r>
                              <a:rPr lang="en-US" i="1" dirty="0">
                                <a:latin typeface="Cambria Math" panose="02040503050406030204" pitchFamily="18" charset="0"/>
                              </a:rPr>
                              <m:t>−1</m:t>
                            </m:r>
                          </m:e>
                        </m:d>
                      </m:sup>
                    </m:sSubSup>
                  </m:oMath>
                </a14:m>
                <a:r>
                  <a:rPr lang="en-IN" dirty="0"/>
                  <a:t> from forward pass, so we need </a:t>
                </a:r>
                <a14:m>
                  <m:oMath xmlns:m="http://schemas.openxmlformats.org/officeDocument/2006/math">
                    <m:f>
                      <m:fPr>
                        <m:ctrlPr>
                          <a:rPr lang="en-IN" i="1">
                            <a:solidFill>
                              <a:prstClr val="black"/>
                            </a:solidFill>
                            <a:latin typeface="Cambria Math" panose="02040503050406030204" pitchFamily="18" charset="0"/>
                          </a:rPr>
                        </m:ctrlPr>
                      </m:fPr>
                      <m:num>
                        <m:r>
                          <a:rPr lang="en-IN" i="1">
                            <a:solidFill>
                              <a:prstClr val="black"/>
                            </a:solidFill>
                            <a:latin typeface="Cambria Math" panose="02040503050406030204" pitchFamily="18" charset="0"/>
                          </a:rPr>
                          <m:t>𝜕</m:t>
                        </m:r>
                        <m:r>
                          <a:rPr lang="en-IN" i="1">
                            <a:solidFill>
                              <a:prstClr val="black"/>
                            </a:solidFill>
                            <a:latin typeface="Cambria Math" panose="02040503050406030204" pitchFamily="18" charset="0"/>
                          </a:rPr>
                          <m:t>𝐽</m:t>
                        </m:r>
                      </m:num>
                      <m:den>
                        <m:r>
                          <a:rPr lang="en-IN" i="1">
                            <a:solidFill>
                              <a:prstClr val="black"/>
                            </a:solidFill>
                            <a:latin typeface="Cambria Math" panose="02040503050406030204" pitchFamily="18" charset="0"/>
                          </a:rPr>
                          <m:t>𝜕</m:t>
                        </m:r>
                        <m:sSubSup>
                          <m:sSubSupPr>
                            <m:ctrlPr>
                              <a:rPr lang="en-IN" i="1">
                                <a:solidFill>
                                  <a:prstClr val="black"/>
                                </a:solidFill>
                                <a:latin typeface="Cambria Math" panose="02040503050406030204" pitchFamily="18" charset="0"/>
                              </a:rPr>
                            </m:ctrlPr>
                          </m:sSubSupPr>
                          <m:e>
                            <m:r>
                              <a:rPr lang="en-IN" b="1" i="1">
                                <a:solidFill>
                                  <a:prstClr val="black"/>
                                </a:solidFill>
                                <a:latin typeface="Cambria Math" panose="02040503050406030204" pitchFamily="18" charset="0"/>
                              </a:rPr>
                              <m:t>𝒂</m:t>
                            </m:r>
                          </m:e>
                          <m:sub>
                            <m:r>
                              <a:rPr lang="en-IN" i="1">
                                <a:solidFill>
                                  <a:prstClr val="black"/>
                                </a:solidFill>
                                <a:latin typeface="Cambria Math" panose="02040503050406030204" pitchFamily="18" charset="0"/>
                              </a:rPr>
                              <m:t>𝑖</m:t>
                            </m:r>
                          </m:sub>
                          <m:sup>
                            <m:r>
                              <a:rPr lang="en-IN" i="1">
                                <a:solidFill>
                                  <a:prstClr val="black"/>
                                </a:solidFill>
                                <a:latin typeface="Cambria Math" panose="02040503050406030204" pitchFamily="18" charset="0"/>
                              </a:rPr>
                              <m:t>(</m:t>
                            </m:r>
                            <m:r>
                              <a:rPr lang="en-IN" i="1">
                                <a:solidFill>
                                  <a:prstClr val="black"/>
                                </a:solidFill>
                                <a:latin typeface="Cambria Math" panose="02040503050406030204" pitchFamily="18" charset="0"/>
                              </a:rPr>
                              <m:t>𝑙</m:t>
                            </m:r>
                            <m:r>
                              <a:rPr lang="en-IN" i="1">
                                <a:solidFill>
                                  <a:prstClr val="black"/>
                                </a:solidFill>
                                <a:latin typeface="Cambria Math" panose="02040503050406030204" pitchFamily="18" charset="0"/>
                              </a:rPr>
                              <m:t>)</m:t>
                            </m:r>
                          </m:sup>
                        </m:sSubSup>
                      </m:den>
                    </m:f>
                  </m:oMath>
                </a14:m>
                <a:endParaRPr lang="en-IN" dirty="0"/>
              </a:p>
            </p:txBody>
          </p:sp>
        </mc:Choice>
        <mc:Fallback xmlns="">
          <p:sp>
            <p:nvSpPr>
              <p:cNvPr id="8" name="TextBox 7"/>
              <p:cNvSpPr txBox="1">
                <a:spLocks noRot="1" noChangeAspect="1" noMove="1" noResize="1" noEditPoints="1" noAdjustHandles="1" noChangeArrowheads="1" noChangeShapeType="1" noTextEdit="1"/>
              </p:cNvSpPr>
              <p:nvPr/>
            </p:nvSpPr>
            <p:spPr>
              <a:xfrm>
                <a:off x="7758810" y="5034903"/>
                <a:ext cx="3614746" cy="981231"/>
              </a:xfrm>
              <a:prstGeom prst="rect">
                <a:avLst/>
              </a:prstGeom>
              <a:blipFill rotWithShape="0">
                <a:blip r:embed="rId22"/>
                <a:stretch>
                  <a:fillRect r="-843"/>
                </a:stretch>
              </a:blipFill>
            </p:spPr>
            <p:txBody>
              <a:bodyPr/>
              <a:lstStyle/>
              <a:p>
                <a:r>
                  <a:rPr lang="en-IN">
                    <a:noFill/>
                  </a:rPr>
                  <a:t> </a:t>
                </a:r>
              </a:p>
            </p:txBody>
          </p:sp>
        </mc:Fallback>
      </mc:AlternateContent>
    </p:spTree>
    <p:extLst>
      <p:ext uri="{BB962C8B-B14F-4D97-AF65-F5344CB8AC3E}">
        <p14:creationId xmlns:p14="http://schemas.microsoft.com/office/powerpoint/2010/main" val="2550136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59" grpId="0"/>
      <p:bldP spid="63" grpId="0"/>
      <p:bldP spid="6" grpId="0"/>
      <p:bldP spid="64" grpId="0"/>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1861073" y="832857"/>
            <a:ext cx="8509299"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err="1">
                <a:solidFill>
                  <a:srgbClr val="434343"/>
                </a:solidFill>
              </a:rPr>
              <a:t>Backpropagation</a:t>
            </a:r>
            <a:endParaRPr sz="2800" dirty="0">
              <a:solidFill>
                <a:srgbClr val="434343"/>
              </a:solidFill>
            </a:endParaRPr>
          </a:p>
        </p:txBody>
      </p:sp>
      <p:sp>
        <p:nvSpPr>
          <p:cNvPr id="3" name="Footer Placeholder 2"/>
          <p:cNvSpPr>
            <a:spLocks noGrp="1"/>
          </p:cNvSpPr>
          <p:nvPr>
            <p:ph type="ftr" sz="quarter" idx="3"/>
          </p:nvPr>
        </p:nvSpPr>
        <p:spPr>
          <a:xfrm>
            <a:off x="2199486" y="6356350"/>
            <a:ext cx="8167606" cy="365125"/>
          </a:xfrm>
        </p:spPr>
        <p:txBody>
          <a:bodyPr/>
          <a:lstStyle/>
          <a:p>
            <a:r>
              <a:rPr lang="en-US"/>
              <a:t>CS21206 / FAIML | Perceptron and MLP (c) Abir Das, Ayan Chaudhury</a:t>
            </a:r>
          </a:p>
        </p:txBody>
      </p:sp>
      <p:sp>
        <p:nvSpPr>
          <p:cNvPr id="21" name="Slide Number Placeholder 20"/>
          <p:cNvSpPr>
            <a:spLocks noGrp="1"/>
          </p:cNvSpPr>
          <p:nvPr>
            <p:ph type="sldNum" sz="quarter" idx="4"/>
          </p:nvPr>
        </p:nvSpPr>
        <p:spPr>
          <a:xfrm>
            <a:off x="10757133" y="6356350"/>
            <a:ext cx="783956" cy="365125"/>
          </a:xfrm>
        </p:spPr>
        <p:txBody>
          <a:bodyPr/>
          <a:lstStyle/>
          <a:p>
            <a:fld id="{683B8651-0143-4140-839E-3D36292080E8}" type="slidenum">
              <a:rPr lang="en-US" smtClean="0"/>
              <a:t>30</a:t>
            </a:fld>
            <a:endParaRPr lang="en-US"/>
          </a:p>
        </p:txBody>
      </p:sp>
      <p:sp>
        <p:nvSpPr>
          <p:cNvPr id="2" name="Rectangle 1"/>
          <p:cNvSpPr/>
          <p:nvPr/>
        </p:nvSpPr>
        <p:spPr>
          <a:xfrm>
            <a:off x="682344" y="1520328"/>
            <a:ext cx="727824"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7" name="TextBox 6"/>
              <p:cNvSpPr txBox="1"/>
              <p:nvPr/>
            </p:nvSpPr>
            <p:spPr>
              <a:xfrm>
                <a:off x="772628" y="1862364"/>
                <a:ext cx="563488" cy="256480"/>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p>
                        <m:sSupPr>
                          <m:ctrlPr>
                            <a:rPr lang="en-US" sz="1600" b="0" i="1" smtClean="0">
                              <a:solidFill>
                                <a:schemeClr val="tx1"/>
                              </a:solidFill>
                              <a:latin typeface="Cambria Math" panose="02040503050406030204" pitchFamily="18" charset="0"/>
                            </a:rPr>
                          </m:ctrlPr>
                        </m:sSupPr>
                        <m:e>
                          <m:r>
                            <a:rPr lang="en-US" sz="1600" b="1" i="1" smtClean="0">
                              <a:solidFill>
                                <a:schemeClr val="tx1"/>
                              </a:solidFill>
                              <a:latin typeface="Cambria Math" panose="02040503050406030204" pitchFamily="18" charset="0"/>
                            </a:rPr>
                            <m:t>𝒉</m:t>
                          </m:r>
                        </m:e>
                        <m:sup>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𝑙</m:t>
                          </m:r>
                          <m:r>
                            <a:rPr lang="en-US" sz="1600" b="0" i="1" smtClean="0">
                              <a:solidFill>
                                <a:schemeClr val="tx1"/>
                              </a:solidFill>
                              <a:latin typeface="Cambria Math" panose="02040503050406030204" pitchFamily="18" charset="0"/>
                            </a:rPr>
                            <m:t>−1)</m:t>
                          </m:r>
                        </m:sup>
                      </m:sSup>
                    </m:oMath>
                  </m:oMathPara>
                </a14:m>
                <a:endParaRPr lang="en-IN" sz="1600" dirty="0">
                  <a:solidFill>
                    <a:schemeClr val="tx1"/>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72628" y="1862364"/>
                <a:ext cx="563488" cy="256480"/>
              </a:xfrm>
              <a:prstGeom prst="rect">
                <a:avLst/>
              </a:prstGeom>
              <a:blipFill rotWithShape="0">
                <a:blip r:embed="rId3"/>
                <a:stretch>
                  <a:fillRect l="-13043" t="-4762" r="-3261" b="-7143"/>
                </a:stretch>
              </a:blipFill>
            </p:spPr>
            <p:txBody>
              <a:bodyPr/>
              <a:lstStyle/>
              <a:p>
                <a:r>
                  <a:rPr lang="en-IN">
                    <a:noFill/>
                  </a:rPr>
                  <a:t> </a:t>
                </a:r>
              </a:p>
            </p:txBody>
          </p:sp>
        </mc:Fallback>
      </mc:AlternateContent>
      <p:cxnSp>
        <p:nvCxnSpPr>
          <p:cNvPr id="14" name="Straight Arrow Connector 13"/>
          <p:cNvCxnSpPr>
            <a:stCxn id="2" idx="3"/>
            <a:endCxn id="83" idx="1"/>
          </p:cNvCxnSpPr>
          <p:nvPr/>
        </p:nvCxnSpPr>
        <p:spPr>
          <a:xfrm>
            <a:off x="1410168" y="2021596"/>
            <a:ext cx="900620"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1421185" y="1744383"/>
                <a:ext cx="832536"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𝑾</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1" i="1" smtClean="0">
                              <a:latin typeface="Cambria Math" panose="02040503050406030204" pitchFamily="18" charset="0"/>
                            </a:rPr>
                            <m:t>𝒃</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m:t>
                          </m:r>
                        </m:sup>
                      </m:sSup>
                    </m:oMath>
                  </m:oMathPara>
                </a14:m>
                <a:endParaRPr lang="en-IN" sz="1600" dirty="0"/>
              </a:p>
            </p:txBody>
          </p:sp>
        </mc:Choice>
        <mc:Fallback xmlns="">
          <p:sp>
            <p:nvSpPr>
              <p:cNvPr id="16" name="TextBox 15"/>
              <p:cNvSpPr txBox="1">
                <a:spLocks noRot="1" noChangeAspect="1" noMove="1" noResize="1" noEditPoints="1" noAdjustHandles="1" noChangeArrowheads="1" noChangeShapeType="1" noTextEdit="1"/>
              </p:cNvSpPr>
              <p:nvPr/>
            </p:nvSpPr>
            <p:spPr>
              <a:xfrm>
                <a:off x="1421185" y="1744383"/>
                <a:ext cx="832536" cy="256480"/>
              </a:xfrm>
              <a:prstGeom prst="rect">
                <a:avLst/>
              </a:prstGeom>
              <a:blipFill rotWithShape="0">
                <a:blip r:embed="rId4"/>
                <a:stretch>
                  <a:fillRect l="-5109" t="-4762" r="-4380" b="-9524"/>
                </a:stretch>
              </a:blipFill>
            </p:spPr>
            <p:txBody>
              <a:bodyPr/>
              <a:lstStyle/>
              <a:p>
                <a:r>
                  <a:rPr lang="en-IN">
                    <a:noFill/>
                  </a:rPr>
                  <a:t> </a:t>
                </a:r>
              </a:p>
            </p:txBody>
          </p:sp>
        </mc:Fallback>
      </mc:AlternateContent>
      <p:sp>
        <p:nvSpPr>
          <p:cNvPr id="83" name="Rectangle 82"/>
          <p:cNvSpPr/>
          <p:nvPr/>
        </p:nvSpPr>
        <p:spPr>
          <a:xfrm>
            <a:off x="2310788" y="1520328"/>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19" name="TextBox 18"/>
              <p:cNvSpPr txBox="1"/>
              <p:nvPr/>
            </p:nvSpPr>
            <p:spPr>
              <a:xfrm>
                <a:off x="2323412" y="1905847"/>
                <a:ext cx="366319"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𝒂</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m:t>
                          </m:r>
                        </m:sup>
                      </m:sSup>
                    </m:oMath>
                  </m:oMathPara>
                </a14:m>
                <a:endParaRPr lang="en-IN" sz="1600" dirty="0"/>
              </a:p>
            </p:txBody>
          </p:sp>
        </mc:Choice>
        <mc:Fallback xmlns="">
          <p:sp>
            <p:nvSpPr>
              <p:cNvPr id="19" name="TextBox 18"/>
              <p:cNvSpPr txBox="1">
                <a:spLocks noRot="1" noChangeAspect="1" noMove="1" noResize="1" noEditPoints="1" noAdjustHandles="1" noChangeArrowheads="1" noChangeShapeType="1" noTextEdit="1"/>
              </p:cNvSpPr>
              <p:nvPr/>
            </p:nvSpPr>
            <p:spPr>
              <a:xfrm>
                <a:off x="2323412" y="1905847"/>
                <a:ext cx="366319" cy="256480"/>
              </a:xfrm>
              <a:prstGeom prst="rect">
                <a:avLst/>
              </a:prstGeom>
              <a:blipFill rotWithShape="0">
                <a:blip r:embed="rId5"/>
                <a:stretch>
                  <a:fillRect l="-6667" t="-4762" r="-10000"/>
                </a:stretch>
              </a:blipFill>
            </p:spPr>
            <p:txBody>
              <a:bodyPr/>
              <a:lstStyle/>
              <a:p>
                <a:r>
                  <a:rPr lang="en-IN">
                    <a:noFill/>
                  </a:rPr>
                  <a:t> </a:t>
                </a:r>
              </a:p>
            </p:txBody>
          </p:sp>
        </mc:Fallback>
      </mc:AlternateContent>
      <p:sp>
        <p:nvSpPr>
          <p:cNvPr id="85" name="Rectangle 84"/>
          <p:cNvSpPr/>
          <p:nvPr/>
        </p:nvSpPr>
        <p:spPr>
          <a:xfrm>
            <a:off x="3114872" y="1520328"/>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86" name="TextBox 85"/>
              <p:cNvSpPr txBox="1"/>
              <p:nvPr/>
            </p:nvSpPr>
            <p:spPr>
              <a:xfrm>
                <a:off x="3125889" y="1905847"/>
                <a:ext cx="367921"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𝒉</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m:t>
                          </m:r>
                        </m:sup>
                      </m:sSup>
                    </m:oMath>
                  </m:oMathPara>
                </a14:m>
                <a:endParaRPr lang="en-IN" sz="1600" dirty="0"/>
              </a:p>
            </p:txBody>
          </p:sp>
        </mc:Choice>
        <mc:Fallback xmlns="">
          <p:sp>
            <p:nvSpPr>
              <p:cNvPr id="86" name="TextBox 85"/>
              <p:cNvSpPr txBox="1">
                <a:spLocks noRot="1" noChangeAspect="1" noMove="1" noResize="1" noEditPoints="1" noAdjustHandles="1" noChangeArrowheads="1" noChangeShapeType="1" noTextEdit="1"/>
              </p:cNvSpPr>
              <p:nvPr/>
            </p:nvSpPr>
            <p:spPr>
              <a:xfrm>
                <a:off x="3125889" y="1905847"/>
                <a:ext cx="367921" cy="256480"/>
              </a:xfrm>
              <a:prstGeom prst="rect">
                <a:avLst/>
              </a:prstGeom>
              <a:blipFill rotWithShape="0">
                <a:blip r:embed="rId6"/>
                <a:stretch>
                  <a:fillRect l="-15000" t="-4762" r="-10000" b="-7143"/>
                </a:stretch>
              </a:blipFill>
            </p:spPr>
            <p:txBody>
              <a:bodyPr/>
              <a:lstStyle/>
              <a:p>
                <a:r>
                  <a:rPr lang="en-IN">
                    <a:noFill/>
                  </a:rPr>
                  <a:t> </a:t>
                </a:r>
              </a:p>
            </p:txBody>
          </p:sp>
        </mc:Fallback>
      </mc:AlternateContent>
      <p:cxnSp>
        <p:nvCxnSpPr>
          <p:cNvPr id="87" name="Straight Arrow Connector 86"/>
          <p:cNvCxnSpPr>
            <a:stCxn id="83" idx="3"/>
            <a:endCxn id="85" idx="1"/>
          </p:cNvCxnSpPr>
          <p:nvPr/>
        </p:nvCxnSpPr>
        <p:spPr>
          <a:xfrm>
            <a:off x="2696379" y="2021596"/>
            <a:ext cx="4184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p:cNvSpPr txBox="1"/>
              <p:nvPr/>
            </p:nvSpPr>
            <p:spPr>
              <a:xfrm>
                <a:off x="2705069" y="1744383"/>
                <a:ext cx="42082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𝑔</m:t>
                      </m:r>
                      <m:r>
                        <a:rPr lang="en-US" sz="1600" b="0" i="1" smtClean="0">
                          <a:latin typeface="Cambria Math" panose="02040503050406030204" pitchFamily="18" charset="0"/>
                        </a:rPr>
                        <m:t>(.)</m:t>
                      </m:r>
                    </m:oMath>
                  </m:oMathPara>
                </a14:m>
                <a:endParaRPr lang="en-IN" sz="1600" dirty="0"/>
              </a:p>
            </p:txBody>
          </p:sp>
        </mc:Choice>
        <mc:Fallback xmlns="">
          <p:sp>
            <p:nvSpPr>
              <p:cNvPr id="23" name="TextBox 22"/>
              <p:cNvSpPr txBox="1">
                <a:spLocks noRot="1" noChangeAspect="1" noMove="1" noResize="1" noEditPoints="1" noAdjustHandles="1" noChangeArrowheads="1" noChangeShapeType="1" noTextEdit="1"/>
              </p:cNvSpPr>
              <p:nvPr/>
            </p:nvSpPr>
            <p:spPr>
              <a:xfrm>
                <a:off x="2705069" y="1744383"/>
                <a:ext cx="420820" cy="246221"/>
              </a:xfrm>
              <a:prstGeom prst="rect">
                <a:avLst/>
              </a:prstGeom>
              <a:blipFill rotWithShape="0">
                <a:blip r:embed="rId7"/>
                <a:stretch>
                  <a:fillRect l="-11594" r="-15942" b="-31707"/>
                </a:stretch>
              </a:blipFill>
            </p:spPr>
            <p:txBody>
              <a:bodyPr/>
              <a:lstStyle/>
              <a:p>
                <a:r>
                  <a:rPr lang="en-IN">
                    <a:noFill/>
                  </a:rPr>
                  <a:t> </a:t>
                </a:r>
              </a:p>
            </p:txBody>
          </p:sp>
        </mc:Fallback>
      </mc:AlternateContent>
      <p:cxnSp>
        <p:nvCxnSpPr>
          <p:cNvPr id="91" name="Straight Arrow Connector 90"/>
          <p:cNvCxnSpPr>
            <a:stCxn id="85" idx="3"/>
            <a:endCxn id="93" idx="1"/>
          </p:cNvCxnSpPr>
          <p:nvPr/>
        </p:nvCxnSpPr>
        <p:spPr>
          <a:xfrm>
            <a:off x="3500463" y="2021596"/>
            <a:ext cx="1197069"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p:cNvSpPr txBox="1"/>
              <p:nvPr/>
            </p:nvSpPr>
            <p:spPr>
              <a:xfrm>
                <a:off x="3499453" y="1744383"/>
                <a:ext cx="1223668"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𝑾</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+1)</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1" i="1" smtClean="0">
                              <a:latin typeface="Cambria Math" panose="02040503050406030204" pitchFamily="18" charset="0"/>
                            </a:rPr>
                            <m:t>𝒃</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+1)</m:t>
                          </m:r>
                        </m:sup>
                      </m:sSup>
                    </m:oMath>
                  </m:oMathPara>
                </a14:m>
                <a:endParaRPr lang="en-IN" sz="1600" dirty="0"/>
              </a:p>
            </p:txBody>
          </p:sp>
        </mc:Choice>
        <mc:Fallback xmlns="">
          <p:sp>
            <p:nvSpPr>
              <p:cNvPr id="92" name="TextBox 91"/>
              <p:cNvSpPr txBox="1">
                <a:spLocks noRot="1" noChangeAspect="1" noMove="1" noResize="1" noEditPoints="1" noAdjustHandles="1" noChangeArrowheads="1" noChangeShapeType="1" noTextEdit="1"/>
              </p:cNvSpPr>
              <p:nvPr/>
            </p:nvSpPr>
            <p:spPr>
              <a:xfrm>
                <a:off x="3499453" y="1744383"/>
                <a:ext cx="1223668" cy="256480"/>
              </a:xfrm>
              <a:prstGeom prst="rect">
                <a:avLst/>
              </a:prstGeom>
              <a:blipFill rotWithShape="0">
                <a:blip r:embed="rId8"/>
                <a:stretch>
                  <a:fillRect l="-2985" t="-4762" r="-2488" b="-9524"/>
                </a:stretch>
              </a:blipFill>
            </p:spPr>
            <p:txBody>
              <a:bodyPr/>
              <a:lstStyle/>
              <a:p>
                <a:r>
                  <a:rPr lang="en-IN">
                    <a:noFill/>
                  </a:rPr>
                  <a:t> </a:t>
                </a:r>
              </a:p>
            </p:txBody>
          </p:sp>
        </mc:Fallback>
      </mc:AlternateContent>
      <p:sp>
        <p:nvSpPr>
          <p:cNvPr id="93" name="Rectangle 92"/>
          <p:cNvSpPr/>
          <p:nvPr/>
        </p:nvSpPr>
        <p:spPr>
          <a:xfrm>
            <a:off x="4697532" y="1520328"/>
            <a:ext cx="575917"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4" name="Rectangle 93"/>
          <p:cNvSpPr/>
          <p:nvPr/>
        </p:nvSpPr>
        <p:spPr>
          <a:xfrm>
            <a:off x="5699921" y="1525836"/>
            <a:ext cx="522919"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95" name="TextBox 94"/>
              <p:cNvSpPr txBox="1"/>
              <p:nvPr/>
            </p:nvSpPr>
            <p:spPr>
              <a:xfrm>
                <a:off x="5699921" y="1923847"/>
                <a:ext cx="563488"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𝒉</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+1)</m:t>
                          </m:r>
                        </m:sup>
                      </m:sSup>
                    </m:oMath>
                  </m:oMathPara>
                </a14:m>
                <a:endParaRPr lang="en-IN" sz="1600" dirty="0"/>
              </a:p>
            </p:txBody>
          </p:sp>
        </mc:Choice>
        <mc:Fallback xmlns="">
          <p:sp>
            <p:nvSpPr>
              <p:cNvPr id="95" name="TextBox 94"/>
              <p:cNvSpPr txBox="1">
                <a:spLocks noRot="1" noChangeAspect="1" noMove="1" noResize="1" noEditPoints="1" noAdjustHandles="1" noChangeArrowheads="1" noChangeShapeType="1" noTextEdit="1"/>
              </p:cNvSpPr>
              <p:nvPr/>
            </p:nvSpPr>
            <p:spPr>
              <a:xfrm>
                <a:off x="5699921" y="1923847"/>
                <a:ext cx="563488" cy="256480"/>
              </a:xfrm>
              <a:prstGeom prst="rect">
                <a:avLst/>
              </a:prstGeom>
              <a:blipFill rotWithShape="0">
                <a:blip r:embed="rId9"/>
                <a:stretch>
                  <a:fillRect l="-8696" t="-4762" r="-7609" b="-7143"/>
                </a:stretch>
              </a:blipFill>
            </p:spPr>
            <p:txBody>
              <a:bodyPr/>
              <a:lstStyle/>
              <a:p>
                <a:r>
                  <a:rPr lang="en-IN">
                    <a:noFill/>
                  </a:rPr>
                  <a:t> </a:t>
                </a:r>
              </a:p>
            </p:txBody>
          </p:sp>
        </mc:Fallback>
      </mc:AlternateContent>
      <p:cxnSp>
        <p:nvCxnSpPr>
          <p:cNvPr id="96" name="Straight Arrow Connector 95"/>
          <p:cNvCxnSpPr/>
          <p:nvPr/>
        </p:nvCxnSpPr>
        <p:spPr>
          <a:xfrm>
            <a:off x="5281428" y="2021596"/>
            <a:ext cx="4184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p:cNvSpPr txBox="1"/>
              <p:nvPr/>
            </p:nvSpPr>
            <p:spPr>
              <a:xfrm>
                <a:off x="5290118" y="1744383"/>
                <a:ext cx="42082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𝑔</m:t>
                      </m:r>
                      <m:r>
                        <a:rPr lang="en-US" sz="1600" b="0" i="1" smtClean="0">
                          <a:latin typeface="Cambria Math" panose="02040503050406030204" pitchFamily="18" charset="0"/>
                        </a:rPr>
                        <m:t>(.)</m:t>
                      </m:r>
                    </m:oMath>
                  </m:oMathPara>
                </a14:m>
                <a:endParaRPr lang="en-IN" sz="1600" dirty="0"/>
              </a:p>
            </p:txBody>
          </p:sp>
        </mc:Choice>
        <mc:Fallback xmlns="">
          <p:sp>
            <p:nvSpPr>
              <p:cNvPr id="97" name="TextBox 96"/>
              <p:cNvSpPr txBox="1">
                <a:spLocks noRot="1" noChangeAspect="1" noMove="1" noResize="1" noEditPoints="1" noAdjustHandles="1" noChangeArrowheads="1" noChangeShapeType="1" noTextEdit="1"/>
              </p:cNvSpPr>
              <p:nvPr/>
            </p:nvSpPr>
            <p:spPr>
              <a:xfrm>
                <a:off x="5290118" y="1744383"/>
                <a:ext cx="420820" cy="246221"/>
              </a:xfrm>
              <a:prstGeom prst="rect">
                <a:avLst/>
              </a:prstGeom>
              <a:blipFill rotWithShape="0">
                <a:blip r:embed="rId10"/>
                <a:stretch>
                  <a:fillRect l="-11594" r="-15942" b="-3170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2" name="TextBox 101"/>
              <p:cNvSpPr txBox="1"/>
              <p:nvPr/>
            </p:nvSpPr>
            <p:spPr>
              <a:xfrm>
                <a:off x="4711564" y="1905847"/>
                <a:ext cx="561885"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𝒂</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+1)</m:t>
                          </m:r>
                        </m:sup>
                      </m:sSup>
                    </m:oMath>
                  </m:oMathPara>
                </a14:m>
                <a:endParaRPr lang="en-IN" sz="1600" dirty="0"/>
              </a:p>
            </p:txBody>
          </p:sp>
        </mc:Choice>
        <mc:Fallback xmlns="">
          <p:sp>
            <p:nvSpPr>
              <p:cNvPr id="102" name="TextBox 101"/>
              <p:cNvSpPr txBox="1">
                <a:spLocks noRot="1" noChangeAspect="1" noMove="1" noResize="1" noEditPoints="1" noAdjustHandles="1" noChangeArrowheads="1" noChangeShapeType="1" noTextEdit="1"/>
              </p:cNvSpPr>
              <p:nvPr/>
            </p:nvSpPr>
            <p:spPr>
              <a:xfrm>
                <a:off x="4711564" y="1905847"/>
                <a:ext cx="561885" cy="256480"/>
              </a:xfrm>
              <a:prstGeom prst="rect">
                <a:avLst/>
              </a:prstGeom>
              <a:blipFill rotWithShape="0">
                <a:blip r:embed="rId11"/>
                <a:stretch>
                  <a:fillRect l="-5435" t="-4762" r="-5435"/>
                </a:stretch>
              </a:blipFill>
            </p:spPr>
            <p:txBody>
              <a:bodyPr/>
              <a:lstStyle/>
              <a:p>
                <a:r>
                  <a:rPr lang="en-IN">
                    <a:noFill/>
                  </a:rPr>
                  <a:t> </a:t>
                </a:r>
              </a:p>
            </p:txBody>
          </p:sp>
        </mc:Fallback>
      </mc:AlternateContent>
      <p:cxnSp>
        <p:nvCxnSpPr>
          <p:cNvPr id="103" name="Straight Arrow Connector 102"/>
          <p:cNvCxnSpPr/>
          <p:nvPr/>
        </p:nvCxnSpPr>
        <p:spPr>
          <a:xfrm>
            <a:off x="6239742" y="2021596"/>
            <a:ext cx="4184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endCxn id="106" idx="1"/>
          </p:cNvCxnSpPr>
          <p:nvPr/>
        </p:nvCxnSpPr>
        <p:spPr>
          <a:xfrm>
            <a:off x="7239865" y="2021596"/>
            <a:ext cx="8885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 name="TextBox 104"/>
              <p:cNvSpPr txBox="1"/>
              <p:nvPr/>
            </p:nvSpPr>
            <p:spPr>
              <a:xfrm>
                <a:off x="7238855" y="1744383"/>
                <a:ext cx="888064"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𝑾</m:t>
                          </m:r>
                        </m:e>
                        <m:sup>
                          <m:r>
                            <a:rPr lang="en-US" sz="1600" b="0" i="1" smtClean="0">
                              <a:latin typeface="Cambria Math" panose="02040503050406030204" pitchFamily="18" charset="0"/>
                            </a:rPr>
                            <m:t>(</m:t>
                          </m:r>
                          <m:r>
                            <a:rPr lang="en-US" sz="1600" b="0" i="1" smtClean="0">
                              <a:latin typeface="Cambria Math" panose="02040503050406030204" pitchFamily="18" charset="0"/>
                            </a:rPr>
                            <m:t>𝐿</m:t>
                          </m:r>
                          <m:r>
                            <a:rPr lang="en-US" sz="1600" b="0" i="1" smtClean="0">
                              <a:latin typeface="Cambria Math" panose="02040503050406030204" pitchFamily="18" charset="0"/>
                            </a:rPr>
                            <m:t>)</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1" i="1" smtClean="0">
                              <a:latin typeface="Cambria Math" panose="02040503050406030204" pitchFamily="18" charset="0"/>
                            </a:rPr>
                            <m:t>𝒃</m:t>
                          </m:r>
                        </m:e>
                        <m:sup>
                          <m:r>
                            <a:rPr lang="en-US" sz="1600" b="0" i="1" smtClean="0">
                              <a:latin typeface="Cambria Math" panose="02040503050406030204" pitchFamily="18" charset="0"/>
                            </a:rPr>
                            <m:t>(</m:t>
                          </m:r>
                          <m:r>
                            <a:rPr lang="en-US" sz="1600" b="0" i="1" smtClean="0">
                              <a:latin typeface="Cambria Math" panose="02040503050406030204" pitchFamily="18" charset="0"/>
                            </a:rPr>
                            <m:t>𝐿</m:t>
                          </m:r>
                          <m:r>
                            <a:rPr lang="en-US" sz="1600" b="0" i="1" smtClean="0">
                              <a:latin typeface="Cambria Math" panose="02040503050406030204" pitchFamily="18" charset="0"/>
                            </a:rPr>
                            <m:t>)</m:t>
                          </m:r>
                        </m:sup>
                      </m:sSup>
                    </m:oMath>
                  </m:oMathPara>
                </a14:m>
                <a:endParaRPr lang="en-IN" sz="1600" dirty="0"/>
              </a:p>
            </p:txBody>
          </p:sp>
        </mc:Choice>
        <mc:Fallback xmlns="">
          <p:sp>
            <p:nvSpPr>
              <p:cNvPr id="105" name="TextBox 104"/>
              <p:cNvSpPr txBox="1">
                <a:spLocks noRot="1" noChangeAspect="1" noMove="1" noResize="1" noEditPoints="1" noAdjustHandles="1" noChangeArrowheads="1" noChangeShapeType="1" noTextEdit="1"/>
              </p:cNvSpPr>
              <p:nvPr/>
            </p:nvSpPr>
            <p:spPr>
              <a:xfrm>
                <a:off x="7238855" y="1744383"/>
                <a:ext cx="888064" cy="256480"/>
              </a:xfrm>
              <a:prstGeom prst="rect">
                <a:avLst/>
              </a:prstGeom>
              <a:blipFill rotWithShape="0">
                <a:blip r:embed="rId12"/>
                <a:stretch>
                  <a:fillRect l="-4795" t="-4762" r="-4110" b="-9524"/>
                </a:stretch>
              </a:blipFill>
            </p:spPr>
            <p:txBody>
              <a:bodyPr/>
              <a:lstStyle/>
              <a:p>
                <a:r>
                  <a:rPr lang="en-IN">
                    <a:noFill/>
                  </a:rPr>
                  <a:t> </a:t>
                </a:r>
              </a:p>
            </p:txBody>
          </p:sp>
        </mc:Fallback>
      </mc:AlternateContent>
      <p:sp>
        <p:nvSpPr>
          <p:cNvPr id="106" name="Rectangle 105"/>
          <p:cNvSpPr/>
          <p:nvPr/>
        </p:nvSpPr>
        <p:spPr>
          <a:xfrm>
            <a:off x="8128458" y="1520328"/>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08" name="Straight Arrow Connector 107"/>
          <p:cNvCxnSpPr/>
          <p:nvPr/>
        </p:nvCxnSpPr>
        <p:spPr>
          <a:xfrm>
            <a:off x="8514049" y="2021596"/>
            <a:ext cx="486739" cy="5508"/>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p:cNvSpPr txBox="1"/>
              <p:nvPr/>
            </p:nvSpPr>
            <p:spPr>
              <a:xfrm>
                <a:off x="8566807" y="1744383"/>
                <a:ext cx="354777" cy="246221"/>
              </a:xfrm>
              <a:prstGeom prst="rect">
                <a:avLst/>
              </a:prstGeom>
              <a:noFill/>
            </p:spPr>
            <p:txBody>
              <a:bodyPr wrap="none" lIns="0" tIns="0" rIns="0" bIns="0" rtlCol="0">
                <a:spAutoFit/>
              </a:bodyPr>
              <a:lstStyle/>
              <a:p>
                <a:r>
                  <a:rPr lang="en-US" sz="1600" b="0" dirty="0"/>
                  <a:t>o</a:t>
                </a:r>
                <a14:m>
                  <m:oMath xmlns:m="http://schemas.openxmlformats.org/officeDocument/2006/math">
                    <m:r>
                      <a:rPr lang="en-US" sz="1600" b="0" i="1" smtClean="0">
                        <a:latin typeface="Cambria Math" panose="02040503050406030204" pitchFamily="18" charset="0"/>
                      </a:rPr>
                      <m:t>(.)</m:t>
                    </m:r>
                  </m:oMath>
                </a14:m>
                <a:endParaRPr lang="en-IN" sz="1600" dirty="0"/>
              </a:p>
            </p:txBody>
          </p:sp>
        </mc:Choice>
        <mc:Fallback xmlns="">
          <p:sp>
            <p:nvSpPr>
              <p:cNvPr id="109" name="TextBox 108"/>
              <p:cNvSpPr txBox="1">
                <a:spLocks noRot="1" noChangeAspect="1" noMove="1" noResize="1" noEditPoints="1" noAdjustHandles="1" noChangeArrowheads="1" noChangeShapeType="1" noTextEdit="1"/>
              </p:cNvSpPr>
              <p:nvPr/>
            </p:nvSpPr>
            <p:spPr>
              <a:xfrm>
                <a:off x="8566807" y="1744383"/>
                <a:ext cx="354777" cy="246221"/>
              </a:xfrm>
              <a:prstGeom prst="rect">
                <a:avLst/>
              </a:prstGeom>
              <a:blipFill rotWithShape="0">
                <a:blip r:embed="rId13"/>
                <a:stretch>
                  <a:fillRect l="-33898" t="-24390" r="-23729" b="-4878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0" name="TextBox 109"/>
              <p:cNvSpPr txBox="1"/>
              <p:nvPr/>
            </p:nvSpPr>
            <p:spPr>
              <a:xfrm>
                <a:off x="8142490" y="1905847"/>
                <a:ext cx="394082"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𝒂</m:t>
                          </m:r>
                        </m:e>
                        <m:sup>
                          <m:r>
                            <a:rPr lang="en-US" sz="1600" b="0" i="1" smtClean="0">
                              <a:latin typeface="Cambria Math" panose="02040503050406030204" pitchFamily="18" charset="0"/>
                            </a:rPr>
                            <m:t>(</m:t>
                          </m:r>
                          <m:r>
                            <a:rPr lang="en-US" sz="1600" b="0" i="1" smtClean="0">
                              <a:latin typeface="Cambria Math" panose="02040503050406030204" pitchFamily="18" charset="0"/>
                            </a:rPr>
                            <m:t>𝐿</m:t>
                          </m:r>
                          <m:r>
                            <a:rPr lang="en-US" sz="1600" b="0" i="1" smtClean="0">
                              <a:latin typeface="Cambria Math" panose="02040503050406030204" pitchFamily="18" charset="0"/>
                            </a:rPr>
                            <m:t>)</m:t>
                          </m:r>
                        </m:sup>
                      </m:sSup>
                    </m:oMath>
                  </m:oMathPara>
                </a14:m>
                <a:endParaRPr lang="en-IN" sz="1600" dirty="0"/>
              </a:p>
            </p:txBody>
          </p:sp>
        </mc:Choice>
        <mc:Fallback xmlns="">
          <p:sp>
            <p:nvSpPr>
              <p:cNvPr id="110" name="TextBox 109"/>
              <p:cNvSpPr txBox="1">
                <a:spLocks noRot="1" noChangeAspect="1" noMove="1" noResize="1" noEditPoints="1" noAdjustHandles="1" noChangeArrowheads="1" noChangeShapeType="1" noTextEdit="1"/>
              </p:cNvSpPr>
              <p:nvPr/>
            </p:nvSpPr>
            <p:spPr>
              <a:xfrm>
                <a:off x="8142490" y="1905847"/>
                <a:ext cx="394082" cy="256480"/>
              </a:xfrm>
              <a:prstGeom prst="rect">
                <a:avLst/>
              </a:prstGeom>
              <a:blipFill rotWithShape="0">
                <a:blip r:embed="rId14"/>
                <a:stretch>
                  <a:fillRect l="-7813" t="-4762" r="-93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1" name="TextBox 110"/>
              <p:cNvSpPr txBox="1"/>
              <p:nvPr/>
            </p:nvSpPr>
            <p:spPr>
              <a:xfrm>
                <a:off x="9006114" y="1877752"/>
                <a:ext cx="1044260" cy="24622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𝒚</m:t>
                      </m:r>
                      <m:r>
                        <a:rPr lang="en-US" sz="1600" b="1" i="1" smtClean="0">
                          <a:latin typeface="Cambria Math" panose="02040503050406030204" pitchFamily="18" charset="0"/>
                        </a:rPr>
                        <m:t>=</m:t>
                      </m:r>
                      <m:r>
                        <a:rPr lang="en-US" sz="1600" b="1" i="1" smtClean="0">
                          <a:latin typeface="Cambria Math" panose="02040503050406030204" pitchFamily="18" charset="0"/>
                        </a:rPr>
                        <m:t>𝒇</m:t>
                      </m:r>
                      <m:r>
                        <a:rPr lang="en-US" sz="1600" b="1" i="1" smtClean="0">
                          <a:latin typeface="Cambria Math" panose="02040503050406030204" pitchFamily="18" charset="0"/>
                        </a:rPr>
                        <m:t>(</m:t>
                      </m:r>
                      <m:r>
                        <a:rPr lang="en-US" sz="1600" b="1" i="1" smtClean="0">
                          <a:latin typeface="Cambria Math" panose="02040503050406030204" pitchFamily="18" charset="0"/>
                        </a:rPr>
                        <m:t>𝒙</m:t>
                      </m:r>
                      <m:r>
                        <a:rPr lang="en-US" sz="1600" b="1" i="1" smtClean="0">
                          <a:latin typeface="Cambria Math" panose="02040503050406030204" pitchFamily="18" charset="0"/>
                        </a:rPr>
                        <m:t>, </m:t>
                      </m:r>
                      <m:r>
                        <a:rPr lang="en-US" sz="1600" b="1" i="1" smtClean="0">
                          <a:latin typeface="Cambria Math" panose="02040503050406030204" pitchFamily="18" charset="0"/>
                        </a:rPr>
                        <m:t>𝜽</m:t>
                      </m:r>
                      <m:r>
                        <a:rPr lang="en-US" sz="1600" b="1" i="1" smtClean="0">
                          <a:latin typeface="Cambria Math" panose="02040503050406030204" pitchFamily="18" charset="0"/>
                        </a:rPr>
                        <m:t>)</m:t>
                      </m:r>
                    </m:oMath>
                  </m:oMathPara>
                </a14:m>
                <a:endParaRPr lang="en-US" sz="1600" b="1" i="1" dirty="0">
                  <a:latin typeface="Cambria Math" panose="02040503050406030204" pitchFamily="18" charset="0"/>
                </a:endParaRPr>
              </a:p>
            </p:txBody>
          </p:sp>
        </mc:Choice>
        <mc:Fallback xmlns="">
          <p:sp>
            <p:nvSpPr>
              <p:cNvPr id="111" name="TextBox 110"/>
              <p:cNvSpPr txBox="1">
                <a:spLocks noRot="1" noChangeAspect="1" noMove="1" noResize="1" noEditPoints="1" noAdjustHandles="1" noChangeArrowheads="1" noChangeShapeType="1" noTextEdit="1"/>
              </p:cNvSpPr>
              <p:nvPr/>
            </p:nvSpPr>
            <p:spPr>
              <a:xfrm>
                <a:off x="9006114" y="1877752"/>
                <a:ext cx="1044260" cy="246221"/>
              </a:xfrm>
              <a:prstGeom prst="rect">
                <a:avLst/>
              </a:prstGeom>
              <a:blipFill rotWithShape="0">
                <a:blip r:embed="rId15"/>
                <a:stretch>
                  <a:fillRect l="-6395" r="-4070" b="-37500"/>
                </a:stretch>
              </a:blipFill>
            </p:spPr>
            <p:txBody>
              <a:bodyPr/>
              <a:lstStyle/>
              <a:p>
                <a:r>
                  <a:rPr lang="en-IN">
                    <a:noFill/>
                  </a:rPr>
                  <a:t> </a:t>
                </a:r>
              </a:p>
            </p:txBody>
          </p:sp>
        </mc:Fallback>
      </mc:AlternateContent>
      <p:grpSp>
        <p:nvGrpSpPr>
          <p:cNvPr id="113" name="Group 112"/>
          <p:cNvGrpSpPr/>
          <p:nvPr/>
        </p:nvGrpSpPr>
        <p:grpSpPr>
          <a:xfrm rot="16200000">
            <a:off x="6953987" y="1863687"/>
            <a:ext cx="36000" cy="340800"/>
            <a:chOff x="2731586" y="4043627"/>
            <a:chExt cx="36000" cy="340800"/>
          </a:xfrm>
        </p:grpSpPr>
        <p:sp>
          <p:nvSpPr>
            <p:cNvPr id="114" name="Oval 113"/>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5" name="Oval 114"/>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5" name="Oval 154"/>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42" name="Straight Arrow Connector 41"/>
          <p:cNvCxnSpPr/>
          <p:nvPr/>
        </p:nvCxnSpPr>
        <p:spPr>
          <a:xfrm>
            <a:off x="10103001" y="2031600"/>
            <a:ext cx="486739" cy="5508"/>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p:cNvSpPr txBox="1"/>
              <p:nvPr/>
            </p:nvSpPr>
            <p:spPr>
              <a:xfrm>
                <a:off x="10573660" y="1887756"/>
                <a:ext cx="1131142" cy="24622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𝐽</m:t>
                      </m:r>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𝒇</m:t>
                          </m:r>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𝒙</m:t>
                              </m:r>
                              <m:r>
                                <a:rPr lang="en-US" sz="1600" b="1" i="1" smtClean="0">
                                  <a:latin typeface="Cambria Math" panose="02040503050406030204" pitchFamily="18" charset="0"/>
                                </a:rPr>
                                <m:t>, </m:t>
                              </m:r>
                              <m:r>
                                <a:rPr lang="en-US" sz="1600" b="1" i="1" smtClean="0">
                                  <a:latin typeface="Cambria Math" panose="02040503050406030204" pitchFamily="18" charset="0"/>
                                </a:rPr>
                                <m:t>𝜽</m:t>
                              </m:r>
                            </m:e>
                          </m:d>
                          <m:r>
                            <a:rPr lang="en-US" sz="1600" b="1" i="1" smtClean="0">
                              <a:latin typeface="Cambria Math" panose="02040503050406030204" pitchFamily="18" charset="0"/>
                            </a:rPr>
                            <m:t>,</m:t>
                          </m:r>
                          <m:r>
                            <a:rPr lang="en-US" sz="1600" b="1" i="1" smtClean="0">
                              <a:latin typeface="Cambria Math" panose="02040503050406030204" pitchFamily="18" charset="0"/>
                            </a:rPr>
                            <m:t>𝒄</m:t>
                          </m:r>
                          <m:r>
                            <a:rPr lang="en-US" sz="1600" b="1" i="1" smtClean="0">
                              <a:latin typeface="Cambria Math" panose="02040503050406030204" pitchFamily="18" charset="0"/>
                            </a:rPr>
                            <m:t> </m:t>
                          </m:r>
                        </m:e>
                      </m:d>
                    </m:oMath>
                  </m:oMathPara>
                </a14:m>
                <a:endParaRPr lang="en-US" sz="1600" b="1" i="1" dirty="0">
                  <a:latin typeface="Cambria Math" panose="02040503050406030204" pitchFamily="18" charset="0"/>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10573660" y="1887756"/>
                <a:ext cx="1131142" cy="246221"/>
              </a:xfrm>
              <a:prstGeom prst="rect">
                <a:avLst/>
              </a:prstGeom>
              <a:blipFill rotWithShape="0">
                <a:blip r:embed="rId16"/>
                <a:stretch>
                  <a:fillRect l="-8108" b="-35000"/>
                </a:stretch>
              </a:blipFill>
            </p:spPr>
            <p:txBody>
              <a:bodyPr/>
              <a:lstStyle/>
              <a:p>
                <a:r>
                  <a:rPr lang="en-IN">
                    <a:noFill/>
                  </a:rPr>
                  <a:t> </a:t>
                </a:r>
              </a:p>
            </p:txBody>
          </p:sp>
        </mc:Fallback>
      </mc:AlternateContent>
      <p:cxnSp>
        <p:nvCxnSpPr>
          <p:cNvPr id="52" name="Straight Arrow Connector 51"/>
          <p:cNvCxnSpPr/>
          <p:nvPr/>
        </p:nvCxnSpPr>
        <p:spPr>
          <a:xfrm>
            <a:off x="451581" y="2052087"/>
            <a:ext cx="222057"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53" name="Group 52"/>
          <p:cNvGrpSpPr/>
          <p:nvPr/>
        </p:nvGrpSpPr>
        <p:grpSpPr>
          <a:xfrm rot="16200000">
            <a:off x="280755" y="1950254"/>
            <a:ext cx="45719" cy="188400"/>
            <a:chOff x="2731586" y="4043627"/>
            <a:chExt cx="36000" cy="340800"/>
          </a:xfrm>
        </p:grpSpPr>
        <p:sp>
          <p:nvSpPr>
            <p:cNvPr id="54" name="Oval 53"/>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Oval 54"/>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49" name="Google Shape;100;p14"/>
              <p:cNvSpPr txBox="1"/>
              <p:nvPr/>
            </p:nvSpPr>
            <p:spPr>
              <a:xfrm>
                <a:off x="687670" y="2661113"/>
                <a:ext cx="10650890" cy="577795"/>
              </a:xfrm>
              <a:prstGeom prst="rect">
                <a:avLst/>
              </a:prstGeom>
              <a:noFill/>
              <a:ln>
                <a:noFill/>
              </a:ln>
            </p:spPr>
            <p:txBody>
              <a:bodyPr spcFirstLastPara="1" wrap="square" lIns="91425" tIns="91425" rIns="91425" bIns="91425" anchor="t" anchorCtr="0">
                <a:noAutofit/>
              </a:bodyPr>
              <a:lstStyle/>
              <a:p>
                <a:pPr lvl="0"/>
                <a14:m>
                  <m:oMath xmlns:m="http://schemas.openxmlformats.org/officeDocument/2006/math">
                    <m:sSubSup>
                      <m:sSubSupPr>
                        <m:ctrlPr>
                          <a:rPr lang="en-IN" i="1" smtClean="0">
                            <a:latin typeface="Cambria Math" panose="02040503050406030204" pitchFamily="18" charset="0"/>
                          </a:rPr>
                        </m:ctrlPr>
                      </m:sSubSupPr>
                      <m:e>
                        <m:r>
                          <a:rPr lang="en-IN" b="1" i="1" smtClean="0">
                            <a:latin typeface="Cambria Math" panose="02040503050406030204" pitchFamily="18" charset="0"/>
                          </a:rPr>
                          <m:t>𝒂</m:t>
                        </m:r>
                      </m:e>
                      <m:sub>
                        <m:r>
                          <a:rPr lang="en-IN" b="0" i="1" smtClean="0">
                            <a:latin typeface="Cambria Math" panose="02040503050406030204" pitchFamily="18" charset="0"/>
                          </a:rPr>
                          <m:t>𝑖</m:t>
                        </m:r>
                      </m:sub>
                      <m:sup>
                        <m:r>
                          <a:rPr lang="en-IN" b="0" i="1" smtClean="0">
                            <a:latin typeface="Cambria Math" panose="02040503050406030204" pitchFamily="18" charset="0"/>
                          </a:rPr>
                          <m:t>(</m:t>
                        </m:r>
                        <m:r>
                          <a:rPr lang="en-IN" b="0" i="1" smtClean="0">
                            <a:latin typeface="Cambria Math" panose="02040503050406030204" pitchFamily="18" charset="0"/>
                          </a:rPr>
                          <m:t>𝑙</m:t>
                        </m:r>
                        <m:r>
                          <a:rPr lang="en-IN" b="0" i="1" smtClean="0">
                            <a:latin typeface="Cambria Math" panose="02040503050406030204" pitchFamily="18" charset="0"/>
                          </a:rPr>
                          <m:t>)</m:t>
                        </m:r>
                      </m:sup>
                    </m:sSubSup>
                  </m:oMath>
                </a14:m>
                <a:r>
                  <a:rPr lang="en-IN" dirty="0"/>
                  <a:t> influences </a:t>
                </a:r>
                <a14:m>
                  <m:oMath xmlns:m="http://schemas.openxmlformats.org/officeDocument/2006/math">
                    <m:r>
                      <a:rPr lang="en-IN" b="0" i="1" smtClean="0">
                        <a:latin typeface="Cambria Math" panose="02040503050406030204" pitchFamily="18" charset="0"/>
                      </a:rPr>
                      <m:t>𝐽</m:t>
                    </m:r>
                  </m:oMath>
                </a14:m>
                <a:r>
                  <a:rPr lang="en-IN" dirty="0"/>
                  <a:t> through </a:t>
                </a:r>
                <a14:m>
                  <m:oMath xmlns:m="http://schemas.openxmlformats.org/officeDocument/2006/math">
                    <m:sSubSup>
                      <m:sSubSupPr>
                        <m:ctrlPr>
                          <a:rPr lang="en-IN" i="1" smtClean="0">
                            <a:latin typeface="Cambria Math" panose="02040503050406030204" pitchFamily="18" charset="0"/>
                          </a:rPr>
                        </m:ctrlPr>
                      </m:sSubSupPr>
                      <m:e>
                        <m:r>
                          <a:rPr lang="en-IN" b="1" i="1" smtClean="0">
                            <a:latin typeface="Cambria Math" panose="02040503050406030204" pitchFamily="18" charset="0"/>
                          </a:rPr>
                          <m:t>𝒉</m:t>
                        </m:r>
                      </m:e>
                      <m:sub>
                        <m:r>
                          <a:rPr lang="en-IN" b="0" i="1" smtClean="0">
                            <a:latin typeface="Cambria Math" panose="02040503050406030204" pitchFamily="18" charset="0"/>
                          </a:rPr>
                          <m:t>𝑖</m:t>
                        </m:r>
                      </m:sub>
                      <m:sup>
                        <m:r>
                          <a:rPr lang="en-IN" b="0" i="1" smtClean="0">
                            <a:latin typeface="Cambria Math" panose="02040503050406030204" pitchFamily="18" charset="0"/>
                          </a:rPr>
                          <m:t>(</m:t>
                        </m:r>
                        <m:r>
                          <a:rPr lang="en-IN" b="0" i="1" smtClean="0">
                            <a:latin typeface="Cambria Math" panose="02040503050406030204" pitchFamily="18" charset="0"/>
                          </a:rPr>
                          <m:t>𝑙</m:t>
                        </m:r>
                        <m:r>
                          <a:rPr lang="en-IN" b="0" i="1" smtClean="0">
                            <a:latin typeface="Cambria Math" panose="02040503050406030204" pitchFamily="18" charset="0"/>
                          </a:rPr>
                          <m:t>)</m:t>
                        </m:r>
                      </m:sup>
                    </m:sSubSup>
                  </m:oMath>
                </a14:m>
                <a:r>
                  <a:rPr lang="en-IN" dirty="0"/>
                  <a:t>. That means </a:t>
                </a:r>
                <a14:m>
                  <m:oMath xmlns:m="http://schemas.openxmlformats.org/officeDocument/2006/math">
                    <m:r>
                      <a:rPr lang="en-IN" i="1">
                        <a:latin typeface="Cambria Math" panose="02040503050406030204" pitchFamily="18" charset="0"/>
                      </a:rPr>
                      <m:t>𝐽</m:t>
                    </m:r>
                  </m:oMath>
                </a14:m>
                <a:r>
                  <a:rPr lang="en-IN" dirty="0"/>
                  <a:t> is a function of </a:t>
                </a:r>
                <a14:m>
                  <m:oMath xmlns:m="http://schemas.openxmlformats.org/officeDocument/2006/math">
                    <m:sSubSup>
                      <m:sSubSupPr>
                        <m:ctrlPr>
                          <a:rPr lang="en-IN" i="1">
                            <a:latin typeface="Cambria Math" panose="02040503050406030204" pitchFamily="18" charset="0"/>
                          </a:rPr>
                        </m:ctrlPr>
                      </m:sSubSupPr>
                      <m:e>
                        <m:r>
                          <a:rPr lang="en-IN" b="1" i="1" smtClean="0">
                            <a:latin typeface="Cambria Math" panose="02040503050406030204" pitchFamily="18" charset="0"/>
                          </a:rPr>
                          <m:t>𝒉</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oMath>
                </a14:m>
                <a:r>
                  <a:rPr lang="en-IN" dirty="0"/>
                  <a:t> and </a:t>
                </a:r>
                <a14:m>
                  <m:oMath xmlns:m="http://schemas.openxmlformats.org/officeDocument/2006/math">
                    <m:sSubSup>
                      <m:sSubSupPr>
                        <m:ctrlPr>
                          <a:rPr lang="en-IN" i="1">
                            <a:latin typeface="Cambria Math" panose="02040503050406030204" pitchFamily="18" charset="0"/>
                          </a:rPr>
                        </m:ctrlPr>
                      </m:sSubSupPr>
                      <m:e>
                        <m:r>
                          <a:rPr lang="en-IN" b="1" i="1" smtClean="0">
                            <a:latin typeface="Cambria Math" panose="02040503050406030204" pitchFamily="18" charset="0"/>
                          </a:rPr>
                          <m:t>𝒉</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oMath>
                </a14:m>
                <a:r>
                  <a:rPr lang="en-IN" dirty="0"/>
                  <a:t>, in turn, is a function of</a:t>
                </a:r>
                <a14:m>
                  <m:oMath xmlns:m="http://schemas.openxmlformats.org/officeDocument/2006/math">
                    <m:r>
                      <a:rPr lang="en-IN" b="0" i="0" smtClean="0">
                        <a:latin typeface="Cambria Math" panose="02040503050406030204" pitchFamily="18" charset="0"/>
                      </a:rPr>
                      <m:t> </m:t>
                    </m:r>
                    <m:sSubSup>
                      <m:sSubSupPr>
                        <m:ctrlPr>
                          <a:rPr lang="en-IN" i="1">
                            <a:latin typeface="Cambria Math" panose="02040503050406030204" pitchFamily="18" charset="0"/>
                          </a:rPr>
                        </m:ctrlPr>
                      </m:sSubSupPr>
                      <m:e>
                        <m:r>
                          <a:rPr lang="en-IN" b="1" i="1" smtClean="0">
                            <a:latin typeface="Cambria Math" panose="02040503050406030204" pitchFamily="18" charset="0"/>
                          </a:rPr>
                          <m:t>𝒂</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oMath>
                </a14:m>
                <a:endParaRPr dirty="0"/>
              </a:p>
            </p:txBody>
          </p:sp>
        </mc:Choice>
        <mc:Fallback xmlns="">
          <p:sp>
            <p:nvSpPr>
              <p:cNvPr id="49" name="Google Shape;100;p14"/>
              <p:cNvSpPr txBox="1">
                <a:spLocks noRot="1" noChangeAspect="1" noMove="1" noResize="1" noEditPoints="1" noAdjustHandles="1" noChangeArrowheads="1" noChangeShapeType="1" noTextEdit="1"/>
              </p:cNvSpPr>
              <p:nvPr/>
            </p:nvSpPr>
            <p:spPr>
              <a:xfrm>
                <a:off x="687670" y="2661113"/>
                <a:ext cx="10650890" cy="577795"/>
              </a:xfrm>
              <a:prstGeom prst="rect">
                <a:avLst/>
              </a:prstGeom>
              <a:blipFill rotWithShape="0">
                <a:blip r:embed="rId17"/>
                <a:stretch>
                  <a:fillRect/>
                </a:stretch>
              </a:blipFill>
              <a:ln>
                <a:noFill/>
              </a:ln>
            </p:spPr>
            <p:txBody>
              <a:bodyPr/>
              <a:lstStyle/>
              <a:p>
                <a:r>
                  <a:rPr lang="en-IN">
                    <a:noFill/>
                  </a:rPr>
                  <a:t> </a:t>
                </a:r>
              </a:p>
            </p:txBody>
          </p:sp>
        </mc:Fallback>
      </mc:AlternateContent>
      <p:sp>
        <p:nvSpPr>
          <p:cNvPr id="50" name="Rectangle 49"/>
          <p:cNvSpPr/>
          <p:nvPr/>
        </p:nvSpPr>
        <p:spPr>
          <a:xfrm>
            <a:off x="2236166" y="1347127"/>
            <a:ext cx="1357321" cy="1281316"/>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51" name="Rectangle 50"/>
          <p:cNvSpPr/>
          <p:nvPr/>
        </p:nvSpPr>
        <p:spPr>
          <a:xfrm>
            <a:off x="10513724" y="1744382"/>
            <a:ext cx="1326871" cy="530187"/>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5" name="Rectangle 4"/>
              <p:cNvSpPr/>
              <p:nvPr/>
            </p:nvSpPr>
            <p:spPr>
              <a:xfrm>
                <a:off x="1915928" y="3255394"/>
                <a:ext cx="3720186" cy="8449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m:t>
                          </m:r>
                          <m:r>
                            <a:rPr lang="en-IN" i="1">
                              <a:latin typeface="Cambria Math" panose="02040503050406030204" pitchFamily="18" charset="0"/>
                            </a:rPr>
                            <m:t>𝐽</m:t>
                          </m:r>
                        </m:num>
                        <m:den>
                          <m:r>
                            <a:rPr lang="en-US" i="1">
                              <a:latin typeface="Cambria Math" panose="02040503050406030204" pitchFamily="18" charset="0"/>
                            </a:rPr>
                            <m:t>𝜕</m:t>
                          </m:r>
                          <m:sSubSup>
                            <m:sSubSupPr>
                              <m:ctrlPr>
                                <a:rPr lang="en-US" i="1">
                                  <a:latin typeface="Cambria Math" panose="02040503050406030204" pitchFamily="18" charset="0"/>
                                </a:rPr>
                              </m:ctrlPr>
                            </m:sSubSupPr>
                            <m:e>
                              <m:r>
                                <a:rPr lang="en-IN" b="1" i="1" smtClean="0">
                                  <a:latin typeface="Cambria Math" panose="02040503050406030204" pitchFamily="18" charset="0"/>
                                </a:rPr>
                                <m:t>𝒂</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m:t>
                          </m:r>
                          <m:r>
                            <a:rPr lang="en-IN" b="0" i="1" smtClean="0">
                              <a:latin typeface="Cambria Math" panose="02040503050406030204" pitchFamily="18" charset="0"/>
                            </a:rPr>
                            <m:t>𝐽</m:t>
                          </m:r>
                        </m:num>
                        <m:den>
                          <m:r>
                            <a:rPr lang="en-IN" b="0" i="1" smtClean="0">
                              <a:latin typeface="Cambria Math" panose="02040503050406030204" pitchFamily="18" charset="0"/>
                            </a:rPr>
                            <m:t>𝜕</m:t>
                          </m:r>
                          <m:sSubSup>
                            <m:sSubSupPr>
                              <m:ctrlPr>
                                <a:rPr lang="en-IN" i="1">
                                  <a:latin typeface="Cambria Math" panose="02040503050406030204" pitchFamily="18" charset="0"/>
                                </a:rPr>
                              </m:ctrlPr>
                            </m:sSubSupPr>
                            <m:e>
                              <m:r>
                                <a:rPr lang="en-IN" b="1" i="1" smtClean="0">
                                  <a:latin typeface="Cambria Math" panose="02040503050406030204" pitchFamily="18" charset="0"/>
                                </a:rPr>
                                <m:t>𝒉</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den>
                      </m:f>
                      <m:f>
                        <m:fPr>
                          <m:ctrlPr>
                            <a:rPr lang="en-IN" b="0" i="1" smtClean="0">
                              <a:latin typeface="Cambria Math" panose="02040503050406030204" pitchFamily="18" charset="0"/>
                            </a:rPr>
                          </m:ctrlPr>
                        </m:fPr>
                        <m:num>
                          <m:r>
                            <a:rPr lang="en-IN" b="0" i="1" smtClean="0">
                              <a:latin typeface="Cambria Math" panose="02040503050406030204" pitchFamily="18" charset="0"/>
                            </a:rPr>
                            <m:t>𝜕</m:t>
                          </m:r>
                          <m:sSubSup>
                            <m:sSubSupPr>
                              <m:ctrlPr>
                                <a:rPr lang="en-IN" i="1">
                                  <a:latin typeface="Cambria Math" panose="02040503050406030204" pitchFamily="18" charset="0"/>
                                </a:rPr>
                              </m:ctrlPr>
                            </m:sSubSupPr>
                            <m:e>
                              <m:r>
                                <a:rPr lang="en-IN" b="1" i="1" smtClean="0">
                                  <a:latin typeface="Cambria Math" panose="02040503050406030204" pitchFamily="18" charset="0"/>
                                </a:rPr>
                                <m:t>𝒉</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num>
                        <m:den>
                          <m:r>
                            <a:rPr lang="en-IN" b="0" i="1" smtClean="0">
                              <a:latin typeface="Cambria Math" panose="02040503050406030204" pitchFamily="18" charset="0"/>
                            </a:rPr>
                            <m:t>𝜕</m:t>
                          </m:r>
                          <m:sSubSup>
                            <m:sSubSupPr>
                              <m:ctrlPr>
                                <a:rPr lang="en-IN" i="1">
                                  <a:latin typeface="Cambria Math" panose="02040503050406030204" pitchFamily="18" charset="0"/>
                                </a:rPr>
                              </m:ctrlPr>
                            </m:sSubSupPr>
                            <m:e>
                              <m:r>
                                <a:rPr lang="en-IN" b="1" i="1" smtClean="0">
                                  <a:latin typeface="Cambria Math" panose="02040503050406030204" pitchFamily="18" charset="0"/>
                                </a:rPr>
                                <m:t>𝒂</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den>
                      </m:f>
                      <m:r>
                        <a:rPr lang="en-IN" b="0" i="1" smtClean="0">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m:t>
                          </m:r>
                          <m:r>
                            <a:rPr lang="en-IN" i="1">
                              <a:latin typeface="Cambria Math" panose="02040503050406030204" pitchFamily="18" charset="0"/>
                            </a:rPr>
                            <m:t>𝐽</m:t>
                          </m:r>
                        </m:num>
                        <m:den>
                          <m:r>
                            <a:rPr lang="en-IN" i="1">
                              <a:latin typeface="Cambria Math" panose="02040503050406030204" pitchFamily="18" charset="0"/>
                            </a:rPr>
                            <m:t>𝜕</m:t>
                          </m:r>
                          <m:sSubSup>
                            <m:sSubSupPr>
                              <m:ctrlPr>
                                <a:rPr lang="en-IN" i="1">
                                  <a:latin typeface="Cambria Math" panose="02040503050406030204" pitchFamily="18" charset="0"/>
                                </a:rPr>
                              </m:ctrlPr>
                            </m:sSubSupPr>
                            <m:e>
                              <m:r>
                                <a:rPr lang="en-IN" b="1" i="1">
                                  <a:latin typeface="Cambria Math" panose="02040503050406030204" pitchFamily="18" charset="0"/>
                                </a:rPr>
                                <m:t>𝒉</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den>
                      </m:f>
                      <m:r>
                        <a:rPr lang="en-IN" b="0" i="1" smtClean="0">
                          <a:latin typeface="Cambria Math" panose="02040503050406030204" pitchFamily="18" charset="0"/>
                        </a:rPr>
                        <m:t>𝑔</m:t>
                      </m:r>
                      <m:r>
                        <a:rPr lang="en-IN" b="0" i="1" smtClean="0">
                          <a:latin typeface="Cambria Math" panose="02040503050406030204" pitchFamily="18" charset="0"/>
                        </a:rPr>
                        <m:t>′</m:t>
                      </m:r>
                      <m:d>
                        <m:dPr>
                          <m:ctrlPr>
                            <a:rPr lang="en-IN" b="0" i="1" smtClean="0">
                              <a:latin typeface="Cambria Math" panose="02040503050406030204" pitchFamily="18" charset="0"/>
                            </a:rPr>
                          </m:ctrlPr>
                        </m:dPr>
                        <m:e>
                          <m:sSubSup>
                            <m:sSubSupPr>
                              <m:ctrlPr>
                                <a:rPr lang="en-IN" b="0" i="1" smtClean="0">
                                  <a:latin typeface="Cambria Math" panose="02040503050406030204" pitchFamily="18" charset="0"/>
                                </a:rPr>
                              </m:ctrlPr>
                            </m:sSubSupPr>
                            <m:e>
                              <m:r>
                                <a:rPr lang="en-IN" b="1" i="1" smtClean="0">
                                  <a:latin typeface="Cambria Math" panose="02040503050406030204" pitchFamily="18" charset="0"/>
                                </a:rPr>
                                <m:t>𝒂</m:t>
                              </m:r>
                            </m:e>
                            <m:sub>
                              <m:r>
                                <a:rPr lang="en-IN" b="0" i="1" smtClean="0">
                                  <a:latin typeface="Cambria Math" panose="02040503050406030204" pitchFamily="18" charset="0"/>
                                </a:rPr>
                                <m:t>𝑖</m:t>
                              </m:r>
                            </m:sub>
                            <m:sup>
                              <m:r>
                                <a:rPr lang="en-IN" b="0" i="1" smtClean="0">
                                  <a:latin typeface="Cambria Math" panose="02040503050406030204" pitchFamily="18" charset="0"/>
                                </a:rPr>
                                <m:t>(</m:t>
                              </m:r>
                              <m:r>
                                <a:rPr lang="en-IN" b="0" i="1" smtClean="0">
                                  <a:latin typeface="Cambria Math" panose="02040503050406030204" pitchFamily="18" charset="0"/>
                                </a:rPr>
                                <m:t>𝑙</m:t>
                              </m:r>
                              <m:r>
                                <a:rPr lang="en-IN" b="0" i="1" smtClean="0">
                                  <a:latin typeface="Cambria Math" panose="02040503050406030204" pitchFamily="18" charset="0"/>
                                </a:rPr>
                                <m:t>)</m:t>
                              </m:r>
                            </m:sup>
                          </m:sSubSup>
                        </m:e>
                      </m:d>
                    </m:oMath>
                  </m:oMathPara>
                </a14:m>
                <a:endParaRPr lang="en-IN" dirty="0"/>
              </a:p>
            </p:txBody>
          </p:sp>
        </mc:Choice>
        <mc:Fallback xmlns="">
          <p:sp>
            <p:nvSpPr>
              <p:cNvPr id="5" name="Rectangle 4"/>
              <p:cNvSpPr>
                <a:spLocks noRot="1" noChangeAspect="1" noMove="1" noResize="1" noEditPoints="1" noAdjustHandles="1" noChangeArrowheads="1" noChangeShapeType="1" noTextEdit="1"/>
              </p:cNvSpPr>
              <p:nvPr/>
            </p:nvSpPr>
            <p:spPr>
              <a:xfrm>
                <a:off x="1915928" y="3255394"/>
                <a:ext cx="3720186" cy="844975"/>
              </a:xfrm>
              <a:prstGeom prst="rect">
                <a:avLst/>
              </a:prstGeom>
              <a:blipFill rotWithShape="0">
                <a:blip r:embed="rId18"/>
                <a:stretch>
                  <a:fillRect/>
                </a:stretch>
              </a:blipFill>
            </p:spPr>
            <p:txBody>
              <a:bodyPr/>
              <a:lstStyle/>
              <a:p>
                <a:r>
                  <a:rPr lang="en-IN">
                    <a:noFill/>
                  </a:rPr>
                  <a:t> </a:t>
                </a:r>
              </a:p>
            </p:txBody>
          </p:sp>
        </mc:Fallback>
      </mc:AlternateContent>
      <p:sp>
        <p:nvSpPr>
          <p:cNvPr id="6" name="TextBox 5"/>
          <p:cNvSpPr txBox="1"/>
          <p:nvPr/>
        </p:nvSpPr>
        <p:spPr>
          <a:xfrm>
            <a:off x="6435925" y="3481039"/>
            <a:ext cx="654346" cy="369332"/>
          </a:xfrm>
          <a:prstGeom prst="rect">
            <a:avLst/>
          </a:prstGeom>
          <a:noFill/>
        </p:spPr>
        <p:txBody>
          <a:bodyPr wrap="none" rtlCol="0">
            <a:spAutoFit/>
          </a:bodyPr>
          <a:lstStyle/>
          <a:p>
            <a:r>
              <a:rPr lang="en-IN" dirty="0"/>
              <a:t>… (3)</a:t>
            </a:r>
          </a:p>
        </p:txBody>
      </p:sp>
      <mc:AlternateContent xmlns:mc="http://schemas.openxmlformats.org/markup-compatibility/2006" xmlns:a14="http://schemas.microsoft.com/office/drawing/2010/main">
        <mc:Choice Requires="a14">
          <p:sp>
            <p:nvSpPr>
              <p:cNvPr id="8" name="TextBox 7"/>
              <p:cNvSpPr txBox="1"/>
              <p:nvPr/>
            </p:nvSpPr>
            <p:spPr>
              <a:xfrm>
                <a:off x="793849" y="4184560"/>
                <a:ext cx="6610296" cy="600870"/>
              </a:xfrm>
              <a:prstGeom prst="rect">
                <a:avLst/>
              </a:prstGeom>
              <a:noFill/>
            </p:spPr>
            <p:txBody>
              <a:bodyPr wrap="square" rtlCol="0">
                <a:spAutoFit/>
              </a:bodyPr>
              <a:lstStyle/>
              <a:p>
                <a:r>
                  <a:rPr lang="en-IN" dirty="0"/>
                  <a:t>We know </a:t>
                </a:r>
                <a14:m>
                  <m:oMath xmlns:m="http://schemas.openxmlformats.org/officeDocument/2006/math">
                    <m:r>
                      <a:rPr lang="en-IN" i="1">
                        <a:latin typeface="Cambria Math" panose="02040503050406030204" pitchFamily="18" charset="0"/>
                      </a:rPr>
                      <m:t>𝑔</m:t>
                    </m:r>
                    <m:r>
                      <a:rPr lang="en-IN" i="1">
                        <a:latin typeface="Cambria Math" panose="02040503050406030204" pitchFamily="18" charset="0"/>
                      </a:rPr>
                      <m:t>′</m:t>
                    </m:r>
                    <m:d>
                      <m:dPr>
                        <m:ctrlPr>
                          <a:rPr lang="en-IN" i="1">
                            <a:latin typeface="Cambria Math" panose="02040503050406030204" pitchFamily="18" charset="0"/>
                          </a:rPr>
                        </m:ctrlPr>
                      </m:dPr>
                      <m:e>
                        <m:sSubSup>
                          <m:sSubSupPr>
                            <m:ctrlPr>
                              <a:rPr lang="en-IN" i="1">
                                <a:latin typeface="Cambria Math" panose="02040503050406030204" pitchFamily="18" charset="0"/>
                              </a:rPr>
                            </m:ctrlPr>
                          </m:sSubSupPr>
                          <m:e>
                            <m:r>
                              <a:rPr lang="en-IN" b="1" i="1">
                                <a:latin typeface="Cambria Math" panose="02040503050406030204" pitchFamily="18" charset="0"/>
                              </a:rPr>
                              <m:t>𝒂</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e>
                    </m:d>
                  </m:oMath>
                </a14:m>
                <a:r>
                  <a:rPr lang="en-IN" dirty="0"/>
                  <a:t> from forward pass, so we need </a:t>
                </a:r>
                <a14:m>
                  <m:oMath xmlns:m="http://schemas.openxmlformats.org/officeDocument/2006/math">
                    <m:f>
                      <m:fPr>
                        <m:ctrlPr>
                          <a:rPr lang="en-IN" i="1">
                            <a:solidFill>
                              <a:prstClr val="black"/>
                            </a:solidFill>
                            <a:latin typeface="Cambria Math" panose="02040503050406030204" pitchFamily="18" charset="0"/>
                          </a:rPr>
                        </m:ctrlPr>
                      </m:fPr>
                      <m:num>
                        <m:r>
                          <a:rPr lang="en-IN" i="1">
                            <a:solidFill>
                              <a:prstClr val="black"/>
                            </a:solidFill>
                            <a:latin typeface="Cambria Math" panose="02040503050406030204" pitchFamily="18" charset="0"/>
                          </a:rPr>
                          <m:t>𝜕</m:t>
                        </m:r>
                        <m:r>
                          <a:rPr lang="en-IN" i="1">
                            <a:solidFill>
                              <a:prstClr val="black"/>
                            </a:solidFill>
                            <a:latin typeface="Cambria Math" panose="02040503050406030204" pitchFamily="18" charset="0"/>
                          </a:rPr>
                          <m:t>𝐽</m:t>
                        </m:r>
                      </m:num>
                      <m:den>
                        <m:r>
                          <a:rPr lang="en-IN" i="1">
                            <a:solidFill>
                              <a:prstClr val="black"/>
                            </a:solidFill>
                            <a:latin typeface="Cambria Math" panose="02040503050406030204" pitchFamily="18" charset="0"/>
                          </a:rPr>
                          <m:t>𝜕</m:t>
                        </m:r>
                        <m:sSubSup>
                          <m:sSubSupPr>
                            <m:ctrlPr>
                              <a:rPr lang="en-IN" i="1">
                                <a:solidFill>
                                  <a:prstClr val="black"/>
                                </a:solidFill>
                                <a:latin typeface="Cambria Math" panose="02040503050406030204" pitchFamily="18" charset="0"/>
                              </a:rPr>
                            </m:ctrlPr>
                          </m:sSubSupPr>
                          <m:e>
                            <m:r>
                              <a:rPr lang="en-IN" b="1" i="1" smtClean="0">
                                <a:solidFill>
                                  <a:prstClr val="black"/>
                                </a:solidFill>
                                <a:latin typeface="Cambria Math" panose="02040503050406030204" pitchFamily="18" charset="0"/>
                              </a:rPr>
                              <m:t>𝒉</m:t>
                            </m:r>
                          </m:e>
                          <m:sub>
                            <m:r>
                              <a:rPr lang="en-IN" i="1">
                                <a:solidFill>
                                  <a:prstClr val="black"/>
                                </a:solidFill>
                                <a:latin typeface="Cambria Math" panose="02040503050406030204" pitchFamily="18" charset="0"/>
                              </a:rPr>
                              <m:t>𝑖</m:t>
                            </m:r>
                          </m:sub>
                          <m:sup>
                            <m:r>
                              <a:rPr lang="en-IN" i="1">
                                <a:solidFill>
                                  <a:prstClr val="black"/>
                                </a:solidFill>
                                <a:latin typeface="Cambria Math" panose="02040503050406030204" pitchFamily="18" charset="0"/>
                              </a:rPr>
                              <m:t>(</m:t>
                            </m:r>
                            <m:r>
                              <a:rPr lang="en-IN" i="1">
                                <a:solidFill>
                                  <a:prstClr val="black"/>
                                </a:solidFill>
                                <a:latin typeface="Cambria Math" panose="02040503050406030204" pitchFamily="18" charset="0"/>
                              </a:rPr>
                              <m:t>𝑙</m:t>
                            </m:r>
                            <m:r>
                              <a:rPr lang="en-IN" i="1">
                                <a:solidFill>
                                  <a:prstClr val="black"/>
                                </a:solidFill>
                                <a:latin typeface="Cambria Math" panose="02040503050406030204" pitchFamily="18" charset="0"/>
                              </a:rPr>
                              <m:t>)</m:t>
                            </m:r>
                          </m:sup>
                        </m:sSubSup>
                      </m:den>
                    </m:f>
                  </m:oMath>
                </a14:m>
                <a:endParaRPr lang="en-IN" dirty="0"/>
              </a:p>
            </p:txBody>
          </p:sp>
        </mc:Choice>
        <mc:Fallback xmlns="">
          <p:sp>
            <p:nvSpPr>
              <p:cNvPr id="8" name="TextBox 7"/>
              <p:cNvSpPr txBox="1">
                <a:spLocks noRot="1" noChangeAspect="1" noMove="1" noResize="1" noEditPoints="1" noAdjustHandles="1" noChangeArrowheads="1" noChangeShapeType="1" noTextEdit="1"/>
              </p:cNvSpPr>
              <p:nvPr/>
            </p:nvSpPr>
            <p:spPr>
              <a:xfrm>
                <a:off x="793849" y="4184560"/>
                <a:ext cx="6610296" cy="600870"/>
              </a:xfrm>
              <a:prstGeom prst="rect">
                <a:avLst/>
              </a:prstGeom>
              <a:blipFill rotWithShape="0">
                <a:blip r:embed="rId19"/>
                <a:stretch>
                  <a:fillRect l="-737" b="-1010"/>
                </a:stretch>
              </a:blipFill>
            </p:spPr>
            <p:txBody>
              <a:bodyPr/>
              <a:lstStyle/>
              <a:p>
                <a:r>
                  <a:rPr lang="en-IN">
                    <a:noFill/>
                  </a:rPr>
                  <a:t> </a:t>
                </a:r>
              </a:p>
            </p:txBody>
          </p:sp>
        </mc:Fallback>
      </mc:AlternateContent>
    </p:spTree>
    <p:extLst>
      <p:ext uri="{BB962C8B-B14F-4D97-AF65-F5344CB8AC3E}">
        <p14:creationId xmlns:p14="http://schemas.microsoft.com/office/powerpoint/2010/main" val="2786736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1861073" y="832857"/>
            <a:ext cx="8509299"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err="1">
                <a:solidFill>
                  <a:srgbClr val="434343"/>
                </a:solidFill>
              </a:rPr>
              <a:t>Backpropagation</a:t>
            </a:r>
            <a:endParaRPr sz="2800" dirty="0">
              <a:solidFill>
                <a:srgbClr val="434343"/>
              </a:solidFill>
            </a:endParaRPr>
          </a:p>
        </p:txBody>
      </p:sp>
      <p:sp>
        <p:nvSpPr>
          <p:cNvPr id="3" name="Footer Placeholder 2"/>
          <p:cNvSpPr>
            <a:spLocks noGrp="1"/>
          </p:cNvSpPr>
          <p:nvPr>
            <p:ph type="ftr" sz="quarter" idx="3"/>
          </p:nvPr>
        </p:nvSpPr>
        <p:spPr>
          <a:xfrm>
            <a:off x="2199486" y="6356350"/>
            <a:ext cx="8167606" cy="365125"/>
          </a:xfrm>
        </p:spPr>
        <p:txBody>
          <a:bodyPr/>
          <a:lstStyle/>
          <a:p>
            <a:r>
              <a:rPr lang="en-US"/>
              <a:t>CS21206 / FAIML | Perceptron and MLP (c) Abir Das, Ayan Chaudhury</a:t>
            </a:r>
          </a:p>
        </p:txBody>
      </p:sp>
      <p:sp>
        <p:nvSpPr>
          <p:cNvPr id="21" name="Slide Number Placeholder 20"/>
          <p:cNvSpPr>
            <a:spLocks noGrp="1"/>
          </p:cNvSpPr>
          <p:nvPr>
            <p:ph type="sldNum" sz="quarter" idx="4"/>
          </p:nvPr>
        </p:nvSpPr>
        <p:spPr>
          <a:xfrm>
            <a:off x="10757133" y="6356350"/>
            <a:ext cx="783956" cy="365125"/>
          </a:xfrm>
        </p:spPr>
        <p:txBody>
          <a:bodyPr/>
          <a:lstStyle/>
          <a:p>
            <a:fld id="{683B8651-0143-4140-839E-3D36292080E8}" type="slidenum">
              <a:rPr lang="en-US" smtClean="0"/>
              <a:t>31</a:t>
            </a:fld>
            <a:endParaRPr lang="en-US"/>
          </a:p>
        </p:txBody>
      </p:sp>
      <p:sp>
        <p:nvSpPr>
          <p:cNvPr id="2" name="Rectangle 1"/>
          <p:cNvSpPr/>
          <p:nvPr/>
        </p:nvSpPr>
        <p:spPr>
          <a:xfrm>
            <a:off x="682344" y="1520328"/>
            <a:ext cx="727824"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7" name="TextBox 6"/>
              <p:cNvSpPr txBox="1"/>
              <p:nvPr/>
            </p:nvSpPr>
            <p:spPr>
              <a:xfrm>
                <a:off x="772628" y="1862364"/>
                <a:ext cx="563488" cy="256480"/>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p>
                        <m:sSupPr>
                          <m:ctrlPr>
                            <a:rPr lang="en-US" sz="1600" b="0" i="1" smtClean="0">
                              <a:solidFill>
                                <a:schemeClr val="tx1"/>
                              </a:solidFill>
                              <a:latin typeface="Cambria Math" panose="02040503050406030204" pitchFamily="18" charset="0"/>
                            </a:rPr>
                          </m:ctrlPr>
                        </m:sSupPr>
                        <m:e>
                          <m:r>
                            <a:rPr lang="en-US" sz="1600" b="1" i="1" smtClean="0">
                              <a:solidFill>
                                <a:schemeClr val="tx1"/>
                              </a:solidFill>
                              <a:latin typeface="Cambria Math" panose="02040503050406030204" pitchFamily="18" charset="0"/>
                            </a:rPr>
                            <m:t>𝒉</m:t>
                          </m:r>
                        </m:e>
                        <m:sup>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𝑙</m:t>
                          </m:r>
                          <m:r>
                            <a:rPr lang="en-US" sz="1600" b="0" i="1" smtClean="0">
                              <a:solidFill>
                                <a:schemeClr val="tx1"/>
                              </a:solidFill>
                              <a:latin typeface="Cambria Math" panose="02040503050406030204" pitchFamily="18" charset="0"/>
                            </a:rPr>
                            <m:t>−1)</m:t>
                          </m:r>
                        </m:sup>
                      </m:sSup>
                    </m:oMath>
                  </m:oMathPara>
                </a14:m>
                <a:endParaRPr lang="en-IN" sz="1600" dirty="0">
                  <a:solidFill>
                    <a:schemeClr val="tx1"/>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72628" y="1862364"/>
                <a:ext cx="563488" cy="256480"/>
              </a:xfrm>
              <a:prstGeom prst="rect">
                <a:avLst/>
              </a:prstGeom>
              <a:blipFill rotWithShape="0">
                <a:blip r:embed="rId3"/>
                <a:stretch>
                  <a:fillRect l="-13043" t="-4762" r="-3261" b="-7143"/>
                </a:stretch>
              </a:blipFill>
            </p:spPr>
            <p:txBody>
              <a:bodyPr/>
              <a:lstStyle/>
              <a:p>
                <a:r>
                  <a:rPr lang="en-IN">
                    <a:noFill/>
                  </a:rPr>
                  <a:t> </a:t>
                </a:r>
              </a:p>
            </p:txBody>
          </p:sp>
        </mc:Fallback>
      </mc:AlternateContent>
      <p:cxnSp>
        <p:nvCxnSpPr>
          <p:cNvPr id="14" name="Straight Arrow Connector 13"/>
          <p:cNvCxnSpPr>
            <a:stCxn id="2" idx="3"/>
            <a:endCxn id="83" idx="1"/>
          </p:cNvCxnSpPr>
          <p:nvPr/>
        </p:nvCxnSpPr>
        <p:spPr>
          <a:xfrm>
            <a:off x="1410168" y="2021596"/>
            <a:ext cx="900620"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1421185" y="1744383"/>
                <a:ext cx="832536"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𝑾</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1" i="1" smtClean="0">
                              <a:latin typeface="Cambria Math" panose="02040503050406030204" pitchFamily="18" charset="0"/>
                            </a:rPr>
                            <m:t>𝒃</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m:t>
                          </m:r>
                        </m:sup>
                      </m:sSup>
                    </m:oMath>
                  </m:oMathPara>
                </a14:m>
                <a:endParaRPr lang="en-IN" sz="1600" dirty="0"/>
              </a:p>
            </p:txBody>
          </p:sp>
        </mc:Choice>
        <mc:Fallback xmlns="">
          <p:sp>
            <p:nvSpPr>
              <p:cNvPr id="16" name="TextBox 15"/>
              <p:cNvSpPr txBox="1">
                <a:spLocks noRot="1" noChangeAspect="1" noMove="1" noResize="1" noEditPoints="1" noAdjustHandles="1" noChangeArrowheads="1" noChangeShapeType="1" noTextEdit="1"/>
              </p:cNvSpPr>
              <p:nvPr/>
            </p:nvSpPr>
            <p:spPr>
              <a:xfrm>
                <a:off x="1421185" y="1744383"/>
                <a:ext cx="832536" cy="256480"/>
              </a:xfrm>
              <a:prstGeom prst="rect">
                <a:avLst/>
              </a:prstGeom>
              <a:blipFill rotWithShape="0">
                <a:blip r:embed="rId4"/>
                <a:stretch>
                  <a:fillRect l="-5109" t="-4762" r="-4380" b="-9524"/>
                </a:stretch>
              </a:blipFill>
            </p:spPr>
            <p:txBody>
              <a:bodyPr/>
              <a:lstStyle/>
              <a:p>
                <a:r>
                  <a:rPr lang="en-IN">
                    <a:noFill/>
                  </a:rPr>
                  <a:t> </a:t>
                </a:r>
              </a:p>
            </p:txBody>
          </p:sp>
        </mc:Fallback>
      </mc:AlternateContent>
      <p:sp>
        <p:nvSpPr>
          <p:cNvPr id="83" name="Rectangle 82"/>
          <p:cNvSpPr/>
          <p:nvPr/>
        </p:nvSpPr>
        <p:spPr>
          <a:xfrm>
            <a:off x="2310788" y="1520328"/>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19" name="TextBox 18"/>
              <p:cNvSpPr txBox="1"/>
              <p:nvPr/>
            </p:nvSpPr>
            <p:spPr>
              <a:xfrm>
                <a:off x="2323412" y="1905847"/>
                <a:ext cx="366319"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𝒂</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m:t>
                          </m:r>
                        </m:sup>
                      </m:sSup>
                    </m:oMath>
                  </m:oMathPara>
                </a14:m>
                <a:endParaRPr lang="en-IN" sz="1600" dirty="0"/>
              </a:p>
            </p:txBody>
          </p:sp>
        </mc:Choice>
        <mc:Fallback xmlns="">
          <p:sp>
            <p:nvSpPr>
              <p:cNvPr id="19" name="TextBox 18"/>
              <p:cNvSpPr txBox="1">
                <a:spLocks noRot="1" noChangeAspect="1" noMove="1" noResize="1" noEditPoints="1" noAdjustHandles="1" noChangeArrowheads="1" noChangeShapeType="1" noTextEdit="1"/>
              </p:cNvSpPr>
              <p:nvPr/>
            </p:nvSpPr>
            <p:spPr>
              <a:xfrm>
                <a:off x="2323412" y="1905847"/>
                <a:ext cx="366319" cy="256480"/>
              </a:xfrm>
              <a:prstGeom prst="rect">
                <a:avLst/>
              </a:prstGeom>
              <a:blipFill rotWithShape="0">
                <a:blip r:embed="rId5"/>
                <a:stretch>
                  <a:fillRect l="-6667" t="-4762" r="-10000"/>
                </a:stretch>
              </a:blipFill>
            </p:spPr>
            <p:txBody>
              <a:bodyPr/>
              <a:lstStyle/>
              <a:p>
                <a:r>
                  <a:rPr lang="en-IN">
                    <a:noFill/>
                  </a:rPr>
                  <a:t> </a:t>
                </a:r>
              </a:p>
            </p:txBody>
          </p:sp>
        </mc:Fallback>
      </mc:AlternateContent>
      <p:sp>
        <p:nvSpPr>
          <p:cNvPr id="85" name="Rectangle 84"/>
          <p:cNvSpPr/>
          <p:nvPr/>
        </p:nvSpPr>
        <p:spPr>
          <a:xfrm>
            <a:off x="3114872" y="1520328"/>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86" name="TextBox 85"/>
              <p:cNvSpPr txBox="1"/>
              <p:nvPr/>
            </p:nvSpPr>
            <p:spPr>
              <a:xfrm>
                <a:off x="3125889" y="1905847"/>
                <a:ext cx="367921"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𝒉</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m:t>
                          </m:r>
                        </m:sup>
                      </m:sSup>
                    </m:oMath>
                  </m:oMathPara>
                </a14:m>
                <a:endParaRPr lang="en-IN" sz="1600" dirty="0"/>
              </a:p>
            </p:txBody>
          </p:sp>
        </mc:Choice>
        <mc:Fallback xmlns="">
          <p:sp>
            <p:nvSpPr>
              <p:cNvPr id="86" name="TextBox 85"/>
              <p:cNvSpPr txBox="1">
                <a:spLocks noRot="1" noChangeAspect="1" noMove="1" noResize="1" noEditPoints="1" noAdjustHandles="1" noChangeArrowheads="1" noChangeShapeType="1" noTextEdit="1"/>
              </p:cNvSpPr>
              <p:nvPr/>
            </p:nvSpPr>
            <p:spPr>
              <a:xfrm>
                <a:off x="3125889" y="1905847"/>
                <a:ext cx="367921" cy="256480"/>
              </a:xfrm>
              <a:prstGeom prst="rect">
                <a:avLst/>
              </a:prstGeom>
              <a:blipFill rotWithShape="0">
                <a:blip r:embed="rId6"/>
                <a:stretch>
                  <a:fillRect l="-15000" t="-4762" r="-10000" b="-7143"/>
                </a:stretch>
              </a:blipFill>
            </p:spPr>
            <p:txBody>
              <a:bodyPr/>
              <a:lstStyle/>
              <a:p>
                <a:r>
                  <a:rPr lang="en-IN">
                    <a:noFill/>
                  </a:rPr>
                  <a:t> </a:t>
                </a:r>
              </a:p>
            </p:txBody>
          </p:sp>
        </mc:Fallback>
      </mc:AlternateContent>
      <p:cxnSp>
        <p:nvCxnSpPr>
          <p:cNvPr id="87" name="Straight Arrow Connector 86"/>
          <p:cNvCxnSpPr>
            <a:stCxn id="83" idx="3"/>
            <a:endCxn id="85" idx="1"/>
          </p:cNvCxnSpPr>
          <p:nvPr/>
        </p:nvCxnSpPr>
        <p:spPr>
          <a:xfrm>
            <a:off x="2696379" y="2021596"/>
            <a:ext cx="4184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p:cNvSpPr txBox="1"/>
              <p:nvPr/>
            </p:nvSpPr>
            <p:spPr>
              <a:xfrm>
                <a:off x="2705069" y="1744383"/>
                <a:ext cx="42082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𝑔</m:t>
                      </m:r>
                      <m:r>
                        <a:rPr lang="en-US" sz="1600" b="0" i="1" smtClean="0">
                          <a:latin typeface="Cambria Math" panose="02040503050406030204" pitchFamily="18" charset="0"/>
                        </a:rPr>
                        <m:t>(.)</m:t>
                      </m:r>
                    </m:oMath>
                  </m:oMathPara>
                </a14:m>
                <a:endParaRPr lang="en-IN" sz="1600" dirty="0"/>
              </a:p>
            </p:txBody>
          </p:sp>
        </mc:Choice>
        <mc:Fallback xmlns="">
          <p:sp>
            <p:nvSpPr>
              <p:cNvPr id="23" name="TextBox 22"/>
              <p:cNvSpPr txBox="1">
                <a:spLocks noRot="1" noChangeAspect="1" noMove="1" noResize="1" noEditPoints="1" noAdjustHandles="1" noChangeArrowheads="1" noChangeShapeType="1" noTextEdit="1"/>
              </p:cNvSpPr>
              <p:nvPr/>
            </p:nvSpPr>
            <p:spPr>
              <a:xfrm>
                <a:off x="2705069" y="1744383"/>
                <a:ext cx="420820" cy="246221"/>
              </a:xfrm>
              <a:prstGeom prst="rect">
                <a:avLst/>
              </a:prstGeom>
              <a:blipFill rotWithShape="0">
                <a:blip r:embed="rId7"/>
                <a:stretch>
                  <a:fillRect l="-11594" r="-15942" b="-31707"/>
                </a:stretch>
              </a:blipFill>
            </p:spPr>
            <p:txBody>
              <a:bodyPr/>
              <a:lstStyle/>
              <a:p>
                <a:r>
                  <a:rPr lang="en-IN">
                    <a:noFill/>
                  </a:rPr>
                  <a:t> </a:t>
                </a:r>
              </a:p>
            </p:txBody>
          </p:sp>
        </mc:Fallback>
      </mc:AlternateContent>
      <p:cxnSp>
        <p:nvCxnSpPr>
          <p:cNvPr id="91" name="Straight Arrow Connector 90"/>
          <p:cNvCxnSpPr>
            <a:stCxn id="85" idx="3"/>
            <a:endCxn id="93" idx="1"/>
          </p:cNvCxnSpPr>
          <p:nvPr/>
        </p:nvCxnSpPr>
        <p:spPr>
          <a:xfrm>
            <a:off x="3500463" y="2021596"/>
            <a:ext cx="1197069"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p:cNvSpPr txBox="1"/>
              <p:nvPr/>
            </p:nvSpPr>
            <p:spPr>
              <a:xfrm>
                <a:off x="3499453" y="1744383"/>
                <a:ext cx="1223668"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𝑾</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+1)</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1" i="1" smtClean="0">
                              <a:latin typeface="Cambria Math" panose="02040503050406030204" pitchFamily="18" charset="0"/>
                            </a:rPr>
                            <m:t>𝒃</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+1)</m:t>
                          </m:r>
                        </m:sup>
                      </m:sSup>
                    </m:oMath>
                  </m:oMathPara>
                </a14:m>
                <a:endParaRPr lang="en-IN" sz="1600" dirty="0"/>
              </a:p>
            </p:txBody>
          </p:sp>
        </mc:Choice>
        <mc:Fallback xmlns="">
          <p:sp>
            <p:nvSpPr>
              <p:cNvPr id="92" name="TextBox 91"/>
              <p:cNvSpPr txBox="1">
                <a:spLocks noRot="1" noChangeAspect="1" noMove="1" noResize="1" noEditPoints="1" noAdjustHandles="1" noChangeArrowheads="1" noChangeShapeType="1" noTextEdit="1"/>
              </p:cNvSpPr>
              <p:nvPr/>
            </p:nvSpPr>
            <p:spPr>
              <a:xfrm>
                <a:off x="3499453" y="1744383"/>
                <a:ext cx="1223668" cy="256480"/>
              </a:xfrm>
              <a:prstGeom prst="rect">
                <a:avLst/>
              </a:prstGeom>
              <a:blipFill rotWithShape="0">
                <a:blip r:embed="rId8"/>
                <a:stretch>
                  <a:fillRect l="-2985" t="-4762" r="-2488" b="-9524"/>
                </a:stretch>
              </a:blipFill>
            </p:spPr>
            <p:txBody>
              <a:bodyPr/>
              <a:lstStyle/>
              <a:p>
                <a:r>
                  <a:rPr lang="en-IN">
                    <a:noFill/>
                  </a:rPr>
                  <a:t> </a:t>
                </a:r>
              </a:p>
            </p:txBody>
          </p:sp>
        </mc:Fallback>
      </mc:AlternateContent>
      <p:sp>
        <p:nvSpPr>
          <p:cNvPr id="93" name="Rectangle 92"/>
          <p:cNvSpPr/>
          <p:nvPr/>
        </p:nvSpPr>
        <p:spPr>
          <a:xfrm>
            <a:off x="4697532" y="1520328"/>
            <a:ext cx="575917"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4" name="Rectangle 93"/>
          <p:cNvSpPr/>
          <p:nvPr/>
        </p:nvSpPr>
        <p:spPr>
          <a:xfrm>
            <a:off x="5699921" y="1525836"/>
            <a:ext cx="522919"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95" name="TextBox 94"/>
              <p:cNvSpPr txBox="1"/>
              <p:nvPr/>
            </p:nvSpPr>
            <p:spPr>
              <a:xfrm>
                <a:off x="5699921" y="1923847"/>
                <a:ext cx="563488"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𝒉</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+1)</m:t>
                          </m:r>
                        </m:sup>
                      </m:sSup>
                    </m:oMath>
                  </m:oMathPara>
                </a14:m>
                <a:endParaRPr lang="en-IN" sz="1600" dirty="0"/>
              </a:p>
            </p:txBody>
          </p:sp>
        </mc:Choice>
        <mc:Fallback xmlns="">
          <p:sp>
            <p:nvSpPr>
              <p:cNvPr id="95" name="TextBox 94"/>
              <p:cNvSpPr txBox="1">
                <a:spLocks noRot="1" noChangeAspect="1" noMove="1" noResize="1" noEditPoints="1" noAdjustHandles="1" noChangeArrowheads="1" noChangeShapeType="1" noTextEdit="1"/>
              </p:cNvSpPr>
              <p:nvPr/>
            </p:nvSpPr>
            <p:spPr>
              <a:xfrm>
                <a:off x="5699921" y="1923847"/>
                <a:ext cx="563488" cy="256480"/>
              </a:xfrm>
              <a:prstGeom prst="rect">
                <a:avLst/>
              </a:prstGeom>
              <a:blipFill rotWithShape="0">
                <a:blip r:embed="rId9"/>
                <a:stretch>
                  <a:fillRect l="-8696" t="-4762" r="-7609" b="-7143"/>
                </a:stretch>
              </a:blipFill>
            </p:spPr>
            <p:txBody>
              <a:bodyPr/>
              <a:lstStyle/>
              <a:p>
                <a:r>
                  <a:rPr lang="en-IN">
                    <a:noFill/>
                  </a:rPr>
                  <a:t> </a:t>
                </a:r>
              </a:p>
            </p:txBody>
          </p:sp>
        </mc:Fallback>
      </mc:AlternateContent>
      <p:cxnSp>
        <p:nvCxnSpPr>
          <p:cNvPr id="96" name="Straight Arrow Connector 95"/>
          <p:cNvCxnSpPr/>
          <p:nvPr/>
        </p:nvCxnSpPr>
        <p:spPr>
          <a:xfrm>
            <a:off x="5281428" y="2021596"/>
            <a:ext cx="4184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p:cNvSpPr txBox="1"/>
              <p:nvPr/>
            </p:nvSpPr>
            <p:spPr>
              <a:xfrm>
                <a:off x="5290118" y="1744383"/>
                <a:ext cx="42082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𝑔</m:t>
                      </m:r>
                      <m:r>
                        <a:rPr lang="en-US" sz="1600" b="0" i="1" smtClean="0">
                          <a:latin typeface="Cambria Math" panose="02040503050406030204" pitchFamily="18" charset="0"/>
                        </a:rPr>
                        <m:t>(.)</m:t>
                      </m:r>
                    </m:oMath>
                  </m:oMathPara>
                </a14:m>
                <a:endParaRPr lang="en-IN" sz="1600" dirty="0"/>
              </a:p>
            </p:txBody>
          </p:sp>
        </mc:Choice>
        <mc:Fallback xmlns="">
          <p:sp>
            <p:nvSpPr>
              <p:cNvPr id="97" name="TextBox 96"/>
              <p:cNvSpPr txBox="1">
                <a:spLocks noRot="1" noChangeAspect="1" noMove="1" noResize="1" noEditPoints="1" noAdjustHandles="1" noChangeArrowheads="1" noChangeShapeType="1" noTextEdit="1"/>
              </p:cNvSpPr>
              <p:nvPr/>
            </p:nvSpPr>
            <p:spPr>
              <a:xfrm>
                <a:off x="5290118" y="1744383"/>
                <a:ext cx="420820" cy="246221"/>
              </a:xfrm>
              <a:prstGeom prst="rect">
                <a:avLst/>
              </a:prstGeom>
              <a:blipFill rotWithShape="0">
                <a:blip r:embed="rId10"/>
                <a:stretch>
                  <a:fillRect l="-11594" r="-15942" b="-3170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2" name="TextBox 101"/>
              <p:cNvSpPr txBox="1"/>
              <p:nvPr/>
            </p:nvSpPr>
            <p:spPr>
              <a:xfrm>
                <a:off x="4711564" y="1905847"/>
                <a:ext cx="561885"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𝒂</m:t>
                          </m:r>
                        </m:e>
                        <m:sup>
                          <m:r>
                            <a:rPr lang="en-US" sz="1600" b="0" i="1" smtClean="0">
                              <a:latin typeface="Cambria Math" panose="02040503050406030204" pitchFamily="18" charset="0"/>
                            </a:rPr>
                            <m:t>(</m:t>
                          </m:r>
                          <m:r>
                            <a:rPr lang="en-US" sz="1600" b="0" i="1" smtClean="0">
                              <a:latin typeface="Cambria Math" panose="02040503050406030204" pitchFamily="18" charset="0"/>
                            </a:rPr>
                            <m:t>𝑙</m:t>
                          </m:r>
                          <m:r>
                            <a:rPr lang="en-US" sz="1600" b="0" i="1" smtClean="0">
                              <a:latin typeface="Cambria Math" panose="02040503050406030204" pitchFamily="18" charset="0"/>
                            </a:rPr>
                            <m:t>+1)</m:t>
                          </m:r>
                        </m:sup>
                      </m:sSup>
                    </m:oMath>
                  </m:oMathPara>
                </a14:m>
                <a:endParaRPr lang="en-IN" sz="1600" dirty="0"/>
              </a:p>
            </p:txBody>
          </p:sp>
        </mc:Choice>
        <mc:Fallback xmlns="">
          <p:sp>
            <p:nvSpPr>
              <p:cNvPr id="102" name="TextBox 101"/>
              <p:cNvSpPr txBox="1">
                <a:spLocks noRot="1" noChangeAspect="1" noMove="1" noResize="1" noEditPoints="1" noAdjustHandles="1" noChangeArrowheads="1" noChangeShapeType="1" noTextEdit="1"/>
              </p:cNvSpPr>
              <p:nvPr/>
            </p:nvSpPr>
            <p:spPr>
              <a:xfrm>
                <a:off x="4711564" y="1905847"/>
                <a:ext cx="561885" cy="256480"/>
              </a:xfrm>
              <a:prstGeom prst="rect">
                <a:avLst/>
              </a:prstGeom>
              <a:blipFill rotWithShape="0">
                <a:blip r:embed="rId11"/>
                <a:stretch>
                  <a:fillRect l="-5435" t="-4762" r="-5435"/>
                </a:stretch>
              </a:blipFill>
            </p:spPr>
            <p:txBody>
              <a:bodyPr/>
              <a:lstStyle/>
              <a:p>
                <a:r>
                  <a:rPr lang="en-IN">
                    <a:noFill/>
                  </a:rPr>
                  <a:t> </a:t>
                </a:r>
              </a:p>
            </p:txBody>
          </p:sp>
        </mc:Fallback>
      </mc:AlternateContent>
      <p:cxnSp>
        <p:nvCxnSpPr>
          <p:cNvPr id="103" name="Straight Arrow Connector 102"/>
          <p:cNvCxnSpPr/>
          <p:nvPr/>
        </p:nvCxnSpPr>
        <p:spPr>
          <a:xfrm>
            <a:off x="6239742" y="2021596"/>
            <a:ext cx="4184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endCxn id="106" idx="1"/>
          </p:cNvCxnSpPr>
          <p:nvPr/>
        </p:nvCxnSpPr>
        <p:spPr>
          <a:xfrm>
            <a:off x="7239865" y="2021596"/>
            <a:ext cx="888593"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 name="TextBox 104"/>
              <p:cNvSpPr txBox="1"/>
              <p:nvPr/>
            </p:nvSpPr>
            <p:spPr>
              <a:xfrm>
                <a:off x="7238855" y="1744383"/>
                <a:ext cx="888064"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𝑾</m:t>
                          </m:r>
                        </m:e>
                        <m:sup>
                          <m:r>
                            <a:rPr lang="en-US" sz="1600" b="0" i="1" smtClean="0">
                              <a:latin typeface="Cambria Math" panose="02040503050406030204" pitchFamily="18" charset="0"/>
                            </a:rPr>
                            <m:t>(</m:t>
                          </m:r>
                          <m:r>
                            <a:rPr lang="en-US" sz="1600" b="0" i="1" smtClean="0">
                              <a:latin typeface="Cambria Math" panose="02040503050406030204" pitchFamily="18" charset="0"/>
                            </a:rPr>
                            <m:t>𝐿</m:t>
                          </m:r>
                          <m:r>
                            <a:rPr lang="en-US" sz="1600" b="0" i="1" smtClean="0">
                              <a:latin typeface="Cambria Math" panose="02040503050406030204" pitchFamily="18" charset="0"/>
                            </a:rPr>
                            <m:t>)</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1" i="1" smtClean="0">
                              <a:latin typeface="Cambria Math" panose="02040503050406030204" pitchFamily="18" charset="0"/>
                            </a:rPr>
                            <m:t>𝒃</m:t>
                          </m:r>
                        </m:e>
                        <m:sup>
                          <m:r>
                            <a:rPr lang="en-US" sz="1600" b="0" i="1" smtClean="0">
                              <a:latin typeface="Cambria Math" panose="02040503050406030204" pitchFamily="18" charset="0"/>
                            </a:rPr>
                            <m:t>(</m:t>
                          </m:r>
                          <m:r>
                            <a:rPr lang="en-US" sz="1600" b="0" i="1" smtClean="0">
                              <a:latin typeface="Cambria Math" panose="02040503050406030204" pitchFamily="18" charset="0"/>
                            </a:rPr>
                            <m:t>𝐿</m:t>
                          </m:r>
                          <m:r>
                            <a:rPr lang="en-US" sz="1600" b="0" i="1" smtClean="0">
                              <a:latin typeface="Cambria Math" panose="02040503050406030204" pitchFamily="18" charset="0"/>
                            </a:rPr>
                            <m:t>)</m:t>
                          </m:r>
                        </m:sup>
                      </m:sSup>
                    </m:oMath>
                  </m:oMathPara>
                </a14:m>
                <a:endParaRPr lang="en-IN" sz="1600" dirty="0"/>
              </a:p>
            </p:txBody>
          </p:sp>
        </mc:Choice>
        <mc:Fallback xmlns="">
          <p:sp>
            <p:nvSpPr>
              <p:cNvPr id="105" name="TextBox 104"/>
              <p:cNvSpPr txBox="1">
                <a:spLocks noRot="1" noChangeAspect="1" noMove="1" noResize="1" noEditPoints="1" noAdjustHandles="1" noChangeArrowheads="1" noChangeShapeType="1" noTextEdit="1"/>
              </p:cNvSpPr>
              <p:nvPr/>
            </p:nvSpPr>
            <p:spPr>
              <a:xfrm>
                <a:off x="7238855" y="1744383"/>
                <a:ext cx="888064" cy="256480"/>
              </a:xfrm>
              <a:prstGeom prst="rect">
                <a:avLst/>
              </a:prstGeom>
              <a:blipFill rotWithShape="0">
                <a:blip r:embed="rId12"/>
                <a:stretch>
                  <a:fillRect l="-4795" t="-4762" r="-4110" b="-9524"/>
                </a:stretch>
              </a:blipFill>
            </p:spPr>
            <p:txBody>
              <a:bodyPr/>
              <a:lstStyle/>
              <a:p>
                <a:r>
                  <a:rPr lang="en-IN">
                    <a:noFill/>
                  </a:rPr>
                  <a:t> </a:t>
                </a:r>
              </a:p>
            </p:txBody>
          </p:sp>
        </mc:Fallback>
      </mc:AlternateContent>
      <p:sp>
        <p:nvSpPr>
          <p:cNvPr id="106" name="Rectangle 105"/>
          <p:cNvSpPr/>
          <p:nvPr/>
        </p:nvSpPr>
        <p:spPr>
          <a:xfrm>
            <a:off x="8128458" y="1520328"/>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08" name="Straight Arrow Connector 107"/>
          <p:cNvCxnSpPr/>
          <p:nvPr/>
        </p:nvCxnSpPr>
        <p:spPr>
          <a:xfrm>
            <a:off x="8514049" y="2021596"/>
            <a:ext cx="486739" cy="5508"/>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p:cNvSpPr txBox="1"/>
              <p:nvPr/>
            </p:nvSpPr>
            <p:spPr>
              <a:xfrm>
                <a:off x="8566807" y="1744383"/>
                <a:ext cx="354777" cy="246221"/>
              </a:xfrm>
              <a:prstGeom prst="rect">
                <a:avLst/>
              </a:prstGeom>
              <a:noFill/>
            </p:spPr>
            <p:txBody>
              <a:bodyPr wrap="none" lIns="0" tIns="0" rIns="0" bIns="0" rtlCol="0">
                <a:spAutoFit/>
              </a:bodyPr>
              <a:lstStyle/>
              <a:p>
                <a:r>
                  <a:rPr lang="en-US" sz="1600" b="0" dirty="0"/>
                  <a:t>o</a:t>
                </a:r>
                <a14:m>
                  <m:oMath xmlns:m="http://schemas.openxmlformats.org/officeDocument/2006/math">
                    <m:r>
                      <a:rPr lang="en-US" sz="1600" b="0" i="1" smtClean="0">
                        <a:latin typeface="Cambria Math" panose="02040503050406030204" pitchFamily="18" charset="0"/>
                      </a:rPr>
                      <m:t>(.)</m:t>
                    </m:r>
                  </m:oMath>
                </a14:m>
                <a:endParaRPr lang="en-IN" sz="1600" dirty="0"/>
              </a:p>
            </p:txBody>
          </p:sp>
        </mc:Choice>
        <mc:Fallback xmlns="">
          <p:sp>
            <p:nvSpPr>
              <p:cNvPr id="109" name="TextBox 108"/>
              <p:cNvSpPr txBox="1">
                <a:spLocks noRot="1" noChangeAspect="1" noMove="1" noResize="1" noEditPoints="1" noAdjustHandles="1" noChangeArrowheads="1" noChangeShapeType="1" noTextEdit="1"/>
              </p:cNvSpPr>
              <p:nvPr/>
            </p:nvSpPr>
            <p:spPr>
              <a:xfrm>
                <a:off x="8566807" y="1744383"/>
                <a:ext cx="354777" cy="246221"/>
              </a:xfrm>
              <a:prstGeom prst="rect">
                <a:avLst/>
              </a:prstGeom>
              <a:blipFill rotWithShape="0">
                <a:blip r:embed="rId13"/>
                <a:stretch>
                  <a:fillRect l="-33898" t="-24390" r="-23729" b="-4878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0" name="TextBox 109"/>
              <p:cNvSpPr txBox="1"/>
              <p:nvPr/>
            </p:nvSpPr>
            <p:spPr>
              <a:xfrm>
                <a:off x="8142490" y="1905847"/>
                <a:ext cx="394082" cy="2564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latin typeface="Cambria Math" panose="02040503050406030204" pitchFamily="18" charset="0"/>
                            </a:rPr>
                          </m:ctrlPr>
                        </m:sSupPr>
                        <m:e>
                          <m:r>
                            <a:rPr lang="en-US" sz="1600" b="1" i="1" smtClean="0">
                              <a:latin typeface="Cambria Math" panose="02040503050406030204" pitchFamily="18" charset="0"/>
                            </a:rPr>
                            <m:t>𝒂</m:t>
                          </m:r>
                        </m:e>
                        <m:sup>
                          <m:r>
                            <a:rPr lang="en-US" sz="1600" b="0" i="1" smtClean="0">
                              <a:latin typeface="Cambria Math" panose="02040503050406030204" pitchFamily="18" charset="0"/>
                            </a:rPr>
                            <m:t>(</m:t>
                          </m:r>
                          <m:r>
                            <a:rPr lang="en-US" sz="1600" b="0" i="1" smtClean="0">
                              <a:latin typeface="Cambria Math" panose="02040503050406030204" pitchFamily="18" charset="0"/>
                            </a:rPr>
                            <m:t>𝐿</m:t>
                          </m:r>
                          <m:r>
                            <a:rPr lang="en-US" sz="1600" b="0" i="1" smtClean="0">
                              <a:latin typeface="Cambria Math" panose="02040503050406030204" pitchFamily="18" charset="0"/>
                            </a:rPr>
                            <m:t>)</m:t>
                          </m:r>
                        </m:sup>
                      </m:sSup>
                    </m:oMath>
                  </m:oMathPara>
                </a14:m>
                <a:endParaRPr lang="en-IN" sz="1600" dirty="0"/>
              </a:p>
            </p:txBody>
          </p:sp>
        </mc:Choice>
        <mc:Fallback xmlns="">
          <p:sp>
            <p:nvSpPr>
              <p:cNvPr id="110" name="TextBox 109"/>
              <p:cNvSpPr txBox="1">
                <a:spLocks noRot="1" noChangeAspect="1" noMove="1" noResize="1" noEditPoints="1" noAdjustHandles="1" noChangeArrowheads="1" noChangeShapeType="1" noTextEdit="1"/>
              </p:cNvSpPr>
              <p:nvPr/>
            </p:nvSpPr>
            <p:spPr>
              <a:xfrm>
                <a:off x="8142490" y="1905847"/>
                <a:ext cx="394082" cy="256480"/>
              </a:xfrm>
              <a:prstGeom prst="rect">
                <a:avLst/>
              </a:prstGeom>
              <a:blipFill rotWithShape="0">
                <a:blip r:embed="rId14"/>
                <a:stretch>
                  <a:fillRect l="-7813" t="-4762" r="-93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1" name="TextBox 110"/>
              <p:cNvSpPr txBox="1"/>
              <p:nvPr/>
            </p:nvSpPr>
            <p:spPr>
              <a:xfrm>
                <a:off x="9006114" y="1877752"/>
                <a:ext cx="1044260" cy="24622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𝒚</m:t>
                      </m:r>
                      <m:r>
                        <a:rPr lang="en-US" sz="1600" b="1" i="1" smtClean="0">
                          <a:latin typeface="Cambria Math" panose="02040503050406030204" pitchFamily="18" charset="0"/>
                        </a:rPr>
                        <m:t>=</m:t>
                      </m:r>
                      <m:r>
                        <a:rPr lang="en-US" sz="1600" b="1" i="1" smtClean="0">
                          <a:latin typeface="Cambria Math" panose="02040503050406030204" pitchFamily="18" charset="0"/>
                        </a:rPr>
                        <m:t>𝒇</m:t>
                      </m:r>
                      <m:r>
                        <a:rPr lang="en-US" sz="1600" b="1" i="1" smtClean="0">
                          <a:latin typeface="Cambria Math" panose="02040503050406030204" pitchFamily="18" charset="0"/>
                        </a:rPr>
                        <m:t>(</m:t>
                      </m:r>
                      <m:r>
                        <a:rPr lang="en-US" sz="1600" b="1" i="1" smtClean="0">
                          <a:latin typeface="Cambria Math" panose="02040503050406030204" pitchFamily="18" charset="0"/>
                        </a:rPr>
                        <m:t>𝒙</m:t>
                      </m:r>
                      <m:r>
                        <a:rPr lang="en-US" sz="1600" b="1" i="1" smtClean="0">
                          <a:latin typeface="Cambria Math" panose="02040503050406030204" pitchFamily="18" charset="0"/>
                        </a:rPr>
                        <m:t>, </m:t>
                      </m:r>
                      <m:r>
                        <a:rPr lang="en-US" sz="1600" b="1" i="1" smtClean="0">
                          <a:latin typeface="Cambria Math" panose="02040503050406030204" pitchFamily="18" charset="0"/>
                        </a:rPr>
                        <m:t>𝜽</m:t>
                      </m:r>
                      <m:r>
                        <a:rPr lang="en-US" sz="1600" b="1" i="1" smtClean="0">
                          <a:latin typeface="Cambria Math" panose="02040503050406030204" pitchFamily="18" charset="0"/>
                        </a:rPr>
                        <m:t>)</m:t>
                      </m:r>
                    </m:oMath>
                  </m:oMathPara>
                </a14:m>
                <a:endParaRPr lang="en-US" sz="1600" b="1" i="1" dirty="0">
                  <a:latin typeface="Cambria Math" panose="02040503050406030204" pitchFamily="18" charset="0"/>
                </a:endParaRPr>
              </a:p>
            </p:txBody>
          </p:sp>
        </mc:Choice>
        <mc:Fallback xmlns="">
          <p:sp>
            <p:nvSpPr>
              <p:cNvPr id="111" name="TextBox 110"/>
              <p:cNvSpPr txBox="1">
                <a:spLocks noRot="1" noChangeAspect="1" noMove="1" noResize="1" noEditPoints="1" noAdjustHandles="1" noChangeArrowheads="1" noChangeShapeType="1" noTextEdit="1"/>
              </p:cNvSpPr>
              <p:nvPr/>
            </p:nvSpPr>
            <p:spPr>
              <a:xfrm>
                <a:off x="9006114" y="1877752"/>
                <a:ext cx="1044260" cy="246221"/>
              </a:xfrm>
              <a:prstGeom prst="rect">
                <a:avLst/>
              </a:prstGeom>
              <a:blipFill rotWithShape="0">
                <a:blip r:embed="rId15"/>
                <a:stretch>
                  <a:fillRect l="-6395" r="-4070" b="-37500"/>
                </a:stretch>
              </a:blipFill>
            </p:spPr>
            <p:txBody>
              <a:bodyPr/>
              <a:lstStyle/>
              <a:p>
                <a:r>
                  <a:rPr lang="en-IN">
                    <a:noFill/>
                  </a:rPr>
                  <a:t> </a:t>
                </a:r>
              </a:p>
            </p:txBody>
          </p:sp>
        </mc:Fallback>
      </mc:AlternateContent>
      <p:grpSp>
        <p:nvGrpSpPr>
          <p:cNvPr id="113" name="Group 112"/>
          <p:cNvGrpSpPr/>
          <p:nvPr/>
        </p:nvGrpSpPr>
        <p:grpSpPr>
          <a:xfrm rot="16200000">
            <a:off x="6953987" y="1863687"/>
            <a:ext cx="36000" cy="340800"/>
            <a:chOff x="2731586" y="4043627"/>
            <a:chExt cx="36000" cy="340800"/>
          </a:xfrm>
        </p:grpSpPr>
        <p:sp>
          <p:nvSpPr>
            <p:cNvPr id="114" name="Oval 113"/>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5" name="Oval 114"/>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5" name="Oval 154"/>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42" name="Straight Arrow Connector 41"/>
          <p:cNvCxnSpPr/>
          <p:nvPr/>
        </p:nvCxnSpPr>
        <p:spPr>
          <a:xfrm>
            <a:off x="10103001" y="2031600"/>
            <a:ext cx="486739" cy="5508"/>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p:cNvSpPr txBox="1"/>
              <p:nvPr/>
            </p:nvSpPr>
            <p:spPr>
              <a:xfrm>
                <a:off x="10573660" y="1887756"/>
                <a:ext cx="1131142" cy="24622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𝐽</m:t>
                      </m:r>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𝒇</m:t>
                          </m:r>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𝒙</m:t>
                              </m:r>
                              <m:r>
                                <a:rPr lang="en-US" sz="1600" b="1" i="1" smtClean="0">
                                  <a:latin typeface="Cambria Math" panose="02040503050406030204" pitchFamily="18" charset="0"/>
                                </a:rPr>
                                <m:t>, </m:t>
                              </m:r>
                              <m:r>
                                <a:rPr lang="en-US" sz="1600" b="1" i="1" smtClean="0">
                                  <a:latin typeface="Cambria Math" panose="02040503050406030204" pitchFamily="18" charset="0"/>
                                </a:rPr>
                                <m:t>𝜽</m:t>
                              </m:r>
                            </m:e>
                          </m:d>
                          <m:r>
                            <a:rPr lang="en-US" sz="1600" b="1" i="1" smtClean="0">
                              <a:latin typeface="Cambria Math" panose="02040503050406030204" pitchFamily="18" charset="0"/>
                            </a:rPr>
                            <m:t>,</m:t>
                          </m:r>
                          <m:r>
                            <a:rPr lang="en-US" sz="1600" b="1" i="1" smtClean="0">
                              <a:latin typeface="Cambria Math" panose="02040503050406030204" pitchFamily="18" charset="0"/>
                            </a:rPr>
                            <m:t>𝒄</m:t>
                          </m:r>
                          <m:r>
                            <a:rPr lang="en-US" sz="1600" b="1" i="1" smtClean="0">
                              <a:latin typeface="Cambria Math" panose="02040503050406030204" pitchFamily="18" charset="0"/>
                            </a:rPr>
                            <m:t> </m:t>
                          </m:r>
                        </m:e>
                      </m:d>
                    </m:oMath>
                  </m:oMathPara>
                </a14:m>
                <a:endParaRPr lang="en-US" sz="1600" b="1" i="1" dirty="0">
                  <a:latin typeface="Cambria Math" panose="02040503050406030204" pitchFamily="18" charset="0"/>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10573660" y="1887756"/>
                <a:ext cx="1131142" cy="246221"/>
              </a:xfrm>
              <a:prstGeom prst="rect">
                <a:avLst/>
              </a:prstGeom>
              <a:blipFill rotWithShape="0">
                <a:blip r:embed="rId16"/>
                <a:stretch>
                  <a:fillRect l="-8108" b="-35000"/>
                </a:stretch>
              </a:blipFill>
            </p:spPr>
            <p:txBody>
              <a:bodyPr/>
              <a:lstStyle/>
              <a:p>
                <a:r>
                  <a:rPr lang="en-IN">
                    <a:noFill/>
                  </a:rPr>
                  <a:t> </a:t>
                </a:r>
              </a:p>
            </p:txBody>
          </p:sp>
        </mc:Fallback>
      </mc:AlternateContent>
      <p:cxnSp>
        <p:nvCxnSpPr>
          <p:cNvPr id="52" name="Straight Arrow Connector 51"/>
          <p:cNvCxnSpPr/>
          <p:nvPr/>
        </p:nvCxnSpPr>
        <p:spPr>
          <a:xfrm>
            <a:off x="451581" y="2052087"/>
            <a:ext cx="222057"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53" name="Group 52"/>
          <p:cNvGrpSpPr/>
          <p:nvPr/>
        </p:nvGrpSpPr>
        <p:grpSpPr>
          <a:xfrm rot="16200000">
            <a:off x="280755" y="1950254"/>
            <a:ext cx="45719" cy="188400"/>
            <a:chOff x="2731586" y="4043627"/>
            <a:chExt cx="36000" cy="340800"/>
          </a:xfrm>
        </p:grpSpPr>
        <p:sp>
          <p:nvSpPr>
            <p:cNvPr id="54" name="Oval 53"/>
            <p:cNvSpPr/>
            <p:nvPr/>
          </p:nvSpPr>
          <p:spPr>
            <a:xfrm>
              <a:off x="2731586" y="40436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Oval 54"/>
            <p:cNvSpPr/>
            <p:nvPr/>
          </p:nvSpPr>
          <p:spPr>
            <a:xfrm>
              <a:off x="2731586" y="41960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p:cNvSpPr/>
            <p:nvPr/>
          </p:nvSpPr>
          <p:spPr>
            <a:xfrm>
              <a:off x="2731586" y="434842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49" name="Google Shape;100;p14"/>
              <p:cNvSpPr txBox="1"/>
              <p:nvPr/>
            </p:nvSpPr>
            <p:spPr>
              <a:xfrm>
                <a:off x="687669" y="2661113"/>
                <a:ext cx="11309699" cy="577795"/>
              </a:xfrm>
              <a:prstGeom prst="rect">
                <a:avLst/>
              </a:prstGeom>
              <a:noFill/>
              <a:ln>
                <a:noFill/>
              </a:ln>
            </p:spPr>
            <p:txBody>
              <a:bodyPr spcFirstLastPara="1" wrap="square" lIns="91425" tIns="91425" rIns="91425" bIns="91425" anchor="t" anchorCtr="0">
                <a:noAutofit/>
              </a:bodyPr>
              <a:lstStyle/>
              <a:p>
                <a:pPr lvl="0"/>
                <a14:m>
                  <m:oMath xmlns:m="http://schemas.openxmlformats.org/officeDocument/2006/math">
                    <m:sSubSup>
                      <m:sSubSupPr>
                        <m:ctrlPr>
                          <a:rPr lang="en-IN" i="1" smtClean="0">
                            <a:latin typeface="Cambria Math" panose="02040503050406030204" pitchFamily="18" charset="0"/>
                          </a:rPr>
                        </m:ctrlPr>
                      </m:sSubSupPr>
                      <m:e>
                        <m:r>
                          <a:rPr lang="en-IN" b="1" i="1" smtClean="0">
                            <a:latin typeface="Cambria Math" panose="02040503050406030204" pitchFamily="18" charset="0"/>
                          </a:rPr>
                          <m:t>𝒉</m:t>
                        </m:r>
                      </m:e>
                      <m:sub>
                        <m:r>
                          <a:rPr lang="en-IN" b="0" i="1" smtClean="0">
                            <a:latin typeface="Cambria Math" panose="02040503050406030204" pitchFamily="18" charset="0"/>
                          </a:rPr>
                          <m:t>𝑖</m:t>
                        </m:r>
                      </m:sub>
                      <m:sup>
                        <m:r>
                          <a:rPr lang="en-IN" b="0" i="1" smtClean="0">
                            <a:latin typeface="Cambria Math" panose="02040503050406030204" pitchFamily="18" charset="0"/>
                          </a:rPr>
                          <m:t>(</m:t>
                        </m:r>
                        <m:r>
                          <a:rPr lang="en-IN" b="0" i="1" smtClean="0">
                            <a:latin typeface="Cambria Math" panose="02040503050406030204" pitchFamily="18" charset="0"/>
                          </a:rPr>
                          <m:t>𝑙</m:t>
                        </m:r>
                        <m:r>
                          <a:rPr lang="en-IN" b="0" i="1" smtClean="0">
                            <a:latin typeface="Cambria Math" panose="02040503050406030204" pitchFamily="18" charset="0"/>
                          </a:rPr>
                          <m:t>)</m:t>
                        </m:r>
                      </m:sup>
                    </m:sSubSup>
                  </m:oMath>
                </a14:m>
                <a:r>
                  <a:rPr lang="en-IN" dirty="0"/>
                  <a:t> influences </a:t>
                </a:r>
                <a14:m>
                  <m:oMath xmlns:m="http://schemas.openxmlformats.org/officeDocument/2006/math">
                    <m:r>
                      <a:rPr lang="en-IN" b="0" i="1" smtClean="0">
                        <a:latin typeface="Cambria Math" panose="02040503050406030204" pitchFamily="18" charset="0"/>
                      </a:rPr>
                      <m:t>𝐽</m:t>
                    </m:r>
                  </m:oMath>
                </a14:m>
                <a:r>
                  <a:rPr lang="en-IN" dirty="0"/>
                  <a:t> through </a:t>
                </a:r>
                <a14:m>
                  <m:oMath xmlns:m="http://schemas.openxmlformats.org/officeDocument/2006/math">
                    <m:sSubSup>
                      <m:sSubSupPr>
                        <m:ctrlPr>
                          <a:rPr lang="en-IN" i="1" smtClean="0">
                            <a:latin typeface="Cambria Math" panose="02040503050406030204" pitchFamily="18" charset="0"/>
                          </a:rPr>
                        </m:ctrlPr>
                      </m:sSubSupPr>
                      <m:e>
                        <m:r>
                          <a:rPr lang="en-IN" b="1" i="1" smtClean="0">
                            <a:latin typeface="Cambria Math" panose="02040503050406030204" pitchFamily="18" charset="0"/>
                          </a:rPr>
                          <m:t>𝒂</m:t>
                        </m:r>
                      </m:e>
                      <m:sub>
                        <m:r>
                          <a:rPr lang="en-IN" b="0" i="1" smtClean="0">
                            <a:latin typeface="Cambria Math" panose="02040503050406030204" pitchFamily="18" charset="0"/>
                          </a:rPr>
                          <m:t>1:</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𝑀</m:t>
                            </m:r>
                          </m:e>
                          <m:sub>
                            <m:r>
                              <a:rPr lang="en-IN" b="0" i="1" smtClean="0">
                                <a:latin typeface="Cambria Math" panose="02040503050406030204" pitchFamily="18" charset="0"/>
                              </a:rPr>
                              <m:t>𝑙</m:t>
                            </m:r>
                            <m:r>
                              <a:rPr lang="en-IN" b="0" i="1" smtClean="0">
                                <a:latin typeface="Cambria Math" panose="02040503050406030204" pitchFamily="18" charset="0"/>
                              </a:rPr>
                              <m:t>+1</m:t>
                            </m:r>
                          </m:sub>
                        </m:sSub>
                      </m:sub>
                      <m:sup>
                        <m:r>
                          <a:rPr lang="en-IN" b="0" i="1" smtClean="0">
                            <a:latin typeface="Cambria Math" panose="02040503050406030204" pitchFamily="18" charset="0"/>
                          </a:rPr>
                          <m:t>(</m:t>
                        </m:r>
                        <m:r>
                          <a:rPr lang="en-IN" b="0" i="1" smtClean="0">
                            <a:latin typeface="Cambria Math" panose="02040503050406030204" pitchFamily="18" charset="0"/>
                          </a:rPr>
                          <m:t>𝑙</m:t>
                        </m:r>
                        <m:r>
                          <a:rPr lang="en-IN" b="0" i="1" smtClean="0">
                            <a:latin typeface="Cambria Math" panose="02040503050406030204" pitchFamily="18" charset="0"/>
                          </a:rPr>
                          <m:t>+1)</m:t>
                        </m:r>
                      </m:sup>
                    </m:sSubSup>
                  </m:oMath>
                </a14:m>
                <a:r>
                  <a:rPr lang="en-IN" dirty="0"/>
                  <a:t> . That means </a:t>
                </a:r>
                <a14:m>
                  <m:oMath xmlns:m="http://schemas.openxmlformats.org/officeDocument/2006/math">
                    <m:r>
                      <a:rPr lang="en-IN" i="1">
                        <a:latin typeface="Cambria Math" panose="02040503050406030204" pitchFamily="18" charset="0"/>
                      </a:rPr>
                      <m:t>𝐽</m:t>
                    </m:r>
                  </m:oMath>
                </a14:m>
                <a:r>
                  <a:rPr lang="en-IN" dirty="0"/>
                  <a:t> is a function of</a:t>
                </a:r>
                <a14:m>
                  <m:oMath xmlns:m="http://schemas.openxmlformats.org/officeDocument/2006/math">
                    <m:sSubSup>
                      <m:sSubSupPr>
                        <m:ctrlPr>
                          <a:rPr lang="en-IN" i="1">
                            <a:latin typeface="Cambria Math" panose="02040503050406030204" pitchFamily="18" charset="0"/>
                          </a:rPr>
                        </m:ctrlPr>
                      </m:sSubSupPr>
                      <m:e>
                        <m:r>
                          <a:rPr lang="en-IN" b="1" i="1" smtClean="0">
                            <a:latin typeface="Cambria Math" panose="02040503050406030204" pitchFamily="18" charset="0"/>
                          </a:rPr>
                          <m:t> </m:t>
                        </m:r>
                        <m:r>
                          <a:rPr lang="en-IN" b="1" i="1">
                            <a:latin typeface="Cambria Math" panose="02040503050406030204" pitchFamily="18" charset="0"/>
                          </a:rPr>
                          <m:t>𝒂</m:t>
                        </m:r>
                      </m:e>
                      <m:sub>
                        <m:r>
                          <a:rPr lang="en-IN" i="1">
                            <a:latin typeface="Cambria Math" panose="02040503050406030204" pitchFamily="18" charset="0"/>
                          </a:rPr>
                          <m:t>1:</m:t>
                        </m:r>
                        <m:sSub>
                          <m:sSubPr>
                            <m:ctrlPr>
                              <a:rPr lang="en-IN" i="1">
                                <a:latin typeface="Cambria Math" panose="02040503050406030204" pitchFamily="18" charset="0"/>
                              </a:rPr>
                            </m:ctrlPr>
                          </m:sSubPr>
                          <m:e>
                            <m:r>
                              <a:rPr lang="en-IN" i="1">
                                <a:latin typeface="Cambria Math" panose="02040503050406030204" pitchFamily="18" charset="0"/>
                              </a:rPr>
                              <m:t>𝑀</m:t>
                            </m:r>
                          </m:e>
                          <m:sub>
                            <m:r>
                              <a:rPr lang="en-IN" i="1">
                                <a:latin typeface="Cambria Math" panose="02040503050406030204" pitchFamily="18" charset="0"/>
                              </a:rPr>
                              <m:t>𝑙</m:t>
                            </m:r>
                            <m:r>
                              <a:rPr lang="en-IN" i="1">
                                <a:latin typeface="Cambria Math" panose="02040503050406030204" pitchFamily="18" charset="0"/>
                              </a:rPr>
                              <m:t>+1</m:t>
                            </m:r>
                          </m:sub>
                        </m:sSub>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+1)</m:t>
                        </m:r>
                      </m:sup>
                    </m:sSubSup>
                  </m:oMath>
                </a14:m>
                <a:r>
                  <a:rPr lang="en-IN" dirty="0"/>
                  <a:t>and each of </a:t>
                </a:r>
                <a14:m>
                  <m:oMath xmlns:m="http://schemas.openxmlformats.org/officeDocument/2006/math">
                    <m:sSubSup>
                      <m:sSubSupPr>
                        <m:ctrlPr>
                          <a:rPr lang="en-IN" i="1">
                            <a:latin typeface="Cambria Math" panose="02040503050406030204" pitchFamily="18" charset="0"/>
                          </a:rPr>
                        </m:ctrlPr>
                      </m:sSubSupPr>
                      <m:e>
                        <m:r>
                          <a:rPr lang="en-IN" b="1" i="1">
                            <a:latin typeface="Cambria Math" panose="02040503050406030204" pitchFamily="18" charset="0"/>
                          </a:rPr>
                          <m:t>𝒂</m:t>
                        </m:r>
                      </m:e>
                      <m:sub>
                        <m:r>
                          <a:rPr lang="en-IN" i="1">
                            <a:latin typeface="Cambria Math" panose="02040503050406030204" pitchFamily="18" charset="0"/>
                          </a:rPr>
                          <m:t>1:</m:t>
                        </m:r>
                        <m:sSub>
                          <m:sSubPr>
                            <m:ctrlPr>
                              <a:rPr lang="en-IN" i="1">
                                <a:latin typeface="Cambria Math" panose="02040503050406030204" pitchFamily="18" charset="0"/>
                              </a:rPr>
                            </m:ctrlPr>
                          </m:sSubPr>
                          <m:e>
                            <m:r>
                              <a:rPr lang="en-IN" i="1">
                                <a:latin typeface="Cambria Math" panose="02040503050406030204" pitchFamily="18" charset="0"/>
                              </a:rPr>
                              <m:t>𝑀</m:t>
                            </m:r>
                          </m:e>
                          <m:sub>
                            <m:r>
                              <a:rPr lang="en-IN" i="1">
                                <a:latin typeface="Cambria Math" panose="02040503050406030204" pitchFamily="18" charset="0"/>
                              </a:rPr>
                              <m:t>𝑙</m:t>
                            </m:r>
                            <m:r>
                              <a:rPr lang="en-IN" i="1">
                                <a:latin typeface="Cambria Math" panose="02040503050406030204" pitchFamily="18" charset="0"/>
                              </a:rPr>
                              <m:t>+1</m:t>
                            </m:r>
                          </m:sub>
                        </m:sSub>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+1)</m:t>
                        </m:r>
                      </m:sup>
                    </m:sSubSup>
                  </m:oMath>
                </a14:m>
                <a:r>
                  <a:rPr lang="en-IN" dirty="0"/>
                  <a:t>, in turn, is a function of</a:t>
                </a:r>
                <a14:m>
                  <m:oMath xmlns:m="http://schemas.openxmlformats.org/officeDocument/2006/math">
                    <m:r>
                      <a:rPr lang="en-IN" b="0" i="0" smtClean="0">
                        <a:latin typeface="Cambria Math" panose="02040503050406030204" pitchFamily="18" charset="0"/>
                      </a:rPr>
                      <m:t> </m:t>
                    </m:r>
                    <m:sSubSup>
                      <m:sSubSupPr>
                        <m:ctrlPr>
                          <a:rPr lang="en-IN" i="1">
                            <a:latin typeface="Cambria Math" panose="02040503050406030204" pitchFamily="18" charset="0"/>
                          </a:rPr>
                        </m:ctrlPr>
                      </m:sSubSupPr>
                      <m:e>
                        <m:r>
                          <a:rPr lang="en-IN" b="1" i="1" smtClean="0">
                            <a:latin typeface="Cambria Math" panose="02040503050406030204" pitchFamily="18" charset="0"/>
                          </a:rPr>
                          <m:t>𝒉</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oMath>
                </a14:m>
                <a:endParaRPr dirty="0"/>
              </a:p>
            </p:txBody>
          </p:sp>
        </mc:Choice>
        <mc:Fallback xmlns="">
          <p:sp>
            <p:nvSpPr>
              <p:cNvPr id="49" name="Google Shape;100;p14"/>
              <p:cNvSpPr txBox="1">
                <a:spLocks noRot="1" noChangeAspect="1" noMove="1" noResize="1" noEditPoints="1" noAdjustHandles="1" noChangeArrowheads="1" noChangeShapeType="1" noTextEdit="1"/>
              </p:cNvSpPr>
              <p:nvPr/>
            </p:nvSpPr>
            <p:spPr>
              <a:xfrm>
                <a:off x="687669" y="2661113"/>
                <a:ext cx="11309699" cy="577795"/>
              </a:xfrm>
              <a:prstGeom prst="rect">
                <a:avLst/>
              </a:prstGeom>
              <a:blipFill rotWithShape="0">
                <a:blip r:embed="rId17"/>
                <a:stretch>
                  <a:fillRect/>
                </a:stretch>
              </a:blipFill>
              <a:ln>
                <a:noFill/>
              </a:ln>
            </p:spPr>
            <p:txBody>
              <a:bodyPr/>
              <a:lstStyle/>
              <a:p>
                <a:r>
                  <a:rPr lang="en-IN">
                    <a:noFill/>
                  </a:rPr>
                  <a:t> </a:t>
                </a:r>
              </a:p>
            </p:txBody>
          </p:sp>
        </mc:Fallback>
      </mc:AlternateContent>
      <p:sp>
        <p:nvSpPr>
          <p:cNvPr id="50" name="Rectangle 49"/>
          <p:cNvSpPr/>
          <p:nvPr/>
        </p:nvSpPr>
        <p:spPr>
          <a:xfrm>
            <a:off x="3029911" y="1379925"/>
            <a:ext cx="2331936" cy="1281316"/>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51" name="Rectangle 50"/>
          <p:cNvSpPr/>
          <p:nvPr/>
        </p:nvSpPr>
        <p:spPr>
          <a:xfrm>
            <a:off x="10513724" y="1744382"/>
            <a:ext cx="1326871" cy="530187"/>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5" name="Rectangle 4"/>
              <p:cNvSpPr/>
              <p:nvPr/>
            </p:nvSpPr>
            <p:spPr>
              <a:xfrm>
                <a:off x="664102" y="3325323"/>
                <a:ext cx="2928943" cy="8728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m:t>
                          </m:r>
                          <m:r>
                            <a:rPr lang="en-IN" i="1">
                              <a:latin typeface="Cambria Math" panose="02040503050406030204" pitchFamily="18" charset="0"/>
                            </a:rPr>
                            <m:t>𝐽</m:t>
                          </m:r>
                        </m:num>
                        <m:den>
                          <m:r>
                            <a:rPr lang="en-US" i="1">
                              <a:latin typeface="Cambria Math" panose="02040503050406030204" pitchFamily="18" charset="0"/>
                            </a:rPr>
                            <m:t>𝜕</m:t>
                          </m:r>
                          <m:sSubSup>
                            <m:sSubSupPr>
                              <m:ctrlPr>
                                <a:rPr lang="en-US" i="1">
                                  <a:latin typeface="Cambria Math" panose="02040503050406030204" pitchFamily="18" charset="0"/>
                                </a:rPr>
                              </m:ctrlPr>
                            </m:sSubSupPr>
                            <m:e>
                              <m:r>
                                <a:rPr lang="en-IN" b="1" i="1" smtClean="0">
                                  <a:latin typeface="Cambria Math" panose="02040503050406030204" pitchFamily="18" charset="0"/>
                                </a:rPr>
                                <m:t>𝒉</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den>
                      </m:f>
                      <m:r>
                        <a:rPr lang="en-IN" b="0" i="1" smtClean="0">
                          <a:latin typeface="Cambria Math" panose="02040503050406030204" pitchFamily="18" charset="0"/>
                        </a:rPr>
                        <m:t>=</m:t>
                      </m:r>
                      <m:nary>
                        <m:naryPr>
                          <m:chr m:val="∑"/>
                          <m:ctrlPr>
                            <a:rPr lang="en-IN" b="0" i="1" smtClean="0">
                              <a:latin typeface="Cambria Math" panose="02040503050406030204" pitchFamily="18" charset="0"/>
                            </a:rPr>
                          </m:ctrlPr>
                        </m:naryPr>
                        <m:sub>
                          <m:r>
                            <m:rPr>
                              <m:brk m:alnAt="23"/>
                            </m:rPr>
                            <a:rPr lang="en-IN" b="0" i="1" smtClean="0">
                              <a:latin typeface="Cambria Math" panose="02040503050406030204" pitchFamily="18" charset="0"/>
                            </a:rPr>
                            <m:t>𝑚</m:t>
                          </m:r>
                          <m:r>
                            <a:rPr lang="en-IN" b="0" i="1" smtClean="0">
                              <a:latin typeface="Cambria Math" panose="02040503050406030204" pitchFamily="18" charset="0"/>
                            </a:rPr>
                            <m:t>=1</m:t>
                          </m:r>
                        </m:sub>
                        <m:sup>
                          <m:sSub>
                            <m:sSubPr>
                              <m:ctrlPr>
                                <a:rPr lang="en-IN" b="0" i="1" smtClean="0">
                                  <a:latin typeface="Cambria Math" panose="02040503050406030204" pitchFamily="18" charset="0"/>
                                </a:rPr>
                              </m:ctrlPr>
                            </m:sSubPr>
                            <m:e>
                              <m:r>
                                <a:rPr lang="en-IN" b="0" i="1" smtClean="0">
                                  <a:latin typeface="Cambria Math" panose="02040503050406030204" pitchFamily="18" charset="0"/>
                                </a:rPr>
                                <m:t>𝑀</m:t>
                              </m:r>
                            </m:e>
                            <m:sub>
                              <m:r>
                                <a:rPr lang="en-IN" b="0" i="1" smtClean="0">
                                  <a:latin typeface="Cambria Math" panose="02040503050406030204" pitchFamily="18" charset="0"/>
                                </a:rPr>
                                <m:t>𝑙</m:t>
                              </m:r>
                              <m:r>
                                <a:rPr lang="en-IN" b="0" i="1" smtClean="0">
                                  <a:latin typeface="Cambria Math" panose="02040503050406030204" pitchFamily="18" charset="0"/>
                                </a:rPr>
                                <m:t>+1</m:t>
                              </m:r>
                            </m:sub>
                          </m:sSub>
                        </m:sup>
                        <m:e>
                          <m:f>
                            <m:fPr>
                              <m:ctrlPr>
                                <a:rPr lang="en-IN" i="1">
                                  <a:latin typeface="Cambria Math" panose="02040503050406030204" pitchFamily="18" charset="0"/>
                                </a:rPr>
                              </m:ctrlPr>
                            </m:fPr>
                            <m:num>
                              <m:r>
                                <a:rPr lang="en-IN" i="1">
                                  <a:latin typeface="Cambria Math" panose="02040503050406030204" pitchFamily="18" charset="0"/>
                                </a:rPr>
                                <m:t>𝜕</m:t>
                              </m:r>
                              <m:r>
                                <a:rPr lang="en-IN" i="1">
                                  <a:latin typeface="Cambria Math" panose="02040503050406030204" pitchFamily="18" charset="0"/>
                                </a:rPr>
                                <m:t>𝐽</m:t>
                              </m:r>
                            </m:num>
                            <m:den>
                              <m:r>
                                <a:rPr lang="en-IN" i="1">
                                  <a:latin typeface="Cambria Math" panose="02040503050406030204" pitchFamily="18" charset="0"/>
                                </a:rPr>
                                <m:t>𝜕</m:t>
                              </m:r>
                              <m:sSubSup>
                                <m:sSubSupPr>
                                  <m:ctrlPr>
                                    <a:rPr lang="en-IN" i="1">
                                      <a:latin typeface="Cambria Math" panose="02040503050406030204" pitchFamily="18" charset="0"/>
                                    </a:rPr>
                                  </m:ctrlPr>
                                </m:sSubSupPr>
                                <m:e>
                                  <m:r>
                                    <a:rPr lang="en-IN" b="1" i="1" smtClean="0">
                                      <a:latin typeface="Cambria Math" panose="02040503050406030204" pitchFamily="18" charset="0"/>
                                    </a:rPr>
                                    <m:t>𝒂</m:t>
                                  </m:r>
                                </m:e>
                                <m:sub>
                                  <m:r>
                                    <a:rPr lang="en-IN" b="0" i="1" smtClean="0">
                                      <a:latin typeface="Cambria Math" panose="02040503050406030204" pitchFamily="18" charset="0"/>
                                    </a:rPr>
                                    <m:t>𝑚</m:t>
                                  </m:r>
                                </m:sub>
                                <m:sup>
                                  <m:r>
                                    <a:rPr lang="en-IN" i="1">
                                      <a:latin typeface="Cambria Math" panose="02040503050406030204" pitchFamily="18" charset="0"/>
                                    </a:rPr>
                                    <m:t>(</m:t>
                                  </m:r>
                                  <m:r>
                                    <a:rPr lang="en-IN" i="1">
                                      <a:latin typeface="Cambria Math" panose="02040503050406030204" pitchFamily="18" charset="0"/>
                                    </a:rPr>
                                    <m:t>𝑙</m:t>
                                  </m:r>
                                  <m:r>
                                    <a:rPr lang="en-IN" b="0" i="1" smtClean="0">
                                      <a:latin typeface="Cambria Math" panose="02040503050406030204" pitchFamily="18" charset="0"/>
                                    </a:rPr>
                                    <m:t>+1</m:t>
                                  </m:r>
                                  <m:r>
                                    <a:rPr lang="en-IN" i="1">
                                      <a:latin typeface="Cambria Math" panose="02040503050406030204" pitchFamily="18" charset="0"/>
                                    </a:rPr>
                                    <m:t>)</m:t>
                                  </m:r>
                                </m:sup>
                              </m:sSubSup>
                            </m:den>
                          </m:f>
                        </m:e>
                      </m:nary>
                      <m:f>
                        <m:fPr>
                          <m:ctrlPr>
                            <a:rPr lang="en-IN" b="0" i="1" smtClean="0">
                              <a:latin typeface="Cambria Math" panose="02040503050406030204" pitchFamily="18" charset="0"/>
                            </a:rPr>
                          </m:ctrlPr>
                        </m:fPr>
                        <m:num>
                          <m:r>
                            <a:rPr lang="en-IN" b="0" i="1" smtClean="0">
                              <a:latin typeface="Cambria Math" panose="02040503050406030204" pitchFamily="18" charset="0"/>
                            </a:rPr>
                            <m:t>𝜕</m:t>
                          </m:r>
                          <m:sSubSup>
                            <m:sSubSupPr>
                              <m:ctrlPr>
                                <a:rPr lang="en-IN" i="1">
                                  <a:latin typeface="Cambria Math" panose="02040503050406030204" pitchFamily="18" charset="0"/>
                                </a:rPr>
                              </m:ctrlPr>
                            </m:sSubSupPr>
                            <m:e>
                              <m:r>
                                <a:rPr lang="en-IN" b="1" i="1">
                                  <a:latin typeface="Cambria Math" panose="02040503050406030204" pitchFamily="18" charset="0"/>
                                </a:rPr>
                                <m:t>𝒂</m:t>
                              </m:r>
                            </m:e>
                            <m:sub>
                              <m:r>
                                <a:rPr lang="en-IN" i="1">
                                  <a:latin typeface="Cambria Math" panose="02040503050406030204" pitchFamily="18" charset="0"/>
                                </a:rPr>
                                <m:t>𝑚</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+1)</m:t>
                              </m:r>
                            </m:sup>
                          </m:sSubSup>
                        </m:num>
                        <m:den>
                          <m:r>
                            <a:rPr lang="en-IN" b="0" i="1" smtClean="0">
                              <a:latin typeface="Cambria Math" panose="02040503050406030204" pitchFamily="18" charset="0"/>
                            </a:rPr>
                            <m:t>𝜕</m:t>
                          </m:r>
                          <m:sSubSup>
                            <m:sSubSupPr>
                              <m:ctrlPr>
                                <a:rPr lang="en-IN" i="1">
                                  <a:latin typeface="Cambria Math" panose="02040503050406030204" pitchFamily="18" charset="0"/>
                                </a:rPr>
                              </m:ctrlPr>
                            </m:sSubSupPr>
                            <m:e>
                              <m:r>
                                <a:rPr lang="en-IN" b="1" i="1" smtClean="0">
                                  <a:latin typeface="Cambria Math" panose="02040503050406030204" pitchFamily="18" charset="0"/>
                                </a:rPr>
                                <m:t>𝒉</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den>
                      </m:f>
                    </m:oMath>
                  </m:oMathPara>
                </a14:m>
                <a:endParaRPr lang="en-IN" dirty="0"/>
              </a:p>
            </p:txBody>
          </p:sp>
        </mc:Choice>
        <mc:Fallback xmlns="">
          <p:sp>
            <p:nvSpPr>
              <p:cNvPr id="5" name="Rectangle 4"/>
              <p:cNvSpPr>
                <a:spLocks noRot="1" noChangeAspect="1" noMove="1" noResize="1" noEditPoints="1" noAdjustHandles="1" noChangeArrowheads="1" noChangeShapeType="1" noTextEdit="1"/>
              </p:cNvSpPr>
              <p:nvPr/>
            </p:nvSpPr>
            <p:spPr>
              <a:xfrm>
                <a:off x="664102" y="3325323"/>
                <a:ext cx="2928943" cy="872803"/>
              </a:xfrm>
              <a:prstGeom prst="rect">
                <a:avLst/>
              </a:prstGeom>
              <a:blipFill rotWithShape="0">
                <a:blip r:embed="rId18"/>
                <a:stretch>
                  <a:fillRect/>
                </a:stretch>
              </a:blipFill>
            </p:spPr>
            <p:txBody>
              <a:bodyPr/>
              <a:lstStyle/>
              <a:p>
                <a:r>
                  <a:rPr lang="en-IN">
                    <a:noFill/>
                  </a:rPr>
                  <a:t> </a:t>
                </a:r>
              </a:p>
            </p:txBody>
          </p:sp>
        </mc:Fallback>
      </mc:AlternateContent>
      <p:sp>
        <p:nvSpPr>
          <p:cNvPr id="6" name="TextBox 5"/>
          <p:cNvSpPr txBox="1"/>
          <p:nvPr/>
        </p:nvSpPr>
        <p:spPr>
          <a:xfrm>
            <a:off x="4009675" y="5117191"/>
            <a:ext cx="654346" cy="369332"/>
          </a:xfrm>
          <a:prstGeom prst="rect">
            <a:avLst/>
          </a:prstGeom>
          <a:noFill/>
        </p:spPr>
        <p:txBody>
          <a:bodyPr wrap="none" rtlCol="0">
            <a:spAutoFit/>
          </a:bodyPr>
          <a:lstStyle/>
          <a:p>
            <a:r>
              <a:rPr lang="en-IN" dirty="0"/>
              <a:t>… (4)</a:t>
            </a:r>
          </a:p>
        </p:txBody>
      </p:sp>
      <p:sp>
        <p:nvSpPr>
          <p:cNvPr id="57" name="Rectangle 56"/>
          <p:cNvSpPr/>
          <p:nvPr/>
        </p:nvSpPr>
        <p:spPr>
          <a:xfrm>
            <a:off x="3414003" y="2950677"/>
            <a:ext cx="386816" cy="211164"/>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cxnSp>
        <p:nvCxnSpPr>
          <p:cNvPr id="58" name="Straight Arrow Connector 57"/>
          <p:cNvCxnSpPr/>
          <p:nvPr/>
        </p:nvCxnSpPr>
        <p:spPr>
          <a:xfrm rot="16200000">
            <a:off x="3940848" y="3021901"/>
            <a:ext cx="7943" cy="288000"/>
          </a:xfrm>
          <a:prstGeom prst="straightConnector1">
            <a:avLst/>
          </a:prstGeom>
          <a:ln w="127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p:cNvSpPr txBox="1"/>
              <p:nvPr/>
            </p:nvSpPr>
            <p:spPr>
              <a:xfrm>
                <a:off x="3987201" y="3129824"/>
                <a:ext cx="3297826" cy="307777"/>
              </a:xfrm>
              <a:prstGeom prst="rect">
                <a:avLst/>
              </a:prstGeom>
              <a:noFill/>
            </p:spPr>
            <p:txBody>
              <a:bodyPr wrap="none" rtlCol="0">
                <a:spAutoFit/>
              </a:bodyPr>
              <a:lstStyle/>
              <a:p>
                <a:r>
                  <a:rPr lang="en-IN" sz="1400" dirty="0"/>
                  <a:t>Number of neurons in hidden layer </a:t>
                </a:r>
                <a14:m>
                  <m:oMath xmlns:m="http://schemas.openxmlformats.org/officeDocument/2006/math">
                    <m:r>
                      <a:rPr lang="en-IN" sz="1400" b="0" i="1" smtClean="0">
                        <a:latin typeface="Cambria Math" panose="02040503050406030204" pitchFamily="18" charset="0"/>
                      </a:rPr>
                      <m:t>(</m:t>
                    </m:r>
                    <m:r>
                      <a:rPr lang="en-IN" sz="1400" b="0" i="1" smtClean="0">
                        <a:latin typeface="Cambria Math" panose="02040503050406030204" pitchFamily="18" charset="0"/>
                      </a:rPr>
                      <m:t>𝑙</m:t>
                    </m:r>
                    <m:r>
                      <a:rPr lang="en-IN" sz="1400" b="0" i="1" smtClean="0">
                        <a:latin typeface="Cambria Math" panose="02040503050406030204" pitchFamily="18" charset="0"/>
                      </a:rPr>
                      <m:t>+1)</m:t>
                    </m:r>
                  </m:oMath>
                </a14:m>
                <a:endParaRPr lang="en-IN" sz="1400" dirty="0"/>
              </a:p>
            </p:txBody>
          </p:sp>
        </mc:Choice>
        <mc:Fallback xmlns="">
          <p:sp>
            <p:nvSpPr>
              <p:cNvPr id="9" name="TextBox 8"/>
              <p:cNvSpPr txBox="1">
                <a:spLocks noRot="1" noChangeAspect="1" noMove="1" noResize="1" noEditPoints="1" noAdjustHandles="1" noChangeArrowheads="1" noChangeShapeType="1" noTextEdit="1"/>
              </p:cNvSpPr>
              <p:nvPr/>
            </p:nvSpPr>
            <p:spPr>
              <a:xfrm>
                <a:off x="3987201" y="3129824"/>
                <a:ext cx="3297826" cy="307777"/>
              </a:xfrm>
              <a:prstGeom prst="rect">
                <a:avLst/>
              </a:prstGeom>
              <a:blipFill rotWithShape="0">
                <a:blip r:embed="rId19"/>
                <a:stretch>
                  <a:fillRect l="-555" t="-1961" b="-19608"/>
                </a:stretch>
              </a:blipFill>
            </p:spPr>
            <p:txBody>
              <a:bodyPr/>
              <a:lstStyle/>
              <a:p>
                <a:r>
                  <a:rPr lang="en-IN">
                    <a:noFill/>
                  </a:rPr>
                  <a:t> </a:t>
                </a:r>
              </a:p>
            </p:txBody>
          </p:sp>
        </mc:Fallback>
      </mc:AlternateContent>
      <p:sp>
        <p:nvSpPr>
          <p:cNvPr id="59" name="Rectangle 58"/>
          <p:cNvSpPr/>
          <p:nvPr/>
        </p:nvSpPr>
        <p:spPr>
          <a:xfrm>
            <a:off x="4065946" y="3178066"/>
            <a:ext cx="3087458" cy="211164"/>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60" name="TextBox 59"/>
              <p:cNvSpPr txBox="1"/>
              <p:nvPr/>
            </p:nvSpPr>
            <p:spPr>
              <a:xfrm>
                <a:off x="637088" y="4238959"/>
                <a:ext cx="8054769" cy="6253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600" b="0" i="1" smtClean="0">
                              <a:latin typeface="Cambria Math" panose="02040503050406030204" pitchFamily="18" charset="0"/>
                            </a:rPr>
                          </m:ctrlPr>
                        </m:sSubSupPr>
                        <m:e>
                          <m:r>
                            <a:rPr lang="en-IN" sz="1600" b="1" i="1" smtClean="0">
                              <a:latin typeface="Cambria Math" panose="02040503050406030204" pitchFamily="18" charset="0"/>
                            </a:rPr>
                            <m:t>𝒂</m:t>
                          </m:r>
                        </m:e>
                        <m:sub>
                          <m:r>
                            <a:rPr lang="en-IN" sz="1600" b="0" i="1" smtClean="0">
                              <a:latin typeface="Cambria Math" panose="02040503050406030204" pitchFamily="18" charset="0"/>
                            </a:rPr>
                            <m:t>𝑚</m:t>
                          </m:r>
                        </m:sub>
                        <m:sup>
                          <m:d>
                            <m:dPr>
                              <m:ctrlPr>
                                <a:rPr lang="en-IN" sz="1600" b="0" i="1" smtClean="0">
                                  <a:latin typeface="Cambria Math" panose="02040503050406030204" pitchFamily="18" charset="0"/>
                                </a:rPr>
                              </m:ctrlPr>
                            </m:dPr>
                            <m:e>
                              <m:r>
                                <a:rPr lang="en-US" sz="1600" b="0" i="1" smtClean="0">
                                  <a:latin typeface="Cambria Math" panose="02040503050406030204" pitchFamily="18" charset="0"/>
                                </a:rPr>
                                <m:t>𝑙</m:t>
                              </m:r>
                              <m:r>
                                <a:rPr lang="en-IN" sz="1600" b="0" i="1" smtClean="0">
                                  <a:latin typeface="Cambria Math" panose="02040503050406030204" pitchFamily="18" charset="0"/>
                                </a:rPr>
                                <m:t>+1</m:t>
                              </m:r>
                            </m:e>
                          </m:d>
                        </m:sup>
                      </m:sSubSup>
                      <m:r>
                        <a:rPr lang="en-US" sz="1600" b="0" i="1" smtClean="0">
                          <a:latin typeface="Cambria Math" panose="02040503050406030204" pitchFamily="18" charset="0"/>
                        </a:rPr>
                        <m:t>=</m:t>
                      </m:r>
                      <m:nary>
                        <m:naryPr>
                          <m:chr m:val="∑"/>
                          <m:supHide m:val="on"/>
                          <m:ctrlPr>
                            <a:rPr lang="en-US" sz="1600" b="0" i="1" smtClean="0">
                              <a:latin typeface="Cambria Math" panose="02040503050406030204" pitchFamily="18" charset="0"/>
                            </a:rPr>
                          </m:ctrlPr>
                        </m:naryPr>
                        <m:sub>
                          <m:r>
                            <m:rPr>
                              <m:brk m:alnAt="23"/>
                            </m:rPr>
                            <a:rPr lang="en-US" sz="1600" b="0" i="1" smtClean="0">
                              <a:latin typeface="Cambria Math" panose="02040503050406030204" pitchFamily="18" charset="0"/>
                            </a:rPr>
                            <m:t>𝑗</m:t>
                          </m:r>
                        </m:sub>
                        <m:sup/>
                        <m:e>
                          <m:sSubSup>
                            <m:sSubSupPr>
                              <m:ctrlPr>
                                <a:rPr lang="en-IN" sz="1600" i="1" smtClean="0">
                                  <a:latin typeface="Cambria Math" panose="02040503050406030204" pitchFamily="18" charset="0"/>
                                </a:rPr>
                              </m:ctrlPr>
                            </m:sSubSupPr>
                            <m:e>
                              <m:r>
                                <a:rPr lang="en-US" sz="1600" b="1" i="1" smtClean="0">
                                  <a:latin typeface="Cambria Math" panose="02040503050406030204" pitchFamily="18" charset="0"/>
                                </a:rPr>
                                <m:t>𝑾</m:t>
                              </m:r>
                            </m:e>
                            <m:sub>
                              <m:r>
                                <a:rPr lang="en-IN" sz="1600" b="0" i="1" smtClean="0">
                                  <a:latin typeface="Cambria Math" panose="02040503050406030204" pitchFamily="18" charset="0"/>
                                </a:rPr>
                                <m:t>𝑚</m:t>
                              </m:r>
                              <m:r>
                                <a:rPr lang="en-US" sz="1600" i="1">
                                  <a:latin typeface="Cambria Math" panose="02040503050406030204" pitchFamily="18" charset="0"/>
                                </a:rPr>
                                <m:t>,</m:t>
                              </m:r>
                              <m:r>
                                <a:rPr lang="en-US" sz="1600" b="0" i="1" smtClean="0">
                                  <a:latin typeface="Cambria Math" panose="02040503050406030204" pitchFamily="18" charset="0"/>
                                </a:rPr>
                                <m:t>𝑗</m:t>
                              </m:r>
                            </m:sub>
                            <m:sup>
                              <m:r>
                                <a:rPr lang="en-US" sz="1600" i="1">
                                  <a:latin typeface="Cambria Math" panose="02040503050406030204" pitchFamily="18" charset="0"/>
                                </a:rPr>
                                <m:t>(</m:t>
                              </m:r>
                              <m:r>
                                <a:rPr lang="en-US" sz="1600" b="0" i="1" smtClean="0">
                                  <a:latin typeface="Cambria Math" panose="02040503050406030204" pitchFamily="18" charset="0"/>
                                </a:rPr>
                                <m:t>𝑙</m:t>
                              </m:r>
                              <m:r>
                                <a:rPr lang="en-IN" sz="1600" b="0" i="1" smtClean="0">
                                  <a:latin typeface="Cambria Math" panose="02040503050406030204" pitchFamily="18" charset="0"/>
                                </a:rPr>
                                <m:t>+1</m:t>
                              </m:r>
                              <m:r>
                                <a:rPr lang="en-US" sz="1600" i="1">
                                  <a:latin typeface="Cambria Math" panose="02040503050406030204" pitchFamily="18" charset="0"/>
                                </a:rPr>
                                <m:t>)</m:t>
                              </m:r>
                            </m:sup>
                          </m:sSubSup>
                          <m:r>
                            <m:rPr>
                              <m:nor/>
                            </m:rPr>
                            <a:rPr lang="en-IN" sz="1600" dirty="0"/>
                            <m:t> </m:t>
                          </m:r>
                          <m:sSubSup>
                            <m:sSubSupPr>
                              <m:ctrlPr>
                                <a:rPr lang="en-IN" sz="1600" i="1" dirty="0" smtClean="0">
                                  <a:latin typeface="Cambria Math" panose="02040503050406030204" pitchFamily="18" charset="0"/>
                                </a:rPr>
                              </m:ctrlPr>
                            </m:sSubSupPr>
                            <m:e>
                              <m:r>
                                <a:rPr lang="en-US" sz="1600" b="1" i="1" dirty="0" smtClean="0">
                                  <a:latin typeface="Cambria Math" panose="02040503050406030204" pitchFamily="18" charset="0"/>
                                </a:rPr>
                                <m:t>𝒉</m:t>
                              </m:r>
                            </m:e>
                            <m:sub>
                              <m:r>
                                <a:rPr lang="en-US" sz="1600" b="0" i="1" dirty="0" smtClean="0">
                                  <a:latin typeface="Cambria Math" panose="02040503050406030204" pitchFamily="18" charset="0"/>
                                </a:rPr>
                                <m:t>𝑗</m:t>
                              </m:r>
                            </m:sub>
                            <m:sup>
                              <m:r>
                                <a:rPr lang="en-IN" sz="1600" b="0" i="1" dirty="0" smtClean="0">
                                  <a:latin typeface="Cambria Math" panose="02040503050406030204" pitchFamily="18" charset="0"/>
                                </a:rPr>
                                <m:t>(</m:t>
                              </m:r>
                              <m:r>
                                <a:rPr lang="en-IN" sz="1600" b="0" i="1" dirty="0" smtClean="0">
                                  <a:latin typeface="Cambria Math" panose="02040503050406030204" pitchFamily="18" charset="0"/>
                                </a:rPr>
                                <m:t>𝑙</m:t>
                              </m:r>
                              <m:r>
                                <a:rPr lang="en-IN" sz="1600" b="0" i="1" dirty="0" smtClean="0">
                                  <a:latin typeface="Cambria Math" panose="02040503050406030204" pitchFamily="18" charset="0"/>
                                </a:rPr>
                                <m:t>)</m:t>
                              </m:r>
                            </m:sup>
                          </m:sSubSup>
                        </m:e>
                      </m:nary>
                      <m:r>
                        <a:rPr lang="en-US" sz="1600" i="1">
                          <a:latin typeface="Cambria Math" panose="02040503050406030204" pitchFamily="18" charset="0"/>
                        </a:rPr>
                        <m:t>+</m:t>
                      </m:r>
                      <m:sSubSup>
                        <m:sSubSupPr>
                          <m:ctrlPr>
                            <a:rPr lang="en-US" sz="1600" i="1">
                              <a:solidFill>
                                <a:prstClr val="black"/>
                              </a:solidFill>
                              <a:latin typeface="Cambria Math" panose="02040503050406030204" pitchFamily="18" charset="0"/>
                            </a:rPr>
                          </m:ctrlPr>
                        </m:sSubSupPr>
                        <m:e>
                          <m:r>
                            <a:rPr lang="en-US" sz="1600" b="1" i="1">
                              <a:solidFill>
                                <a:prstClr val="black"/>
                              </a:solidFill>
                              <a:latin typeface="Cambria Math" panose="02040503050406030204" pitchFamily="18" charset="0"/>
                            </a:rPr>
                            <m:t>𝒃</m:t>
                          </m:r>
                        </m:e>
                        <m:sub>
                          <m:r>
                            <a:rPr lang="en-IN" sz="1600" b="0" i="1" smtClean="0">
                              <a:solidFill>
                                <a:prstClr val="black"/>
                              </a:solidFill>
                              <a:latin typeface="Cambria Math" panose="02040503050406030204" pitchFamily="18" charset="0"/>
                            </a:rPr>
                            <m:t>𝑚</m:t>
                          </m:r>
                        </m:sub>
                        <m:sup>
                          <m:r>
                            <a:rPr lang="en-US" sz="1600" i="1">
                              <a:solidFill>
                                <a:prstClr val="black"/>
                              </a:solidFill>
                              <a:latin typeface="Cambria Math" panose="02040503050406030204" pitchFamily="18" charset="0"/>
                            </a:rPr>
                            <m:t>(</m:t>
                          </m:r>
                          <m:r>
                            <a:rPr lang="en-US" sz="1600" i="1">
                              <a:solidFill>
                                <a:prstClr val="black"/>
                              </a:solidFill>
                              <a:latin typeface="Cambria Math" panose="02040503050406030204" pitchFamily="18" charset="0"/>
                            </a:rPr>
                            <m:t>𝑙</m:t>
                          </m:r>
                          <m:r>
                            <a:rPr lang="en-IN" sz="1600" b="0" i="1" smtClean="0">
                              <a:solidFill>
                                <a:prstClr val="black"/>
                              </a:solidFill>
                              <a:latin typeface="Cambria Math" panose="02040503050406030204" pitchFamily="18" charset="0"/>
                            </a:rPr>
                            <m:t>+1</m:t>
                          </m:r>
                          <m:r>
                            <a:rPr lang="en-US" sz="1600" i="1">
                              <a:solidFill>
                                <a:prstClr val="black"/>
                              </a:solidFill>
                              <a:latin typeface="Cambria Math" panose="02040503050406030204" pitchFamily="18" charset="0"/>
                            </a:rPr>
                            <m:t>)</m:t>
                          </m:r>
                        </m:sup>
                      </m:sSubSup>
                      <m:r>
                        <a:rPr lang="en-US" sz="1600" b="0" i="1" smtClean="0">
                          <a:solidFill>
                            <a:prstClr val="black"/>
                          </a:solidFill>
                          <a:latin typeface="Cambria Math" panose="02040503050406030204" pitchFamily="18" charset="0"/>
                        </a:rPr>
                        <m:t>=</m:t>
                      </m:r>
                      <m:sSubSup>
                        <m:sSubSupPr>
                          <m:ctrlPr>
                            <a:rPr lang="en-IN" sz="1600" i="1">
                              <a:latin typeface="Cambria Math" panose="02040503050406030204" pitchFamily="18" charset="0"/>
                            </a:rPr>
                          </m:ctrlPr>
                        </m:sSubSupPr>
                        <m:e>
                          <m:r>
                            <a:rPr lang="en-US" sz="1600" b="1" i="1">
                              <a:latin typeface="Cambria Math" panose="02040503050406030204" pitchFamily="18" charset="0"/>
                            </a:rPr>
                            <m:t>𝑾</m:t>
                          </m:r>
                        </m:e>
                        <m:sub>
                          <m:r>
                            <a:rPr lang="en-IN" sz="1600" b="0" i="1" smtClean="0">
                              <a:latin typeface="Cambria Math" panose="02040503050406030204" pitchFamily="18" charset="0"/>
                            </a:rPr>
                            <m:t>𝑚</m:t>
                          </m:r>
                          <m:r>
                            <a:rPr lang="en-US" sz="1600" i="1">
                              <a:latin typeface="Cambria Math" panose="02040503050406030204" pitchFamily="18" charset="0"/>
                            </a:rPr>
                            <m:t>,</m:t>
                          </m:r>
                          <m:r>
                            <a:rPr lang="en-US" sz="1600" b="0" i="1" smtClean="0">
                              <a:latin typeface="Cambria Math" panose="02040503050406030204" pitchFamily="18" charset="0"/>
                            </a:rPr>
                            <m:t>1</m:t>
                          </m:r>
                        </m:sub>
                        <m:sup>
                          <m:r>
                            <a:rPr lang="en-US" sz="1600" i="1">
                              <a:latin typeface="Cambria Math" panose="02040503050406030204" pitchFamily="18" charset="0"/>
                            </a:rPr>
                            <m:t>(</m:t>
                          </m:r>
                          <m:r>
                            <a:rPr lang="en-US" sz="1600" i="1">
                              <a:latin typeface="Cambria Math" panose="02040503050406030204" pitchFamily="18" charset="0"/>
                            </a:rPr>
                            <m:t>𝑙</m:t>
                          </m:r>
                          <m:r>
                            <a:rPr lang="en-IN" sz="1600" b="0" i="1" smtClean="0">
                              <a:latin typeface="Cambria Math" panose="02040503050406030204" pitchFamily="18" charset="0"/>
                            </a:rPr>
                            <m:t>+1</m:t>
                          </m:r>
                          <m:r>
                            <a:rPr lang="en-US" sz="1600" i="1">
                              <a:latin typeface="Cambria Math" panose="02040503050406030204" pitchFamily="18" charset="0"/>
                            </a:rPr>
                            <m:t>)</m:t>
                          </m:r>
                        </m:sup>
                      </m:sSubSup>
                      <m:r>
                        <m:rPr>
                          <m:nor/>
                        </m:rPr>
                        <a:rPr lang="en-IN" sz="1600" dirty="0"/>
                        <m:t> </m:t>
                      </m:r>
                      <m:sSubSup>
                        <m:sSubSupPr>
                          <m:ctrlPr>
                            <a:rPr lang="en-IN" sz="1600" i="1" dirty="0">
                              <a:latin typeface="Cambria Math" panose="02040503050406030204" pitchFamily="18" charset="0"/>
                            </a:rPr>
                          </m:ctrlPr>
                        </m:sSubSupPr>
                        <m:e>
                          <m:r>
                            <a:rPr lang="en-US" sz="1600" b="1" i="1" dirty="0">
                              <a:latin typeface="Cambria Math" panose="02040503050406030204" pitchFamily="18" charset="0"/>
                            </a:rPr>
                            <m:t>𝒉</m:t>
                          </m:r>
                        </m:e>
                        <m:sub>
                          <m:r>
                            <a:rPr lang="en-US" sz="1600" b="0" i="1" dirty="0" smtClean="0">
                              <a:latin typeface="Cambria Math" panose="02040503050406030204" pitchFamily="18" charset="0"/>
                            </a:rPr>
                            <m:t>1</m:t>
                          </m:r>
                        </m:sub>
                        <m:sup>
                          <m:r>
                            <a:rPr lang="en-US" sz="1600" i="1" dirty="0">
                              <a:latin typeface="Cambria Math" panose="02040503050406030204" pitchFamily="18" charset="0"/>
                            </a:rPr>
                            <m:t>(</m:t>
                          </m:r>
                          <m:r>
                            <a:rPr lang="en-US" sz="1600" i="1" dirty="0">
                              <a:latin typeface="Cambria Math" panose="02040503050406030204" pitchFamily="18" charset="0"/>
                            </a:rPr>
                            <m:t>𝑙</m:t>
                          </m:r>
                          <m:r>
                            <a:rPr lang="en-US" sz="1600" i="1" dirty="0">
                              <a:latin typeface="Cambria Math" panose="02040503050406030204" pitchFamily="18" charset="0"/>
                            </a:rPr>
                            <m:t>)</m:t>
                          </m:r>
                        </m:sup>
                      </m:sSubSup>
                      <m:r>
                        <a:rPr lang="en-US" sz="1600" b="0" i="1" dirty="0" smtClean="0">
                          <a:latin typeface="Cambria Math" panose="02040503050406030204" pitchFamily="18" charset="0"/>
                        </a:rPr>
                        <m:t>+</m:t>
                      </m:r>
                      <m:sSubSup>
                        <m:sSubSupPr>
                          <m:ctrlPr>
                            <a:rPr lang="en-IN" sz="1600" i="1">
                              <a:latin typeface="Cambria Math" panose="02040503050406030204" pitchFamily="18" charset="0"/>
                            </a:rPr>
                          </m:ctrlPr>
                        </m:sSubSupPr>
                        <m:e>
                          <m:r>
                            <a:rPr lang="en-US" sz="1600" b="1" i="1">
                              <a:latin typeface="Cambria Math" panose="02040503050406030204" pitchFamily="18" charset="0"/>
                            </a:rPr>
                            <m:t>𝑾</m:t>
                          </m:r>
                        </m:e>
                        <m:sub>
                          <m:r>
                            <a:rPr lang="en-IN" sz="1600" b="0" i="1" smtClean="0">
                              <a:latin typeface="Cambria Math" panose="02040503050406030204" pitchFamily="18" charset="0"/>
                            </a:rPr>
                            <m:t>𝑚</m:t>
                          </m:r>
                          <m:r>
                            <a:rPr lang="en-US" sz="1600" i="1">
                              <a:latin typeface="Cambria Math" panose="02040503050406030204" pitchFamily="18" charset="0"/>
                            </a:rPr>
                            <m:t>,</m:t>
                          </m:r>
                          <m:r>
                            <a:rPr lang="en-US" sz="1600" b="0" i="1" smtClean="0">
                              <a:latin typeface="Cambria Math" panose="02040503050406030204" pitchFamily="18" charset="0"/>
                            </a:rPr>
                            <m:t>2</m:t>
                          </m:r>
                        </m:sub>
                        <m:sup>
                          <m:r>
                            <a:rPr lang="en-US" sz="1600" i="1">
                              <a:latin typeface="Cambria Math" panose="02040503050406030204" pitchFamily="18" charset="0"/>
                            </a:rPr>
                            <m:t>(</m:t>
                          </m:r>
                          <m:r>
                            <a:rPr lang="en-US" sz="1600" i="1">
                              <a:latin typeface="Cambria Math" panose="02040503050406030204" pitchFamily="18" charset="0"/>
                            </a:rPr>
                            <m:t>𝑙</m:t>
                          </m:r>
                          <m:r>
                            <a:rPr lang="en-IN" sz="1600" b="0" i="1" smtClean="0">
                              <a:latin typeface="Cambria Math" panose="02040503050406030204" pitchFamily="18" charset="0"/>
                            </a:rPr>
                            <m:t>+1</m:t>
                          </m:r>
                          <m:r>
                            <a:rPr lang="en-US" sz="1600" i="1">
                              <a:latin typeface="Cambria Math" panose="02040503050406030204" pitchFamily="18" charset="0"/>
                            </a:rPr>
                            <m:t>)</m:t>
                          </m:r>
                        </m:sup>
                      </m:sSubSup>
                      <m:r>
                        <m:rPr>
                          <m:nor/>
                        </m:rPr>
                        <a:rPr lang="en-IN" sz="1600" dirty="0"/>
                        <m:t> </m:t>
                      </m:r>
                      <m:sSubSup>
                        <m:sSubSupPr>
                          <m:ctrlPr>
                            <a:rPr lang="en-IN" sz="1600" i="1" dirty="0">
                              <a:latin typeface="Cambria Math" panose="02040503050406030204" pitchFamily="18" charset="0"/>
                            </a:rPr>
                          </m:ctrlPr>
                        </m:sSubSupPr>
                        <m:e>
                          <m:r>
                            <a:rPr lang="en-US" sz="1600" b="1" i="1" dirty="0">
                              <a:latin typeface="Cambria Math" panose="02040503050406030204" pitchFamily="18" charset="0"/>
                            </a:rPr>
                            <m:t>𝒉</m:t>
                          </m:r>
                        </m:e>
                        <m:sub>
                          <m:r>
                            <a:rPr lang="en-US" sz="1600" b="0" i="1" dirty="0" smtClean="0">
                              <a:latin typeface="Cambria Math" panose="02040503050406030204" pitchFamily="18" charset="0"/>
                            </a:rPr>
                            <m:t>2</m:t>
                          </m:r>
                        </m:sub>
                        <m:sup>
                          <m:r>
                            <a:rPr lang="en-US" sz="1600" i="1" dirty="0">
                              <a:latin typeface="Cambria Math" panose="02040503050406030204" pitchFamily="18" charset="0"/>
                            </a:rPr>
                            <m:t>(</m:t>
                          </m:r>
                          <m:r>
                            <a:rPr lang="en-US" sz="1600" i="1" dirty="0">
                              <a:latin typeface="Cambria Math" panose="02040503050406030204" pitchFamily="18" charset="0"/>
                            </a:rPr>
                            <m:t>𝑙</m:t>
                          </m:r>
                          <m:r>
                            <a:rPr lang="en-US" sz="1600" i="1" dirty="0">
                              <a:latin typeface="Cambria Math" panose="02040503050406030204" pitchFamily="18" charset="0"/>
                            </a:rPr>
                            <m:t>)</m:t>
                          </m:r>
                        </m:sup>
                      </m:sSubSup>
                      <m:r>
                        <a:rPr lang="en-US" sz="1600" b="0" i="1" dirty="0" smtClean="0">
                          <a:latin typeface="Cambria Math" panose="02040503050406030204" pitchFamily="18" charset="0"/>
                        </a:rPr>
                        <m:t>+…+</m:t>
                      </m:r>
                      <m:sSubSup>
                        <m:sSubSupPr>
                          <m:ctrlPr>
                            <a:rPr lang="en-IN" sz="1600" i="1">
                              <a:latin typeface="Cambria Math" panose="02040503050406030204" pitchFamily="18" charset="0"/>
                            </a:rPr>
                          </m:ctrlPr>
                        </m:sSubSupPr>
                        <m:e>
                          <m:r>
                            <a:rPr lang="en-US" sz="1600" b="1" i="1">
                              <a:latin typeface="Cambria Math" panose="02040503050406030204" pitchFamily="18" charset="0"/>
                            </a:rPr>
                            <m:t>𝑾</m:t>
                          </m:r>
                        </m:e>
                        <m:sub>
                          <m:r>
                            <a:rPr lang="en-IN" sz="1600" b="0" i="1" smtClean="0">
                              <a:latin typeface="Cambria Math" panose="02040503050406030204" pitchFamily="18" charset="0"/>
                            </a:rPr>
                            <m:t>𝑚</m:t>
                          </m:r>
                          <m:r>
                            <a:rPr lang="en-US" sz="1600" i="1">
                              <a:latin typeface="Cambria Math" panose="02040503050406030204" pitchFamily="18" charset="0"/>
                            </a:rPr>
                            <m:t>,</m:t>
                          </m:r>
                          <m:r>
                            <a:rPr lang="en-IN" sz="1600" b="0" i="1" smtClean="0">
                              <a:latin typeface="Cambria Math" panose="02040503050406030204" pitchFamily="18" charset="0"/>
                            </a:rPr>
                            <m:t>𝑖</m:t>
                          </m:r>
                        </m:sub>
                        <m:sup>
                          <m:d>
                            <m:dPr>
                              <m:ctrlPr>
                                <a:rPr lang="en-US" sz="1600" i="1">
                                  <a:latin typeface="Cambria Math" panose="02040503050406030204" pitchFamily="18" charset="0"/>
                                </a:rPr>
                              </m:ctrlPr>
                            </m:dPr>
                            <m:e>
                              <m:r>
                                <a:rPr lang="en-US" sz="1600" i="1">
                                  <a:latin typeface="Cambria Math" panose="02040503050406030204" pitchFamily="18" charset="0"/>
                                </a:rPr>
                                <m:t>𝑙</m:t>
                              </m:r>
                              <m:r>
                                <a:rPr lang="en-IN" sz="1600" b="0" i="1" smtClean="0">
                                  <a:latin typeface="Cambria Math" panose="02040503050406030204" pitchFamily="18" charset="0"/>
                                </a:rPr>
                                <m:t>+1</m:t>
                              </m:r>
                            </m:e>
                          </m:d>
                        </m:sup>
                      </m:sSubSup>
                      <m:r>
                        <m:rPr>
                          <m:nor/>
                        </m:rPr>
                        <a:rPr lang="en-IN" sz="1600" dirty="0"/>
                        <m:t> </m:t>
                      </m:r>
                      <m:sSubSup>
                        <m:sSubSupPr>
                          <m:ctrlPr>
                            <a:rPr lang="en-IN" sz="1600" i="1" dirty="0">
                              <a:latin typeface="Cambria Math" panose="02040503050406030204" pitchFamily="18" charset="0"/>
                            </a:rPr>
                          </m:ctrlPr>
                        </m:sSubSupPr>
                        <m:e>
                          <m:r>
                            <a:rPr lang="en-US" sz="1600" b="1" i="1" dirty="0">
                              <a:latin typeface="Cambria Math" panose="02040503050406030204" pitchFamily="18" charset="0"/>
                            </a:rPr>
                            <m:t>𝒉</m:t>
                          </m:r>
                        </m:e>
                        <m:sub>
                          <m:r>
                            <a:rPr lang="en-IN" sz="1600" b="0" i="1" dirty="0" smtClean="0">
                              <a:latin typeface="Cambria Math" panose="02040503050406030204" pitchFamily="18" charset="0"/>
                            </a:rPr>
                            <m:t>𝑖</m:t>
                          </m:r>
                        </m:sub>
                        <m:sup>
                          <m:d>
                            <m:dPr>
                              <m:ctrlPr>
                                <a:rPr lang="en-US" sz="1600" i="1" dirty="0">
                                  <a:latin typeface="Cambria Math" panose="02040503050406030204" pitchFamily="18" charset="0"/>
                                </a:rPr>
                              </m:ctrlPr>
                            </m:dPr>
                            <m:e>
                              <m:r>
                                <a:rPr lang="en-US" sz="1600" i="1" dirty="0">
                                  <a:latin typeface="Cambria Math" panose="02040503050406030204" pitchFamily="18" charset="0"/>
                                </a:rPr>
                                <m:t>𝑙</m:t>
                              </m:r>
                            </m:e>
                          </m:d>
                        </m:sup>
                      </m:sSubSup>
                      <m:r>
                        <a:rPr lang="en-US" sz="1600" b="0" i="1" dirty="0" smtClean="0">
                          <a:latin typeface="Cambria Math" panose="02040503050406030204" pitchFamily="18" charset="0"/>
                        </a:rPr>
                        <m:t>+…+</m:t>
                      </m:r>
                      <m:sSubSup>
                        <m:sSubSupPr>
                          <m:ctrlPr>
                            <a:rPr lang="en-US" sz="1600" i="1">
                              <a:solidFill>
                                <a:prstClr val="black"/>
                              </a:solidFill>
                              <a:latin typeface="Cambria Math" panose="02040503050406030204" pitchFamily="18" charset="0"/>
                            </a:rPr>
                          </m:ctrlPr>
                        </m:sSubSupPr>
                        <m:e>
                          <m:r>
                            <a:rPr lang="en-US" sz="1600" b="1" i="1">
                              <a:solidFill>
                                <a:prstClr val="black"/>
                              </a:solidFill>
                              <a:latin typeface="Cambria Math" panose="02040503050406030204" pitchFamily="18" charset="0"/>
                            </a:rPr>
                            <m:t>𝒃</m:t>
                          </m:r>
                        </m:e>
                        <m:sub>
                          <m:r>
                            <a:rPr lang="en-IN" sz="1600" b="0" i="1" smtClean="0">
                              <a:solidFill>
                                <a:prstClr val="black"/>
                              </a:solidFill>
                              <a:latin typeface="Cambria Math" panose="02040503050406030204" pitchFamily="18" charset="0"/>
                            </a:rPr>
                            <m:t>𝑚</m:t>
                          </m:r>
                        </m:sub>
                        <m:sup>
                          <m:r>
                            <a:rPr lang="en-US" sz="1600" i="1">
                              <a:solidFill>
                                <a:prstClr val="black"/>
                              </a:solidFill>
                              <a:latin typeface="Cambria Math" panose="02040503050406030204" pitchFamily="18" charset="0"/>
                            </a:rPr>
                            <m:t>(</m:t>
                          </m:r>
                          <m:r>
                            <a:rPr lang="en-US" sz="1600" i="1">
                              <a:solidFill>
                                <a:prstClr val="black"/>
                              </a:solidFill>
                              <a:latin typeface="Cambria Math" panose="02040503050406030204" pitchFamily="18" charset="0"/>
                            </a:rPr>
                            <m:t>𝑙</m:t>
                          </m:r>
                          <m:r>
                            <a:rPr lang="en-IN" sz="1600" b="0" i="1" smtClean="0">
                              <a:solidFill>
                                <a:prstClr val="black"/>
                              </a:solidFill>
                              <a:latin typeface="Cambria Math" panose="02040503050406030204" pitchFamily="18" charset="0"/>
                            </a:rPr>
                            <m:t>+1</m:t>
                          </m:r>
                          <m:r>
                            <a:rPr lang="en-US" sz="1600" i="1">
                              <a:solidFill>
                                <a:prstClr val="black"/>
                              </a:solidFill>
                              <a:latin typeface="Cambria Math" panose="02040503050406030204" pitchFamily="18" charset="0"/>
                            </a:rPr>
                            <m:t>)</m:t>
                          </m:r>
                        </m:sup>
                      </m:sSubSup>
                    </m:oMath>
                  </m:oMathPara>
                </a14:m>
                <a:endParaRPr lang="en-IN" sz="1600" dirty="0"/>
              </a:p>
            </p:txBody>
          </p:sp>
        </mc:Choice>
        <mc:Fallback xmlns="">
          <p:sp>
            <p:nvSpPr>
              <p:cNvPr id="60" name="TextBox 59"/>
              <p:cNvSpPr txBox="1">
                <a:spLocks noRot="1" noChangeAspect="1" noMove="1" noResize="1" noEditPoints="1" noAdjustHandles="1" noChangeArrowheads="1" noChangeShapeType="1" noTextEdit="1"/>
              </p:cNvSpPr>
              <p:nvPr/>
            </p:nvSpPr>
            <p:spPr>
              <a:xfrm>
                <a:off x="637088" y="4238959"/>
                <a:ext cx="8054769" cy="625364"/>
              </a:xfrm>
              <a:prstGeom prst="rect">
                <a:avLst/>
              </a:prstGeom>
              <a:blipFill rotWithShape="0">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Rectangle 60"/>
              <p:cNvSpPr/>
              <p:nvPr/>
            </p:nvSpPr>
            <p:spPr>
              <a:xfrm>
                <a:off x="293312" y="4864323"/>
                <a:ext cx="3143168" cy="8728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r>
                            <a:rPr lang="en-IN" i="1">
                              <a:latin typeface="Cambria Math" panose="02040503050406030204" pitchFamily="18" charset="0"/>
                            </a:rPr>
                            <m:t>𝐽</m:t>
                          </m:r>
                        </m:num>
                        <m:den>
                          <m:r>
                            <a:rPr lang="en-US" i="1">
                              <a:latin typeface="Cambria Math" panose="02040503050406030204" pitchFamily="18" charset="0"/>
                            </a:rPr>
                            <m:t>𝜕</m:t>
                          </m:r>
                          <m:sSubSup>
                            <m:sSubSupPr>
                              <m:ctrlPr>
                                <a:rPr lang="en-US" i="1">
                                  <a:latin typeface="Cambria Math" panose="02040503050406030204" pitchFamily="18" charset="0"/>
                                </a:rPr>
                              </m:ctrlPr>
                            </m:sSubSupPr>
                            <m:e>
                              <m:r>
                                <a:rPr lang="en-IN" b="1" i="1">
                                  <a:latin typeface="Cambria Math" panose="02040503050406030204" pitchFamily="18" charset="0"/>
                                </a:rPr>
                                <m:t>𝒉</m:t>
                              </m:r>
                            </m:e>
                            <m:sub>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m:t>
                              </m:r>
                            </m:sup>
                          </m:sSubSup>
                        </m:den>
                      </m:f>
                      <m:r>
                        <a:rPr lang="en-IN" i="1">
                          <a:latin typeface="Cambria Math" panose="02040503050406030204" pitchFamily="18" charset="0"/>
                        </a:rPr>
                        <m:t>=</m:t>
                      </m:r>
                      <m:nary>
                        <m:naryPr>
                          <m:chr m:val="∑"/>
                          <m:ctrlPr>
                            <a:rPr lang="en-IN" i="1">
                              <a:latin typeface="Cambria Math" panose="02040503050406030204" pitchFamily="18" charset="0"/>
                            </a:rPr>
                          </m:ctrlPr>
                        </m:naryPr>
                        <m:sub>
                          <m:r>
                            <m:rPr>
                              <m:brk m:alnAt="23"/>
                            </m:rPr>
                            <a:rPr lang="en-IN" i="1">
                              <a:latin typeface="Cambria Math" panose="02040503050406030204" pitchFamily="18" charset="0"/>
                            </a:rPr>
                            <m:t>𝑚</m:t>
                          </m:r>
                          <m:r>
                            <a:rPr lang="en-IN" i="1">
                              <a:latin typeface="Cambria Math" panose="02040503050406030204" pitchFamily="18" charset="0"/>
                            </a:rPr>
                            <m:t>=1</m:t>
                          </m:r>
                        </m:sub>
                        <m:sup>
                          <m:sSub>
                            <m:sSubPr>
                              <m:ctrlPr>
                                <a:rPr lang="en-IN" i="1">
                                  <a:latin typeface="Cambria Math" panose="02040503050406030204" pitchFamily="18" charset="0"/>
                                </a:rPr>
                              </m:ctrlPr>
                            </m:sSubPr>
                            <m:e>
                              <m:r>
                                <a:rPr lang="en-IN" i="1">
                                  <a:latin typeface="Cambria Math" panose="02040503050406030204" pitchFamily="18" charset="0"/>
                                </a:rPr>
                                <m:t>𝑀</m:t>
                              </m:r>
                            </m:e>
                            <m:sub>
                              <m:r>
                                <a:rPr lang="en-IN" i="1">
                                  <a:latin typeface="Cambria Math" panose="02040503050406030204" pitchFamily="18" charset="0"/>
                                </a:rPr>
                                <m:t>𝑙</m:t>
                              </m:r>
                              <m:r>
                                <a:rPr lang="en-IN" i="1">
                                  <a:latin typeface="Cambria Math" panose="02040503050406030204" pitchFamily="18" charset="0"/>
                                </a:rPr>
                                <m:t>+1</m:t>
                              </m:r>
                            </m:sub>
                          </m:sSub>
                        </m:sup>
                        <m:e>
                          <m:f>
                            <m:fPr>
                              <m:ctrlPr>
                                <a:rPr lang="en-IN" i="1">
                                  <a:latin typeface="Cambria Math" panose="02040503050406030204" pitchFamily="18" charset="0"/>
                                </a:rPr>
                              </m:ctrlPr>
                            </m:fPr>
                            <m:num>
                              <m:r>
                                <a:rPr lang="en-IN" i="1">
                                  <a:latin typeface="Cambria Math" panose="02040503050406030204" pitchFamily="18" charset="0"/>
                                </a:rPr>
                                <m:t>𝜕</m:t>
                              </m:r>
                              <m:r>
                                <a:rPr lang="en-IN" i="1">
                                  <a:latin typeface="Cambria Math" panose="02040503050406030204" pitchFamily="18" charset="0"/>
                                </a:rPr>
                                <m:t>𝐽</m:t>
                              </m:r>
                            </m:num>
                            <m:den>
                              <m:r>
                                <a:rPr lang="en-IN" i="1">
                                  <a:latin typeface="Cambria Math" panose="02040503050406030204" pitchFamily="18" charset="0"/>
                                </a:rPr>
                                <m:t>𝜕</m:t>
                              </m:r>
                              <m:sSubSup>
                                <m:sSubSupPr>
                                  <m:ctrlPr>
                                    <a:rPr lang="en-IN" i="1">
                                      <a:latin typeface="Cambria Math" panose="02040503050406030204" pitchFamily="18" charset="0"/>
                                    </a:rPr>
                                  </m:ctrlPr>
                                </m:sSubSupPr>
                                <m:e>
                                  <m:r>
                                    <a:rPr lang="en-IN" b="1" i="1">
                                      <a:latin typeface="Cambria Math" panose="02040503050406030204" pitchFamily="18" charset="0"/>
                                    </a:rPr>
                                    <m:t>𝒂</m:t>
                                  </m:r>
                                </m:e>
                                <m:sub>
                                  <m:r>
                                    <a:rPr lang="en-IN" i="1">
                                      <a:latin typeface="Cambria Math" panose="02040503050406030204" pitchFamily="18" charset="0"/>
                                    </a:rPr>
                                    <m:t>𝑚</m:t>
                                  </m:r>
                                </m:sub>
                                <m:sup>
                                  <m:r>
                                    <a:rPr lang="en-IN" i="1">
                                      <a:latin typeface="Cambria Math" panose="02040503050406030204" pitchFamily="18" charset="0"/>
                                    </a:rPr>
                                    <m:t>(</m:t>
                                  </m:r>
                                  <m:r>
                                    <a:rPr lang="en-IN" i="1">
                                      <a:latin typeface="Cambria Math" panose="02040503050406030204" pitchFamily="18" charset="0"/>
                                    </a:rPr>
                                    <m:t>𝑙</m:t>
                                  </m:r>
                                  <m:r>
                                    <a:rPr lang="en-IN" i="1">
                                      <a:latin typeface="Cambria Math" panose="02040503050406030204" pitchFamily="18" charset="0"/>
                                    </a:rPr>
                                    <m:t>+1)</m:t>
                                  </m:r>
                                </m:sup>
                              </m:sSubSup>
                            </m:den>
                          </m:f>
                        </m:e>
                      </m:nary>
                      <m:sSubSup>
                        <m:sSubSupPr>
                          <m:ctrlPr>
                            <a:rPr lang="en-IN" i="1">
                              <a:latin typeface="Cambria Math" panose="02040503050406030204" pitchFamily="18" charset="0"/>
                            </a:rPr>
                          </m:ctrlPr>
                        </m:sSubSupPr>
                        <m:e>
                          <m:r>
                            <a:rPr lang="en-US" b="1" i="1">
                              <a:latin typeface="Cambria Math" panose="02040503050406030204" pitchFamily="18" charset="0"/>
                            </a:rPr>
                            <m:t>𝑾</m:t>
                          </m:r>
                        </m:e>
                        <m:sub>
                          <m:r>
                            <a:rPr lang="en-IN" i="1">
                              <a:latin typeface="Cambria Math" panose="02040503050406030204" pitchFamily="18" charset="0"/>
                            </a:rPr>
                            <m:t>𝑚</m:t>
                          </m:r>
                          <m:r>
                            <a:rPr lang="en-US" i="1">
                              <a:latin typeface="Cambria Math" panose="02040503050406030204" pitchFamily="18" charset="0"/>
                            </a:rPr>
                            <m:t>,</m:t>
                          </m:r>
                          <m:r>
                            <a:rPr lang="en-IN" i="1">
                              <a:latin typeface="Cambria Math" panose="02040503050406030204" pitchFamily="18" charset="0"/>
                            </a:rPr>
                            <m:t>𝑖</m:t>
                          </m:r>
                        </m:sub>
                        <m:sup>
                          <m:d>
                            <m:dPr>
                              <m:ctrlPr>
                                <a:rPr lang="en-US" i="1">
                                  <a:latin typeface="Cambria Math" panose="02040503050406030204" pitchFamily="18" charset="0"/>
                                </a:rPr>
                              </m:ctrlPr>
                            </m:dPr>
                            <m:e>
                              <m:r>
                                <a:rPr lang="en-US" i="1">
                                  <a:latin typeface="Cambria Math" panose="02040503050406030204" pitchFamily="18" charset="0"/>
                                </a:rPr>
                                <m:t>𝑙</m:t>
                              </m:r>
                              <m:r>
                                <a:rPr lang="en-IN" i="1">
                                  <a:latin typeface="Cambria Math" panose="02040503050406030204" pitchFamily="18" charset="0"/>
                                </a:rPr>
                                <m:t>+1</m:t>
                              </m:r>
                            </m:e>
                          </m:d>
                        </m:sup>
                      </m:sSubSup>
                    </m:oMath>
                  </m:oMathPara>
                </a14:m>
                <a:endParaRPr lang="en-IN" dirty="0"/>
              </a:p>
            </p:txBody>
          </p:sp>
        </mc:Choice>
        <mc:Fallback xmlns="">
          <p:sp>
            <p:nvSpPr>
              <p:cNvPr id="61" name="Rectangle 60"/>
              <p:cNvSpPr>
                <a:spLocks noRot="1" noChangeAspect="1" noMove="1" noResize="1" noEditPoints="1" noAdjustHandles="1" noChangeArrowheads="1" noChangeShapeType="1" noTextEdit="1"/>
              </p:cNvSpPr>
              <p:nvPr/>
            </p:nvSpPr>
            <p:spPr>
              <a:xfrm>
                <a:off x="293312" y="4864323"/>
                <a:ext cx="3143168" cy="872803"/>
              </a:xfrm>
              <a:prstGeom prst="rect">
                <a:avLst/>
              </a:prstGeom>
              <a:blipFill rotWithShape="0">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4336848" y="3585637"/>
                <a:ext cx="7433125" cy="438197"/>
              </a:xfrm>
              <a:prstGeom prst="rect">
                <a:avLst/>
              </a:prstGeom>
              <a:noFill/>
              <a:ln>
                <a:solidFill>
                  <a:srgbClr val="00B050"/>
                </a:solidFill>
              </a:ln>
            </p:spPr>
            <p:txBody>
              <a:bodyPr wrap="none" lIns="0" tIns="0" rIns="0" bIns="0" rtlCol="0">
                <a:spAutoFit/>
              </a:bodyPr>
              <a:lstStyle/>
              <a:p>
                <a:r>
                  <a:rPr lang="en-US" b="0" i="1" dirty="0"/>
                  <a:t>Remember I</a:t>
                </a:r>
                <a14:m>
                  <m:oMath xmlns:m="http://schemas.openxmlformats.org/officeDocument/2006/math">
                    <m:r>
                      <a:rPr lang="en-US" b="0" i="1" smtClean="0">
                        <a:latin typeface="Cambria Math" charset="0"/>
                      </a:rPr>
                      <m:t>𝑓</m:t>
                    </m:r>
                    <m:r>
                      <a:rPr lang="en-US" b="0" i="1" smtClean="0">
                        <a:latin typeface="Cambria Math" charset="0"/>
                      </a:rPr>
                      <m:t>, </m:t>
                    </m:r>
                    <m:r>
                      <a:rPr lang="en-US" b="0" i="1" smtClean="0">
                        <a:latin typeface="Cambria Math" charset="0"/>
                      </a:rPr>
                      <m:t>𝑢</m:t>
                    </m:r>
                    <m:r>
                      <a:rPr lang="en-US" b="0" i="1" smtClean="0">
                        <a:latin typeface="Cambria Math" charset="0"/>
                      </a:rPr>
                      <m:t>=</m:t>
                    </m:r>
                    <m:r>
                      <a:rPr lang="en-US" b="0" i="1" smtClean="0">
                        <a:latin typeface="Cambria Math" charset="0"/>
                      </a:rPr>
                      <m:t>𝑓</m:t>
                    </m:r>
                    <m:d>
                      <m:dPr>
                        <m:ctrlPr>
                          <a:rPr lang="en-US" b="0" i="1" smtClean="0">
                            <a:latin typeface="Cambria Math" panose="02040503050406030204" pitchFamily="18" charset="0"/>
                          </a:rPr>
                        </m:ctrlPr>
                      </m:dPr>
                      <m:e>
                        <m:r>
                          <a:rPr lang="en-US" b="0" i="1" smtClean="0">
                            <a:latin typeface="Cambria Math" charset="0"/>
                          </a:rPr>
                          <m:t>𝑥</m:t>
                        </m:r>
                        <m:r>
                          <a:rPr lang="en-US" b="0" i="1" smtClean="0">
                            <a:latin typeface="Cambria Math" charset="0"/>
                          </a:rPr>
                          <m:t>,</m:t>
                        </m:r>
                        <m:r>
                          <a:rPr lang="en-US" b="0" i="1" smtClean="0">
                            <a:latin typeface="Cambria Math" charset="0"/>
                          </a:rPr>
                          <m:t>𝑦</m:t>
                        </m:r>
                      </m:e>
                    </m:d>
                    <m:r>
                      <a:rPr lang="en-US" b="0" i="1" smtClean="0">
                        <a:latin typeface="Cambria Math" charset="0"/>
                      </a:rPr>
                      <m:t>, </m:t>
                    </m:r>
                    <m:r>
                      <a:rPr lang="en-US" b="0" i="1" smtClean="0">
                        <a:latin typeface="Cambria Math" charset="0"/>
                      </a:rPr>
                      <m:t>𝑤h𝑒𝑟𝑒</m:t>
                    </m:r>
                    <m:r>
                      <a:rPr lang="en-US" b="0" i="1" smtClean="0">
                        <a:latin typeface="Cambria Math" charset="0"/>
                      </a:rPr>
                      <m:t> </m:t>
                    </m:r>
                    <m:r>
                      <a:rPr lang="en-US" b="0" i="1" smtClean="0">
                        <a:latin typeface="Cambria Math" charset="0"/>
                      </a:rPr>
                      <m:t>𝑥</m:t>
                    </m:r>
                    <m:r>
                      <a:rPr lang="en-US" b="0" i="1" smtClean="0">
                        <a:latin typeface="Cambria Math" charset="0"/>
                      </a:rPr>
                      <m:t>=</m:t>
                    </m:r>
                    <m:r>
                      <a:rPr lang="en-US" b="0" i="1" smtClean="0">
                        <a:latin typeface="Cambria Math" charset="0"/>
                      </a:rPr>
                      <m:t>𝜙</m:t>
                    </m:r>
                    <m:d>
                      <m:dPr>
                        <m:ctrlPr>
                          <a:rPr lang="en-US" b="0" i="1" smtClean="0">
                            <a:latin typeface="Cambria Math" panose="02040503050406030204" pitchFamily="18" charset="0"/>
                          </a:rPr>
                        </m:ctrlPr>
                      </m:dPr>
                      <m:e>
                        <m:r>
                          <a:rPr lang="en-US" b="0" i="1" smtClean="0">
                            <a:latin typeface="Cambria Math" charset="0"/>
                          </a:rPr>
                          <m:t>𝑡</m:t>
                        </m:r>
                      </m:e>
                    </m:d>
                    <m:r>
                      <a:rPr lang="en-US" b="0" i="1" smtClean="0">
                        <a:latin typeface="Cambria Math" charset="0"/>
                      </a:rPr>
                      <m:t>, </m:t>
                    </m:r>
                    <m:r>
                      <a:rPr lang="en-US" b="0" i="1" smtClean="0">
                        <a:latin typeface="Cambria Math" charset="0"/>
                      </a:rPr>
                      <m:t>𝑦</m:t>
                    </m:r>
                    <m:r>
                      <a:rPr lang="en-US" b="0" i="1" smtClean="0">
                        <a:latin typeface="Cambria Math" charset="0"/>
                      </a:rPr>
                      <m:t>=</m:t>
                    </m:r>
                    <m:r>
                      <a:rPr lang="en-US" b="0" i="1" smtClean="0">
                        <a:latin typeface="Cambria Math" charset="0"/>
                      </a:rPr>
                      <m:t>𝜓</m:t>
                    </m:r>
                    <m:d>
                      <m:dPr>
                        <m:ctrlPr>
                          <a:rPr lang="en-US" b="0" i="1" smtClean="0">
                            <a:latin typeface="Cambria Math" panose="02040503050406030204" pitchFamily="18" charset="0"/>
                          </a:rPr>
                        </m:ctrlPr>
                      </m:dPr>
                      <m:e>
                        <m:r>
                          <a:rPr lang="en-US" b="0" i="1" smtClean="0">
                            <a:latin typeface="Cambria Math" charset="0"/>
                          </a:rPr>
                          <m:t>𝑡</m:t>
                        </m:r>
                      </m:e>
                    </m:d>
                    <m:r>
                      <a:rPr lang="en-US" b="0" i="0" smtClean="0">
                        <a:latin typeface="Cambria Math" charset="0"/>
                      </a:rPr>
                      <m:t>, </m:t>
                    </m:r>
                    <m:r>
                      <m:rPr>
                        <m:sty m:val="p"/>
                      </m:rPr>
                      <a:rPr lang="en-US" b="0" i="0" smtClean="0">
                        <a:latin typeface="Cambria Math" charset="0"/>
                      </a:rPr>
                      <m:t>then</m:t>
                    </m:r>
                    <m:r>
                      <a:rPr lang="en-US" b="0" i="0" smtClean="0">
                        <a:latin typeface="Cambria Math" charset="0"/>
                      </a:rPr>
                      <m:t> </m:t>
                    </m:r>
                    <m:f>
                      <m:fPr>
                        <m:ctrlPr>
                          <a:rPr lang="mr-IN" b="0" i="1" smtClean="0">
                            <a:latin typeface="Cambria Math" panose="02040503050406030204" pitchFamily="18" charset="0"/>
                          </a:rPr>
                        </m:ctrlPr>
                      </m:fPr>
                      <m:num>
                        <m:r>
                          <a:rPr lang="en-US" b="0" i="1" smtClean="0">
                            <a:latin typeface="Cambria Math" charset="0"/>
                          </a:rPr>
                          <m:t>𝜕</m:t>
                        </m:r>
                        <m:r>
                          <a:rPr lang="en-US" b="0" i="1" smtClean="0">
                            <a:latin typeface="Cambria Math" charset="0"/>
                          </a:rPr>
                          <m:t>𝑢</m:t>
                        </m:r>
                      </m:num>
                      <m:den>
                        <m:r>
                          <a:rPr lang="en-US" b="0" i="1" smtClean="0">
                            <a:latin typeface="Cambria Math" charset="0"/>
                          </a:rPr>
                          <m:t>𝜕</m:t>
                        </m:r>
                        <m:r>
                          <a:rPr lang="en-US" b="0" i="1" smtClean="0">
                            <a:latin typeface="Cambria Math" charset="0"/>
                          </a:rPr>
                          <m:t>𝑡</m:t>
                        </m:r>
                      </m:den>
                    </m:f>
                    <m:r>
                      <a:rPr lang="en-US" b="0" i="1" smtClean="0">
                        <a:latin typeface="Cambria Math" charset="0"/>
                      </a:rPr>
                      <m:t>=</m:t>
                    </m:r>
                    <m:f>
                      <m:fPr>
                        <m:ctrlPr>
                          <a:rPr lang="mr-IN" i="1">
                            <a:latin typeface="Cambria Math" panose="02040503050406030204" pitchFamily="18" charset="0"/>
                          </a:rPr>
                        </m:ctrlPr>
                      </m:fPr>
                      <m:num>
                        <m:r>
                          <a:rPr lang="en-US" i="1">
                            <a:latin typeface="Cambria Math" charset="0"/>
                          </a:rPr>
                          <m:t>𝜕</m:t>
                        </m:r>
                        <m:r>
                          <a:rPr lang="en-US" i="1">
                            <a:latin typeface="Cambria Math" charset="0"/>
                          </a:rPr>
                          <m:t>𝑢</m:t>
                        </m:r>
                      </m:num>
                      <m:den>
                        <m:r>
                          <a:rPr lang="en-US" i="1">
                            <a:latin typeface="Cambria Math" charset="0"/>
                          </a:rPr>
                          <m:t>𝜕</m:t>
                        </m:r>
                        <m:r>
                          <a:rPr lang="en-US" b="0" i="1" smtClean="0">
                            <a:latin typeface="Cambria Math" charset="0"/>
                          </a:rPr>
                          <m:t>𝑥</m:t>
                        </m:r>
                      </m:den>
                    </m:f>
                    <m:f>
                      <m:fPr>
                        <m:ctrlPr>
                          <a:rPr lang="mr-IN" i="1">
                            <a:latin typeface="Cambria Math" panose="02040503050406030204" pitchFamily="18" charset="0"/>
                          </a:rPr>
                        </m:ctrlPr>
                      </m:fPr>
                      <m:num>
                        <m:r>
                          <a:rPr lang="en-US" i="1">
                            <a:latin typeface="Cambria Math" charset="0"/>
                          </a:rPr>
                          <m:t>𝜕</m:t>
                        </m:r>
                        <m:r>
                          <a:rPr lang="en-US" b="0" i="1" smtClean="0">
                            <a:latin typeface="Cambria Math" charset="0"/>
                          </a:rPr>
                          <m:t>𝑥</m:t>
                        </m:r>
                      </m:num>
                      <m:den>
                        <m:r>
                          <a:rPr lang="en-US" i="1">
                            <a:latin typeface="Cambria Math" charset="0"/>
                          </a:rPr>
                          <m:t>𝜕</m:t>
                        </m:r>
                        <m:r>
                          <a:rPr lang="en-US" i="1">
                            <a:latin typeface="Cambria Math" charset="0"/>
                          </a:rPr>
                          <m:t>𝑡</m:t>
                        </m:r>
                      </m:den>
                    </m:f>
                    <m:r>
                      <a:rPr lang="en-US" b="0" i="1" smtClean="0">
                        <a:latin typeface="Cambria Math" charset="0"/>
                      </a:rPr>
                      <m:t>+</m:t>
                    </m:r>
                    <m:f>
                      <m:fPr>
                        <m:ctrlPr>
                          <a:rPr lang="mr-IN" i="1">
                            <a:latin typeface="Cambria Math" panose="02040503050406030204" pitchFamily="18" charset="0"/>
                          </a:rPr>
                        </m:ctrlPr>
                      </m:fPr>
                      <m:num>
                        <m:r>
                          <a:rPr lang="en-US" i="1">
                            <a:latin typeface="Cambria Math" charset="0"/>
                          </a:rPr>
                          <m:t>𝜕</m:t>
                        </m:r>
                        <m:r>
                          <a:rPr lang="en-US" i="1">
                            <a:latin typeface="Cambria Math" charset="0"/>
                          </a:rPr>
                          <m:t>𝑢</m:t>
                        </m:r>
                      </m:num>
                      <m:den>
                        <m:r>
                          <a:rPr lang="en-US" i="1">
                            <a:latin typeface="Cambria Math" charset="0"/>
                          </a:rPr>
                          <m:t>𝜕</m:t>
                        </m:r>
                        <m:r>
                          <a:rPr lang="en-US" b="0" i="1" smtClean="0">
                            <a:latin typeface="Cambria Math" charset="0"/>
                          </a:rPr>
                          <m:t>𝑦</m:t>
                        </m:r>
                      </m:den>
                    </m:f>
                    <m:f>
                      <m:fPr>
                        <m:ctrlPr>
                          <a:rPr lang="mr-IN" i="1">
                            <a:latin typeface="Cambria Math" panose="02040503050406030204" pitchFamily="18" charset="0"/>
                          </a:rPr>
                        </m:ctrlPr>
                      </m:fPr>
                      <m:num>
                        <m:r>
                          <a:rPr lang="en-US" i="1">
                            <a:latin typeface="Cambria Math" charset="0"/>
                          </a:rPr>
                          <m:t>𝜕</m:t>
                        </m:r>
                        <m:r>
                          <a:rPr lang="en-US" b="0" i="1" smtClean="0">
                            <a:latin typeface="Cambria Math" charset="0"/>
                          </a:rPr>
                          <m:t>𝑦</m:t>
                        </m:r>
                      </m:num>
                      <m:den>
                        <m:r>
                          <a:rPr lang="en-US" i="1">
                            <a:latin typeface="Cambria Math" charset="0"/>
                          </a:rPr>
                          <m:t>𝜕</m:t>
                        </m:r>
                        <m:r>
                          <a:rPr lang="en-US" i="1">
                            <a:latin typeface="Cambria Math" charset="0"/>
                          </a:rPr>
                          <m:t>𝑡</m:t>
                        </m:r>
                      </m:den>
                    </m:f>
                  </m:oMath>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4336848" y="3585637"/>
                <a:ext cx="7433125" cy="438197"/>
              </a:xfrm>
              <a:prstGeom prst="rect">
                <a:avLst/>
              </a:prstGeom>
              <a:blipFill rotWithShape="0">
                <a:blip r:embed="rId22"/>
                <a:stretch>
                  <a:fillRect l="-1800" t="-71622" b="-89189"/>
                </a:stretch>
              </a:blipFill>
              <a:ln>
                <a:solidFill>
                  <a:srgbClr val="00B050"/>
                </a:solidFill>
              </a:ln>
            </p:spPr>
            <p:txBody>
              <a:bodyPr/>
              <a:lstStyle/>
              <a:p>
                <a:r>
                  <a:rPr lang="en-US">
                    <a:noFill/>
                  </a:rPr>
                  <a:t> </a:t>
                </a:r>
              </a:p>
            </p:txBody>
          </p:sp>
        </mc:Fallback>
      </mc:AlternateContent>
    </p:spTree>
    <p:extLst>
      <p:ext uri="{BB962C8B-B14F-4D97-AF65-F5344CB8AC3E}">
        <p14:creationId xmlns:p14="http://schemas.microsoft.com/office/powerpoint/2010/main" val="1022118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0" grpId="0"/>
      <p:bldP spid="6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1861073" y="832857"/>
            <a:ext cx="8509299"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err="1">
                <a:solidFill>
                  <a:srgbClr val="434343"/>
                </a:solidFill>
              </a:rPr>
              <a:t>Backpropagation</a:t>
            </a:r>
            <a:endParaRPr sz="2800" dirty="0">
              <a:solidFill>
                <a:srgbClr val="434343"/>
              </a:solidFill>
            </a:endParaRPr>
          </a:p>
        </p:txBody>
      </p:sp>
      <p:sp>
        <p:nvSpPr>
          <p:cNvPr id="3" name="Footer Placeholder 2"/>
          <p:cNvSpPr>
            <a:spLocks noGrp="1"/>
          </p:cNvSpPr>
          <p:nvPr>
            <p:ph type="ftr" sz="quarter" idx="3"/>
          </p:nvPr>
        </p:nvSpPr>
        <p:spPr>
          <a:xfrm>
            <a:off x="2199486" y="6356350"/>
            <a:ext cx="8167606" cy="365125"/>
          </a:xfrm>
        </p:spPr>
        <p:txBody>
          <a:bodyPr/>
          <a:lstStyle/>
          <a:p>
            <a:r>
              <a:rPr lang="en-US"/>
              <a:t>CS21206 / FAIML | Perceptron and MLP (c) Abir Das, Ayan Chaudhury</a:t>
            </a:r>
          </a:p>
        </p:txBody>
      </p:sp>
      <p:sp>
        <p:nvSpPr>
          <p:cNvPr id="21" name="Slide Number Placeholder 20"/>
          <p:cNvSpPr>
            <a:spLocks noGrp="1"/>
          </p:cNvSpPr>
          <p:nvPr>
            <p:ph type="sldNum" sz="quarter" idx="4"/>
          </p:nvPr>
        </p:nvSpPr>
        <p:spPr>
          <a:xfrm>
            <a:off x="10757133" y="6356350"/>
            <a:ext cx="783956" cy="365125"/>
          </a:xfrm>
        </p:spPr>
        <p:txBody>
          <a:bodyPr/>
          <a:lstStyle/>
          <a:p>
            <a:fld id="{683B8651-0143-4140-839E-3D36292080E8}" type="slidenum">
              <a:rPr lang="en-US" smtClean="0"/>
              <a:t>32</a:t>
            </a:fld>
            <a:endParaRPr lang="en-US"/>
          </a:p>
        </p:txBody>
      </p:sp>
      <p:sp>
        <p:nvSpPr>
          <p:cNvPr id="62" name="Rectangle 61"/>
          <p:cNvSpPr/>
          <p:nvPr/>
        </p:nvSpPr>
        <p:spPr>
          <a:xfrm>
            <a:off x="804453" y="2522167"/>
            <a:ext cx="727824"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64" name="Straight Arrow Connector 63"/>
          <p:cNvCxnSpPr>
            <a:stCxn id="62" idx="3"/>
            <a:endCxn id="65" idx="1"/>
          </p:cNvCxnSpPr>
          <p:nvPr/>
        </p:nvCxnSpPr>
        <p:spPr>
          <a:xfrm>
            <a:off x="1532277" y="3023435"/>
            <a:ext cx="548076" cy="0"/>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65" name="Rectangle 64"/>
          <p:cNvSpPr/>
          <p:nvPr/>
        </p:nvSpPr>
        <p:spPr>
          <a:xfrm>
            <a:off x="2080353" y="2522167"/>
            <a:ext cx="319605" cy="1002535"/>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cxnSp>
        <p:nvCxnSpPr>
          <p:cNvPr id="66" name="Straight Arrow Connector 65"/>
          <p:cNvCxnSpPr/>
          <p:nvPr/>
        </p:nvCxnSpPr>
        <p:spPr>
          <a:xfrm>
            <a:off x="573690" y="3053926"/>
            <a:ext cx="222057" cy="0"/>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65" idx="3"/>
            <a:endCxn id="68" idx="1"/>
          </p:cNvCxnSpPr>
          <p:nvPr/>
        </p:nvCxnSpPr>
        <p:spPr>
          <a:xfrm>
            <a:off x="2399958" y="3023435"/>
            <a:ext cx="1180085" cy="7489"/>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68" name="Rectangle 67"/>
          <p:cNvSpPr/>
          <p:nvPr/>
        </p:nvSpPr>
        <p:spPr>
          <a:xfrm>
            <a:off x="3580043" y="2529656"/>
            <a:ext cx="319605" cy="1002535"/>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sp>
        <p:nvSpPr>
          <p:cNvPr id="69" name="Rectangle 68"/>
          <p:cNvSpPr/>
          <p:nvPr/>
        </p:nvSpPr>
        <p:spPr>
          <a:xfrm>
            <a:off x="4827363" y="2529656"/>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70" name="TextBox 69"/>
              <p:cNvSpPr txBox="1"/>
              <p:nvPr/>
            </p:nvSpPr>
            <p:spPr>
              <a:xfrm>
                <a:off x="4828970" y="2874834"/>
                <a:ext cx="411266" cy="3525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i="1" smtClean="0">
                              <a:latin typeface="Cambria Math" panose="02040503050406030204" pitchFamily="18" charset="0"/>
                            </a:rPr>
                          </m:ctrlPr>
                        </m:sSubSupPr>
                        <m:e>
                          <m:r>
                            <a:rPr lang="en-IN" b="1" i="1" smtClean="0">
                              <a:latin typeface="Cambria Math" panose="02040503050406030204" pitchFamily="18" charset="0"/>
                            </a:rPr>
                            <m:t>𝒂</m:t>
                          </m:r>
                        </m:e>
                        <m:sub>
                          <m:r>
                            <a:rPr lang="en-IN" b="0" i="1" smtClean="0">
                              <a:latin typeface="Cambria Math" panose="02040503050406030204" pitchFamily="18" charset="0"/>
                            </a:rPr>
                            <m:t>𝑖</m:t>
                          </m:r>
                        </m:sub>
                        <m:sup>
                          <m:r>
                            <a:rPr lang="en-IN" b="0" i="1" smtClean="0">
                              <a:latin typeface="Cambria Math" panose="02040503050406030204" pitchFamily="18" charset="0"/>
                            </a:rPr>
                            <m:t>(</m:t>
                          </m:r>
                          <m:r>
                            <a:rPr lang="en-IN" b="0" i="1" smtClean="0">
                              <a:latin typeface="Cambria Math" panose="02040503050406030204" pitchFamily="18" charset="0"/>
                            </a:rPr>
                            <m:t>𝑙</m:t>
                          </m:r>
                          <m:r>
                            <a:rPr lang="en-IN" b="0" i="1" smtClean="0">
                              <a:latin typeface="Cambria Math" panose="02040503050406030204" pitchFamily="18" charset="0"/>
                            </a:rPr>
                            <m:t>)</m:t>
                          </m:r>
                        </m:sup>
                      </m:sSubSup>
                    </m:oMath>
                  </m:oMathPara>
                </a14:m>
                <a:endParaRPr lang="en-IN" dirty="0"/>
              </a:p>
            </p:txBody>
          </p:sp>
        </mc:Choice>
        <mc:Fallback xmlns="">
          <p:sp>
            <p:nvSpPr>
              <p:cNvPr id="70" name="TextBox 69"/>
              <p:cNvSpPr txBox="1">
                <a:spLocks noRot="1" noChangeAspect="1" noMove="1" noResize="1" noEditPoints="1" noAdjustHandles="1" noChangeArrowheads="1" noChangeShapeType="1" noTextEdit="1"/>
              </p:cNvSpPr>
              <p:nvPr/>
            </p:nvSpPr>
            <p:spPr>
              <a:xfrm>
                <a:off x="4828970" y="2874834"/>
                <a:ext cx="411266" cy="352597"/>
              </a:xfrm>
              <a:prstGeom prst="rect">
                <a:avLst/>
              </a:prstGeom>
              <a:blipFill rotWithShape="0">
                <a:blip r:embed="rId3"/>
                <a:stretch>
                  <a:fillRect l="-7353" t="-3509" r="-11765" b="-19298"/>
                </a:stretch>
              </a:blipFill>
            </p:spPr>
            <p:txBody>
              <a:bodyPr/>
              <a:lstStyle/>
              <a:p>
                <a:r>
                  <a:rPr lang="en-IN">
                    <a:noFill/>
                  </a:rPr>
                  <a:t> </a:t>
                </a:r>
              </a:p>
            </p:txBody>
          </p:sp>
        </mc:Fallback>
      </mc:AlternateContent>
      <p:cxnSp>
        <p:nvCxnSpPr>
          <p:cNvPr id="71" name="Straight Arrow Connector 70"/>
          <p:cNvCxnSpPr>
            <a:stCxn id="68" idx="3"/>
            <a:endCxn id="69" idx="1"/>
          </p:cNvCxnSpPr>
          <p:nvPr/>
        </p:nvCxnSpPr>
        <p:spPr>
          <a:xfrm>
            <a:off x="3899648" y="3030924"/>
            <a:ext cx="927715" cy="0"/>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72" name="Rectangle 71"/>
          <p:cNvSpPr/>
          <p:nvPr/>
        </p:nvSpPr>
        <p:spPr>
          <a:xfrm>
            <a:off x="6022334" y="2529656"/>
            <a:ext cx="441547" cy="1002535"/>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73" name="TextBox 72"/>
              <p:cNvSpPr txBox="1"/>
              <p:nvPr/>
            </p:nvSpPr>
            <p:spPr>
              <a:xfrm>
                <a:off x="6006899" y="2888679"/>
                <a:ext cx="4768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r>
                        <a:rPr lang="en-US" b="0" i="1" smtClean="0">
                          <a:latin typeface="Cambria Math" panose="02040503050406030204" pitchFamily="18" charset="0"/>
                        </a:rPr>
                        <m:t>(.)</m:t>
                      </m:r>
                    </m:oMath>
                  </m:oMathPara>
                </a14:m>
                <a:endParaRPr lang="en-IN" dirty="0"/>
              </a:p>
            </p:txBody>
          </p:sp>
        </mc:Choice>
        <mc:Fallback xmlns="">
          <p:sp>
            <p:nvSpPr>
              <p:cNvPr id="73" name="TextBox 72"/>
              <p:cNvSpPr txBox="1">
                <a:spLocks noRot="1" noChangeAspect="1" noMove="1" noResize="1" noEditPoints="1" noAdjustHandles="1" noChangeArrowheads="1" noChangeShapeType="1" noTextEdit="1"/>
              </p:cNvSpPr>
              <p:nvPr/>
            </p:nvSpPr>
            <p:spPr>
              <a:xfrm>
                <a:off x="6006899" y="2888679"/>
                <a:ext cx="476862" cy="276999"/>
              </a:xfrm>
              <a:prstGeom prst="rect">
                <a:avLst/>
              </a:prstGeom>
              <a:blipFill rotWithShape="0">
                <a:blip r:embed="rId4"/>
                <a:stretch>
                  <a:fillRect l="-11392" t="-2222" r="-16456" b="-3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2148112" y="2890757"/>
                <a:ext cx="21800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74" name="TextBox 73"/>
              <p:cNvSpPr txBox="1">
                <a:spLocks noRot="1" noChangeAspect="1" noMove="1" noResize="1" noEditPoints="1" noAdjustHandles="1" noChangeArrowheads="1" noChangeShapeType="1" noTextEdit="1"/>
              </p:cNvSpPr>
              <p:nvPr/>
            </p:nvSpPr>
            <p:spPr>
              <a:xfrm>
                <a:off x="2148112" y="2890757"/>
                <a:ext cx="218008" cy="276999"/>
              </a:xfrm>
              <a:prstGeom prst="rect">
                <a:avLst/>
              </a:prstGeom>
              <a:blipFill rotWithShape="0">
                <a:blip r:embed="rId5"/>
                <a:stretch>
                  <a:fillRect l="-19444" r="-1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3632163" y="2892424"/>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75" name="TextBox 74"/>
              <p:cNvSpPr txBox="1">
                <a:spLocks noRot="1" noChangeAspect="1" noMove="1" noResize="1" noEditPoints="1" noAdjustHandles="1" noChangeArrowheads="1" noChangeShapeType="1" noTextEdit="1"/>
              </p:cNvSpPr>
              <p:nvPr/>
            </p:nvSpPr>
            <p:spPr>
              <a:xfrm>
                <a:off x="3632163" y="2892424"/>
                <a:ext cx="226024" cy="276999"/>
              </a:xfrm>
              <a:prstGeom prst="rect">
                <a:avLst/>
              </a:prstGeom>
              <a:blipFill rotWithShape="0">
                <a:blip r:embed="rId6"/>
                <a:stretch>
                  <a:fillRect l="-24324" r="-18919" b="-6522"/>
                </a:stretch>
              </a:blipFill>
            </p:spPr>
            <p:txBody>
              <a:bodyPr/>
              <a:lstStyle/>
              <a:p>
                <a:r>
                  <a:rPr lang="en-IN">
                    <a:noFill/>
                  </a:rPr>
                  <a:t> </a:t>
                </a:r>
              </a:p>
            </p:txBody>
          </p:sp>
        </mc:Fallback>
      </mc:AlternateContent>
      <p:cxnSp>
        <p:nvCxnSpPr>
          <p:cNvPr id="76" name="Straight Arrow Connector 75"/>
          <p:cNvCxnSpPr>
            <a:endCxn id="72" idx="1"/>
          </p:cNvCxnSpPr>
          <p:nvPr/>
        </p:nvCxnSpPr>
        <p:spPr>
          <a:xfrm>
            <a:off x="5212954" y="3023435"/>
            <a:ext cx="809380" cy="7489"/>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77" name="Rectangle 76"/>
          <p:cNvSpPr/>
          <p:nvPr/>
        </p:nvSpPr>
        <p:spPr>
          <a:xfrm>
            <a:off x="7147521" y="2529656"/>
            <a:ext cx="727824"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8" name="Straight Arrow Connector 77"/>
          <p:cNvCxnSpPr>
            <a:stCxn id="72" idx="3"/>
            <a:endCxn id="77" idx="1"/>
          </p:cNvCxnSpPr>
          <p:nvPr/>
        </p:nvCxnSpPr>
        <p:spPr>
          <a:xfrm>
            <a:off x="6463881" y="3030924"/>
            <a:ext cx="683640" cy="0"/>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7894376" y="3030924"/>
            <a:ext cx="222057" cy="0"/>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82" name="Rectangle 81"/>
          <p:cNvSpPr/>
          <p:nvPr/>
        </p:nvSpPr>
        <p:spPr>
          <a:xfrm>
            <a:off x="6022334" y="4103245"/>
            <a:ext cx="441547" cy="1002535"/>
          </a:xfrm>
          <a:prstGeom prst="rect">
            <a:avLst/>
          </a:prstGeom>
          <a:ln w="127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84" name="TextBox 83"/>
              <p:cNvSpPr txBox="1"/>
              <p:nvPr/>
            </p:nvSpPr>
            <p:spPr>
              <a:xfrm>
                <a:off x="5995882" y="4462268"/>
                <a:ext cx="5321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r>
                        <a:rPr lang="en-IN" b="0" i="1" smtClean="0">
                          <a:latin typeface="Cambria Math" panose="02040503050406030204" pitchFamily="18" charset="0"/>
                        </a:rPr>
                        <m:t>′</m:t>
                      </m:r>
                      <m:r>
                        <a:rPr lang="en-US" b="0" i="1" smtClean="0">
                          <a:latin typeface="Cambria Math" panose="02040503050406030204" pitchFamily="18" charset="0"/>
                        </a:rPr>
                        <m:t>(.)</m:t>
                      </m:r>
                    </m:oMath>
                  </m:oMathPara>
                </a14:m>
                <a:endParaRPr lang="en-IN" dirty="0"/>
              </a:p>
            </p:txBody>
          </p:sp>
        </mc:Choice>
        <mc:Fallback xmlns="">
          <p:sp>
            <p:nvSpPr>
              <p:cNvPr id="84" name="TextBox 83"/>
              <p:cNvSpPr txBox="1">
                <a:spLocks noRot="1" noChangeAspect="1" noMove="1" noResize="1" noEditPoints="1" noAdjustHandles="1" noChangeArrowheads="1" noChangeShapeType="1" noTextEdit="1"/>
              </p:cNvSpPr>
              <p:nvPr/>
            </p:nvSpPr>
            <p:spPr>
              <a:xfrm>
                <a:off x="5995882" y="4462268"/>
                <a:ext cx="532197" cy="276999"/>
              </a:xfrm>
              <a:prstGeom prst="rect">
                <a:avLst/>
              </a:prstGeom>
              <a:blipFill rotWithShape="0">
                <a:blip r:embed="rId7"/>
                <a:stretch>
                  <a:fillRect l="-10345" t="-4444" r="-16092" b="-35556"/>
                </a:stretch>
              </a:blipFill>
            </p:spPr>
            <p:txBody>
              <a:bodyPr/>
              <a:lstStyle/>
              <a:p>
                <a:r>
                  <a:rPr lang="en-IN">
                    <a:noFill/>
                  </a:rPr>
                  <a:t> </a:t>
                </a:r>
              </a:p>
            </p:txBody>
          </p:sp>
        </mc:Fallback>
      </mc:AlternateContent>
      <p:cxnSp>
        <p:nvCxnSpPr>
          <p:cNvPr id="24" name="Curved Connector 23"/>
          <p:cNvCxnSpPr>
            <a:stCxn id="69" idx="2"/>
            <a:endCxn id="82" idx="0"/>
          </p:cNvCxnSpPr>
          <p:nvPr/>
        </p:nvCxnSpPr>
        <p:spPr>
          <a:xfrm rot="16200000" flipH="1">
            <a:off x="5346106" y="3206243"/>
            <a:ext cx="571054" cy="1222949"/>
          </a:xfrm>
          <a:prstGeom prst="curvedConnector3">
            <a:avLst>
              <a:gd name="adj1" fmla="val 48071"/>
            </a:avLst>
          </a:prstGeom>
          <a:ln w="28575"/>
        </p:spPr>
        <p:style>
          <a:lnRef idx="1">
            <a:schemeClr val="dk1"/>
          </a:lnRef>
          <a:fillRef idx="0">
            <a:schemeClr val="dk1"/>
          </a:fillRef>
          <a:effectRef idx="0">
            <a:schemeClr val="dk1"/>
          </a:effectRef>
          <a:fontRef idx="minor">
            <a:schemeClr val="tx1"/>
          </a:fontRef>
        </p:style>
      </p:cxnSp>
      <p:sp>
        <p:nvSpPr>
          <p:cNvPr id="88" name="Rectangle 87"/>
          <p:cNvSpPr/>
          <p:nvPr/>
        </p:nvSpPr>
        <p:spPr>
          <a:xfrm>
            <a:off x="6011317" y="5419334"/>
            <a:ext cx="461427" cy="1002535"/>
          </a:xfrm>
          <a:prstGeom prst="rect">
            <a:avLst/>
          </a:prstGeom>
          <a:ln w="127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89" name="TextBox 88"/>
              <p:cNvSpPr txBox="1"/>
              <p:nvPr/>
            </p:nvSpPr>
            <p:spPr>
              <a:xfrm>
                <a:off x="6144043" y="5766887"/>
                <a:ext cx="21800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89" name="TextBox 88"/>
              <p:cNvSpPr txBox="1">
                <a:spLocks noRot="1" noChangeAspect="1" noMove="1" noResize="1" noEditPoints="1" noAdjustHandles="1" noChangeArrowheads="1" noChangeShapeType="1" noTextEdit="1"/>
              </p:cNvSpPr>
              <p:nvPr/>
            </p:nvSpPr>
            <p:spPr>
              <a:xfrm>
                <a:off x="6144043" y="5766887"/>
                <a:ext cx="218008" cy="276999"/>
              </a:xfrm>
              <a:prstGeom prst="rect">
                <a:avLst/>
              </a:prstGeom>
              <a:blipFill rotWithShape="0">
                <a:blip r:embed="rId8"/>
                <a:stretch>
                  <a:fillRect l="-19444" r="-16667" b="-2222"/>
                </a:stretch>
              </a:blipFill>
            </p:spPr>
            <p:txBody>
              <a:bodyPr/>
              <a:lstStyle/>
              <a:p>
                <a:r>
                  <a:rPr lang="en-IN">
                    <a:noFill/>
                  </a:rPr>
                  <a:t> </a:t>
                </a:r>
              </a:p>
            </p:txBody>
          </p:sp>
        </mc:Fallback>
      </mc:AlternateContent>
      <p:cxnSp>
        <p:nvCxnSpPr>
          <p:cNvPr id="28" name="Straight Connector 27"/>
          <p:cNvCxnSpPr>
            <a:stCxn id="82" idx="2"/>
            <a:endCxn id="88" idx="0"/>
          </p:cNvCxnSpPr>
          <p:nvPr/>
        </p:nvCxnSpPr>
        <p:spPr>
          <a:xfrm flipH="1">
            <a:off x="6242031" y="5105780"/>
            <a:ext cx="1077" cy="313554"/>
          </a:xfrm>
          <a:prstGeom prst="line">
            <a:avLst/>
          </a:prstGeom>
          <a:ln w="28575"/>
        </p:spPr>
        <p:style>
          <a:lnRef idx="1">
            <a:schemeClr val="dk1"/>
          </a:lnRef>
          <a:fillRef idx="0">
            <a:schemeClr val="dk1"/>
          </a:fillRef>
          <a:effectRef idx="0">
            <a:schemeClr val="dk1"/>
          </a:effectRef>
          <a:fontRef idx="minor">
            <a:schemeClr val="tx1"/>
          </a:fontRef>
        </p:style>
      </p:cxnSp>
      <p:sp>
        <p:nvSpPr>
          <p:cNvPr id="98" name="Rectangle 97"/>
          <p:cNvSpPr/>
          <p:nvPr/>
        </p:nvSpPr>
        <p:spPr>
          <a:xfrm>
            <a:off x="7145806" y="5416531"/>
            <a:ext cx="727824"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99" name="TextBox 98"/>
              <p:cNvSpPr txBox="1"/>
              <p:nvPr/>
            </p:nvSpPr>
            <p:spPr>
              <a:xfrm>
                <a:off x="7271445" y="5635177"/>
                <a:ext cx="486928" cy="593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IN" sz="1600" b="1" i="1" smtClean="0">
                                  <a:latin typeface="Cambria Math" panose="02040503050406030204" pitchFamily="18" charset="0"/>
                                </a:rPr>
                                <m:t>𝒉</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oMath>
                  </m:oMathPara>
                </a14:m>
                <a:endParaRPr lang="en-IN" sz="1600" dirty="0"/>
              </a:p>
            </p:txBody>
          </p:sp>
        </mc:Choice>
        <mc:Fallback xmlns="">
          <p:sp>
            <p:nvSpPr>
              <p:cNvPr id="99" name="TextBox 98"/>
              <p:cNvSpPr txBox="1">
                <a:spLocks noRot="1" noChangeAspect="1" noMove="1" noResize="1" noEditPoints="1" noAdjustHandles="1" noChangeArrowheads="1" noChangeShapeType="1" noTextEdit="1"/>
              </p:cNvSpPr>
              <p:nvPr/>
            </p:nvSpPr>
            <p:spPr>
              <a:xfrm>
                <a:off x="7271445" y="5635177"/>
                <a:ext cx="486928" cy="593496"/>
              </a:xfrm>
              <a:prstGeom prst="rect">
                <a:avLst/>
              </a:prstGeom>
              <a:blipFill rotWithShape="0">
                <a:blip r:embed="rId9"/>
                <a:stretch>
                  <a:fillRect/>
                </a:stretch>
              </a:blipFill>
            </p:spPr>
            <p:txBody>
              <a:bodyPr/>
              <a:lstStyle/>
              <a:p>
                <a:r>
                  <a:rPr lang="en-IN">
                    <a:noFill/>
                  </a:rPr>
                  <a:t> </a:t>
                </a:r>
              </a:p>
            </p:txBody>
          </p:sp>
        </mc:Fallback>
      </mc:AlternateContent>
      <p:cxnSp>
        <p:nvCxnSpPr>
          <p:cNvPr id="101" name="Straight Connector 100"/>
          <p:cNvCxnSpPr>
            <a:stCxn id="98" idx="1"/>
            <a:endCxn id="88" idx="3"/>
          </p:cNvCxnSpPr>
          <p:nvPr/>
        </p:nvCxnSpPr>
        <p:spPr>
          <a:xfrm flipH="1">
            <a:off x="6472744" y="5917799"/>
            <a:ext cx="673062" cy="2803"/>
          </a:xfrm>
          <a:prstGeom prst="line">
            <a:avLst/>
          </a:prstGeom>
          <a:ln w="28575"/>
        </p:spPr>
        <p:style>
          <a:lnRef idx="1">
            <a:schemeClr val="dk1"/>
          </a:lnRef>
          <a:fillRef idx="0">
            <a:schemeClr val="dk1"/>
          </a:fillRef>
          <a:effectRef idx="0">
            <a:schemeClr val="dk1"/>
          </a:effectRef>
          <a:fontRef idx="minor">
            <a:schemeClr val="tx1"/>
          </a:fontRef>
        </p:style>
      </p:cxnSp>
      <p:sp>
        <p:nvSpPr>
          <p:cNvPr id="107" name="Rectangle 106"/>
          <p:cNvSpPr/>
          <p:nvPr/>
        </p:nvSpPr>
        <p:spPr>
          <a:xfrm>
            <a:off x="4610431" y="5424699"/>
            <a:ext cx="727824" cy="1002535"/>
          </a:xfrm>
          <a:prstGeom prst="rect">
            <a:avLst/>
          </a:prstGeom>
          <a:solidFill>
            <a:srgbClr val="FFFF00">
              <a:alpha val="50196"/>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112" name="TextBox 111"/>
              <p:cNvSpPr txBox="1"/>
              <p:nvPr/>
            </p:nvSpPr>
            <p:spPr>
              <a:xfrm>
                <a:off x="4730879" y="5635177"/>
                <a:ext cx="485326" cy="593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IN" sz="1600" b="1" i="1" smtClean="0">
                                  <a:latin typeface="Cambria Math" panose="02040503050406030204" pitchFamily="18" charset="0"/>
                                </a:rPr>
                                <m:t>𝒂</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oMath>
                  </m:oMathPara>
                </a14:m>
                <a:endParaRPr lang="en-IN" sz="1600" dirty="0"/>
              </a:p>
            </p:txBody>
          </p:sp>
        </mc:Choice>
        <mc:Fallback xmlns="">
          <p:sp>
            <p:nvSpPr>
              <p:cNvPr id="112" name="TextBox 111"/>
              <p:cNvSpPr txBox="1">
                <a:spLocks noRot="1" noChangeAspect="1" noMove="1" noResize="1" noEditPoints="1" noAdjustHandles="1" noChangeArrowheads="1" noChangeShapeType="1" noTextEdit="1"/>
              </p:cNvSpPr>
              <p:nvPr/>
            </p:nvSpPr>
            <p:spPr>
              <a:xfrm>
                <a:off x="4730879" y="5635177"/>
                <a:ext cx="485326" cy="593496"/>
              </a:xfrm>
              <a:prstGeom prst="rect">
                <a:avLst/>
              </a:prstGeom>
              <a:blipFill rotWithShape="0">
                <a:blip r:embed="rId10"/>
                <a:stretch>
                  <a:fillRect/>
                </a:stretch>
              </a:blipFill>
            </p:spPr>
            <p:txBody>
              <a:bodyPr/>
              <a:lstStyle/>
              <a:p>
                <a:r>
                  <a:rPr lang="en-IN">
                    <a:noFill/>
                  </a:rPr>
                  <a:t> </a:t>
                </a:r>
              </a:p>
            </p:txBody>
          </p:sp>
        </mc:Fallback>
      </mc:AlternateContent>
      <p:cxnSp>
        <p:nvCxnSpPr>
          <p:cNvPr id="116" name="Straight Connector 115"/>
          <p:cNvCxnSpPr/>
          <p:nvPr/>
        </p:nvCxnSpPr>
        <p:spPr>
          <a:xfrm flipH="1">
            <a:off x="5346501" y="5925966"/>
            <a:ext cx="673062" cy="2803"/>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7" name="Rectangle 116"/>
              <p:cNvSpPr/>
              <p:nvPr/>
            </p:nvSpPr>
            <p:spPr>
              <a:xfrm>
                <a:off x="8434918" y="3540991"/>
                <a:ext cx="2145651" cy="6858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IN" sz="1600" b="1" i="1" smtClean="0">
                                  <a:latin typeface="Cambria Math" panose="02040503050406030204" pitchFamily="18" charset="0"/>
                                </a:rPr>
                                <m:t>𝒂</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r>
                        <a:rPr lang="en-IN" sz="1600" b="0" i="1" smtClean="0">
                          <a:latin typeface="Cambria Math" panose="02040503050406030204" pitchFamily="18" charset="0"/>
                        </a:rPr>
                        <m:t>=</m:t>
                      </m:r>
                      <m:f>
                        <m:fPr>
                          <m:ctrlPr>
                            <a:rPr lang="en-IN" sz="1600" i="1">
                              <a:latin typeface="Cambria Math" panose="02040503050406030204" pitchFamily="18" charset="0"/>
                            </a:rPr>
                          </m:ctrlPr>
                        </m:fPr>
                        <m:num>
                          <m:r>
                            <a:rPr lang="en-IN" sz="1600" i="1">
                              <a:latin typeface="Cambria Math" panose="02040503050406030204" pitchFamily="18" charset="0"/>
                            </a:rPr>
                            <m:t>𝜕</m:t>
                          </m:r>
                          <m:r>
                            <a:rPr lang="en-IN" sz="1600" i="1">
                              <a:latin typeface="Cambria Math" panose="02040503050406030204" pitchFamily="18" charset="0"/>
                            </a:rPr>
                            <m:t>𝐽</m:t>
                          </m:r>
                        </m:num>
                        <m:den>
                          <m:r>
                            <a:rPr lang="en-IN" sz="1600" i="1">
                              <a:latin typeface="Cambria Math" panose="02040503050406030204" pitchFamily="18" charset="0"/>
                            </a:rPr>
                            <m:t>𝜕</m:t>
                          </m:r>
                          <m:sSubSup>
                            <m:sSubSupPr>
                              <m:ctrlPr>
                                <a:rPr lang="en-IN" sz="1600" i="1">
                                  <a:latin typeface="Cambria Math" panose="02040503050406030204" pitchFamily="18" charset="0"/>
                                </a:rPr>
                              </m:ctrlPr>
                            </m:sSubSupPr>
                            <m:e>
                              <m:r>
                                <a:rPr lang="en-IN" sz="1600" b="1" i="1">
                                  <a:latin typeface="Cambria Math" panose="02040503050406030204" pitchFamily="18" charset="0"/>
                                </a:rPr>
                                <m:t>𝒉</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r>
                        <a:rPr lang="en-IN" sz="1600" b="0" i="1" smtClean="0">
                          <a:latin typeface="Cambria Math" panose="02040503050406030204" pitchFamily="18" charset="0"/>
                        </a:rPr>
                        <m:t>𝑔</m:t>
                      </m:r>
                      <m:r>
                        <a:rPr lang="en-IN" sz="1600" b="0" i="1" smtClean="0">
                          <a:latin typeface="Cambria Math" panose="02040503050406030204" pitchFamily="18" charset="0"/>
                        </a:rPr>
                        <m:t>′</m:t>
                      </m:r>
                      <m:d>
                        <m:dPr>
                          <m:ctrlPr>
                            <a:rPr lang="en-IN" sz="1600" b="0" i="1" smtClean="0">
                              <a:latin typeface="Cambria Math" panose="02040503050406030204" pitchFamily="18" charset="0"/>
                            </a:rPr>
                          </m:ctrlPr>
                        </m:dPr>
                        <m:e>
                          <m:sSubSup>
                            <m:sSubSupPr>
                              <m:ctrlPr>
                                <a:rPr lang="en-IN" sz="1600" b="0" i="1" smtClean="0">
                                  <a:latin typeface="Cambria Math" panose="02040503050406030204" pitchFamily="18" charset="0"/>
                                </a:rPr>
                              </m:ctrlPr>
                            </m:sSubSupPr>
                            <m:e>
                              <m:r>
                                <a:rPr lang="en-IN" sz="1600" b="1" i="1" smtClean="0">
                                  <a:latin typeface="Cambria Math" panose="02040503050406030204" pitchFamily="18" charset="0"/>
                                </a:rPr>
                                <m:t>𝒂</m:t>
                              </m:r>
                            </m:e>
                            <m:sub>
                              <m:r>
                                <a:rPr lang="en-IN" sz="1600" b="0" i="1" smtClean="0">
                                  <a:latin typeface="Cambria Math" panose="02040503050406030204" pitchFamily="18" charset="0"/>
                                </a:rPr>
                                <m:t>𝑖</m:t>
                              </m:r>
                            </m:sub>
                            <m:sup>
                              <m:r>
                                <a:rPr lang="en-IN" sz="1600" b="0" i="1" smtClean="0">
                                  <a:latin typeface="Cambria Math" panose="02040503050406030204" pitchFamily="18" charset="0"/>
                                </a:rPr>
                                <m:t>(</m:t>
                              </m:r>
                              <m:r>
                                <a:rPr lang="en-IN" sz="1600" b="0" i="1" smtClean="0">
                                  <a:latin typeface="Cambria Math" panose="02040503050406030204" pitchFamily="18" charset="0"/>
                                </a:rPr>
                                <m:t>𝑙</m:t>
                              </m:r>
                              <m:r>
                                <a:rPr lang="en-IN" sz="1600" b="0" i="1" smtClean="0">
                                  <a:latin typeface="Cambria Math" panose="02040503050406030204" pitchFamily="18" charset="0"/>
                                </a:rPr>
                                <m:t>)</m:t>
                              </m:r>
                            </m:sup>
                          </m:sSubSup>
                        </m:e>
                      </m:d>
                    </m:oMath>
                  </m:oMathPara>
                </a14:m>
                <a:endParaRPr lang="en-IN" sz="1600" dirty="0"/>
              </a:p>
            </p:txBody>
          </p:sp>
        </mc:Choice>
        <mc:Fallback xmlns="">
          <p:sp>
            <p:nvSpPr>
              <p:cNvPr id="117" name="Rectangle 116"/>
              <p:cNvSpPr>
                <a:spLocks noRot="1" noChangeAspect="1" noMove="1" noResize="1" noEditPoints="1" noAdjustHandles="1" noChangeArrowheads="1" noChangeShapeType="1" noTextEdit="1"/>
              </p:cNvSpPr>
              <p:nvPr/>
            </p:nvSpPr>
            <p:spPr>
              <a:xfrm>
                <a:off x="8434918" y="3540991"/>
                <a:ext cx="2145651" cy="685829"/>
              </a:xfrm>
              <a:prstGeom prst="rect">
                <a:avLst/>
              </a:prstGeom>
              <a:blipFill rotWithShape="0">
                <a:blip r:embed="rId11"/>
                <a:stretch>
                  <a:fillRect/>
                </a:stretch>
              </a:blipFill>
            </p:spPr>
            <p:txBody>
              <a:bodyPr/>
              <a:lstStyle/>
              <a:p>
                <a:r>
                  <a:rPr lang="en-IN">
                    <a:noFill/>
                  </a:rPr>
                  <a:t> </a:t>
                </a:r>
              </a:p>
            </p:txBody>
          </p:sp>
        </mc:Fallback>
      </mc:AlternateContent>
      <p:sp>
        <p:nvSpPr>
          <p:cNvPr id="118" name="TextBox 117"/>
          <p:cNvSpPr txBox="1"/>
          <p:nvPr/>
        </p:nvSpPr>
        <p:spPr>
          <a:xfrm>
            <a:off x="11240365" y="3714628"/>
            <a:ext cx="601447" cy="338554"/>
          </a:xfrm>
          <a:prstGeom prst="rect">
            <a:avLst/>
          </a:prstGeom>
          <a:noFill/>
        </p:spPr>
        <p:txBody>
          <a:bodyPr wrap="none" rtlCol="0">
            <a:spAutoFit/>
          </a:bodyPr>
          <a:lstStyle/>
          <a:p>
            <a:r>
              <a:rPr lang="en-IN" sz="1600" dirty="0"/>
              <a:t>… (3)</a:t>
            </a:r>
          </a:p>
        </p:txBody>
      </p:sp>
      <mc:AlternateContent xmlns:mc="http://schemas.openxmlformats.org/markup-compatibility/2006" xmlns:a14="http://schemas.microsoft.com/office/drawing/2010/main">
        <mc:Choice Requires="a14">
          <p:sp>
            <p:nvSpPr>
              <p:cNvPr id="121" name="TextBox 120"/>
              <p:cNvSpPr txBox="1"/>
              <p:nvPr/>
            </p:nvSpPr>
            <p:spPr>
              <a:xfrm>
                <a:off x="7331597" y="2833253"/>
                <a:ext cx="413318" cy="349070"/>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Sup>
                        <m:sSubSupPr>
                          <m:ctrlPr>
                            <a:rPr lang="en-IN" i="1" dirty="0" smtClean="0">
                              <a:latin typeface="Cambria Math" panose="02040503050406030204" pitchFamily="18" charset="0"/>
                            </a:rPr>
                          </m:ctrlPr>
                        </m:sSubSupPr>
                        <m:e>
                          <m:r>
                            <a:rPr lang="en-US" b="1" i="1" dirty="0">
                              <a:latin typeface="Cambria Math" panose="02040503050406030204" pitchFamily="18" charset="0"/>
                            </a:rPr>
                            <m:t>𝒉</m:t>
                          </m:r>
                        </m:e>
                        <m:sub>
                          <m:r>
                            <a:rPr lang="en-US" b="0" i="1" dirty="0" smtClean="0">
                              <a:latin typeface="Cambria Math" panose="02040503050406030204" pitchFamily="18" charset="0"/>
                            </a:rPr>
                            <m:t>𝑖</m:t>
                          </m:r>
                        </m:sub>
                        <m:sup>
                          <m:d>
                            <m:dPr>
                              <m:ctrlPr>
                                <a:rPr lang="en-US" i="1" dirty="0">
                                  <a:latin typeface="Cambria Math" panose="02040503050406030204" pitchFamily="18" charset="0"/>
                                </a:rPr>
                              </m:ctrlPr>
                            </m:dPr>
                            <m:e>
                              <m:r>
                                <a:rPr lang="en-US" i="1" dirty="0">
                                  <a:latin typeface="Cambria Math" panose="02040503050406030204" pitchFamily="18" charset="0"/>
                                </a:rPr>
                                <m:t>𝑙</m:t>
                              </m:r>
                            </m:e>
                          </m:d>
                        </m:sup>
                      </m:sSubSup>
                    </m:oMath>
                  </m:oMathPara>
                </a14:m>
                <a:endParaRPr lang="en-IN" dirty="0">
                  <a:solidFill>
                    <a:schemeClr val="tx1"/>
                  </a:solidFill>
                </a:endParaRPr>
              </a:p>
            </p:txBody>
          </p:sp>
        </mc:Choice>
        <mc:Fallback xmlns="">
          <p:sp>
            <p:nvSpPr>
              <p:cNvPr id="121" name="TextBox 120"/>
              <p:cNvSpPr txBox="1">
                <a:spLocks noRot="1" noChangeAspect="1" noMove="1" noResize="1" noEditPoints="1" noAdjustHandles="1" noChangeArrowheads="1" noChangeShapeType="1" noTextEdit="1"/>
              </p:cNvSpPr>
              <p:nvPr/>
            </p:nvSpPr>
            <p:spPr>
              <a:xfrm>
                <a:off x="7331597" y="2833253"/>
                <a:ext cx="413318" cy="349070"/>
              </a:xfrm>
              <a:prstGeom prst="rect">
                <a:avLst/>
              </a:prstGeom>
              <a:blipFill>
                <a:blip r:embed="rId12"/>
                <a:stretch>
                  <a:fillRect l="-21212" b="-21429"/>
                </a:stretch>
              </a:blipFill>
            </p:spPr>
            <p:txBody>
              <a:bodyPr/>
              <a:lstStyle/>
              <a:p>
                <a:r>
                  <a:rPr lang="en-US">
                    <a:noFill/>
                  </a:rPr>
                  <a:t> </a:t>
                </a:r>
              </a:p>
            </p:txBody>
          </p:sp>
        </mc:Fallback>
      </mc:AlternateContent>
      <p:sp>
        <p:nvSpPr>
          <p:cNvPr id="122" name="Rectangle 121"/>
          <p:cNvSpPr/>
          <p:nvPr/>
        </p:nvSpPr>
        <p:spPr>
          <a:xfrm>
            <a:off x="1902157" y="1363726"/>
            <a:ext cx="595401" cy="694848"/>
          </a:xfrm>
          <a:prstGeom prst="rect">
            <a:avLst/>
          </a:prstGeom>
          <a:no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sp>
        <p:nvSpPr>
          <p:cNvPr id="123" name="Rectangle 122"/>
          <p:cNvSpPr/>
          <p:nvPr/>
        </p:nvSpPr>
        <p:spPr>
          <a:xfrm>
            <a:off x="3580043" y="1393248"/>
            <a:ext cx="319605" cy="687359"/>
          </a:xfrm>
          <a:prstGeom prst="rect">
            <a:avLst/>
          </a:prstGeom>
          <a:no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124" name="Rectangle 123"/>
              <p:cNvSpPr/>
              <p:nvPr/>
            </p:nvSpPr>
            <p:spPr>
              <a:xfrm>
                <a:off x="1839039" y="1683743"/>
                <a:ext cx="739753" cy="4131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i="1" smtClean="0">
                              <a:latin typeface="Cambria Math" panose="02040503050406030204" pitchFamily="18" charset="0"/>
                            </a:rPr>
                          </m:ctrlPr>
                        </m:dPr>
                        <m:e>
                          <m:sSubSup>
                            <m:sSubSupPr>
                              <m:ctrlPr>
                                <a:rPr lang="en-US" sz="1400" i="1">
                                  <a:latin typeface="Cambria Math" panose="02040503050406030204" pitchFamily="18" charset="0"/>
                                </a:rPr>
                              </m:ctrlPr>
                            </m:sSubSupPr>
                            <m:e>
                              <m:r>
                                <a:rPr lang="en-IN" sz="1400" b="1" i="1">
                                  <a:latin typeface="Cambria Math" panose="02040503050406030204" pitchFamily="18" charset="0"/>
                                </a:rPr>
                                <m:t>𝑾</m:t>
                              </m:r>
                            </m:e>
                            <m:sub>
                              <m:r>
                                <a:rPr lang="en-IN" sz="1400" i="1">
                                  <a:latin typeface="Cambria Math" panose="02040503050406030204" pitchFamily="18" charset="0"/>
                                </a:rPr>
                                <m:t>𝑖</m:t>
                              </m:r>
                              <m:r>
                                <a:rPr lang="en-IN" sz="1400" i="1">
                                  <a:latin typeface="Cambria Math" panose="02040503050406030204" pitchFamily="18" charset="0"/>
                                </a:rPr>
                                <m:t>,</m:t>
                              </m:r>
                              <m:r>
                                <a:rPr lang="en-IN" sz="1400" i="1">
                                  <a:latin typeface="Cambria Math" panose="02040503050406030204" pitchFamily="18" charset="0"/>
                                </a:rPr>
                                <m:t>𝑗</m:t>
                              </m:r>
                            </m:sub>
                            <m:sup>
                              <m:r>
                                <a:rPr lang="en-IN" sz="1400" i="1">
                                  <a:latin typeface="Cambria Math" panose="02040503050406030204" pitchFamily="18" charset="0"/>
                                </a:rPr>
                                <m:t>(</m:t>
                              </m:r>
                              <m:r>
                                <a:rPr lang="en-IN" sz="1400" i="1">
                                  <a:latin typeface="Cambria Math" panose="02040503050406030204" pitchFamily="18" charset="0"/>
                                </a:rPr>
                                <m:t>𝑙</m:t>
                              </m:r>
                              <m:r>
                                <a:rPr lang="en-IN" sz="1400" i="1">
                                  <a:latin typeface="Cambria Math" panose="02040503050406030204" pitchFamily="18" charset="0"/>
                                </a:rPr>
                                <m:t>)</m:t>
                              </m:r>
                            </m:sup>
                          </m:sSubSup>
                          <m:r>
                            <m:rPr>
                              <m:nor/>
                            </m:rPr>
                            <a:rPr lang="en-IN" sz="1400" dirty="0"/>
                            <m:t> </m:t>
                          </m:r>
                        </m:e>
                      </m:d>
                    </m:oMath>
                  </m:oMathPara>
                </a14:m>
                <a:endParaRPr lang="en-IN" sz="1400" dirty="0"/>
              </a:p>
            </p:txBody>
          </p:sp>
        </mc:Choice>
        <mc:Fallback xmlns="">
          <p:sp>
            <p:nvSpPr>
              <p:cNvPr id="124" name="Rectangle 123"/>
              <p:cNvSpPr>
                <a:spLocks noRot="1" noChangeAspect="1" noMove="1" noResize="1" noEditPoints="1" noAdjustHandles="1" noChangeArrowheads="1" noChangeShapeType="1" noTextEdit="1"/>
              </p:cNvSpPr>
              <p:nvPr/>
            </p:nvSpPr>
            <p:spPr>
              <a:xfrm>
                <a:off x="1839039" y="1683743"/>
                <a:ext cx="739753" cy="413190"/>
              </a:xfrm>
              <a:prstGeom prst="rect">
                <a:avLst/>
              </a:prstGeom>
              <a:blipFill rotWithShape="0">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5" name="Rectangle 124"/>
              <p:cNvSpPr/>
              <p:nvPr/>
            </p:nvSpPr>
            <p:spPr>
              <a:xfrm>
                <a:off x="1826327" y="1319907"/>
                <a:ext cx="782073" cy="4131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i="1" smtClean="0">
                              <a:latin typeface="Cambria Math" panose="02040503050406030204" pitchFamily="18" charset="0"/>
                            </a:rPr>
                          </m:ctrlPr>
                        </m:dPr>
                        <m:e>
                          <m:sSubSup>
                            <m:sSubSupPr>
                              <m:ctrlPr>
                                <a:rPr lang="en-US" sz="1400" i="1">
                                  <a:latin typeface="Cambria Math" panose="02040503050406030204" pitchFamily="18" charset="0"/>
                                </a:rPr>
                              </m:ctrlPr>
                            </m:sSubSupPr>
                            <m:e>
                              <m:r>
                                <a:rPr lang="en-IN" sz="1400" b="1" i="1">
                                  <a:latin typeface="Cambria Math" panose="02040503050406030204" pitchFamily="18" charset="0"/>
                                </a:rPr>
                                <m:t>𝑾</m:t>
                              </m:r>
                            </m:e>
                            <m:sub>
                              <m:r>
                                <a:rPr lang="en-IN" sz="1400" b="0" i="1" smtClean="0">
                                  <a:latin typeface="Cambria Math" panose="02040503050406030204" pitchFamily="18" charset="0"/>
                                </a:rPr>
                                <m:t>𝑚</m:t>
                              </m:r>
                              <m:r>
                                <a:rPr lang="en-IN" sz="1400" i="1">
                                  <a:latin typeface="Cambria Math" panose="02040503050406030204" pitchFamily="18" charset="0"/>
                                </a:rPr>
                                <m:t>,</m:t>
                              </m:r>
                              <m:r>
                                <a:rPr lang="en-IN" sz="1400" b="0" i="1" smtClean="0">
                                  <a:latin typeface="Cambria Math" panose="02040503050406030204" pitchFamily="18" charset="0"/>
                                </a:rPr>
                                <m:t>𝑖</m:t>
                              </m:r>
                            </m:sub>
                            <m:sup>
                              <m:r>
                                <a:rPr lang="en-IN" sz="1400" i="1">
                                  <a:latin typeface="Cambria Math" panose="02040503050406030204" pitchFamily="18" charset="0"/>
                                </a:rPr>
                                <m:t>(</m:t>
                              </m:r>
                              <m:r>
                                <a:rPr lang="en-IN" sz="1400" i="1">
                                  <a:latin typeface="Cambria Math" panose="02040503050406030204" pitchFamily="18" charset="0"/>
                                </a:rPr>
                                <m:t>𝑙</m:t>
                              </m:r>
                              <m:r>
                                <a:rPr lang="en-IN" sz="1400" i="1">
                                  <a:latin typeface="Cambria Math" panose="02040503050406030204" pitchFamily="18" charset="0"/>
                                </a:rPr>
                                <m:t>)</m:t>
                              </m:r>
                            </m:sup>
                          </m:sSubSup>
                          <m:r>
                            <m:rPr>
                              <m:nor/>
                            </m:rPr>
                            <a:rPr lang="en-IN" sz="1400" dirty="0"/>
                            <m:t> </m:t>
                          </m:r>
                        </m:e>
                      </m:d>
                    </m:oMath>
                  </m:oMathPara>
                </a14:m>
                <a:endParaRPr lang="en-IN" sz="1400" dirty="0"/>
              </a:p>
            </p:txBody>
          </p:sp>
        </mc:Choice>
        <mc:Fallback xmlns="">
          <p:sp>
            <p:nvSpPr>
              <p:cNvPr id="125" name="Rectangle 124"/>
              <p:cNvSpPr>
                <a:spLocks noRot="1" noChangeAspect="1" noMove="1" noResize="1" noEditPoints="1" noAdjustHandles="1" noChangeArrowheads="1" noChangeShapeType="1" noTextEdit="1"/>
              </p:cNvSpPr>
              <p:nvPr/>
            </p:nvSpPr>
            <p:spPr>
              <a:xfrm>
                <a:off x="1826327" y="1319907"/>
                <a:ext cx="782073" cy="413190"/>
              </a:xfrm>
              <a:prstGeom prst="rect">
                <a:avLst/>
              </a:prstGeom>
              <a:blipFill rotWithShape="0">
                <a:blip r:embed="rId14"/>
                <a:stretch>
                  <a:fillRect/>
                </a:stretch>
              </a:blipFill>
            </p:spPr>
            <p:txBody>
              <a:bodyPr/>
              <a:lstStyle/>
              <a:p>
                <a:r>
                  <a:rPr lang="en-IN">
                    <a:noFill/>
                  </a:rPr>
                  <a:t> </a:t>
                </a:r>
              </a:p>
            </p:txBody>
          </p:sp>
        </mc:Fallback>
      </mc:AlternateContent>
      <p:cxnSp>
        <p:nvCxnSpPr>
          <p:cNvPr id="126" name="Straight Connector 125"/>
          <p:cNvCxnSpPr>
            <a:stCxn id="122" idx="1"/>
            <a:endCxn id="122" idx="3"/>
          </p:cNvCxnSpPr>
          <p:nvPr/>
        </p:nvCxnSpPr>
        <p:spPr>
          <a:xfrm>
            <a:off x="1902157" y="1711150"/>
            <a:ext cx="595401" cy="0"/>
          </a:xfrm>
          <a:prstGeom prst="line">
            <a:avLst/>
          </a:prstGeom>
        </p:spPr>
        <p:style>
          <a:lnRef idx="1">
            <a:schemeClr val="dk1"/>
          </a:lnRef>
          <a:fillRef idx="0">
            <a:schemeClr val="dk1"/>
          </a:fillRef>
          <a:effectRef idx="0">
            <a:schemeClr val="dk1"/>
          </a:effectRef>
          <a:fontRef idx="minor">
            <a:schemeClr val="tx1"/>
          </a:fontRef>
        </p:style>
      </p:cxnSp>
      <p:cxnSp>
        <p:nvCxnSpPr>
          <p:cNvPr id="127" name="Straight Connector 126"/>
          <p:cNvCxnSpPr/>
          <p:nvPr/>
        </p:nvCxnSpPr>
        <p:spPr>
          <a:xfrm flipH="1">
            <a:off x="2207838" y="2050719"/>
            <a:ext cx="1077" cy="468000"/>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8" name="Rectangle 127"/>
              <p:cNvSpPr/>
              <p:nvPr/>
            </p:nvSpPr>
            <p:spPr>
              <a:xfrm>
                <a:off x="3477225" y="1542214"/>
                <a:ext cx="547778" cy="4057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IN" sz="1600" i="1" smtClean="0">
                              <a:latin typeface="Cambria Math" panose="02040503050406030204" pitchFamily="18" charset="0"/>
                            </a:rPr>
                          </m:ctrlPr>
                        </m:sSubSupPr>
                        <m:e>
                          <m:r>
                            <a:rPr lang="en-IN" sz="1600" b="1" i="1" smtClean="0">
                              <a:latin typeface="Cambria Math" panose="02040503050406030204" pitchFamily="18" charset="0"/>
                            </a:rPr>
                            <m:t>𝒃</m:t>
                          </m:r>
                        </m:e>
                        <m:sub>
                          <m:r>
                            <a:rPr lang="en-IN" sz="1600" b="0" i="1" smtClean="0">
                              <a:latin typeface="Cambria Math" panose="02040503050406030204" pitchFamily="18" charset="0"/>
                            </a:rPr>
                            <m:t>𝑖</m:t>
                          </m:r>
                        </m:sub>
                        <m:sup>
                          <m:r>
                            <a:rPr lang="en-IN" sz="1600" b="0" i="1" smtClean="0">
                              <a:latin typeface="Cambria Math" panose="02040503050406030204" pitchFamily="18" charset="0"/>
                            </a:rPr>
                            <m:t>(</m:t>
                          </m:r>
                          <m:r>
                            <a:rPr lang="en-IN" sz="1600" b="0" i="1" smtClean="0">
                              <a:latin typeface="Cambria Math" panose="02040503050406030204" pitchFamily="18" charset="0"/>
                            </a:rPr>
                            <m:t>𝑙</m:t>
                          </m:r>
                          <m:r>
                            <a:rPr lang="en-IN" sz="1600" b="0" i="1" smtClean="0">
                              <a:latin typeface="Cambria Math" panose="02040503050406030204" pitchFamily="18" charset="0"/>
                            </a:rPr>
                            <m:t>)</m:t>
                          </m:r>
                        </m:sup>
                      </m:sSubSup>
                    </m:oMath>
                  </m:oMathPara>
                </a14:m>
                <a:endParaRPr lang="en-IN" sz="1600" dirty="0"/>
              </a:p>
            </p:txBody>
          </p:sp>
        </mc:Choice>
        <mc:Fallback xmlns="">
          <p:sp>
            <p:nvSpPr>
              <p:cNvPr id="128" name="Rectangle 127"/>
              <p:cNvSpPr>
                <a:spLocks noRot="1" noChangeAspect="1" noMove="1" noResize="1" noEditPoints="1" noAdjustHandles="1" noChangeArrowheads="1" noChangeShapeType="1" noTextEdit="1"/>
              </p:cNvSpPr>
              <p:nvPr/>
            </p:nvSpPr>
            <p:spPr>
              <a:xfrm>
                <a:off x="3477225" y="1542214"/>
                <a:ext cx="547778" cy="405752"/>
              </a:xfrm>
              <a:prstGeom prst="rect">
                <a:avLst/>
              </a:prstGeom>
              <a:blipFill rotWithShape="0">
                <a:blip r:embed="rId15"/>
                <a:stretch>
                  <a:fillRect/>
                </a:stretch>
              </a:blipFill>
            </p:spPr>
            <p:txBody>
              <a:bodyPr/>
              <a:lstStyle/>
              <a:p>
                <a:r>
                  <a:rPr lang="en-IN">
                    <a:noFill/>
                  </a:rPr>
                  <a:t> </a:t>
                </a:r>
              </a:p>
            </p:txBody>
          </p:sp>
        </mc:Fallback>
      </mc:AlternateContent>
      <p:cxnSp>
        <p:nvCxnSpPr>
          <p:cNvPr id="129" name="Straight Connector 128"/>
          <p:cNvCxnSpPr/>
          <p:nvPr/>
        </p:nvCxnSpPr>
        <p:spPr>
          <a:xfrm flipH="1">
            <a:off x="3747741" y="2078052"/>
            <a:ext cx="1077" cy="468000"/>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0" name="TextBox 129"/>
              <p:cNvSpPr txBox="1"/>
              <p:nvPr/>
            </p:nvSpPr>
            <p:spPr>
              <a:xfrm>
                <a:off x="860017" y="2864203"/>
                <a:ext cx="632930" cy="38036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Sup>
                        <m:sSubSupPr>
                          <m:ctrlPr>
                            <a:rPr lang="en-IN" i="1" dirty="0">
                              <a:latin typeface="Cambria Math" panose="02040503050406030204" pitchFamily="18" charset="0"/>
                            </a:rPr>
                          </m:ctrlPr>
                        </m:sSubSupPr>
                        <m:e>
                          <m:r>
                            <a:rPr lang="en-US" b="1" i="1" dirty="0">
                              <a:latin typeface="Cambria Math" panose="02040503050406030204" pitchFamily="18" charset="0"/>
                            </a:rPr>
                            <m:t>𝒉</m:t>
                          </m:r>
                        </m:e>
                        <m:sub>
                          <m:r>
                            <a:rPr lang="en-US" i="1" dirty="0">
                              <a:latin typeface="Cambria Math" panose="02040503050406030204" pitchFamily="18" charset="0"/>
                            </a:rPr>
                            <m:t>𝑗</m:t>
                          </m:r>
                        </m:sub>
                        <m:sup>
                          <m:d>
                            <m:dPr>
                              <m:ctrlPr>
                                <a:rPr lang="en-US" i="1" dirty="0">
                                  <a:latin typeface="Cambria Math" panose="02040503050406030204" pitchFamily="18" charset="0"/>
                                </a:rPr>
                              </m:ctrlPr>
                            </m:dPr>
                            <m:e>
                              <m:r>
                                <a:rPr lang="en-US" i="1" dirty="0">
                                  <a:latin typeface="Cambria Math" panose="02040503050406030204" pitchFamily="18" charset="0"/>
                                </a:rPr>
                                <m:t>𝑙</m:t>
                              </m:r>
                              <m:r>
                                <a:rPr lang="en-US" i="1" dirty="0">
                                  <a:latin typeface="Cambria Math" panose="02040503050406030204" pitchFamily="18" charset="0"/>
                                </a:rPr>
                                <m:t>−1</m:t>
                              </m:r>
                            </m:e>
                          </m:d>
                        </m:sup>
                      </m:sSubSup>
                    </m:oMath>
                  </m:oMathPara>
                </a14:m>
                <a:endParaRPr lang="en-IN" dirty="0">
                  <a:solidFill>
                    <a:schemeClr val="tx1"/>
                  </a:solidFill>
                </a:endParaRPr>
              </a:p>
            </p:txBody>
          </p:sp>
        </mc:Choice>
        <mc:Fallback xmlns="">
          <p:sp>
            <p:nvSpPr>
              <p:cNvPr id="130" name="TextBox 129"/>
              <p:cNvSpPr txBox="1">
                <a:spLocks noRot="1" noChangeAspect="1" noMove="1" noResize="1" noEditPoints="1" noAdjustHandles="1" noChangeArrowheads="1" noChangeShapeType="1" noTextEdit="1"/>
              </p:cNvSpPr>
              <p:nvPr/>
            </p:nvSpPr>
            <p:spPr>
              <a:xfrm>
                <a:off x="860017" y="2864203"/>
                <a:ext cx="632930" cy="380361"/>
              </a:xfrm>
              <a:prstGeom prst="rect">
                <a:avLst/>
              </a:prstGeom>
              <a:blipFill rotWithShape="0">
                <a:blip r:embed="rId16"/>
                <a:stretch>
                  <a:fillRect l="-13462" b="-20968"/>
                </a:stretch>
              </a:blipFill>
            </p:spPr>
            <p:txBody>
              <a:bodyPr/>
              <a:lstStyle/>
              <a:p>
                <a:r>
                  <a:rPr lang="en-IN">
                    <a:noFill/>
                  </a:rPr>
                  <a:t> </a:t>
                </a:r>
              </a:p>
            </p:txBody>
          </p:sp>
        </mc:Fallback>
      </mc:AlternateContent>
    </p:spTree>
    <p:extLst>
      <p:ext uri="{BB962C8B-B14F-4D97-AF65-F5344CB8AC3E}">
        <p14:creationId xmlns:p14="http://schemas.microsoft.com/office/powerpoint/2010/main" val="40243891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1861073" y="832857"/>
            <a:ext cx="8509299"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err="1">
                <a:solidFill>
                  <a:srgbClr val="434343"/>
                </a:solidFill>
              </a:rPr>
              <a:t>Backpropagation</a:t>
            </a:r>
            <a:endParaRPr sz="2800" dirty="0">
              <a:solidFill>
                <a:srgbClr val="434343"/>
              </a:solidFill>
            </a:endParaRPr>
          </a:p>
        </p:txBody>
      </p:sp>
      <p:sp>
        <p:nvSpPr>
          <p:cNvPr id="3" name="Footer Placeholder 2"/>
          <p:cNvSpPr>
            <a:spLocks noGrp="1"/>
          </p:cNvSpPr>
          <p:nvPr>
            <p:ph type="ftr" sz="quarter" idx="3"/>
          </p:nvPr>
        </p:nvSpPr>
        <p:spPr>
          <a:xfrm>
            <a:off x="2199486" y="6356350"/>
            <a:ext cx="8167606" cy="365125"/>
          </a:xfrm>
        </p:spPr>
        <p:txBody>
          <a:bodyPr/>
          <a:lstStyle/>
          <a:p>
            <a:r>
              <a:rPr lang="en-US"/>
              <a:t>CS21206 / FAIML | Perceptron and MLP (c) Abir Das, Ayan Chaudhury</a:t>
            </a:r>
          </a:p>
        </p:txBody>
      </p:sp>
      <p:sp>
        <p:nvSpPr>
          <p:cNvPr id="21" name="Slide Number Placeholder 20"/>
          <p:cNvSpPr>
            <a:spLocks noGrp="1"/>
          </p:cNvSpPr>
          <p:nvPr>
            <p:ph type="sldNum" sz="quarter" idx="4"/>
          </p:nvPr>
        </p:nvSpPr>
        <p:spPr>
          <a:xfrm>
            <a:off x="10757133" y="6356350"/>
            <a:ext cx="783956" cy="365125"/>
          </a:xfrm>
        </p:spPr>
        <p:txBody>
          <a:bodyPr/>
          <a:lstStyle/>
          <a:p>
            <a:fld id="{683B8651-0143-4140-839E-3D36292080E8}" type="slidenum">
              <a:rPr lang="en-US" smtClean="0"/>
              <a:t>33</a:t>
            </a:fld>
            <a:endParaRPr lang="en-US"/>
          </a:p>
        </p:txBody>
      </p:sp>
      <p:sp>
        <p:nvSpPr>
          <p:cNvPr id="62" name="Rectangle 61"/>
          <p:cNvSpPr/>
          <p:nvPr/>
        </p:nvSpPr>
        <p:spPr>
          <a:xfrm>
            <a:off x="804453" y="2522167"/>
            <a:ext cx="727824"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64" name="Straight Arrow Connector 63"/>
          <p:cNvCxnSpPr>
            <a:stCxn id="62" idx="3"/>
            <a:endCxn id="65" idx="1"/>
          </p:cNvCxnSpPr>
          <p:nvPr/>
        </p:nvCxnSpPr>
        <p:spPr>
          <a:xfrm>
            <a:off x="1532277" y="3023435"/>
            <a:ext cx="548076" cy="0"/>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65" name="Rectangle 64"/>
          <p:cNvSpPr/>
          <p:nvPr/>
        </p:nvSpPr>
        <p:spPr>
          <a:xfrm>
            <a:off x="2080353" y="2522167"/>
            <a:ext cx="319605" cy="1002535"/>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cxnSp>
        <p:nvCxnSpPr>
          <p:cNvPr id="66" name="Straight Arrow Connector 65"/>
          <p:cNvCxnSpPr/>
          <p:nvPr/>
        </p:nvCxnSpPr>
        <p:spPr>
          <a:xfrm>
            <a:off x="573690" y="3053926"/>
            <a:ext cx="222057" cy="0"/>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65" idx="3"/>
            <a:endCxn id="68" idx="1"/>
          </p:cNvCxnSpPr>
          <p:nvPr/>
        </p:nvCxnSpPr>
        <p:spPr>
          <a:xfrm>
            <a:off x="2399958" y="3023435"/>
            <a:ext cx="1180085" cy="7489"/>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68" name="Rectangle 67"/>
          <p:cNvSpPr/>
          <p:nvPr/>
        </p:nvSpPr>
        <p:spPr>
          <a:xfrm>
            <a:off x="3580043" y="2529656"/>
            <a:ext cx="319605" cy="1002535"/>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sp>
        <p:nvSpPr>
          <p:cNvPr id="69" name="Rectangle 68"/>
          <p:cNvSpPr/>
          <p:nvPr/>
        </p:nvSpPr>
        <p:spPr>
          <a:xfrm>
            <a:off x="4827363" y="2529656"/>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70" name="TextBox 69"/>
              <p:cNvSpPr txBox="1"/>
              <p:nvPr/>
            </p:nvSpPr>
            <p:spPr>
              <a:xfrm>
                <a:off x="4828970" y="2874834"/>
                <a:ext cx="411266" cy="3525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i="1" smtClean="0">
                              <a:latin typeface="Cambria Math" panose="02040503050406030204" pitchFamily="18" charset="0"/>
                            </a:rPr>
                          </m:ctrlPr>
                        </m:sSubSupPr>
                        <m:e>
                          <m:r>
                            <a:rPr lang="en-IN" b="1" i="1" smtClean="0">
                              <a:latin typeface="Cambria Math" panose="02040503050406030204" pitchFamily="18" charset="0"/>
                            </a:rPr>
                            <m:t>𝒂</m:t>
                          </m:r>
                        </m:e>
                        <m:sub>
                          <m:r>
                            <a:rPr lang="en-IN" b="0" i="1" smtClean="0">
                              <a:latin typeface="Cambria Math" panose="02040503050406030204" pitchFamily="18" charset="0"/>
                            </a:rPr>
                            <m:t>𝑖</m:t>
                          </m:r>
                        </m:sub>
                        <m:sup>
                          <m:r>
                            <a:rPr lang="en-IN" b="0" i="1" smtClean="0">
                              <a:latin typeface="Cambria Math" panose="02040503050406030204" pitchFamily="18" charset="0"/>
                            </a:rPr>
                            <m:t>(</m:t>
                          </m:r>
                          <m:r>
                            <a:rPr lang="en-IN" b="0" i="1" smtClean="0">
                              <a:latin typeface="Cambria Math" panose="02040503050406030204" pitchFamily="18" charset="0"/>
                            </a:rPr>
                            <m:t>𝑙</m:t>
                          </m:r>
                          <m:r>
                            <a:rPr lang="en-IN" b="0" i="1" smtClean="0">
                              <a:latin typeface="Cambria Math" panose="02040503050406030204" pitchFamily="18" charset="0"/>
                            </a:rPr>
                            <m:t>)</m:t>
                          </m:r>
                        </m:sup>
                      </m:sSubSup>
                    </m:oMath>
                  </m:oMathPara>
                </a14:m>
                <a:endParaRPr lang="en-IN" dirty="0"/>
              </a:p>
            </p:txBody>
          </p:sp>
        </mc:Choice>
        <mc:Fallback xmlns="">
          <p:sp>
            <p:nvSpPr>
              <p:cNvPr id="70" name="TextBox 69"/>
              <p:cNvSpPr txBox="1">
                <a:spLocks noRot="1" noChangeAspect="1" noMove="1" noResize="1" noEditPoints="1" noAdjustHandles="1" noChangeArrowheads="1" noChangeShapeType="1" noTextEdit="1"/>
              </p:cNvSpPr>
              <p:nvPr/>
            </p:nvSpPr>
            <p:spPr>
              <a:xfrm>
                <a:off x="4828970" y="2874834"/>
                <a:ext cx="411266" cy="352597"/>
              </a:xfrm>
              <a:prstGeom prst="rect">
                <a:avLst/>
              </a:prstGeom>
              <a:blipFill rotWithShape="0">
                <a:blip r:embed="rId3"/>
                <a:stretch>
                  <a:fillRect l="-7353" t="-3509" r="-11765" b="-19298"/>
                </a:stretch>
              </a:blipFill>
            </p:spPr>
            <p:txBody>
              <a:bodyPr/>
              <a:lstStyle/>
              <a:p>
                <a:r>
                  <a:rPr lang="en-IN">
                    <a:noFill/>
                  </a:rPr>
                  <a:t> </a:t>
                </a:r>
              </a:p>
            </p:txBody>
          </p:sp>
        </mc:Fallback>
      </mc:AlternateContent>
      <p:cxnSp>
        <p:nvCxnSpPr>
          <p:cNvPr id="71" name="Straight Arrow Connector 70"/>
          <p:cNvCxnSpPr>
            <a:stCxn id="68" idx="3"/>
            <a:endCxn id="69" idx="1"/>
          </p:cNvCxnSpPr>
          <p:nvPr/>
        </p:nvCxnSpPr>
        <p:spPr>
          <a:xfrm>
            <a:off x="3899648" y="3030924"/>
            <a:ext cx="927715" cy="0"/>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72" name="Rectangle 71"/>
          <p:cNvSpPr/>
          <p:nvPr/>
        </p:nvSpPr>
        <p:spPr>
          <a:xfrm>
            <a:off x="6022334" y="2529656"/>
            <a:ext cx="441547" cy="1002535"/>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73" name="TextBox 72"/>
              <p:cNvSpPr txBox="1"/>
              <p:nvPr/>
            </p:nvSpPr>
            <p:spPr>
              <a:xfrm>
                <a:off x="6006899" y="2888679"/>
                <a:ext cx="4768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r>
                        <a:rPr lang="en-US" b="0" i="1" smtClean="0">
                          <a:latin typeface="Cambria Math" panose="02040503050406030204" pitchFamily="18" charset="0"/>
                        </a:rPr>
                        <m:t>(.)</m:t>
                      </m:r>
                    </m:oMath>
                  </m:oMathPara>
                </a14:m>
                <a:endParaRPr lang="en-IN" dirty="0"/>
              </a:p>
            </p:txBody>
          </p:sp>
        </mc:Choice>
        <mc:Fallback xmlns="">
          <p:sp>
            <p:nvSpPr>
              <p:cNvPr id="73" name="TextBox 72"/>
              <p:cNvSpPr txBox="1">
                <a:spLocks noRot="1" noChangeAspect="1" noMove="1" noResize="1" noEditPoints="1" noAdjustHandles="1" noChangeArrowheads="1" noChangeShapeType="1" noTextEdit="1"/>
              </p:cNvSpPr>
              <p:nvPr/>
            </p:nvSpPr>
            <p:spPr>
              <a:xfrm>
                <a:off x="6006899" y="2888679"/>
                <a:ext cx="476862" cy="276999"/>
              </a:xfrm>
              <a:prstGeom prst="rect">
                <a:avLst/>
              </a:prstGeom>
              <a:blipFill rotWithShape="0">
                <a:blip r:embed="rId4"/>
                <a:stretch>
                  <a:fillRect l="-11392" t="-2222" r="-16456" b="-3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2148112" y="2890757"/>
                <a:ext cx="21800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74" name="TextBox 73"/>
              <p:cNvSpPr txBox="1">
                <a:spLocks noRot="1" noChangeAspect="1" noMove="1" noResize="1" noEditPoints="1" noAdjustHandles="1" noChangeArrowheads="1" noChangeShapeType="1" noTextEdit="1"/>
              </p:cNvSpPr>
              <p:nvPr/>
            </p:nvSpPr>
            <p:spPr>
              <a:xfrm>
                <a:off x="2148112" y="2890757"/>
                <a:ext cx="218008" cy="276999"/>
              </a:xfrm>
              <a:prstGeom prst="rect">
                <a:avLst/>
              </a:prstGeom>
              <a:blipFill rotWithShape="0">
                <a:blip r:embed="rId5"/>
                <a:stretch>
                  <a:fillRect l="-19444" r="-1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3632163" y="2892424"/>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75" name="TextBox 74"/>
              <p:cNvSpPr txBox="1">
                <a:spLocks noRot="1" noChangeAspect="1" noMove="1" noResize="1" noEditPoints="1" noAdjustHandles="1" noChangeArrowheads="1" noChangeShapeType="1" noTextEdit="1"/>
              </p:cNvSpPr>
              <p:nvPr/>
            </p:nvSpPr>
            <p:spPr>
              <a:xfrm>
                <a:off x="3632163" y="2892424"/>
                <a:ext cx="226024" cy="276999"/>
              </a:xfrm>
              <a:prstGeom prst="rect">
                <a:avLst/>
              </a:prstGeom>
              <a:blipFill rotWithShape="0">
                <a:blip r:embed="rId6"/>
                <a:stretch>
                  <a:fillRect l="-24324" r="-18919" b="-6522"/>
                </a:stretch>
              </a:blipFill>
            </p:spPr>
            <p:txBody>
              <a:bodyPr/>
              <a:lstStyle/>
              <a:p>
                <a:r>
                  <a:rPr lang="en-IN">
                    <a:noFill/>
                  </a:rPr>
                  <a:t> </a:t>
                </a:r>
              </a:p>
            </p:txBody>
          </p:sp>
        </mc:Fallback>
      </mc:AlternateContent>
      <p:cxnSp>
        <p:nvCxnSpPr>
          <p:cNvPr id="76" name="Straight Arrow Connector 75"/>
          <p:cNvCxnSpPr>
            <a:endCxn id="72" idx="1"/>
          </p:cNvCxnSpPr>
          <p:nvPr/>
        </p:nvCxnSpPr>
        <p:spPr>
          <a:xfrm>
            <a:off x="5212954" y="3023435"/>
            <a:ext cx="809380" cy="7489"/>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77" name="Rectangle 76"/>
          <p:cNvSpPr/>
          <p:nvPr/>
        </p:nvSpPr>
        <p:spPr>
          <a:xfrm>
            <a:off x="7147521" y="2529656"/>
            <a:ext cx="727824"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8" name="Straight Arrow Connector 77"/>
          <p:cNvCxnSpPr>
            <a:stCxn id="72" idx="3"/>
            <a:endCxn id="77" idx="1"/>
          </p:cNvCxnSpPr>
          <p:nvPr/>
        </p:nvCxnSpPr>
        <p:spPr>
          <a:xfrm>
            <a:off x="6463881" y="3030924"/>
            <a:ext cx="683640" cy="0"/>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7894376" y="3030924"/>
            <a:ext cx="222057" cy="0"/>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82" name="Rectangle 81"/>
          <p:cNvSpPr/>
          <p:nvPr/>
        </p:nvSpPr>
        <p:spPr>
          <a:xfrm>
            <a:off x="6022334" y="4103245"/>
            <a:ext cx="441547" cy="1002535"/>
          </a:xfrm>
          <a:prstGeom prst="rect">
            <a:avLst/>
          </a:prstGeom>
          <a:ln w="127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84" name="TextBox 83"/>
              <p:cNvSpPr txBox="1"/>
              <p:nvPr/>
            </p:nvSpPr>
            <p:spPr>
              <a:xfrm>
                <a:off x="5995882" y="4462268"/>
                <a:ext cx="5321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r>
                        <a:rPr lang="en-IN" b="0" i="1" smtClean="0">
                          <a:latin typeface="Cambria Math" panose="02040503050406030204" pitchFamily="18" charset="0"/>
                        </a:rPr>
                        <m:t>′</m:t>
                      </m:r>
                      <m:r>
                        <a:rPr lang="en-US" b="0" i="1" smtClean="0">
                          <a:latin typeface="Cambria Math" panose="02040503050406030204" pitchFamily="18" charset="0"/>
                        </a:rPr>
                        <m:t>(.)</m:t>
                      </m:r>
                    </m:oMath>
                  </m:oMathPara>
                </a14:m>
                <a:endParaRPr lang="en-IN" dirty="0"/>
              </a:p>
            </p:txBody>
          </p:sp>
        </mc:Choice>
        <mc:Fallback xmlns="">
          <p:sp>
            <p:nvSpPr>
              <p:cNvPr id="84" name="TextBox 83"/>
              <p:cNvSpPr txBox="1">
                <a:spLocks noRot="1" noChangeAspect="1" noMove="1" noResize="1" noEditPoints="1" noAdjustHandles="1" noChangeArrowheads="1" noChangeShapeType="1" noTextEdit="1"/>
              </p:cNvSpPr>
              <p:nvPr/>
            </p:nvSpPr>
            <p:spPr>
              <a:xfrm>
                <a:off x="5995882" y="4462268"/>
                <a:ext cx="532197" cy="276999"/>
              </a:xfrm>
              <a:prstGeom prst="rect">
                <a:avLst/>
              </a:prstGeom>
              <a:blipFill rotWithShape="0">
                <a:blip r:embed="rId7"/>
                <a:stretch>
                  <a:fillRect l="-10345" t="-4444" r="-16092" b="-35556"/>
                </a:stretch>
              </a:blipFill>
            </p:spPr>
            <p:txBody>
              <a:bodyPr/>
              <a:lstStyle/>
              <a:p>
                <a:r>
                  <a:rPr lang="en-IN">
                    <a:noFill/>
                  </a:rPr>
                  <a:t> </a:t>
                </a:r>
              </a:p>
            </p:txBody>
          </p:sp>
        </mc:Fallback>
      </mc:AlternateContent>
      <p:cxnSp>
        <p:nvCxnSpPr>
          <p:cNvPr id="24" name="Curved Connector 23"/>
          <p:cNvCxnSpPr>
            <a:stCxn id="69" idx="2"/>
            <a:endCxn id="82" idx="0"/>
          </p:cNvCxnSpPr>
          <p:nvPr/>
        </p:nvCxnSpPr>
        <p:spPr>
          <a:xfrm rot="16200000" flipH="1">
            <a:off x="5346106" y="3206243"/>
            <a:ext cx="571054" cy="1222949"/>
          </a:xfrm>
          <a:prstGeom prst="curvedConnector3">
            <a:avLst>
              <a:gd name="adj1" fmla="val 48071"/>
            </a:avLst>
          </a:prstGeom>
          <a:ln w="28575"/>
        </p:spPr>
        <p:style>
          <a:lnRef idx="1">
            <a:schemeClr val="dk1"/>
          </a:lnRef>
          <a:fillRef idx="0">
            <a:schemeClr val="dk1"/>
          </a:fillRef>
          <a:effectRef idx="0">
            <a:schemeClr val="dk1"/>
          </a:effectRef>
          <a:fontRef idx="minor">
            <a:schemeClr val="tx1"/>
          </a:fontRef>
        </p:style>
      </p:cxnSp>
      <p:sp>
        <p:nvSpPr>
          <p:cNvPr id="88" name="Rectangle 87"/>
          <p:cNvSpPr/>
          <p:nvPr/>
        </p:nvSpPr>
        <p:spPr>
          <a:xfrm>
            <a:off x="6011317" y="5419334"/>
            <a:ext cx="461427" cy="1002535"/>
          </a:xfrm>
          <a:prstGeom prst="rect">
            <a:avLst/>
          </a:prstGeom>
          <a:ln w="127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89" name="TextBox 88"/>
              <p:cNvSpPr txBox="1"/>
              <p:nvPr/>
            </p:nvSpPr>
            <p:spPr>
              <a:xfrm>
                <a:off x="6144043" y="5766887"/>
                <a:ext cx="21800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89" name="TextBox 88"/>
              <p:cNvSpPr txBox="1">
                <a:spLocks noRot="1" noChangeAspect="1" noMove="1" noResize="1" noEditPoints="1" noAdjustHandles="1" noChangeArrowheads="1" noChangeShapeType="1" noTextEdit="1"/>
              </p:cNvSpPr>
              <p:nvPr/>
            </p:nvSpPr>
            <p:spPr>
              <a:xfrm>
                <a:off x="6144043" y="5766887"/>
                <a:ext cx="218008" cy="276999"/>
              </a:xfrm>
              <a:prstGeom prst="rect">
                <a:avLst/>
              </a:prstGeom>
              <a:blipFill rotWithShape="0">
                <a:blip r:embed="rId8"/>
                <a:stretch>
                  <a:fillRect l="-19444" r="-16667" b="-2222"/>
                </a:stretch>
              </a:blipFill>
            </p:spPr>
            <p:txBody>
              <a:bodyPr/>
              <a:lstStyle/>
              <a:p>
                <a:r>
                  <a:rPr lang="en-IN">
                    <a:noFill/>
                  </a:rPr>
                  <a:t> </a:t>
                </a:r>
              </a:p>
            </p:txBody>
          </p:sp>
        </mc:Fallback>
      </mc:AlternateContent>
      <p:cxnSp>
        <p:nvCxnSpPr>
          <p:cNvPr id="28" name="Straight Connector 27"/>
          <p:cNvCxnSpPr>
            <a:stCxn id="82" idx="2"/>
            <a:endCxn id="88" idx="0"/>
          </p:cNvCxnSpPr>
          <p:nvPr/>
        </p:nvCxnSpPr>
        <p:spPr>
          <a:xfrm flipH="1">
            <a:off x="6242031" y="5105780"/>
            <a:ext cx="1077" cy="313554"/>
          </a:xfrm>
          <a:prstGeom prst="line">
            <a:avLst/>
          </a:prstGeom>
          <a:ln w="28575"/>
        </p:spPr>
        <p:style>
          <a:lnRef idx="1">
            <a:schemeClr val="dk1"/>
          </a:lnRef>
          <a:fillRef idx="0">
            <a:schemeClr val="dk1"/>
          </a:fillRef>
          <a:effectRef idx="0">
            <a:schemeClr val="dk1"/>
          </a:effectRef>
          <a:fontRef idx="minor">
            <a:schemeClr val="tx1"/>
          </a:fontRef>
        </p:style>
      </p:cxnSp>
      <p:sp>
        <p:nvSpPr>
          <p:cNvPr id="98" name="Rectangle 97"/>
          <p:cNvSpPr/>
          <p:nvPr/>
        </p:nvSpPr>
        <p:spPr>
          <a:xfrm>
            <a:off x="7145806" y="5416531"/>
            <a:ext cx="727824"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99" name="TextBox 98"/>
              <p:cNvSpPr txBox="1"/>
              <p:nvPr/>
            </p:nvSpPr>
            <p:spPr>
              <a:xfrm>
                <a:off x="7271445" y="5635177"/>
                <a:ext cx="486928" cy="593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IN" sz="1600" b="1" i="1" smtClean="0">
                                  <a:latin typeface="Cambria Math" panose="02040503050406030204" pitchFamily="18" charset="0"/>
                                </a:rPr>
                                <m:t>𝒉</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oMath>
                  </m:oMathPara>
                </a14:m>
                <a:endParaRPr lang="en-IN" sz="1600" dirty="0"/>
              </a:p>
            </p:txBody>
          </p:sp>
        </mc:Choice>
        <mc:Fallback xmlns="">
          <p:sp>
            <p:nvSpPr>
              <p:cNvPr id="99" name="TextBox 98"/>
              <p:cNvSpPr txBox="1">
                <a:spLocks noRot="1" noChangeAspect="1" noMove="1" noResize="1" noEditPoints="1" noAdjustHandles="1" noChangeArrowheads="1" noChangeShapeType="1" noTextEdit="1"/>
              </p:cNvSpPr>
              <p:nvPr/>
            </p:nvSpPr>
            <p:spPr>
              <a:xfrm>
                <a:off x="7271445" y="5635177"/>
                <a:ext cx="486928" cy="593496"/>
              </a:xfrm>
              <a:prstGeom prst="rect">
                <a:avLst/>
              </a:prstGeom>
              <a:blipFill rotWithShape="0">
                <a:blip r:embed="rId9"/>
                <a:stretch>
                  <a:fillRect/>
                </a:stretch>
              </a:blipFill>
            </p:spPr>
            <p:txBody>
              <a:bodyPr/>
              <a:lstStyle/>
              <a:p>
                <a:r>
                  <a:rPr lang="en-IN">
                    <a:noFill/>
                  </a:rPr>
                  <a:t> </a:t>
                </a:r>
              </a:p>
            </p:txBody>
          </p:sp>
        </mc:Fallback>
      </mc:AlternateContent>
      <p:cxnSp>
        <p:nvCxnSpPr>
          <p:cNvPr id="101" name="Straight Connector 100"/>
          <p:cNvCxnSpPr>
            <a:stCxn id="98" idx="1"/>
            <a:endCxn id="88" idx="3"/>
          </p:cNvCxnSpPr>
          <p:nvPr/>
        </p:nvCxnSpPr>
        <p:spPr>
          <a:xfrm flipH="1">
            <a:off x="6472744" y="5917799"/>
            <a:ext cx="673062" cy="2803"/>
          </a:xfrm>
          <a:prstGeom prst="line">
            <a:avLst/>
          </a:prstGeom>
          <a:ln w="28575"/>
        </p:spPr>
        <p:style>
          <a:lnRef idx="1">
            <a:schemeClr val="dk1"/>
          </a:lnRef>
          <a:fillRef idx="0">
            <a:schemeClr val="dk1"/>
          </a:fillRef>
          <a:effectRef idx="0">
            <a:schemeClr val="dk1"/>
          </a:effectRef>
          <a:fontRef idx="minor">
            <a:schemeClr val="tx1"/>
          </a:fontRef>
        </p:style>
      </p:cxnSp>
      <p:sp>
        <p:nvSpPr>
          <p:cNvPr id="107" name="Rectangle 106"/>
          <p:cNvSpPr/>
          <p:nvPr/>
        </p:nvSpPr>
        <p:spPr>
          <a:xfrm>
            <a:off x="4610431" y="5424699"/>
            <a:ext cx="727824" cy="1002535"/>
          </a:xfrm>
          <a:prstGeom prst="rect">
            <a:avLst/>
          </a:prstGeom>
          <a:solidFill>
            <a:srgbClr val="FFFF00">
              <a:alpha val="50196"/>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112" name="TextBox 111"/>
              <p:cNvSpPr txBox="1"/>
              <p:nvPr/>
            </p:nvSpPr>
            <p:spPr>
              <a:xfrm>
                <a:off x="4730879" y="5635177"/>
                <a:ext cx="485326" cy="593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IN" sz="1600" b="1" i="1" smtClean="0">
                                  <a:latin typeface="Cambria Math" panose="02040503050406030204" pitchFamily="18" charset="0"/>
                                </a:rPr>
                                <m:t>𝒂</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oMath>
                  </m:oMathPara>
                </a14:m>
                <a:endParaRPr lang="en-IN" sz="1600" dirty="0"/>
              </a:p>
            </p:txBody>
          </p:sp>
        </mc:Choice>
        <mc:Fallback xmlns="">
          <p:sp>
            <p:nvSpPr>
              <p:cNvPr id="112" name="TextBox 111"/>
              <p:cNvSpPr txBox="1">
                <a:spLocks noRot="1" noChangeAspect="1" noMove="1" noResize="1" noEditPoints="1" noAdjustHandles="1" noChangeArrowheads="1" noChangeShapeType="1" noTextEdit="1"/>
              </p:cNvSpPr>
              <p:nvPr/>
            </p:nvSpPr>
            <p:spPr>
              <a:xfrm>
                <a:off x="4730879" y="5635177"/>
                <a:ext cx="485326" cy="593496"/>
              </a:xfrm>
              <a:prstGeom prst="rect">
                <a:avLst/>
              </a:prstGeom>
              <a:blipFill rotWithShape="0">
                <a:blip r:embed="rId10"/>
                <a:stretch>
                  <a:fillRect/>
                </a:stretch>
              </a:blipFill>
            </p:spPr>
            <p:txBody>
              <a:bodyPr/>
              <a:lstStyle/>
              <a:p>
                <a:r>
                  <a:rPr lang="en-IN">
                    <a:noFill/>
                  </a:rPr>
                  <a:t> </a:t>
                </a:r>
              </a:p>
            </p:txBody>
          </p:sp>
        </mc:Fallback>
      </mc:AlternateContent>
      <p:cxnSp>
        <p:nvCxnSpPr>
          <p:cNvPr id="116" name="Straight Connector 115"/>
          <p:cNvCxnSpPr/>
          <p:nvPr/>
        </p:nvCxnSpPr>
        <p:spPr>
          <a:xfrm flipH="1">
            <a:off x="5346501" y="5925966"/>
            <a:ext cx="673062" cy="2803"/>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7" name="Rectangle 116"/>
              <p:cNvSpPr/>
              <p:nvPr/>
            </p:nvSpPr>
            <p:spPr>
              <a:xfrm>
                <a:off x="8434918" y="3540991"/>
                <a:ext cx="2145651" cy="6858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IN" sz="1600" b="1" i="1" smtClean="0">
                                  <a:latin typeface="Cambria Math" panose="02040503050406030204" pitchFamily="18" charset="0"/>
                                </a:rPr>
                                <m:t>𝒂</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r>
                        <a:rPr lang="en-IN" sz="1600" b="0" i="1" smtClean="0">
                          <a:latin typeface="Cambria Math" panose="02040503050406030204" pitchFamily="18" charset="0"/>
                        </a:rPr>
                        <m:t>=</m:t>
                      </m:r>
                      <m:f>
                        <m:fPr>
                          <m:ctrlPr>
                            <a:rPr lang="en-IN" sz="1600" i="1">
                              <a:latin typeface="Cambria Math" panose="02040503050406030204" pitchFamily="18" charset="0"/>
                            </a:rPr>
                          </m:ctrlPr>
                        </m:fPr>
                        <m:num>
                          <m:r>
                            <a:rPr lang="en-IN" sz="1600" i="1">
                              <a:latin typeface="Cambria Math" panose="02040503050406030204" pitchFamily="18" charset="0"/>
                            </a:rPr>
                            <m:t>𝜕</m:t>
                          </m:r>
                          <m:r>
                            <a:rPr lang="en-IN" sz="1600" i="1">
                              <a:latin typeface="Cambria Math" panose="02040503050406030204" pitchFamily="18" charset="0"/>
                            </a:rPr>
                            <m:t>𝐽</m:t>
                          </m:r>
                        </m:num>
                        <m:den>
                          <m:r>
                            <a:rPr lang="en-IN" sz="1600" i="1">
                              <a:latin typeface="Cambria Math" panose="02040503050406030204" pitchFamily="18" charset="0"/>
                            </a:rPr>
                            <m:t>𝜕</m:t>
                          </m:r>
                          <m:sSubSup>
                            <m:sSubSupPr>
                              <m:ctrlPr>
                                <a:rPr lang="en-IN" sz="1600" i="1">
                                  <a:latin typeface="Cambria Math" panose="02040503050406030204" pitchFamily="18" charset="0"/>
                                </a:rPr>
                              </m:ctrlPr>
                            </m:sSubSupPr>
                            <m:e>
                              <m:r>
                                <a:rPr lang="en-IN" sz="1600" b="1" i="1">
                                  <a:latin typeface="Cambria Math" panose="02040503050406030204" pitchFamily="18" charset="0"/>
                                </a:rPr>
                                <m:t>𝒉</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r>
                        <a:rPr lang="en-IN" sz="1600" b="0" i="1" smtClean="0">
                          <a:latin typeface="Cambria Math" panose="02040503050406030204" pitchFamily="18" charset="0"/>
                        </a:rPr>
                        <m:t>𝑔</m:t>
                      </m:r>
                      <m:r>
                        <a:rPr lang="en-IN" sz="1600" b="0" i="1" smtClean="0">
                          <a:latin typeface="Cambria Math" panose="02040503050406030204" pitchFamily="18" charset="0"/>
                        </a:rPr>
                        <m:t>′</m:t>
                      </m:r>
                      <m:d>
                        <m:dPr>
                          <m:ctrlPr>
                            <a:rPr lang="en-IN" sz="1600" b="0" i="1" smtClean="0">
                              <a:latin typeface="Cambria Math" panose="02040503050406030204" pitchFamily="18" charset="0"/>
                            </a:rPr>
                          </m:ctrlPr>
                        </m:dPr>
                        <m:e>
                          <m:sSubSup>
                            <m:sSubSupPr>
                              <m:ctrlPr>
                                <a:rPr lang="en-IN" sz="1600" b="0" i="1" smtClean="0">
                                  <a:latin typeface="Cambria Math" panose="02040503050406030204" pitchFamily="18" charset="0"/>
                                </a:rPr>
                              </m:ctrlPr>
                            </m:sSubSupPr>
                            <m:e>
                              <m:r>
                                <a:rPr lang="en-IN" sz="1600" b="1" i="1" smtClean="0">
                                  <a:latin typeface="Cambria Math" panose="02040503050406030204" pitchFamily="18" charset="0"/>
                                </a:rPr>
                                <m:t>𝒂</m:t>
                              </m:r>
                            </m:e>
                            <m:sub>
                              <m:r>
                                <a:rPr lang="en-IN" sz="1600" b="0" i="1" smtClean="0">
                                  <a:latin typeface="Cambria Math" panose="02040503050406030204" pitchFamily="18" charset="0"/>
                                </a:rPr>
                                <m:t>𝑖</m:t>
                              </m:r>
                            </m:sub>
                            <m:sup>
                              <m:r>
                                <a:rPr lang="en-IN" sz="1600" b="0" i="1" smtClean="0">
                                  <a:latin typeface="Cambria Math" panose="02040503050406030204" pitchFamily="18" charset="0"/>
                                </a:rPr>
                                <m:t>(</m:t>
                              </m:r>
                              <m:r>
                                <a:rPr lang="en-IN" sz="1600" b="0" i="1" smtClean="0">
                                  <a:latin typeface="Cambria Math" panose="02040503050406030204" pitchFamily="18" charset="0"/>
                                </a:rPr>
                                <m:t>𝑙</m:t>
                              </m:r>
                              <m:r>
                                <a:rPr lang="en-IN" sz="1600" b="0" i="1" smtClean="0">
                                  <a:latin typeface="Cambria Math" panose="02040503050406030204" pitchFamily="18" charset="0"/>
                                </a:rPr>
                                <m:t>)</m:t>
                              </m:r>
                            </m:sup>
                          </m:sSubSup>
                        </m:e>
                      </m:d>
                    </m:oMath>
                  </m:oMathPara>
                </a14:m>
                <a:endParaRPr lang="en-IN" sz="1600" dirty="0"/>
              </a:p>
            </p:txBody>
          </p:sp>
        </mc:Choice>
        <mc:Fallback xmlns="">
          <p:sp>
            <p:nvSpPr>
              <p:cNvPr id="117" name="Rectangle 116"/>
              <p:cNvSpPr>
                <a:spLocks noRot="1" noChangeAspect="1" noMove="1" noResize="1" noEditPoints="1" noAdjustHandles="1" noChangeArrowheads="1" noChangeShapeType="1" noTextEdit="1"/>
              </p:cNvSpPr>
              <p:nvPr/>
            </p:nvSpPr>
            <p:spPr>
              <a:xfrm>
                <a:off x="8434918" y="3540991"/>
                <a:ext cx="2145651" cy="685829"/>
              </a:xfrm>
              <a:prstGeom prst="rect">
                <a:avLst/>
              </a:prstGeom>
              <a:blipFill rotWithShape="0">
                <a:blip r:embed="rId11"/>
                <a:stretch>
                  <a:fillRect/>
                </a:stretch>
              </a:blipFill>
            </p:spPr>
            <p:txBody>
              <a:bodyPr/>
              <a:lstStyle/>
              <a:p>
                <a:r>
                  <a:rPr lang="en-IN">
                    <a:noFill/>
                  </a:rPr>
                  <a:t> </a:t>
                </a:r>
              </a:p>
            </p:txBody>
          </p:sp>
        </mc:Fallback>
      </mc:AlternateContent>
      <p:sp>
        <p:nvSpPr>
          <p:cNvPr id="118" name="TextBox 117"/>
          <p:cNvSpPr txBox="1"/>
          <p:nvPr/>
        </p:nvSpPr>
        <p:spPr>
          <a:xfrm>
            <a:off x="11240365" y="3714628"/>
            <a:ext cx="601447" cy="338554"/>
          </a:xfrm>
          <a:prstGeom prst="rect">
            <a:avLst/>
          </a:prstGeom>
          <a:noFill/>
        </p:spPr>
        <p:txBody>
          <a:bodyPr wrap="none" rtlCol="0">
            <a:spAutoFit/>
          </a:bodyPr>
          <a:lstStyle/>
          <a:p>
            <a:r>
              <a:rPr lang="en-IN" sz="1600" dirty="0"/>
              <a:t>… (3)</a:t>
            </a:r>
          </a:p>
        </p:txBody>
      </p:sp>
      <p:sp>
        <p:nvSpPr>
          <p:cNvPr id="41" name="Rectangle 40"/>
          <p:cNvSpPr/>
          <p:nvPr/>
        </p:nvSpPr>
        <p:spPr>
          <a:xfrm>
            <a:off x="4101146" y="1350936"/>
            <a:ext cx="726217" cy="729671"/>
          </a:xfrm>
          <a:prstGeom prst="rect">
            <a:avLst/>
          </a:prstGeom>
          <a:solidFill>
            <a:srgbClr val="FFFF00">
              <a:alpha val="50196"/>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42" name="TextBox 41"/>
              <p:cNvSpPr txBox="1"/>
              <p:nvPr/>
            </p:nvSpPr>
            <p:spPr>
              <a:xfrm>
                <a:off x="4221594" y="1444848"/>
                <a:ext cx="482119" cy="593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US" sz="1600" b="1" i="1" smtClean="0">
                                  <a:latin typeface="Cambria Math" charset="0"/>
                                </a:rPr>
                                <m:t>𝒃</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oMath>
                  </m:oMathPara>
                </a14:m>
                <a:endParaRPr lang="en-IN" sz="1600" dirty="0"/>
              </a:p>
            </p:txBody>
          </p:sp>
        </mc:Choice>
        <mc:Fallback xmlns="">
          <p:sp>
            <p:nvSpPr>
              <p:cNvPr id="42" name="TextBox 41"/>
              <p:cNvSpPr txBox="1">
                <a:spLocks noRot="1" noChangeAspect="1" noMove="1" noResize="1" noEditPoints="1" noAdjustHandles="1" noChangeArrowheads="1" noChangeShapeType="1" noTextEdit="1"/>
              </p:cNvSpPr>
              <p:nvPr/>
            </p:nvSpPr>
            <p:spPr>
              <a:xfrm>
                <a:off x="4221594" y="1444848"/>
                <a:ext cx="482119" cy="593496"/>
              </a:xfrm>
              <a:prstGeom prst="rect">
                <a:avLst/>
              </a:prstGeom>
              <a:blipFill rotWithShape="0">
                <a:blip r:embed="rId12"/>
                <a:stretch>
                  <a:fillRect b="-10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8389858" y="4226820"/>
                <a:ext cx="1373518" cy="6858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IN" sz="1600" b="1" i="1" smtClean="0">
                                  <a:latin typeface="Cambria Math" panose="02040503050406030204" pitchFamily="18" charset="0"/>
                                </a:rPr>
                                <m:t>𝒃</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r>
                        <a:rPr lang="en-IN" sz="1600" b="0" i="1" smtClean="0">
                          <a:latin typeface="Cambria Math" panose="02040503050406030204" pitchFamily="18" charset="0"/>
                        </a:rPr>
                        <m:t>=</m:t>
                      </m:r>
                      <m:f>
                        <m:fPr>
                          <m:ctrlPr>
                            <a:rPr lang="en-IN" sz="1600" i="1">
                              <a:latin typeface="Cambria Math" panose="02040503050406030204" pitchFamily="18" charset="0"/>
                            </a:rPr>
                          </m:ctrlPr>
                        </m:fPr>
                        <m:num>
                          <m:r>
                            <a:rPr lang="en-IN" sz="1600" i="1">
                              <a:latin typeface="Cambria Math" panose="02040503050406030204" pitchFamily="18" charset="0"/>
                            </a:rPr>
                            <m:t>𝜕</m:t>
                          </m:r>
                          <m:r>
                            <a:rPr lang="en-IN" sz="1600" i="1">
                              <a:latin typeface="Cambria Math" panose="02040503050406030204" pitchFamily="18" charset="0"/>
                            </a:rPr>
                            <m:t>𝐽</m:t>
                          </m:r>
                        </m:num>
                        <m:den>
                          <m:r>
                            <a:rPr lang="en-IN" sz="1600" i="1">
                              <a:latin typeface="Cambria Math" panose="02040503050406030204" pitchFamily="18" charset="0"/>
                            </a:rPr>
                            <m:t>𝜕</m:t>
                          </m:r>
                          <m:sSubSup>
                            <m:sSubSupPr>
                              <m:ctrlPr>
                                <a:rPr lang="en-IN" sz="1600" i="1">
                                  <a:latin typeface="Cambria Math" panose="02040503050406030204" pitchFamily="18" charset="0"/>
                                </a:rPr>
                              </m:ctrlPr>
                            </m:sSubSupPr>
                            <m:e>
                              <m:r>
                                <a:rPr lang="en-IN" sz="1600" b="1" i="1">
                                  <a:latin typeface="Cambria Math" panose="02040503050406030204" pitchFamily="18" charset="0"/>
                                </a:rPr>
                                <m:t>𝒂</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oMath>
                  </m:oMathPara>
                </a14:m>
                <a:endParaRPr lang="en-IN" sz="1600" dirty="0"/>
              </a:p>
            </p:txBody>
          </p:sp>
        </mc:Choice>
        <mc:Fallback xmlns="">
          <p:sp>
            <p:nvSpPr>
              <p:cNvPr id="43" name="Rectangle 42"/>
              <p:cNvSpPr>
                <a:spLocks noRot="1" noChangeAspect="1" noMove="1" noResize="1" noEditPoints="1" noAdjustHandles="1" noChangeArrowheads="1" noChangeShapeType="1" noTextEdit="1"/>
              </p:cNvSpPr>
              <p:nvPr/>
            </p:nvSpPr>
            <p:spPr>
              <a:xfrm>
                <a:off x="8389858" y="4226820"/>
                <a:ext cx="1373518" cy="685829"/>
              </a:xfrm>
              <a:prstGeom prst="rect">
                <a:avLst/>
              </a:prstGeom>
              <a:blipFill rotWithShape="0">
                <a:blip r:embed="rId13"/>
                <a:stretch>
                  <a:fillRect/>
                </a:stretch>
              </a:blipFill>
            </p:spPr>
            <p:txBody>
              <a:bodyPr/>
              <a:lstStyle/>
              <a:p>
                <a:r>
                  <a:rPr lang="en-IN">
                    <a:noFill/>
                  </a:rPr>
                  <a:t> </a:t>
                </a:r>
              </a:p>
            </p:txBody>
          </p:sp>
        </mc:Fallback>
      </mc:AlternateContent>
      <p:cxnSp>
        <p:nvCxnSpPr>
          <p:cNvPr id="44" name="Straight Connector 43"/>
          <p:cNvCxnSpPr/>
          <p:nvPr/>
        </p:nvCxnSpPr>
        <p:spPr>
          <a:xfrm flipH="1">
            <a:off x="3942560" y="5925966"/>
            <a:ext cx="673062" cy="2803"/>
          </a:xfrm>
          <a:prstGeom prst="line">
            <a:avLst/>
          </a:prstGeom>
          <a:ln w="28575"/>
        </p:spPr>
        <p:style>
          <a:lnRef idx="1">
            <a:schemeClr val="dk1"/>
          </a:lnRef>
          <a:fillRef idx="0">
            <a:schemeClr val="dk1"/>
          </a:fillRef>
          <a:effectRef idx="0">
            <a:schemeClr val="dk1"/>
          </a:effectRef>
          <a:fontRef idx="minor">
            <a:schemeClr val="tx1"/>
          </a:fontRef>
        </p:style>
      </p:cxnSp>
      <p:cxnSp>
        <p:nvCxnSpPr>
          <p:cNvPr id="45" name="Straight Connector 44"/>
          <p:cNvCxnSpPr>
            <a:endCxn id="41" idx="2"/>
          </p:cNvCxnSpPr>
          <p:nvPr/>
        </p:nvCxnSpPr>
        <p:spPr>
          <a:xfrm flipV="1">
            <a:off x="4450814" y="2080607"/>
            <a:ext cx="13441" cy="3857485"/>
          </a:xfrm>
          <a:prstGeom prst="line">
            <a:avLst/>
          </a:prstGeom>
          <a:ln w="28575"/>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11240365" y="4334355"/>
            <a:ext cx="601447" cy="338554"/>
          </a:xfrm>
          <a:prstGeom prst="rect">
            <a:avLst/>
          </a:prstGeom>
          <a:noFill/>
        </p:spPr>
        <p:txBody>
          <a:bodyPr wrap="none" rtlCol="0">
            <a:spAutoFit/>
          </a:bodyPr>
          <a:lstStyle/>
          <a:p>
            <a:r>
              <a:rPr lang="en-IN" sz="1600" dirty="0"/>
              <a:t>… (2)</a:t>
            </a:r>
          </a:p>
        </p:txBody>
      </p:sp>
      <mc:AlternateContent xmlns:mc="http://schemas.openxmlformats.org/markup-compatibility/2006" xmlns:a14="http://schemas.microsoft.com/office/drawing/2010/main">
        <mc:Choice Requires="a14">
          <p:sp>
            <p:nvSpPr>
              <p:cNvPr id="53" name="TextBox 52"/>
              <p:cNvSpPr txBox="1"/>
              <p:nvPr/>
            </p:nvSpPr>
            <p:spPr>
              <a:xfrm>
                <a:off x="7331597" y="2833253"/>
                <a:ext cx="413318" cy="349070"/>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Sup>
                        <m:sSubSupPr>
                          <m:ctrlPr>
                            <a:rPr lang="en-IN" i="1" dirty="0" smtClean="0">
                              <a:latin typeface="Cambria Math" panose="02040503050406030204" pitchFamily="18" charset="0"/>
                            </a:rPr>
                          </m:ctrlPr>
                        </m:sSubSupPr>
                        <m:e>
                          <m:r>
                            <a:rPr lang="en-US" b="1" i="1" dirty="0">
                              <a:latin typeface="Cambria Math" panose="02040503050406030204" pitchFamily="18" charset="0"/>
                            </a:rPr>
                            <m:t>𝒉</m:t>
                          </m:r>
                        </m:e>
                        <m:sub>
                          <m:r>
                            <a:rPr lang="en-US" b="0" i="1" dirty="0" smtClean="0">
                              <a:latin typeface="Cambria Math" panose="02040503050406030204" pitchFamily="18" charset="0"/>
                            </a:rPr>
                            <m:t>𝑖</m:t>
                          </m:r>
                        </m:sub>
                        <m:sup>
                          <m:d>
                            <m:dPr>
                              <m:ctrlPr>
                                <a:rPr lang="en-US" i="1" dirty="0">
                                  <a:latin typeface="Cambria Math" panose="02040503050406030204" pitchFamily="18" charset="0"/>
                                </a:rPr>
                              </m:ctrlPr>
                            </m:dPr>
                            <m:e>
                              <m:r>
                                <a:rPr lang="en-US" i="1" dirty="0">
                                  <a:latin typeface="Cambria Math" panose="02040503050406030204" pitchFamily="18" charset="0"/>
                                </a:rPr>
                                <m:t>𝑙</m:t>
                              </m:r>
                            </m:e>
                          </m:d>
                        </m:sup>
                      </m:sSubSup>
                    </m:oMath>
                  </m:oMathPara>
                </a14:m>
                <a:endParaRPr lang="en-IN" dirty="0">
                  <a:solidFill>
                    <a:schemeClr val="tx1"/>
                  </a:solidFill>
                </a:endParaRPr>
              </a:p>
            </p:txBody>
          </p:sp>
        </mc:Choice>
        <mc:Fallback xmlns="">
          <p:sp>
            <p:nvSpPr>
              <p:cNvPr id="53" name="TextBox 52"/>
              <p:cNvSpPr txBox="1">
                <a:spLocks noRot="1" noChangeAspect="1" noMove="1" noResize="1" noEditPoints="1" noAdjustHandles="1" noChangeArrowheads="1" noChangeShapeType="1" noTextEdit="1"/>
              </p:cNvSpPr>
              <p:nvPr/>
            </p:nvSpPr>
            <p:spPr>
              <a:xfrm>
                <a:off x="7331597" y="2833253"/>
                <a:ext cx="413318" cy="349070"/>
              </a:xfrm>
              <a:prstGeom prst="rect">
                <a:avLst/>
              </a:prstGeom>
              <a:blipFill>
                <a:blip r:embed="rId12"/>
                <a:stretch>
                  <a:fillRect l="-21212" b="-21429"/>
                </a:stretch>
              </a:blipFill>
            </p:spPr>
            <p:txBody>
              <a:bodyPr/>
              <a:lstStyle/>
              <a:p>
                <a:r>
                  <a:rPr lang="en-US">
                    <a:noFill/>
                  </a:rPr>
                  <a:t> </a:t>
                </a:r>
              </a:p>
            </p:txBody>
          </p:sp>
        </mc:Fallback>
      </mc:AlternateContent>
      <p:sp>
        <p:nvSpPr>
          <p:cNvPr id="54" name="Rectangle 53"/>
          <p:cNvSpPr/>
          <p:nvPr/>
        </p:nvSpPr>
        <p:spPr>
          <a:xfrm>
            <a:off x="1902157" y="1363726"/>
            <a:ext cx="595401" cy="694848"/>
          </a:xfrm>
          <a:prstGeom prst="rect">
            <a:avLst/>
          </a:prstGeom>
          <a:no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sp>
        <p:nvSpPr>
          <p:cNvPr id="55" name="Rectangle 54"/>
          <p:cNvSpPr/>
          <p:nvPr/>
        </p:nvSpPr>
        <p:spPr>
          <a:xfrm>
            <a:off x="3580043" y="1393248"/>
            <a:ext cx="319605" cy="687359"/>
          </a:xfrm>
          <a:prstGeom prst="rect">
            <a:avLst/>
          </a:prstGeom>
          <a:no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56" name="Rectangle 55"/>
              <p:cNvSpPr/>
              <p:nvPr/>
            </p:nvSpPr>
            <p:spPr>
              <a:xfrm>
                <a:off x="1839039" y="1683743"/>
                <a:ext cx="739753" cy="4131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i="1" smtClean="0">
                              <a:latin typeface="Cambria Math" panose="02040503050406030204" pitchFamily="18" charset="0"/>
                            </a:rPr>
                          </m:ctrlPr>
                        </m:dPr>
                        <m:e>
                          <m:sSubSup>
                            <m:sSubSupPr>
                              <m:ctrlPr>
                                <a:rPr lang="en-US" sz="1400" i="1">
                                  <a:latin typeface="Cambria Math" panose="02040503050406030204" pitchFamily="18" charset="0"/>
                                </a:rPr>
                              </m:ctrlPr>
                            </m:sSubSupPr>
                            <m:e>
                              <m:r>
                                <a:rPr lang="en-IN" sz="1400" b="1" i="1">
                                  <a:latin typeface="Cambria Math" panose="02040503050406030204" pitchFamily="18" charset="0"/>
                                </a:rPr>
                                <m:t>𝑾</m:t>
                              </m:r>
                            </m:e>
                            <m:sub>
                              <m:r>
                                <a:rPr lang="en-IN" sz="1400" i="1">
                                  <a:latin typeface="Cambria Math" panose="02040503050406030204" pitchFamily="18" charset="0"/>
                                </a:rPr>
                                <m:t>𝑖</m:t>
                              </m:r>
                              <m:r>
                                <a:rPr lang="en-IN" sz="1400" i="1">
                                  <a:latin typeface="Cambria Math" panose="02040503050406030204" pitchFamily="18" charset="0"/>
                                </a:rPr>
                                <m:t>,</m:t>
                              </m:r>
                              <m:r>
                                <a:rPr lang="en-IN" sz="1400" i="1">
                                  <a:latin typeface="Cambria Math" panose="02040503050406030204" pitchFamily="18" charset="0"/>
                                </a:rPr>
                                <m:t>𝑗</m:t>
                              </m:r>
                            </m:sub>
                            <m:sup>
                              <m:r>
                                <a:rPr lang="en-IN" sz="1400" i="1">
                                  <a:latin typeface="Cambria Math" panose="02040503050406030204" pitchFamily="18" charset="0"/>
                                </a:rPr>
                                <m:t>(</m:t>
                              </m:r>
                              <m:r>
                                <a:rPr lang="en-IN" sz="1400" i="1">
                                  <a:latin typeface="Cambria Math" panose="02040503050406030204" pitchFamily="18" charset="0"/>
                                </a:rPr>
                                <m:t>𝑙</m:t>
                              </m:r>
                              <m:r>
                                <a:rPr lang="en-IN" sz="1400" i="1">
                                  <a:latin typeface="Cambria Math" panose="02040503050406030204" pitchFamily="18" charset="0"/>
                                </a:rPr>
                                <m:t>)</m:t>
                              </m:r>
                            </m:sup>
                          </m:sSubSup>
                          <m:r>
                            <m:rPr>
                              <m:nor/>
                            </m:rPr>
                            <a:rPr lang="en-IN" sz="1400" dirty="0"/>
                            <m:t> </m:t>
                          </m:r>
                        </m:e>
                      </m:d>
                    </m:oMath>
                  </m:oMathPara>
                </a14:m>
                <a:endParaRPr lang="en-IN" sz="1400" dirty="0"/>
              </a:p>
            </p:txBody>
          </p:sp>
        </mc:Choice>
        <mc:Fallback xmlns="">
          <p:sp>
            <p:nvSpPr>
              <p:cNvPr id="56" name="Rectangle 55"/>
              <p:cNvSpPr>
                <a:spLocks noRot="1" noChangeAspect="1" noMove="1" noResize="1" noEditPoints="1" noAdjustHandles="1" noChangeArrowheads="1" noChangeShapeType="1" noTextEdit="1"/>
              </p:cNvSpPr>
              <p:nvPr/>
            </p:nvSpPr>
            <p:spPr>
              <a:xfrm>
                <a:off x="1839039" y="1683743"/>
                <a:ext cx="739753" cy="413190"/>
              </a:xfrm>
              <a:prstGeom prst="rect">
                <a:avLst/>
              </a:prstGeom>
              <a:blipFill rotWithShape="0">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Rectangle 56"/>
              <p:cNvSpPr/>
              <p:nvPr/>
            </p:nvSpPr>
            <p:spPr>
              <a:xfrm>
                <a:off x="1826327" y="1319907"/>
                <a:ext cx="782073" cy="4131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i="1" smtClean="0">
                              <a:latin typeface="Cambria Math" panose="02040503050406030204" pitchFamily="18" charset="0"/>
                            </a:rPr>
                          </m:ctrlPr>
                        </m:dPr>
                        <m:e>
                          <m:sSubSup>
                            <m:sSubSupPr>
                              <m:ctrlPr>
                                <a:rPr lang="en-US" sz="1400" i="1">
                                  <a:latin typeface="Cambria Math" panose="02040503050406030204" pitchFamily="18" charset="0"/>
                                </a:rPr>
                              </m:ctrlPr>
                            </m:sSubSupPr>
                            <m:e>
                              <m:r>
                                <a:rPr lang="en-IN" sz="1400" b="1" i="1">
                                  <a:latin typeface="Cambria Math" panose="02040503050406030204" pitchFamily="18" charset="0"/>
                                </a:rPr>
                                <m:t>𝑾</m:t>
                              </m:r>
                            </m:e>
                            <m:sub>
                              <m:r>
                                <a:rPr lang="en-IN" sz="1400" b="0" i="1" smtClean="0">
                                  <a:latin typeface="Cambria Math" panose="02040503050406030204" pitchFamily="18" charset="0"/>
                                </a:rPr>
                                <m:t>𝑚</m:t>
                              </m:r>
                              <m:r>
                                <a:rPr lang="en-IN" sz="1400" i="1">
                                  <a:latin typeface="Cambria Math" panose="02040503050406030204" pitchFamily="18" charset="0"/>
                                </a:rPr>
                                <m:t>,</m:t>
                              </m:r>
                              <m:r>
                                <a:rPr lang="en-IN" sz="1400" b="0" i="1" smtClean="0">
                                  <a:latin typeface="Cambria Math" panose="02040503050406030204" pitchFamily="18" charset="0"/>
                                </a:rPr>
                                <m:t>𝑖</m:t>
                              </m:r>
                            </m:sub>
                            <m:sup>
                              <m:r>
                                <a:rPr lang="en-IN" sz="1400" i="1">
                                  <a:latin typeface="Cambria Math" panose="02040503050406030204" pitchFamily="18" charset="0"/>
                                </a:rPr>
                                <m:t>(</m:t>
                              </m:r>
                              <m:r>
                                <a:rPr lang="en-IN" sz="1400" i="1">
                                  <a:latin typeface="Cambria Math" panose="02040503050406030204" pitchFamily="18" charset="0"/>
                                </a:rPr>
                                <m:t>𝑙</m:t>
                              </m:r>
                              <m:r>
                                <a:rPr lang="en-IN" sz="1400" i="1">
                                  <a:latin typeface="Cambria Math" panose="02040503050406030204" pitchFamily="18" charset="0"/>
                                </a:rPr>
                                <m:t>)</m:t>
                              </m:r>
                            </m:sup>
                          </m:sSubSup>
                          <m:r>
                            <m:rPr>
                              <m:nor/>
                            </m:rPr>
                            <a:rPr lang="en-IN" sz="1400" dirty="0"/>
                            <m:t> </m:t>
                          </m:r>
                        </m:e>
                      </m:d>
                    </m:oMath>
                  </m:oMathPara>
                </a14:m>
                <a:endParaRPr lang="en-IN" sz="1400" dirty="0"/>
              </a:p>
            </p:txBody>
          </p:sp>
        </mc:Choice>
        <mc:Fallback xmlns="">
          <p:sp>
            <p:nvSpPr>
              <p:cNvPr id="57" name="Rectangle 56"/>
              <p:cNvSpPr>
                <a:spLocks noRot="1" noChangeAspect="1" noMove="1" noResize="1" noEditPoints="1" noAdjustHandles="1" noChangeArrowheads="1" noChangeShapeType="1" noTextEdit="1"/>
              </p:cNvSpPr>
              <p:nvPr/>
            </p:nvSpPr>
            <p:spPr>
              <a:xfrm>
                <a:off x="1826327" y="1319907"/>
                <a:ext cx="782073" cy="413190"/>
              </a:xfrm>
              <a:prstGeom prst="rect">
                <a:avLst/>
              </a:prstGeom>
              <a:blipFill rotWithShape="0">
                <a:blip r:embed="rId16"/>
                <a:stretch>
                  <a:fillRect/>
                </a:stretch>
              </a:blipFill>
            </p:spPr>
            <p:txBody>
              <a:bodyPr/>
              <a:lstStyle/>
              <a:p>
                <a:r>
                  <a:rPr lang="en-IN">
                    <a:noFill/>
                  </a:rPr>
                  <a:t> </a:t>
                </a:r>
              </a:p>
            </p:txBody>
          </p:sp>
        </mc:Fallback>
      </mc:AlternateContent>
      <p:cxnSp>
        <p:nvCxnSpPr>
          <p:cNvPr id="58" name="Straight Connector 57"/>
          <p:cNvCxnSpPr>
            <a:stCxn id="54" idx="1"/>
            <a:endCxn id="54" idx="3"/>
          </p:cNvCxnSpPr>
          <p:nvPr/>
        </p:nvCxnSpPr>
        <p:spPr>
          <a:xfrm>
            <a:off x="1902157" y="1711150"/>
            <a:ext cx="595401" cy="0"/>
          </a:xfrm>
          <a:prstGeom prst="line">
            <a:avLst/>
          </a:prstGeom>
        </p:spPr>
        <p:style>
          <a:lnRef idx="1">
            <a:schemeClr val="dk1"/>
          </a:lnRef>
          <a:fillRef idx="0">
            <a:schemeClr val="dk1"/>
          </a:fillRef>
          <a:effectRef idx="0">
            <a:schemeClr val="dk1"/>
          </a:effectRef>
          <a:fontRef idx="minor">
            <a:schemeClr val="tx1"/>
          </a:fontRef>
        </p:style>
      </p:cxnSp>
      <p:cxnSp>
        <p:nvCxnSpPr>
          <p:cNvPr id="59" name="Straight Connector 58"/>
          <p:cNvCxnSpPr/>
          <p:nvPr/>
        </p:nvCxnSpPr>
        <p:spPr>
          <a:xfrm flipH="1">
            <a:off x="2207838" y="2050719"/>
            <a:ext cx="1077" cy="468000"/>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0" name="Rectangle 59"/>
              <p:cNvSpPr/>
              <p:nvPr/>
            </p:nvSpPr>
            <p:spPr>
              <a:xfrm>
                <a:off x="3477225" y="1542214"/>
                <a:ext cx="547778" cy="4057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IN" sz="1600" i="1" smtClean="0">
                              <a:latin typeface="Cambria Math" panose="02040503050406030204" pitchFamily="18" charset="0"/>
                            </a:rPr>
                          </m:ctrlPr>
                        </m:sSubSupPr>
                        <m:e>
                          <m:r>
                            <a:rPr lang="en-IN" sz="1600" b="1" i="1" smtClean="0">
                              <a:latin typeface="Cambria Math" panose="02040503050406030204" pitchFamily="18" charset="0"/>
                            </a:rPr>
                            <m:t>𝒃</m:t>
                          </m:r>
                        </m:e>
                        <m:sub>
                          <m:r>
                            <a:rPr lang="en-IN" sz="1600" b="0" i="1" smtClean="0">
                              <a:latin typeface="Cambria Math" panose="02040503050406030204" pitchFamily="18" charset="0"/>
                            </a:rPr>
                            <m:t>𝑖</m:t>
                          </m:r>
                        </m:sub>
                        <m:sup>
                          <m:r>
                            <a:rPr lang="en-IN" sz="1600" b="0" i="1" smtClean="0">
                              <a:latin typeface="Cambria Math" panose="02040503050406030204" pitchFamily="18" charset="0"/>
                            </a:rPr>
                            <m:t>(</m:t>
                          </m:r>
                          <m:r>
                            <a:rPr lang="en-IN" sz="1600" b="0" i="1" smtClean="0">
                              <a:latin typeface="Cambria Math" panose="02040503050406030204" pitchFamily="18" charset="0"/>
                            </a:rPr>
                            <m:t>𝑙</m:t>
                          </m:r>
                          <m:r>
                            <a:rPr lang="en-IN" sz="1600" b="0" i="1" smtClean="0">
                              <a:latin typeface="Cambria Math" panose="02040503050406030204" pitchFamily="18" charset="0"/>
                            </a:rPr>
                            <m:t>)</m:t>
                          </m:r>
                        </m:sup>
                      </m:sSubSup>
                    </m:oMath>
                  </m:oMathPara>
                </a14:m>
                <a:endParaRPr lang="en-IN" sz="1600" dirty="0"/>
              </a:p>
            </p:txBody>
          </p:sp>
        </mc:Choice>
        <mc:Fallback xmlns="">
          <p:sp>
            <p:nvSpPr>
              <p:cNvPr id="60" name="Rectangle 59"/>
              <p:cNvSpPr>
                <a:spLocks noRot="1" noChangeAspect="1" noMove="1" noResize="1" noEditPoints="1" noAdjustHandles="1" noChangeArrowheads="1" noChangeShapeType="1" noTextEdit="1"/>
              </p:cNvSpPr>
              <p:nvPr/>
            </p:nvSpPr>
            <p:spPr>
              <a:xfrm>
                <a:off x="3477225" y="1542214"/>
                <a:ext cx="547778" cy="405752"/>
              </a:xfrm>
              <a:prstGeom prst="rect">
                <a:avLst/>
              </a:prstGeom>
              <a:blipFill rotWithShape="0">
                <a:blip r:embed="rId17"/>
                <a:stretch>
                  <a:fillRect/>
                </a:stretch>
              </a:blipFill>
            </p:spPr>
            <p:txBody>
              <a:bodyPr/>
              <a:lstStyle/>
              <a:p>
                <a:r>
                  <a:rPr lang="en-IN">
                    <a:noFill/>
                  </a:rPr>
                  <a:t> </a:t>
                </a:r>
              </a:p>
            </p:txBody>
          </p:sp>
        </mc:Fallback>
      </mc:AlternateContent>
      <p:cxnSp>
        <p:nvCxnSpPr>
          <p:cNvPr id="61" name="Straight Connector 60"/>
          <p:cNvCxnSpPr/>
          <p:nvPr/>
        </p:nvCxnSpPr>
        <p:spPr>
          <a:xfrm flipH="1">
            <a:off x="3747741" y="2078052"/>
            <a:ext cx="1077" cy="468000"/>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9" name="TextBox 78"/>
              <p:cNvSpPr txBox="1"/>
              <p:nvPr/>
            </p:nvSpPr>
            <p:spPr>
              <a:xfrm>
                <a:off x="860017" y="2864203"/>
                <a:ext cx="632930" cy="38036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Sup>
                        <m:sSubSupPr>
                          <m:ctrlPr>
                            <a:rPr lang="en-IN" i="1" dirty="0">
                              <a:latin typeface="Cambria Math" panose="02040503050406030204" pitchFamily="18" charset="0"/>
                            </a:rPr>
                          </m:ctrlPr>
                        </m:sSubSupPr>
                        <m:e>
                          <m:r>
                            <a:rPr lang="en-US" b="1" i="1" dirty="0">
                              <a:latin typeface="Cambria Math" panose="02040503050406030204" pitchFamily="18" charset="0"/>
                            </a:rPr>
                            <m:t>𝒉</m:t>
                          </m:r>
                        </m:e>
                        <m:sub>
                          <m:r>
                            <a:rPr lang="en-US" i="1" dirty="0">
                              <a:latin typeface="Cambria Math" panose="02040503050406030204" pitchFamily="18" charset="0"/>
                            </a:rPr>
                            <m:t>𝑗</m:t>
                          </m:r>
                        </m:sub>
                        <m:sup>
                          <m:d>
                            <m:dPr>
                              <m:ctrlPr>
                                <a:rPr lang="en-US" i="1" dirty="0">
                                  <a:latin typeface="Cambria Math" panose="02040503050406030204" pitchFamily="18" charset="0"/>
                                </a:rPr>
                              </m:ctrlPr>
                            </m:dPr>
                            <m:e>
                              <m:r>
                                <a:rPr lang="en-US" i="1" dirty="0">
                                  <a:latin typeface="Cambria Math" panose="02040503050406030204" pitchFamily="18" charset="0"/>
                                </a:rPr>
                                <m:t>𝑙</m:t>
                              </m:r>
                              <m:r>
                                <a:rPr lang="en-US" i="1" dirty="0">
                                  <a:latin typeface="Cambria Math" panose="02040503050406030204" pitchFamily="18" charset="0"/>
                                </a:rPr>
                                <m:t>−1</m:t>
                              </m:r>
                            </m:e>
                          </m:d>
                        </m:sup>
                      </m:sSubSup>
                    </m:oMath>
                  </m:oMathPara>
                </a14:m>
                <a:endParaRPr lang="en-IN" dirty="0">
                  <a:solidFill>
                    <a:schemeClr val="tx1"/>
                  </a:solidFill>
                </a:endParaRPr>
              </a:p>
            </p:txBody>
          </p:sp>
        </mc:Choice>
        <mc:Fallback xmlns="">
          <p:sp>
            <p:nvSpPr>
              <p:cNvPr id="79" name="TextBox 78"/>
              <p:cNvSpPr txBox="1">
                <a:spLocks noRot="1" noChangeAspect="1" noMove="1" noResize="1" noEditPoints="1" noAdjustHandles="1" noChangeArrowheads="1" noChangeShapeType="1" noTextEdit="1"/>
              </p:cNvSpPr>
              <p:nvPr/>
            </p:nvSpPr>
            <p:spPr>
              <a:xfrm>
                <a:off x="860017" y="2864203"/>
                <a:ext cx="632930" cy="380361"/>
              </a:xfrm>
              <a:prstGeom prst="rect">
                <a:avLst/>
              </a:prstGeom>
              <a:blipFill rotWithShape="0">
                <a:blip r:embed="rId18"/>
                <a:stretch>
                  <a:fillRect l="-13462" b="-20968"/>
                </a:stretch>
              </a:blipFill>
            </p:spPr>
            <p:txBody>
              <a:bodyPr/>
              <a:lstStyle/>
              <a:p>
                <a:r>
                  <a:rPr lang="en-IN">
                    <a:noFill/>
                  </a:rPr>
                  <a:t> </a:t>
                </a:r>
              </a:p>
            </p:txBody>
          </p:sp>
        </mc:Fallback>
      </mc:AlternateContent>
    </p:spTree>
    <p:extLst>
      <p:ext uri="{BB962C8B-B14F-4D97-AF65-F5344CB8AC3E}">
        <p14:creationId xmlns:p14="http://schemas.microsoft.com/office/powerpoint/2010/main" val="37521395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1861073" y="832857"/>
            <a:ext cx="8509299"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err="1">
                <a:solidFill>
                  <a:srgbClr val="434343"/>
                </a:solidFill>
              </a:rPr>
              <a:t>Backpropagation</a:t>
            </a:r>
            <a:endParaRPr sz="2800" dirty="0">
              <a:solidFill>
                <a:srgbClr val="434343"/>
              </a:solidFill>
            </a:endParaRPr>
          </a:p>
        </p:txBody>
      </p:sp>
      <p:sp>
        <p:nvSpPr>
          <p:cNvPr id="3" name="Footer Placeholder 2"/>
          <p:cNvSpPr>
            <a:spLocks noGrp="1"/>
          </p:cNvSpPr>
          <p:nvPr>
            <p:ph type="ftr" sz="quarter" idx="3"/>
          </p:nvPr>
        </p:nvSpPr>
        <p:spPr>
          <a:xfrm>
            <a:off x="2199486" y="6356350"/>
            <a:ext cx="8167606" cy="365125"/>
          </a:xfrm>
        </p:spPr>
        <p:txBody>
          <a:bodyPr/>
          <a:lstStyle/>
          <a:p>
            <a:r>
              <a:rPr lang="en-US"/>
              <a:t>CS21206 / FAIML | Perceptron and MLP (c) Abir Das, Ayan Chaudhury</a:t>
            </a:r>
          </a:p>
        </p:txBody>
      </p:sp>
      <p:sp>
        <p:nvSpPr>
          <p:cNvPr id="21" name="Slide Number Placeholder 20"/>
          <p:cNvSpPr>
            <a:spLocks noGrp="1"/>
          </p:cNvSpPr>
          <p:nvPr>
            <p:ph type="sldNum" sz="quarter" idx="4"/>
          </p:nvPr>
        </p:nvSpPr>
        <p:spPr>
          <a:xfrm>
            <a:off x="10757133" y="6356350"/>
            <a:ext cx="783956" cy="365125"/>
          </a:xfrm>
        </p:spPr>
        <p:txBody>
          <a:bodyPr/>
          <a:lstStyle/>
          <a:p>
            <a:fld id="{683B8651-0143-4140-839E-3D36292080E8}" type="slidenum">
              <a:rPr lang="en-US" smtClean="0"/>
              <a:t>34</a:t>
            </a:fld>
            <a:endParaRPr lang="en-US"/>
          </a:p>
        </p:txBody>
      </p:sp>
      <p:sp>
        <p:nvSpPr>
          <p:cNvPr id="62" name="Rectangle 61"/>
          <p:cNvSpPr/>
          <p:nvPr/>
        </p:nvSpPr>
        <p:spPr>
          <a:xfrm>
            <a:off x="804453" y="2522167"/>
            <a:ext cx="727824"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63" name="TextBox 62"/>
              <p:cNvSpPr txBox="1"/>
              <p:nvPr/>
            </p:nvSpPr>
            <p:spPr>
              <a:xfrm>
                <a:off x="860017" y="2864203"/>
                <a:ext cx="632930" cy="38036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Sup>
                        <m:sSubSupPr>
                          <m:ctrlPr>
                            <a:rPr lang="en-IN" i="1" dirty="0">
                              <a:latin typeface="Cambria Math" panose="02040503050406030204" pitchFamily="18" charset="0"/>
                            </a:rPr>
                          </m:ctrlPr>
                        </m:sSubSupPr>
                        <m:e>
                          <m:r>
                            <a:rPr lang="en-US" b="1" i="1" dirty="0">
                              <a:latin typeface="Cambria Math" panose="02040503050406030204" pitchFamily="18" charset="0"/>
                            </a:rPr>
                            <m:t>𝒉</m:t>
                          </m:r>
                        </m:e>
                        <m:sub>
                          <m:r>
                            <a:rPr lang="en-US" i="1" dirty="0">
                              <a:latin typeface="Cambria Math" panose="02040503050406030204" pitchFamily="18" charset="0"/>
                            </a:rPr>
                            <m:t>𝑗</m:t>
                          </m:r>
                        </m:sub>
                        <m:sup>
                          <m:d>
                            <m:dPr>
                              <m:ctrlPr>
                                <a:rPr lang="en-US" i="1" dirty="0">
                                  <a:latin typeface="Cambria Math" panose="02040503050406030204" pitchFamily="18" charset="0"/>
                                </a:rPr>
                              </m:ctrlPr>
                            </m:dPr>
                            <m:e>
                              <m:r>
                                <a:rPr lang="en-US" i="1" dirty="0">
                                  <a:latin typeface="Cambria Math" panose="02040503050406030204" pitchFamily="18" charset="0"/>
                                </a:rPr>
                                <m:t>𝑙</m:t>
                              </m:r>
                              <m:r>
                                <a:rPr lang="en-US" i="1" dirty="0">
                                  <a:latin typeface="Cambria Math" panose="02040503050406030204" pitchFamily="18" charset="0"/>
                                </a:rPr>
                                <m:t>−1</m:t>
                              </m:r>
                            </m:e>
                          </m:d>
                        </m:sup>
                      </m:sSubSup>
                    </m:oMath>
                  </m:oMathPara>
                </a14:m>
                <a:endParaRPr lang="en-IN" dirty="0">
                  <a:solidFill>
                    <a:schemeClr val="tx1"/>
                  </a:solidFill>
                </a:endParaRPr>
              </a:p>
            </p:txBody>
          </p:sp>
        </mc:Choice>
        <mc:Fallback xmlns="">
          <p:sp>
            <p:nvSpPr>
              <p:cNvPr id="63" name="TextBox 62"/>
              <p:cNvSpPr txBox="1">
                <a:spLocks noRot="1" noChangeAspect="1" noMove="1" noResize="1" noEditPoints="1" noAdjustHandles="1" noChangeArrowheads="1" noChangeShapeType="1" noTextEdit="1"/>
              </p:cNvSpPr>
              <p:nvPr/>
            </p:nvSpPr>
            <p:spPr>
              <a:xfrm>
                <a:off x="860017" y="2864203"/>
                <a:ext cx="632930" cy="380361"/>
              </a:xfrm>
              <a:prstGeom prst="rect">
                <a:avLst/>
              </a:prstGeom>
              <a:blipFill rotWithShape="0">
                <a:blip r:embed="rId3"/>
                <a:stretch>
                  <a:fillRect l="-13462" b="-20968"/>
                </a:stretch>
              </a:blipFill>
            </p:spPr>
            <p:txBody>
              <a:bodyPr/>
              <a:lstStyle/>
              <a:p>
                <a:r>
                  <a:rPr lang="en-IN">
                    <a:noFill/>
                  </a:rPr>
                  <a:t> </a:t>
                </a:r>
              </a:p>
            </p:txBody>
          </p:sp>
        </mc:Fallback>
      </mc:AlternateContent>
      <p:cxnSp>
        <p:nvCxnSpPr>
          <p:cNvPr id="64" name="Straight Arrow Connector 63"/>
          <p:cNvCxnSpPr>
            <a:stCxn id="62" idx="3"/>
            <a:endCxn id="65" idx="1"/>
          </p:cNvCxnSpPr>
          <p:nvPr/>
        </p:nvCxnSpPr>
        <p:spPr>
          <a:xfrm>
            <a:off x="1532277" y="3023435"/>
            <a:ext cx="548076" cy="0"/>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65" name="Rectangle 64"/>
          <p:cNvSpPr/>
          <p:nvPr/>
        </p:nvSpPr>
        <p:spPr>
          <a:xfrm>
            <a:off x="2080353" y="2522167"/>
            <a:ext cx="319605" cy="1002535"/>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cxnSp>
        <p:nvCxnSpPr>
          <p:cNvPr id="66" name="Straight Arrow Connector 65"/>
          <p:cNvCxnSpPr/>
          <p:nvPr/>
        </p:nvCxnSpPr>
        <p:spPr>
          <a:xfrm>
            <a:off x="573690" y="3053926"/>
            <a:ext cx="222057" cy="0"/>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65" idx="3"/>
            <a:endCxn id="68" idx="1"/>
          </p:cNvCxnSpPr>
          <p:nvPr/>
        </p:nvCxnSpPr>
        <p:spPr>
          <a:xfrm>
            <a:off x="2399958" y="3023435"/>
            <a:ext cx="1180085" cy="7489"/>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68" name="Rectangle 67"/>
          <p:cNvSpPr/>
          <p:nvPr/>
        </p:nvSpPr>
        <p:spPr>
          <a:xfrm>
            <a:off x="3580043" y="2529656"/>
            <a:ext cx="319605" cy="1002535"/>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sp>
        <p:nvSpPr>
          <p:cNvPr id="69" name="Rectangle 68"/>
          <p:cNvSpPr/>
          <p:nvPr/>
        </p:nvSpPr>
        <p:spPr>
          <a:xfrm>
            <a:off x="4827363" y="2529656"/>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70" name="TextBox 69"/>
              <p:cNvSpPr txBox="1"/>
              <p:nvPr/>
            </p:nvSpPr>
            <p:spPr>
              <a:xfrm>
                <a:off x="4828970" y="2874834"/>
                <a:ext cx="411266" cy="3525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i="1" smtClean="0">
                              <a:latin typeface="Cambria Math" panose="02040503050406030204" pitchFamily="18" charset="0"/>
                            </a:rPr>
                          </m:ctrlPr>
                        </m:sSubSupPr>
                        <m:e>
                          <m:r>
                            <a:rPr lang="en-IN" b="1" i="1" smtClean="0">
                              <a:latin typeface="Cambria Math" panose="02040503050406030204" pitchFamily="18" charset="0"/>
                            </a:rPr>
                            <m:t>𝒂</m:t>
                          </m:r>
                        </m:e>
                        <m:sub>
                          <m:r>
                            <a:rPr lang="en-IN" b="0" i="1" smtClean="0">
                              <a:latin typeface="Cambria Math" panose="02040503050406030204" pitchFamily="18" charset="0"/>
                            </a:rPr>
                            <m:t>𝑖</m:t>
                          </m:r>
                        </m:sub>
                        <m:sup>
                          <m:r>
                            <a:rPr lang="en-IN" b="0" i="1" smtClean="0">
                              <a:latin typeface="Cambria Math" panose="02040503050406030204" pitchFamily="18" charset="0"/>
                            </a:rPr>
                            <m:t>(</m:t>
                          </m:r>
                          <m:r>
                            <a:rPr lang="en-IN" b="0" i="1" smtClean="0">
                              <a:latin typeface="Cambria Math" panose="02040503050406030204" pitchFamily="18" charset="0"/>
                            </a:rPr>
                            <m:t>𝑙</m:t>
                          </m:r>
                          <m:r>
                            <a:rPr lang="en-IN" b="0" i="1" smtClean="0">
                              <a:latin typeface="Cambria Math" panose="02040503050406030204" pitchFamily="18" charset="0"/>
                            </a:rPr>
                            <m:t>)</m:t>
                          </m:r>
                        </m:sup>
                      </m:sSubSup>
                    </m:oMath>
                  </m:oMathPara>
                </a14:m>
                <a:endParaRPr lang="en-IN" dirty="0"/>
              </a:p>
            </p:txBody>
          </p:sp>
        </mc:Choice>
        <mc:Fallback xmlns="">
          <p:sp>
            <p:nvSpPr>
              <p:cNvPr id="70" name="TextBox 69"/>
              <p:cNvSpPr txBox="1">
                <a:spLocks noRot="1" noChangeAspect="1" noMove="1" noResize="1" noEditPoints="1" noAdjustHandles="1" noChangeArrowheads="1" noChangeShapeType="1" noTextEdit="1"/>
              </p:cNvSpPr>
              <p:nvPr/>
            </p:nvSpPr>
            <p:spPr>
              <a:xfrm>
                <a:off x="4828970" y="2874834"/>
                <a:ext cx="411266" cy="352597"/>
              </a:xfrm>
              <a:prstGeom prst="rect">
                <a:avLst/>
              </a:prstGeom>
              <a:blipFill rotWithShape="0">
                <a:blip r:embed="rId4"/>
                <a:stretch>
                  <a:fillRect l="-7353" t="-3509" r="-11765" b="-19298"/>
                </a:stretch>
              </a:blipFill>
            </p:spPr>
            <p:txBody>
              <a:bodyPr/>
              <a:lstStyle/>
              <a:p>
                <a:r>
                  <a:rPr lang="en-IN">
                    <a:noFill/>
                  </a:rPr>
                  <a:t> </a:t>
                </a:r>
              </a:p>
            </p:txBody>
          </p:sp>
        </mc:Fallback>
      </mc:AlternateContent>
      <p:cxnSp>
        <p:nvCxnSpPr>
          <p:cNvPr id="71" name="Straight Arrow Connector 70"/>
          <p:cNvCxnSpPr>
            <a:stCxn id="68" idx="3"/>
            <a:endCxn id="69" idx="1"/>
          </p:cNvCxnSpPr>
          <p:nvPr/>
        </p:nvCxnSpPr>
        <p:spPr>
          <a:xfrm>
            <a:off x="3899648" y="3030924"/>
            <a:ext cx="927715" cy="0"/>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72" name="Rectangle 71"/>
          <p:cNvSpPr/>
          <p:nvPr/>
        </p:nvSpPr>
        <p:spPr>
          <a:xfrm>
            <a:off x="6022334" y="2529656"/>
            <a:ext cx="441547" cy="1002535"/>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73" name="TextBox 72"/>
              <p:cNvSpPr txBox="1"/>
              <p:nvPr/>
            </p:nvSpPr>
            <p:spPr>
              <a:xfrm>
                <a:off x="6006899" y="2888679"/>
                <a:ext cx="4768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r>
                        <a:rPr lang="en-US" b="0" i="1" smtClean="0">
                          <a:latin typeface="Cambria Math" panose="02040503050406030204" pitchFamily="18" charset="0"/>
                        </a:rPr>
                        <m:t>(.)</m:t>
                      </m:r>
                    </m:oMath>
                  </m:oMathPara>
                </a14:m>
                <a:endParaRPr lang="en-IN" dirty="0"/>
              </a:p>
            </p:txBody>
          </p:sp>
        </mc:Choice>
        <mc:Fallback xmlns="">
          <p:sp>
            <p:nvSpPr>
              <p:cNvPr id="73" name="TextBox 72"/>
              <p:cNvSpPr txBox="1">
                <a:spLocks noRot="1" noChangeAspect="1" noMove="1" noResize="1" noEditPoints="1" noAdjustHandles="1" noChangeArrowheads="1" noChangeShapeType="1" noTextEdit="1"/>
              </p:cNvSpPr>
              <p:nvPr/>
            </p:nvSpPr>
            <p:spPr>
              <a:xfrm>
                <a:off x="6006899" y="2888679"/>
                <a:ext cx="476862" cy="276999"/>
              </a:xfrm>
              <a:prstGeom prst="rect">
                <a:avLst/>
              </a:prstGeom>
              <a:blipFill rotWithShape="0">
                <a:blip r:embed="rId5"/>
                <a:stretch>
                  <a:fillRect l="-11392" t="-2222" r="-16456" b="-3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2148112" y="2890757"/>
                <a:ext cx="21800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74" name="TextBox 73"/>
              <p:cNvSpPr txBox="1">
                <a:spLocks noRot="1" noChangeAspect="1" noMove="1" noResize="1" noEditPoints="1" noAdjustHandles="1" noChangeArrowheads="1" noChangeShapeType="1" noTextEdit="1"/>
              </p:cNvSpPr>
              <p:nvPr/>
            </p:nvSpPr>
            <p:spPr>
              <a:xfrm>
                <a:off x="2148112" y="2890757"/>
                <a:ext cx="218008" cy="276999"/>
              </a:xfrm>
              <a:prstGeom prst="rect">
                <a:avLst/>
              </a:prstGeom>
              <a:blipFill rotWithShape="0">
                <a:blip r:embed="rId6"/>
                <a:stretch>
                  <a:fillRect l="-19444" r="-1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3632163" y="2892424"/>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75" name="TextBox 74"/>
              <p:cNvSpPr txBox="1">
                <a:spLocks noRot="1" noChangeAspect="1" noMove="1" noResize="1" noEditPoints="1" noAdjustHandles="1" noChangeArrowheads="1" noChangeShapeType="1" noTextEdit="1"/>
              </p:cNvSpPr>
              <p:nvPr/>
            </p:nvSpPr>
            <p:spPr>
              <a:xfrm>
                <a:off x="3632163" y="2892424"/>
                <a:ext cx="226024" cy="276999"/>
              </a:xfrm>
              <a:prstGeom prst="rect">
                <a:avLst/>
              </a:prstGeom>
              <a:blipFill rotWithShape="0">
                <a:blip r:embed="rId7"/>
                <a:stretch>
                  <a:fillRect l="-24324" r="-18919" b="-6522"/>
                </a:stretch>
              </a:blipFill>
            </p:spPr>
            <p:txBody>
              <a:bodyPr/>
              <a:lstStyle/>
              <a:p>
                <a:r>
                  <a:rPr lang="en-IN">
                    <a:noFill/>
                  </a:rPr>
                  <a:t> </a:t>
                </a:r>
              </a:p>
            </p:txBody>
          </p:sp>
        </mc:Fallback>
      </mc:AlternateContent>
      <p:cxnSp>
        <p:nvCxnSpPr>
          <p:cNvPr id="76" name="Straight Arrow Connector 75"/>
          <p:cNvCxnSpPr>
            <a:endCxn id="72" idx="1"/>
          </p:cNvCxnSpPr>
          <p:nvPr/>
        </p:nvCxnSpPr>
        <p:spPr>
          <a:xfrm>
            <a:off x="5212954" y="3023435"/>
            <a:ext cx="809380" cy="7489"/>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77" name="Rectangle 76"/>
          <p:cNvSpPr/>
          <p:nvPr/>
        </p:nvSpPr>
        <p:spPr>
          <a:xfrm>
            <a:off x="7147521" y="2529656"/>
            <a:ext cx="727824"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8" name="Straight Arrow Connector 77"/>
          <p:cNvCxnSpPr>
            <a:stCxn id="72" idx="3"/>
            <a:endCxn id="77" idx="1"/>
          </p:cNvCxnSpPr>
          <p:nvPr/>
        </p:nvCxnSpPr>
        <p:spPr>
          <a:xfrm>
            <a:off x="6463881" y="3030924"/>
            <a:ext cx="683640" cy="0"/>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7894376" y="3030924"/>
            <a:ext cx="222057" cy="0"/>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82" name="Rectangle 81"/>
          <p:cNvSpPr/>
          <p:nvPr/>
        </p:nvSpPr>
        <p:spPr>
          <a:xfrm>
            <a:off x="6022334" y="4103245"/>
            <a:ext cx="441547" cy="1002535"/>
          </a:xfrm>
          <a:prstGeom prst="rect">
            <a:avLst/>
          </a:prstGeom>
          <a:ln w="127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84" name="TextBox 83"/>
              <p:cNvSpPr txBox="1"/>
              <p:nvPr/>
            </p:nvSpPr>
            <p:spPr>
              <a:xfrm>
                <a:off x="5995882" y="4462268"/>
                <a:ext cx="5321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r>
                        <a:rPr lang="en-IN" b="0" i="1" smtClean="0">
                          <a:latin typeface="Cambria Math" panose="02040503050406030204" pitchFamily="18" charset="0"/>
                        </a:rPr>
                        <m:t>′</m:t>
                      </m:r>
                      <m:r>
                        <a:rPr lang="en-US" b="0" i="1" smtClean="0">
                          <a:latin typeface="Cambria Math" panose="02040503050406030204" pitchFamily="18" charset="0"/>
                        </a:rPr>
                        <m:t>(.)</m:t>
                      </m:r>
                    </m:oMath>
                  </m:oMathPara>
                </a14:m>
                <a:endParaRPr lang="en-IN" dirty="0"/>
              </a:p>
            </p:txBody>
          </p:sp>
        </mc:Choice>
        <mc:Fallback xmlns="">
          <p:sp>
            <p:nvSpPr>
              <p:cNvPr id="84" name="TextBox 83"/>
              <p:cNvSpPr txBox="1">
                <a:spLocks noRot="1" noChangeAspect="1" noMove="1" noResize="1" noEditPoints="1" noAdjustHandles="1" noChangeArrowheads="1" noChangeShapeType="1" noTextEdit="1"/>
              </p:cNvSpPr>
              <p:nvPr/>
            </p:nvSpPr>
            <p:spPr>
              <a:xfrm>
                <a:off x="5995882" y="4462268"/>
                <a:ext cx="532197" cy="276999"/>
              </a:xfrm>
              <a:prstGeom prst="rect">
                <a:avLst/>
              </a:prstGeom>
              <a:blipFill rotWithShape="0">
                <a:blip r:embed="rId8"/>
                <a:stretch>
                  <a:fillRect l="-10345" t="-4444" r="-16092" b="-35556"/>
                </a:stretch>
              </a:blipFill>
            </p:spPr>
            <p:txBody>
              <a:bodyPr/>
              <a:lstStyle/>
              <a:p>
                <a:r>
                  <a:rPr lang="en-IN">
                    <a:noFill/>
                  </a:rPr>
                  <a:t> </a:t>
                </a:r>
              </a:p>
            </p:txBody>
          </p:sp>
        </mc:Fallback>
      </mc:AlternateContent>
      <p:cxnSp>
        <p:nvCxnSpPr>
          <p:cNvPr id="24" name="Curved Connector 23"/>
          <p:cNvCxnSpPr>
            <a:stCxn id="69" idx="2"/>
            <a:endCxn id="82" idx="0"/>
          </p:cNvCxnSpPr>
          <p:nvPr/>
        </p:nvCxnSpPr>
        <p:spPr>
          <a:xfrm rot="16200000" flipH="1">
            <a:off x="5346106" y="3206243"/>
            <a:ext cx="571054" cy="1222949"/>
          </a:xfrm>
          <a:prstGeom prst="curvedConnector3">
            <a:avLst>
              <a:gd name="adj1" fmla="val 48071"/>
            </a:avLst>
          </a:prstGeom>
          <a:ln w="28575"/>
        </p:spPr>
        <p:style>
          <a:lnRef idx="1">
            <a:schemeClr val="dk1"/>
          </a:lnRef>
          <a:fillRef idx="0">
            <a:schemeClr val="dk1"/>
          </a:fillRef>
          <a:effectRef idx="0">
            <a:schemeClr val="dk1"/>
          </a:effectRef>
          <a:fontRef idx="minor">
            <a:schemeClr val="tx1"/>
          </a:fontRef>
        </p:style>
      </p:cxnSp>
      <p:sp>
        <p:nvSpPr>
          <p:cNvPr id="88" name="Rectangle 87"/>
          <p:cNvSpPr/>
          <p:nvPr/>
        </p:nvSpPr>
        <p:spPr>
          <a:xfrm>
            <a:off x="6011317" y="5419334"/>
            <a:ext cx="461427" cy="1002535"/>
          </a:xfrm>
          <a:prstGeom prst="rect">
            <a:avLst/>
          </a:prstGeom>
          <a:ln w="127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89" name="TextBox 88"/>
              <p:cNvSpPr txBox="1"/>
              <p:nvPr/>
            </p:nvSpPr>
            <p:spPr>
              <a:xfrm>
                <a:off x="6144043" y="5766887"/>
                <a:ext cx="21800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89" name="TextBox 88"/>
              <p:cNvSpPr txBox="1">
                <a:spLocks noRot="1" noChangeAspect="1" noMove="1" noResize="1" noEditPoints="1" noAdjustHandles="1" noChangeArrowheads="1" noChangeShapeType="1" noTextEdit="1"/>
              </p:cNvSpPr>
              <p:nvPr/>
            </p:nvSpPr>
            <p:spPr>
              <a:xfrm>
                <a:off x="6144043" y="5766887"/>
                <a:ext cx="218008" cy="276999"/>
              </a:xfrm>
              <a:prstGeom prst="rect">
                <a:avLst/>
              </a:prstGeom>
              <a:blipFill rotWithShape="0">
                <a:blip r:embed="rId9"/>
                <a:stretch>
                  <a:fillRect l="-19444" r="-16667" b="-2222"/>
                </a:stretch>
              </a:blipFill>
            </p:spPr>
            <p:txBody>
              <a:bodyPr/>
              <a:lstStyle/>
              <a:p>
                <a:r>
                  <a:rPr lang="en-IN">
                    <a:noFill/>
                  </a:rPr>
                  <a:t> </a:t>
                </a:r>
              </a:p>
            </p:txBody>
          </p:sp>
        </mc:Fallback>
      </mc:AlternateContent>
      <p:cxnSp>
        <p:nvCxnSpPr>
          <p:cNvPr id="28" name="Straight Connector 27"/>
          <p:cNvCxnSpPr>
            <a:stCxn id="82" idx="2"/>
            <a:endCxn id="88" idx="0"/>
          </p:cNvCxnSpPr>
          <p:nvPr/>
        </p:nvCxnSpPr>
        <p:spPr>
          <a:xfrm flipH="1">
            <a:off x="6242031" y="5105780"/>
            <a:ext cx="1077" cy="313554"/>
          </a:xfrm>
          <a:prstGeom prst="line">
            <a:avLst/>
          </a:prstGeom>
          <a:ln w="28575"/>
        </p:spPr>
        <p:style>
          <a:lnRef idx="1">
            <a:schemeClr val="dk1"/>
          </a:lnRef>
          <a:fillRef idx="0">
            <a:schemeClr val="dk1"/>
          </a:fillRef>
          <a:effectRef idx="0">
            <a:schemeClr val="dk1"/>
          </a:effectRef>
          <a:fontRef idx="minor">
            <a:schemeClr val="tx1"/>
          </a:fontRef>
        </p:style>
      </p:cxnSp>
      <p:sp>
        <p:nvSpPr>
          <p:cNvPr id="98" name="Rectangle 97"/>
          <p:cNvSpPr/>
          <p:nvPr/>
        </p:nvSpPr>
        <p:spPr>
          <a:xfrm>
            <a:off x="7145806" y="5416531"/>
            <a:ext cx="727824"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99" name="TextBox 98"/>
              <p:cNvSpPr txBox="1"/>
              <p:nvPr/>
            </p:nvSpPr>
            <p:spPr>
              <a:xfrm>
                <a:off x="7271445" y="5635177"/>
                <a:ext cx="486928" cy="593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IN" sz="1600" b="1" i="1" smtClean="0">
                                  <a:latin typeface="Cambria Math" panose="02040503050406030204" pitchFamily="18" charset="0"/>
                                </a:rPr>
                                <m:t>𝒉</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oMath>
                  </m:oMathPara>
                </a14:m>
                <a:endParaRPr lang="en-IN" sz="1600" dirty="0"/>
              </a:p>
            </p:txBody>
          </p:sp>
        </mc:Choice>
        <mc:Fallback xmlns="">
          <p:sp>
            <p:nvSpPr>
              <p:cNvPr id="99" name="TextBox 98"/>
              <p:cNvSpPr txBox="1">
                <a:spLocks noRot="1" noChangeAspect="1" noMove="1" noResize="1" noEditPoints="1" noAdjustHandles="1" noChangeArrowheads="1" noChangeShapeType="1" noTextEdit="1"/>
              </p:cNvSpPr>
              <p:nvPr/>
            </p:nvSpPr>
            <p:spPr>
              <a:xfrm>
                <a:off x="7271445" y="5635177"/>
                <a:ext cx="486928" cy="593496"/>
              </a:xfrm>
              <a:prstGeom prst="rect">
                <a:avLst/>
              </a:prstGeom>
              <a:blipFill rotWithShape="0">
                <a:blip r:embed="rId10"/>
                <a:stretch>
                  <a:fillRect/>
                </a:stretch>
              </a:blipFill>
            </p:spPr>
            <p:txBody>
              <a:bodyPr/>
              <a:lstStyle/>
              <a:p>
                <a:r>
                  <a:rPr lang="en-IN">
                    <a:noFill/>
                  </a:rPr>
                  <a:t> </a:t>
                </a:r>
              </a:p>
            </p:txBody>
          </p:sp>
        </mc:Fallback>
      </mc:AlternateContent>
      <p:cxnSp>
        <p:nvCxnSpPr>
          <p:cNvPr id="101" name="Straight Connector 100"/>
          <p:cNvCxnSpPr>
            <a:stCxn id="98" idx="1"/>
            <a:endCxn id="88" idx="3"/>
          </p:cNvCxnSpPr>
          <p:nvPr/>
        </p:nvCxnSpPr>
        <p:spPr>
          <a:xfrm flipH="1">
            <a:off x="6472744" y="5917799"/>
            <a:ext cx="673062" cy="2803"/>
          </a:xfrm>
          <a:prstGeom prst="line">
            <a:avLst/>
          </a:prstGeom>
          <a:ln w="28575"/>
        </p:spPr>
        <p:style>
          <a:lnRef idx="1">
            <a:schemeClr val="dk1"/>
          </a:lnRef>
          <a:fillRef idx="0">
            <a:schemeClr val="dk1"/>
          </a:fillRef>
          <a:effectRef idx="0">
            <a:schemeClr val="dk1"/>
          </a:effectRef>
          <a:fontRef idx="minor">
            <a:schemeClr val="tx1"/>
          </a:fontRef>
        </p:style>
      </p:cxnSp>
      <p:sp>
        <p:nvSpPr>
          <p:cNvPr id="107" name="Rectangle 106"/>
          <p:cNvSpPr/>
          <p:nvPr/>
        </p:nvSpPr>
        <p:spPr>
          <a:xfrm>
            <a:off x="4610431" y="5424699"/>
            <a:ext cx="727824" cy="1002535"/>
          </a:xfrm>
          <a:prstGeom prst="rect">
            <a:avLst/>
          </a:prstGeom>
          <a:solidFill>
            <a:srgbClr val="FFFF00">
              <a:alpha val="50196"/>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112" name="TextBox 111"/>
              <p:cNvSpPr txBox="1"/>
              <p:nvPr/>
            </p:nvSpPr>
            <p:spPr>
              <a:xfrm>
                <a:off x="4730879" y="5635177"/>
                <a:ext cx="485326" cy="593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IN" sz="1600" b="1" i="1" smtClean="0">
                                  <a:latin typeface="Cambria Math" panose="02040503050406030204" pitchFamily="18" charset="0"/>
                                </a:rPr>
                                <m:t>𝒂</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oMath>
                  </m:oMathPara>
                </a14:m>
                <a:endParaRPr lang="en-IN" sz="1600" dirty="0"/>
              </a:p>
            </p:txBody>
          </p:sp>
        </mc:Choice>
        <mc:Fallback xmlns="">
          <p:sp>
            <p:nvSpPr>
              <p:cNvPr id="112" name="TextBox 111"/>
              <p:cNvSpPr txBox="1">
                <a:spLocks noRot="1" noChangeAspect="1" noMove="1" noResize="1" noEditPoints="1" noAdjustHandles="1" noChangeArrowheads="1" noChangeShapeType="1" noTextEdit="1"/>
              </p:cNvSpPr>
              <p:nvPr/>
            </p:nvSpPr>
            <p:spPr>
              <a:xfrm>
                <a:off x="4730879" y="5635177"/>
                <a:ext cx="485326" cy="593496"/>
              </a:xfrm>
              <a:prstGeom prst="rect">
                <a:avLst/>
              </a:prstGeom>
              <a:blipFill rotWithShape="0">
                <a:blip r:embed="rId11"/>
                <a:stretch>
                  <a:fillRect/>
                </a:stretch>
              </a:blipFill>
            </p:spPr>
            <p:txBody>
              <a:bodyPr/>
              <a:lstStyle/>
              <a:p>
                <a:r>
                  <a:rPr lang="en-IN">
                    <a:noFill/>
                  </a:rPr>
                  <a:t> </a:t>
                </a:r>
              </a:p>
            </p:txBody>
          </p:sp>
        </mc:Fallback>
      </mc:AlternateContent>
      <p:cxnSp>
        <p:nvCxnSpPr>
          <p:cNvPr id="116" name="Straight Connector 115"/>
          <p:cNvCxnSpPr/>
          <p:nvPr/>
        </p:nvCxnSpPr>
        <p:spPr>
          <a:xfrm flipH="1">
            <a:off x="5346501" y="5925966"/>
            <a:ext cx="673062" cy="2803"/>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7" name="Rectangle 116"/>
              <p:cNvSpPr/>
              <p:nvPr/>
            </p:nvSpPr>
            <p:spPr>
              <a:xfrm>
                <a:off x="8434918" y="3540991"/>
                <a:ext cx="2145651" cy="6858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IN" sz="1600" b="1" i="1" smtClean="0">
                                  <a:latin typeface="Cambria Math" panose="02040503050406030204" pitchFamily="18" charset="0"/>
                                </a:rPr>
                                <m:t>𝒂</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r>
                        <a:rPr lang="en-IN" sz="1600" b="0" i="1" smtClean="0">
                          <a:latin typeface="Cambria Math" panose="02040503050406030204" pitchFamily="18" charset="0"/>
                        </a:rPr>
                        <m:t>=</m:t>
                      </m:r>
                      <m:f>
                        <m:fPr>
                          <m:ctrlPr>
                            <a:rPr lang="en-IN" sz="1600" i="1">
                              <a:latin typeface="Cambria Math" panose="02040503050406030204" pitchFamily="18" charset="0"/>
                            </a:rPr>
                          </m:ctrlPr>
                        </m:fPr>
                        <m:num>
                          <m:r>
                            <a:rPr lang="en-IN" sz="1600" i="1">
                              <a:latin typeface="Cambria Math" panose="02040503050406030204" pitchFamily="18" charset="0"/>
                            </a:rPr>
                            <m:t>𝜕</m:t>
                          </m:r>
                          <m:r>
                            <a:rPr lang="en-IN" sz="1600" i="1">
                              <a:latin typeface="Cambria Math" panose="02040503050406030204" pitchFamily="18" charset="0"/>
                            </a:rPr>
                            <m:t>𝐽</m:t>
                          </m:r>
                        </m:num>
                        <m:den>
                          <m:r>
                            <a:rPr lang="en-IN" sz="1600" i="1">
                              <a:latin typeface="Cambria Math" panose="02040503050406030204" pitchFamily="18" charset="0"/>
                            </a:rPr>
                            <m:t>𝜕</m:t>
                          </m:r>
                          <m:sSubSup>
                            <m:sSubSupPr>
                              <m:ctrlPr>
                                <a:rPr lang="en-IN" sz="1600" i="1">
                                  <a:latin typeface="Cambria Math" panose="02040503050406030204" pitchFamily="18" charset="0"/>
                                </a:rPr>
                              </m:ctrlPr>
                            </m:sSubSupPr>
                            <m:e>
                              <m:r>
                                <a:rPr lang="en-IN" sz="1600" b="1" i="1">
                                  <a:latin typeface="Cambria Math" panose="02040503050406030204" pitchFamily="18" charset="0"/>
                                </a:rPr>
                                <m:t>𝒉</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r>
                        <a:rPr lang="en-IN" sz="1600" b="0" i="1" smtClean="0">
                          <a:latin typeface="Cambria Math" panose="02040503050406030204" pitchFamily="18" charset="0"/>
                        </a:rPr>
                        <m:t>𝑔</m:t>
                      </m:r>
                      <m:r>
                        <a:rPr lang="en-IN" sz="1600" b="0" i="1" smtClean="0">
                          <a:latin typeface="Cambria Math" panose="02040503050406030204" pitchFamily="18" charset="0"/>
                        </a:rPr>
                        <m:t>′</m:t>
                      </m:r>
                      <m:d>
                        <m:dPr>
                          <m:ctrlPr>
                            <a:rPr lang="en-IN" sz="1600" b="0" i="1" smtClean="0">
                              <a:latin typeface="Cambria Math" panose="02040503050406030204" pitchFamily="18" charset="0"/>
                            </a:rPr>
                          </m:ctrlPr>
                        </m:dPr>
                        <m:e>
                          <m:sSubSup>
                            <m:sSubSupPr>
                              <m:ctrlPr>
                                <a:rPr lang="en-IN" sz="1600" b="0" i="1" smtClean="0">
                                  <a:latin typeface="Cambria Math" panose="02040503050406030204" pitchFamily="18" charset="0"/>
                                </a:rPr>
                              </m:ctrlPr>
                            </m:sSubSupPr>
                            <m:e>
                              <m:r>
                                <a:rPr lang="en-IN" sz="1600" b="1" i="1" smtClean="0">
                                  <a:latin typeface="Cambria Math" panose="02040503050406030204" pitchFamily="18" charset="0"/>
                                </a:rPr>
                                <m:t>𝒂</m:t>
                              </m:r>
                            </m:e>
                            <m:sub>
                              <m:r>
                                <a:rPr lang="en-IN" sz="1600" b="0" i="1" smtClean="0">
                                  <a:latin typeface="Cambria Math" panose="02040503050406030204" pitchFamily="18" charset="0"/>
                                </a:rPr>
                                <m:t>𝑖</m:t>
                              </m:r>
                            </m:sub>
                            <m:sup>
                              <m:r>
                                <a:rPr lang="en-IN" sz="1600" b="0" i="1" smtClean="0">
                                  <a:latin typeface="Cambria Math" panose="02040503050406030204" pitchFamily="18" charset="0"/>
                                </a:rPr>
                                <m:t>(</m:t>
                              </m:r>
                              <m:r>
                                <a:rPr lang="en-IN" sz="1600" b="0" i="1" smtClean="0">
                                  <a:latin typeface="Cambria Math" panose="02040503050406030204" pitchFamily="18" charset="0"/>
                                </a:rPr>
                                <m:t>𝑙</m:t>
                              </m:r>
                              <m:r>
                                <a:rPr lang="en-IN" sz="1600" b="0" i="1" smtClean="0">
                                  <a:latin typeface="Cambria Math" panose="02040503050406030204" pitchFamily="18" charset="0"/>
                                </a:rPr>
                                <m:t>)</m:t>
                              </m:r>
                            </m:sup>
                          </m:sSubSup>
                        </m:e>
                      </m:d>
                    </m:oMath>
                  </m:oMathPara>
                </a14:m>
                <a:endParaRPr lang="en-IN" sz="1600" dirty="0"/>
              </a:p>
            </p:txBody>
          </p:sp>
        </mc:Choice>
        <mc:Fallback xmlns="">
          <p:sp>
            <p:nvSpPr>
              <p:cNvPr id="117" name="Rectangle 116"/>
              <p:cNvSpPr>
                <a:spLocks noRot="1" noChangeAspect="1" noMove="1" noResize="1" noEditPoints="1" noAdjustHandles="1" noChangeArrowheads="1" noChangeShapeType="1" noTextEdit="1"/>
              </p:cNvSpPr>
              <p:nvPr/>
            </p:nvSpPr>
            <p:spPr>
              <a:xfrm>
                <a:off x="8434918" y="3540991"/>
                <a:ext cx="2145651" cy="685829"/>
              </a:xfrm>
              <a:prstGeom prst="rect">
                <a:avLst/>
              </a:prstGeom>
              <a:blipFill rotWithShape="0">
                <a:blip r:embed="rId12"/>
                <a:stretch>
                  <a:fillRect/>
                </a:stretch>
              </a:blipFill>
            </p:spPr>
            <p:txBody>
              <a:bodyPr/>
              <a:lstStyle/>
              <a:p>
                <a:r>
                  <a:rPr lang="en-IN">
                    <a:noFill/>
                  </a:rPr>
                  <a:t> </a:t>
                </a:r>
              </a:p>
            </p:txBody>
          </p:sp>
        </mc:Fallback>
      </mc:AlternateContent>
      <p:sp>
        <p:nvSpPr>
          <p:cNvPr id="118" name="TextBox 117"/>
          <p:cNvSpPr txBox="1"/>
          <p:nvPr/>
        </p:nvSpPr>
        <p:spPr>
          <a:xfrm>
            <a:off x="11240365" y="3714628"/>
            <a:ext cx="601447" cy="338554"/>
          </a:xfrm>
          <a:prstGeom prst="rect">
            <a:avLst/>
          </a:prstGeom>
          <a:noFill/>
        </p:spPr>
        <p:txBody>
          <a:bodyPr wrap="none" rtlCol="0">
            <a:spAutoFit/>
          </a:bodyPr>
          <a:lstStyle/>
          <a:p>
            <a:r>
              <a:rPr lang="en-IN" sz="1600" dirty="0"/>
              <a:t>… (3)</a:t>
            </a:r>
          </a:p>
        </p:txBody>
      </p:sp>
      <p:sp>
        <p:nvSpPr>
          <p:cNvPr id="41" name="Rectangle 40"/>
          <p:cNvSpPr/>
          <p:nvPr/>
        </p:nvSpPr>
        <p:spPr>
          <a:xfrm>
            <a:off x="4101146" y="1350936"/>
            <a:ext cx="726217" cy="729671"/>
          </a:xfrm>
          <a:prstGeom prst="rect">
            <a:avLst/>
          </a:prstGeom>
          <a:solidFill>
            <a:srgbClr val="FFFF00">
              <a:alpha val="50196"/>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42" name="TextBox 41"/>
              <p:cNvSpPr txBox="1"/>
              <p:nvPr/>
            </p:nvSpPr>
            <p:spPr>
              <a:xfrm>
                <a:off x="4221594" y="1444848"/>
                <a:ext cx="482119" cy="593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US" sz="1600" b="1" i="1" smtClean="0">
                                  <a:latin typeface="Cambria Math" charset="0"/>
                                </a:rPr>
                                <m:t>𝒃</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oMath>
                  </m:oMathPara>
                </a14:m>
                <a:endParaRPr lang="en-IN" sz="1600" dirty="0"/>
              </a:p>
            </p:txBody>
          </p:sp>
        </mc:Choice>
        <mc:Fallback xmlns="">
          <p:sp>
            <p:nvSpPr>
              <p:cNvPr id="42" name="TextBox 41"/>
              <p:cNvSpPr txBox="1">
                <a:spLocks noRot="1" noChangeAspect="1" noMove="1" noResize="1" noEditPoints="1" noAdjustHandles="1" noChangeArrowheads="1" noChangeShapeType="1" noTextEdit="1"/>
              </p:cNvSpPr>
              <p:nvPr/>
            </p:nvSpPr>
            <p:spPr>
              <a:xfrm>
                <a:off x="4221594" y="1444848"/>
                <a:ext cx="482119" cy="593496"/>
              </a:xfrm>
              <a:prstGeom prst="rect">
                <a:avLst/>
              </a:prstGeom>
              <a:blipFill rotWithShape="0">
                <a:blip r:embed="rId13"/>
                <a:stretch>
                  <a:fillRect b="-10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8389858" y="4226820"/>
                <a:ext cx="1373518" cy="6858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IN" sz="1600" b="1" i="1" smtClean="0">
                                  <a:latin typeface="Cambria Math" panose="02040503050406030204" pitchFamily="18" charset="0"/>
                                </a:rPr>
                                <m:t>𝒃</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r>
                        <a:rPr lang="en-IN" sz="1600" b="0" i="1" smtClean="0">
                          <a:latin typeface="Cambria Math" panose="02040503050406030204" pitchFamily="18" charset="0"/>
                        </a:rPr>
                        <m:t>=</m:t>
                      </m:r>
                      <m:f>
                        <m:fPr>
                          <m:ctrlPr>
                            <a:rPr lang="en-IN" sz="1600" i="1">
                              <a:latin typeface="Cambria Math" panose="02040503050406030204" pitchFamily="18" charset="0"/>
                            </a:rPr>
                          </m:ctrlPr>
                        </m:fPr>
                        <m:num>
                          <m:r>
                            <a:rPr lang="en-IN" sz="1600" i="1">
                              <a:latin typeface="Cambria Math" panose="02040503050406030204" pitchFamily="18" charset="0"/>
                            </a:rPr>
                            <m:t>𝜕</m:t>
                          </m:r>
                          <m:r>
                            <a:rPr lang="en-IN" sz="1600" i="1">
                              <a:latin typeface="Cambria Math" panose="02040503050406030204" pitchFamily="18" charset="0"/>
                            </a:rPr>
                            <m:t>𝐽</m:t>
                          </m:r>
                        </m:num>
                        <m:den>
                          <m:r>
                            <a:rPr lang="en-IN" sz="1600" i="1">
                              <a:latin typeface="Cambria Math" panose="02040503050406030204" pitchFamily="18" charset="0"/>
                            </a:rPr>
                            <m:t>𝜕</m:t>
                          </m:r>
                          <m:sSubSup>
                            <m:sSubSupPr>
                              <m:ctrlPr>
                                <a:rPr lang="en-IN" sz="1600" i="1">
                                  <a:latin typeface="Cambria Math" panose="02040503050406030204" pitchFamily="18" charset="0"/>
                                </a:rPr>
                              </m:ctrlPr>
                            </m:sSubSupPr>
                            <m:e>
                              <m:r>
                                <a:rPr lang="en-IN" sz="1600" b="1" i="1">
                                  <a:latin typeface="Cambria Math" panose="02040503050406030204" pitchFamily="18" charset="0"/>
                                </a:rPr>
                                <m:t>𝒂</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oMath>
                  </m:oMathPara>
                </a14:m>
                <a:endParaRPr lang="en-IN" sz="1600" dirty="0"/>
              </a:p>
            </p:txBody>
          </p:sp>
        </mc:Choice>
        <mc:Fallback xmlns="">
          <p:sp>
            <p:nvSpPr>
              <p:cNvPr id="43" name="Rectangle 42"/>
              <p:cNvSpPr>
                <a:spLocks noRot="1" noChangeAspect="1" noMove="1" noResize="1" noEditPoints="1" noAdjustHandles="1" noChangeArrowheads="1" noChangeShapeType="1" noTextEdit="1"/>
              </p:cNvSpPr>
              <p:nvPr/>
            </p:nvSpPr>
            <p:spPr>
              <a:xfrm>
                <a:off x="8389858" y="4226820"/>
                <a:ext cx="1373518" cy="685829"/>
              </a:xfrm>
              <a:prstGeom prst="rect">
                <a:avLst/>
              </a:prstGeom>
              <a:blipFill rotWithShape="0">
                <a:blip r:embed="rId14"/>
                <a:stretch>
                  <a:fillRect/>
                </a:stretch>
              </a:blipFill>
            </p:spPr>
            <p:txBody>
              <a:bodyPr/>
              <a:lstStyle/>
              <a:p>
                <a:r>
                  <a:rPr lang="en-IN">
                    <a:noFill/>
                  </a:rPr>
                  <a:t> </a:t>
                </a:r>
              </a:p>
            </p:txBody>
          </p:sp>
        </mc:Fallback>
      </mc:AlternateContent>
      <p:cxnSp>
        <p:nvCxnSpPr>
          <p:cNvPr id="44" name="Straight Connector 43"/>
          <p:cNvCxnSpPr/>
          <p:nvPr/>
        </p:nvCxnSpPr>
        <p:spPr>
          <a:xfrm flipH="1">
            <a:off x="2807828" y="5925966"/>
            <a:ext cx="1800000" cy="2803"/>
          </a:xfrm>
          <a:prstGeom prst="line">
            <a:avLst/>
          </a:prstGeom>
          <a:ln w="28575"/>
        </p:spPr>
        <p:style>
          <a:lnRef idx="1">
            <a:schemeClr val="dk1"/>
          </a:lnRef>
          <a:fillRef idx="0">
            <a:schemeClr val="dk1"/>
          </a:fillRef>
          <a:effectRef idx="0">
            <a:schemeClr val="dk1"/>
          </a:effectRef>
          <a:fontRef idx="minor">
            <a:schemeClr val="tx1"/>
          </a:fontRef>
        </p:style>
      </p:cxnSp>
      <p:cxnSp>
        <p:nvCxnSpPr>
          <p:cNvPr id="45" name="Straight Connector 44"/>
          <p:cNvCxnSpPr>
            <a:endCxn id="41" idx="2"/>
          </p:cNvCxnSpPr>
          <p:nvPr/>
        </p:nvCxnSpPr>
        <p:spPr>
          <a:xfrm flipV="1">
            <a:off x="4450814" y="2080607"/>
            <a:ext cx="13441" cy="3857486"/>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6" name="Rectangle 45"/>
              <p:cNvSpPr/>
              <p:nvPr/>
            </p:nvSpPr>
            <p:spPr>
              <a:xfrm>
                <a:off x="8314883" y="4921455"/>
                <a:ext cx="2000997" cy="71372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IN" sz="1600" b="1" i="1">
                                  <a:latin typeface="Cambria Math" panose="02040503050406030204" pitchFamily="18" charset="0"/>
                                </a:rPr>
                                <m:t>𝑾</m:t>
                              </m:r>
                            </m:e>
                            <m:sub>
                              <m:r>
                                <a:rPr lang="en-IN" sz="1600" i="1">
                                  <a:latin typeface="Cambria Math" panose="02040503050406030204" pitchFamily="18" charset="0"/>
                                </a:rPr>
                                <m:t>𝑖</m:t>
                              </m:r>
                              <m:r>
                                <a:rPr lang="en-IN" sz="1600" i="1">
                                  <a:latin typeface="Cambria Math" panose="02040503050406030204" pitchFamily="18" charset="0"/>
                                </a:rPr>
                                <m:t>,</m:t>
                              </m:r>
                              <m:r>
                                <a:rPr lang="en-IN" sz="1600" i="1">
                                  <a:latin typeface="Cambria Math" panose="02040503050406030204" pitchFamily="18" charset="0"/>
                                </a:rPr>
                                <m:t>𝑗</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r>
                        <a:rPr lang="en-IN" sz="1600" b="0" i="1" smtClean="0">
                          <a:latin typeface="Cambria Math" panose="02040503050406030204" pitchFamily="18" charset="0"/>
                        </a:rPr>
                        <m:t>=</m:t>
                      </m:r>
                      <m:f>
                        <m:fPr>
                          <m:ctrlPr>
                            <a:rPr lang="en-IN" sz="1600" i="1">
                              <a:latin typeface="Cambria Math" panose="02040503050406030204" pitchFamily="18" charset="0"/>
                            </a:rPr>
                          </m:ctrlPr>
                        </m:fPr>
                        <m:num>
                          <m:r>
                            <a:rPr lang="en-IN" sz="1600" i="1">
                              <a:latin typeface="Cambria Math" panose="02040503050406030204" pitchFamily="18" charset="0"/>
                            </a:rPr>
                            <m:t>𝜕</m:t>
                          </m:r>
                          <m:r>
                            <a:rPr lang="en-IN" sz="1600" i="1">
                              <a:latin typeface="Cambria Math" panose="02040503050406030204" pitchFamily="18" charset="0"/>
                            </a:rPr>
                            <m:t>𝐽</m:t>
                          </m:r>
                        </m:num>
                        <m:den>
                          <m:r>
                            <a:rPr lang="en-IN" sz="1600" i="1">
                              <a:latin typeface="Cambria Math" panose="02040503050406030204" pitchFamily="18" charset="0"/>
                            </a:rPr>
                            <m:t>𝜕</m:t>
                          </m:r>
                          <m:sSubSup>
                            <m:sSubSupPr>
                              <m:ctrlPr>
                                <a:rPr lang="en-IN" sz="1600" i="1">
                                  <a:latin typeface="Cambria Math" panose="02040503050406030204" pitchFamily="18" charset="0"/>
                                </a:rPr>
                              </m:ctrlPr>
                            </m:sSubSupPr>
                            <m:e>
                              <m:r>
                                <a:rPr lang="en-IN" sz="1600" b="1" i="1">
                                  <a:latin typeface="Cambria Math" panose="02040503050406030204" pitchFamily="18" charset="0"/>
                                </a:rPr>
                                <m:t>𝒂</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sSubSup>
                        <m:sSubSupPr>
                          <m:ctrlPr>
                            <a:rPr lang="en-IN" sz="1600" i="1" dirty="0">
                              <a:latin typeface="Cambria Math" panose="02040503050406030204" pitchFamily="18" charset="0"/>
                            </a:rPr>
                          </m:ctrlPr>
                        </m:sSubSupPr>
                        <m:e>
                          <m:r>
                            <a:rPr lang="en-US" sz="1600" b="1" i="1" dirty="0">
                              <a:latin typeface="Cambria Math" panose="02040503050406030204" pitchFamily="18" charset="0"/>
                            </a:rPr>
                            <m:t>𝒉</m:t>
                          </m:r>
                        </m:e>
                        <m:sub>
                          <m:r>
                            <a:rPr lang="en-US" sz="1600" i="1" dirty="0">
                              <a:latin typeface="Cambria Math" panose="02040503050406030204" pitchFamily="18" charset="0"/>
                            </a:rPr>
                            <m:t>𝑗</m:t>
                          </m:r>
                        </m:sub>
                        <m:sup>
                          <m:d>
                            <m:dPr>
                              <m:ctrlPr>
                                <a:rPr lang="en-US" sz="1600" i="1" dirty="0">
                                  <a:latin typeface="Cambria Math" panose="02040503050406030204" pitchFamily="18" charset="0"/>
                                </a:rPr>
                              </m:ctrlPr>
                            </m:dPr>
                            <m:e>
                              <m:r>
                                <a:rPr lang="en-US" sz="1600" i="1" dirty="0">
                                  <a:latin typeface="Cambria Math" panose="02040503050406030204" pitchFamily="18" charset="0"/>
                                </a:rPr>
                                <m:t>𝑙</m:t>
                              </m:r>
                              <m:r>
                                <a:rPr lang="en-US" sz="1600" i="1" dirty="0">
                                  <a:latin typeface="Cambria Math" panose="02040503050406030204" pitchFamily="18" charset="0"/>
                                </a:rPr>
                                <m:t>−1</m:t>
                              </m:r>
                            </m:e>
                          </m:d>
                        </m:sup>
                      </m:sSubSup>
                    </m:oMath>
                  </m:oMathPara>
                </a14:m>
                <a:endParaRPr lang="en-IN" sz="1600" dirty="0"/>
              </a:p>
            </p:txBody>
          </p:sp>
        </mc:Choice>
        <mc:Fallback xmlns="">
          <p:sp>
            <p:nvSpPr>
              <p:cNvPr id="46" name="Rectangle 45"/>
              <p:cNvSpPr>
                <a:spLocks noRot="1" noChangeAspect="1" noMove="1" noResize="1" noEditPoints="1" noAdjustHandles="1" noChangeArrowheads="1" noChangeShapeType="1" noTextEdit="1"/>
              </p:cNvSpPr>
              <p:nvPr/>
            </p:nvSpPr>
            <p:spPr>
              <a:xfrm>
                <a:off x="8314883" y="4921455"/>
                <a:ext cx="2000997" cy="713722"/>
              </a:xfrm>
              <a:prstGeom prst="rect">
                <a:avLst/>
              </a:prstGeom>
              <a:blipFill rotWithShape="0">
                <a:blip r:embed="rId15"/>
                <a:stretch>
                  <a:fillRect/>
                </a:stretch>
              </a:blipFill>
            </p:spPr>
            <p:txBody>
              <a:bodyPr/>
              <a:lstStyle/>
              <a:p>
                <a:r>
                  <a:rPr lang="en-IN">
                    <a:noFill/>
                  </a:rPr>
                  <a:t> </a:t>
                </a:r>
              </a:p>
            </p:txBody>
          </p:sp>
        </mc:Fallback>
      </mc:AlternateContent>
      <p:sp>
        <p:nvSpPr>
          <p:cNvPr id="47" name="TextBox 46"/>
          <p:cNvSpPr txBox="1"/>
          <p:nvPr/>
        </p:nvSpPr>
        <p:spPr>
          <a:xfrm>
            <a:off x="11240365" y="4334355"/>
            <a:ext cx="601447" cy="338554"/>
          </a:xfrm>
          <a:prstGeom prst="rect">
            <a:avLst/>
          </a:prstGeom>
          <a:noFill/>
        </p:spPr>
        <p:txBody>
          <a:bodyPr wrap="none" rtlCol="0">
            <a:spAutoFit/>
          </a:bodyPr>
          <a:lstStyle/>
          <a:p>
            <a:r>
              <a:rPr lang="en-IN" sz="1600" dirty="0"/>
              <a:t>… (2)</a:t>
            </a:r>
          </a:p>
        </p:txBody>
      </p:sp>
      <p:sp>
        <p:nvSpPr>
          <p:cNvPr id="48" name="TextBox 47"/>
          <p:cNvSpPr txBox="1"/>
          <p:nvPr/>
        </p:nvSpPr>
        <p:spPr>
          <a:xfrm>
            <a:off x="11240365" y="5080867"/>
            <a:ext cx="601447" cy="338554"/>
          </a:xfrm>
          <a:prstGeom prst="rect">
            <a:avLst/>
          </a:prstGeom>
          <a:noFill/>
        </p:spPr>
        <p:txBody>
          <a:bodyPr wrap="none" rtlCol="0">
            <a:spAutoFit/>
          </a:bodyPr>
          <a:lstStyle/>
          <a:p>
            <a:r>
              <a:rPr lang="en-IN" sz="1600" dirty="0"/>
              <a:t>… (1)</a:t>
            </a:r>
          </a:p>
        </p:txBody>
      </p:sp>
      <p:sp>
        <p:nvSpPr>
          <p:cNvPr id="49" name="Rectangle 48"/>
          <p:cNvSpPr/>
          <p:nvPr/>
        </p:nvSpPr>
        <p:spPr>
          <a:xfrm>
            <a:off x="2618001" y="1350936"/>
            <a:ext cx="726217" cy="729671"/>
          </a:xfrm>
          <a:prstGeom prst="rect">
            <a:avLst/>
          </a:prstGeom>
          <a:solidFill>
            <a:srgbClr val="FFFF00">
              <a:alpha val="50196"/>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50" name="TextBox 49"/>
              <p:cNvSpPr txBox="1"/>
              <p:nvPr/>
            </p:nvSpPr>
            <p:spPr>
              <a:xfrm>
                <a:off x="2727432" y="1452192"/>
                <a:ext cx="559063" cy="6213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IN" sz="1600" b="1" i="1" smtClean="0">
                                  <a:latin typeface="Cambria Math" panose="02040503050406030204" pitchFamily="18" charset="0"/>
                                </a:rPr>
                                <m:t>𝑾</m:t>
                              </m:r>
                            </m:e>
                            <m:sub>
                              <m:r>
                                <a:rPr lang="en-IN" sz="1600" i="1">
                                  <a:latin typeface="Cambria Math" panose="02040503050406030204" pitchFamily="18" charset="0"/>
                                </a:rPr>
                                <m:t>𝑖</m:t>
                              </m:r>
                              <m:r>
                                <a:rPr lang="en-IN" sz="1600" b="0" i="1" smtClean="0">
                                  <a:latin typeface="Cambria Math" panose="02040503050406030204" pitchFamily="18" charset="0"/>
                                </a:rPr>
                                <m:t>,</m:t>
                              </m:r>
                              <m:r>
                                <a:rPr lang="en-IN" sz="1600" b="0" i="1" smtClean="0">
                                  <a:latin typeface="Cambria Math" panose="02040503050406030204" pitchFamily="18" charset="0"/>
                                </a:rPr>
                                <m:t>𝑗</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oMath>
                  </m:oMathPara>
                </a14:m>
                <a:endParaRPr lang="en-IN" sz="1600" dirty="0"/>
              </a:p>
            </p:txBody>
          </p:sp>
        </mc:Choice>
        <mc:Fallback xmlns="">
          <p:sp>
            <p:nvSpPr>
              <p:cNvPr id="50" name="TextBox 49"/>
              <p:cNvSpPr txBox="1">
                <a:spLocks noRot="1" noChangeAspect="1" noMove="1" noResize="1" noEditPoints="1" noAdjustHandles="1" noChangeArrowheads="1" noChangeShapeType="1" noTextEdit="1"/>
              </p:cNvSpPr>
              <p:nvPr/>
            </p:nvSpPr>
            <p:spPr>
              <a:xfrm>
                <a:off x="2727432" y="1452192"/>
                <a:ext cx="559063" cy="621389"/>
              </a:xfrm>
              <a:prstGeom prst="rect">
                <a:avLst/>
              </a:prstGeom>
              <a:blipFill rotWithShape="0">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7331597" y="2833253"/>
                <a:ext cx="413318" cy="349070"/>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Sup>
                        <m:sSubSupPr>
                          <m:ctrlPr>
                            <a:rPr lang="en-IN" i="1" dirty="0" smtClean="0">
                              <a:latin typeface="Cambria Math" panose="02040503050406030204" pitchFamily="18" charset="0"/>
                            </a:rPr>
                          </m:ctrlPr>
                        </m:sSubSupPr>
                        <m:e>
                          <m:r>
                            <a:rPr lang="en-US" b="1" i="1" dirty="0">
                              <a:latin typeface="Cambria Math" panose="02040503050406030204" pitchFamily="18" charset="0"/>
                            </a:rPr>
                            <m:t>𝒉</m:t>
                          </m:r>
                        </m:e>
                        <m:sub>
                          <m:r>
                            <a:rPr lang="en-US" b="0" i="1" dirty="0" smtClean="0">
                              <a:latin typeface="Cambria Math" panose="02040503050406030204" pitchFamily="18" charset="0"/>
                            </a:rPr>
                            <m:t>𝑖</m:t>
                          </m:r>
                        </m:sub>
                        <m:sup>
                          <m:d>
                            <m:dPr>
                              <m:ctrlPr>
                                <a:rPr lang="en-US" i="1" dirty="0">
                                  <a:latin typeface="Cambria Math" panose="02040503050406030204" pitchFamily="18" charset="0"/>
                                </a:rPr>
                              </m:ctrlPr>
                            </m:dPr>
                            <m:e>
                              <m:r>
                                <a:rPr lang="en-US" i="1" dirty="0">
                                  <a:latin typeface="Cambria Math" panose="02040503050406030204" pitchFamily="18" charset="0"/>
                                </a:rPr>
                                <m:t>𝑙</m:t>
                              </m:r>
                            </m:e>
                          </m:d>
                        </m:sup>
                      </m:sSubSup>
                    </m:oMath>
                  </m:oMathPara>
                </a14:m>
                <a:endParaRPr lang="en-IN" dirty="0">
                  <a:solidFill>
                    <a:schemeClr val="tx1"/>
                  </a:solidFill>
                </a:endParaRPr>
              </a:p>
            </p:txBody>
          </p:sp>
        </mc:Choice>
        <mc:Fallback xmlns="">
          <p:sp>
            <p:nvSpPr>
              <p:cNvPr id="51" name="TextBox 50"/>
              <p:cNvSpPr txBox="1">
                <a:spLocks noRot="1" noChangeAspect="1" noMove="1" noResize="1" noEditPoints="1" noAdjustHandles="1" noChangeArrowheads="1" noChangeShapeType="1" noTextEdit="1"/>
              </p:cNvSpPr>
              <p:nvPr/>
            </p:nvSpPr>
            <p:spPr>
              <a:xfrm>
                <a:off x="7331597" y="2833253"/>
                <a:ext cx="413318" cy="349070"/>
              </a:xfrm>
              <a:prstGeom prst="rect">
                <a:avLst/>
              </a:prstGeom>
              <a:blipFill>
                <a:blip r:embed="rId13"/>
                <a:stretch>
                  <a:fillRect l="-21212" b="-21429"/>
                </a:stretch>
              </a:blipFill>
            </p:spPr>
            <p:txBody>
              <a:bodyPr/>
              <a:lstStyle/>
              <a:p>
                <a:r>
                  <a:rPr lang="en-US">
                    <a:noFill/>
                  </a:rPr>
                  <a:t> </a:t>
                </a:r>
              </a:p>
            </p:txBody>
          </p:sp>
        </mc:Fallback>
      </mc:AlternateContent>
      <p:sp>
        <p:nvSpPr>
          <p:cNvPr id="52" name="Rectangle 51"/>
          <p:cNvSpPr/>
          <p:nvPr/>
        </p:nvSpPr>
        <p:spPr>
          <a:xfrm>
            <a:off x="2821306" y="2285031"/>
            <a:ext cx="319605" cy="32518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53" name="TextBox 52"/>
              <p:cNvSpPr txBox="1"/>
              <p:nvPr/>
            </p:nvSpPr>
            <p:spPr>
              <a:xfrm>
                <a:off x="2880996" y="2309121"/>
                <a:ext cx="21800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53" name="TextBox 52"/>
              <p:cNvSpPr txBox="1">
                <a:spLocks noRot="1" noChangeAspect="1" noMove="1" noResize="1" noEditPoints="1" noAdjustHandles="1" noChangeArrowheads="1" noChangeShapeType="1" noTextEdit="1"/>
              </p:cNvSpPr>
              <p:nvPr/>
            </p:nvSpPr>
            <p:spPr>
              <a:xfrm>
                <a:off x="2880996" y="2309121"/>
                <a:ext cx="218008" cy="276999"/>
              </a:xfrm>
              <a:prstGeom prst="rect">
                <a:avLst/>
              </a:prstGeom>
              <a:blipFill rotWithShape="0">
                <a:blip r:embed="rId18"/>
                <a:stretch>
                  <a:fillRect l="-20000" r="-20000" b="-2222"/>
                </a:stretch>
              </a:blipFill>
            </p:spPr>
            <p:txBody>
              <a:bodyPr/>
              <a:lstStyle/>
              <a:p>
                <a:r>
                  <a:rPr lang="en-IN">
                    <a:noFill/>
                  </a:rPr>
                  <a:t> </a:t>
                </a:r>
              </a:p>
            </p:txBody>
          </p:sp>
        </mc:Fallback>
      </mc:AlternateContent>
      <p:cxnSp>
        <p:nvCxnSpPr>
          <p:cNvPr id="54" name="Straight Connector 53"/>
          <p:cNvCxnSpPr/>
          <p:nvPr/>
        </p:nvCxnSpPr>
        <p:spPr>
          <a:xfrm flipV="1">
            <a:off x="1173939" y="2425585"/>
            <a:ext cx="2543" cy="108000"/>
          </a:xfrm>
          <a:prstGeom prst="line">
            <a:avLst/>
          </a:prstGeom>
          <a:ln w="28575"/>
        </p:spPr>
        <p:style>
          <a:lnRef idx="1">
            <a:schemeClr val="dk1"/>
          </a:lnRef>
          <a:fillRef idx="0">
            <a:schemeClr val="dk1"/>
          </a:fillRef>
          <a:effectRef idx="0">
            <a:schemeClr val="dk1"/>
          </a:effectRef>
          <a:fontRef idx="minor">
            <a:schemeClr val="tx1"/>
          </a:fontRef>
        </p:style>
      </p:cxnSp>
      <p:cxnSp>
        <p:nvCxnSpPr>
          <p:cNvPr id="58" name="Straight Connector 57"/>
          <p:cNvCxnSpPr/>
          <p:nvPr/>
        </p:nvCxnSpPr>
        <p:spPr>
          <a:xfrm flipH="1">
            <a:off x="1164193" y="2411106"/>
            <a:ext cx="1656000" cy="2803"/>
          </a:xfrm>
          <a:prstGeom prst="line">
            <a:avLst/>
          </a:prstGeom>
          <a:ln w="28575"/>
        </p:spPr>
        <p:style>
          <a:lnRef idx="1">
            <a:schemeClr val="dk1"/>
          </a:lnRef>
          <a:fillRef idx="0">
            <a:schemeClr val="dk1"/>
          </a:fillRef>
          <a:effectRef idx="0">
            <a:schemeClr val="dk1"/>
          </a:effectRef>
          <a:fontRef idx="minor">
            <a:schemeClr val="tx1"/>
          </a:fontRef>
        </p:style>
      </p:cxnSp>
      <p:cxnSp>
        <p:nvCxnSpPr>
          <p:cNvPr id="60" name="Straight Connector 59"/>
          <p:cNvCxnSpPr/>
          <p:nvPr/>
        </p:nvCxnSpPr>
        <p:spPr>
          <a:xfrm flipV="1">
            <a:off x="2962520" y="2610210"/>
            <a:ext cx="13441" cy="3312000"/>
          </a:xfrm>
          <a:prstGeom prst="line">
            <a:avLst/>
          </a:prstGeom>
          <a:ln w="28575"/>
        </p:spPr>
        <p:style>
          <a:lnRef idx="1">
            <a:schemeClr val="dk1"/>
          </a:lnRef>
          <a:fillRef idx="0">
            <a:schemeClr val="dk1"/>
          </a:fillRef>
          <a:effectRef idx="0">
            <a:schemeClr val="dk1"/>
          </a:effectRef>
          <a:fontRef idx="minor">
            <a:schemeClr val="tx1"/>
          </a:fontRef>
        </p:style>
      </p:cxnSp>
      <p:cxnSp>
        <p:nvCxnSpPr>
          <p:cNvPr id="61" name="Straight Connector 60"/>
          <p:cNvCxnSpPr/>
          <p:nvPr/>
        </p:nvCxnSpPr>
        <p:spPr>
          <a:xfrm flipH="1">
            <a:off x="2968163" y="2075518"/>
            <a:ext cx="1077" cy="216000"/>
          </a:xfrm>
          <a:prstGeom prst="line">
            <a:avLst/>
          </a:prstGeom>
          <a:ln w="28575"/>
        </p:spPr>
        <p:style>
          <a:lnRef idx="1">
            <a:schemeClr val="dk1"/>
          </a:lnRef>
          <a:fillRef idx="0">
            <a:schemeClr val="dk1"/>
          </a:fillRef>
          <a:effectRef idx="0">
            <a:schemeClr val="dk1"/>
          </a:effectRef>
          <a:fontRef idx="minor">
            <a:schemeClr val="tx1"/>
          </a:fontRef>
        </p:style>
      </p:cxnSp>
      <p:sp>
        <p:nvSpPr>
          <p:cNvPr id="85" name="Rectangle 84"/>
          <p:cNvSpPr/>
          <p:nvPr/>
        </p:nvSpPr>
        <p:spPr>
          <a:xfrm>
            <a:off x="1902157" y="1363726"/>
            <a:ext cx="595401" cy="694848"/>
          </a:xfrm>
          <a:prstGeom prst="rect">
            <a:avLst/>
          </a:prstGeom>
          <a:no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sp>
        <p:nvSpPr>
          <p:cNvPr id="86" name="Rectangle 85"/>
          <p:cNvSpPr/>
          <p:nvPr/>
        </p:nvSpPr>
        <p:spPr>
          <a:xfrm>
            <a:off x="3580043" y="1393248"/>
            <a:ext cx="319605" cy="687359"/>
          </a:xfrm>
          <a:prstGeom prst="rect">
            <a:avLst/>
          </a:prstGeom>
          <a:no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87" name="Rectangle 86"/>
              <p:cNvSpPr/>
              <p:nvPr/>
            </p:nvSpPr>
            <p:spPr>
              <a:xfrm>
                <a:off x="1839039" y="1683743"/>
                <a:ext cx="739753" cy="4131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i="1" smtClean="0">
                              <a:latin typeface="Cambria Math" panose="02040503050406030204" pitchFamily="18" charset="0"/>
                            </a:rPr>
                          </m:ctrlPr>
                        </m:dPr>
                        <m:e>
                          <m:sSubSup>
                            <m:sSubSupPr>
                              <m:ctrlPr>
                                <a:rPr lang="en-US" sz="1400" i="1">
                                  <a:latin typeface="Cambria Math" panose="02040503050406030204" pitchFamily="18" charset="0"/>
                                </a:rPr>
                              </m:ctrlPr>
                            </m:sSubSupPr>
                            <m:e>
                              <m:r>
                                <a:rPr lang="en-IN" sz="1400" b="1" i="1">
                                  <a:latin typeface="Cambria Math" panose="02040503050406030204" pitchFamily="18" charset="0"/>
                                </a:rPr>
                                <m:t>𝑾</m:t>
                              </m:r>
                            </m:e>
                            <m:sub>
                              <m:r>
                                <a:rPr lang="en-IN" sz="1400" i="1">
                                  <a:latin typeface="Cambria Math" panose="02040503050406030204" pitchFamily="18" charset="0"/>
                                </a:rPr>
                                <m:t>𝑖</m:t>
                              </m:r>
                              <m:r>
                                <a:rPr lang="en-IN" sz="1400" i="1">
                                  <a:latin typeface="Cambria Math" panose="02040503050406030204" pitchFamily="18" charset="0"/>
                                </a:rPr>
                                <m:t>,</m:t>
                              </m:r>
                              <m:r>
                                <a:rPr lang="en-IN" sz="1400" i="1">
                                  <a:latin typeface="Cambria Math" panose="02040503050406030204" pitchFamily="18" charset="0"/>
                                </a:rPr>
                                <m:t>𝑗</m:t>
                              </m:r>
                            </m:sub>
                            <m:sup>
                              <m:r>
                                <a:rPr lang="en-IN" sz="1400" i="1">
                                  <a:latin typeface="Cambria Math" panose="02040503050406030204" pitchFamily="18" charset="0"/>
                                </a:rPr>
                                <m:t>(</m:t>
                              </m:r>
                              <m:r>
                                <a:rPr lang="en-IN" sz="1400" i="1">
                                  <a:latin typeface="Cambria Math" panose="02040503050406030204" pitchFamily="18" charset="0"/>
                                </a:rPr>
                                <m:t>𝑙</m:t>
                              </m:r>
                              <m:r>
                                <a:rPr lang="en-IN" sz="1400" i="1">
                                  <a:latin typeface="Cambria Math" panose="02040503050406030204" pitchFamily="18" charset="0"/>
                                </a:rPr>
                                <m:t>)</m:t>
                              </m:r>
                            </m:sup>
                          </m:sSubSup>
                          <m:r>
                            <m:rPr>
                              <m:nor/>
                            </m:rPr>
                            <a:rPr lang="en-IN" sz="1400" dirty="0"/>
                            <m:t> </m:t>
                          </m:r>
                        </m:e>
                      </m:d>
                    </m:oMath>
                  </m:oMathPara>
                </a14:m>
                <a:endParaRPr lang="en-IN" sz="1400" dirty="0"/>
              </a:p>
            </p:txBody>
          </p:sp>
        </mc:Choice>
        <mc:Fallback xmlns="">
          <p:sp>
            <p:nvSpPr>
              <p:cNvPr id="87" name="Rectangle 86"/>
              <p:cNvSpPr>
                <a:spLocks noRot="1" noChangeAspect="1" noMove="1" noResize="1" noEditPoints="1" noAdjustHandles="1" noChangeArrowheads="1" noChangeShapeType="1" noTextEdit="1"/>
              </p:cNvSpPr>
              <p:nvPr/>
            </p:nvSpPr>
            <p:spPr>
              <a:xfrm>
                <a:off x="1839039" y="1683743"/>
                <a:ext cx="739753" cy="413190"/>
              </a:xfrm>
              <a:prstGeom prst="rect">
                <a:avLst/>
              </a:prstGeom>
              <a:blipFill rotWithShape="0">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0" name="Rectangle 89"/>
              <p:cNvSpPr/>
              <p:nvPr/>
            </p:nvSpPr>
            <p:spPr>
              <a:xfrm>
                <a:off x="1826327" y="1319907"/>
                <a:ext cx="782073" cy="4131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i="1" smtClean="0">
                              <a:latin typeface="Cambria Math" panose="02040503050406030204" pitchFamily="18" charset="0"/>
                            </a:rPr>
                          </m:ctrlPr>
                        </m:dPr>
                        <m:e>
                          <m:sSubSup>
                            <m:sSubSupPr>
                              <m:ctrlPr>
                                <a:rPr lang="en-US" sz="1400" i="1">
                                  <a:latin typeface="Cambria Math" panose="02040503050406030204" pitchFamily="18" charset="0"/>
                                </a:rPr>
                              </m:ctrlPr>
                            </m:sSubSupPr>
                            <m:e>
                              <m:r>
                                <a:rPr lang="en-IN" sz="1400" b="1" i="1">
                                  <a:latin typeface="Cambria Math" panose="02040503050406030204" pitchFamily="18" charset="0"/>
                                </a:rPr>
                                <m:t>𝑾</m:t>
                              </m:r>
                            </m:e>
                            <m:sub>
                              <m:r>
                                <a:rPr lang="en-IN" sz="1400" b="0" i="1" smtClean="0">
                                  <a:latin typeface="Cambria Math" panose="02040503050406030204" pitchFamily="18" charset="0"/>
                                </a:rPr>
                                <m:t>𝑚</m:t>
                              </m:r>
                              <m:r>
                                <a:rPr lang="en-IN" sz="1400" i="1">
                                  <a:latin typeface="Cambria Math" panose="02040503050406030204" pitchFamily="18" charset="0"/>
                                </a:rPr>
                                <m:t>,</m:t>
                              </m:r>
                              <m:r>
                                <a:rPr lang="en-IN" sz="1400" b="0" i="1" smtClean="0">
                                  <a:latin typeface="Cambria Math" panose="02040503050406030204" pitchFamily="18" charset="0"/>
                                </a:rPr>
                                <m:t>𝑖</m:t>
                              </m:r>
                            </m:sub>
                            <m:sup>
                              <m:r>
                                <a:rPr lang="en-IN" sz="1400" i="1">
                                  <a:latin typeface="Cambria Math" panose="02040503050406030204" pitchFamily="18" charset="0"/>
                                </a:rPr>
                                <m:t>(</m:t>
                              </m:r>
                              <m:r>
                                <a:rPr lang="en-IN" sz="1400" i="1">
                                  <a:latin typeface="Cambria Math" panose="02040503050406030204" pitchFamily="18" charset="0"/>
                                </a:rPr>
                                <m:t>𝑙</m:t>
                              </m:r>
                              <m:r>
                                <a:rPr lang="en-IN" sz="1400" i="1">
                                  <a:latin typeface="Cambria Math" panose="02040503050406030204" pitchFamily="18" charset="0"/>
                                </a:rPr>
                                <m:t>)</m:t>
                              </m:r>
                            </m:sup>
                          </m:sSubSup>
                          <m:r>
                            <m:rPr>
                              <m:nor/>
                            </m:rPr>
                            <a:rPr lang="en-IN" sz="1400" dirty="0"/>
                            <m:t> </m:t>
                          </m:r>
                        </m:e>
                      </m:d>
                    </m:oMath>
                  </m:oMathPara>
                </a14:m>
                <a:endParaRPr lang="en-IN" sz="1400" dirty="0"/>
              </a:p>
            </p:txBody>
          </p:sp>
        </mc:Choice>
        <mc:Fallback xmlns="">
          <p:sp>
            <p:nvSpPr>
              <p:cNvPr id="90" name="Rectangle 89"/>
              <p:cNvSpPr>
                <a:spLocks noRot="1" noChangeAspect="1" noMove="1" noResize="1" noEditPoints="1" noAdjustHandles="1" noChangeArrowheads="1" noChangeShapeType="1" noTextEdit="1"/>
              </p:cNvSpPr>
              <p:nvPr/>
            </p:nvSpPr>
            <p:spPr>
              <a:xfrm>
                <a:off x="1826327" y="1319907"/>
                <a:ext cx="782073" cy="413190"/>
              </a:xfrm>
              <a:prstGeom prst="rect">
                <a:avLst/>
              </a:prstGeom>
              <a:blipFill rotWithShape="0">
                <a:blip r:embed="rId20"/>
                <a:stretch>
                  <a:fillRect/>
                </a:stretch>
              </a:blipFill>
            </p:spPr>
            <p:txBody>
              <a:bodyPr/>
              <a:lstStyle/>
              <a:p>
                <a:r>
                  <a:rPr lang="en-IN">
                    <a:noFill/>
                  </a:rPr>
                  <a:t> </a:t>
                </a:r>
              </a:p>
            </p:txBody>
          </p:sp>
        </mc:Fallback>
      </mc:AlternateContent>
      <p:cxnSp>
        <p:nvCxnSpPr>
          <p:cNvPr id="91" name="Straight Connector 90"/>
          <p:cNvCxnSpPr>
            <a:stCxn id="85" idx="1"/>
            <a:endCxn id="85" idx="3"/>
          </p:cNvCxnSpPr>
          <p:nvPr/>
        </p:nvCxnSpPr>
        <p:spPr>
          <a:xfrm>
            <a:off x="1902157" y="1711150"/>
            <a:ext cx="595401" cy="0"/>
          </a:xfrm>
          <a:prstGeom prst="line">
            <a:avLst/>
          </a:prstGeom>
        </p:spPr>
        <p:style>
          <a:lnRef idx="1">
            <a:schemeClr val="dk1"/>
          </a:lnRef>
          <a:fillRef idx="0">
            <a:schemeClr val="dk1"/>
          </a:fillRef>
          <a:effectRef idx="0">
            <a:schemeClr val="dk1"/>
          </a:effectRef>
          <a:fontRef idx="minor">
            <a:schemeClr val="tx1"/>
          </a:fontRef>
        </p:style>
      </p:cxnSp>
      <p:cxnSp>
        <p:nvCxnSpPr>
          <p:cNvPr id="92" name="Straight Connector 91"/>
          <p:cNvCxnSpPr/>
          <p:nvPr/>
        </p:nvCxnSpPr>
        <p:spPr>
          <a:xfrm flipH="1">
            <a:off x="2207838" y="2050719"/>
            <a:ext cx="1077" cy="468000"/>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3" name="Rectangle 92"/>
              <p:cNvSpPr/>
              <p:nvPr/>
            </p:nvSpPr>
            <p:spPr>
              <a:xfrm>
                <a:off x="3477225" y="1542214"/>
                <a:ext cx="547778" cy="4057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IN" sz="1600" i="1" smtClean="0">
                              <a:latin typeface="Cambria Math" panose="02040503050406030204" pitchFamily="18" charset="0"/>
                            </a:rPr>
                          </m:ctrlPr>
                        </m:sSubSupPr>
                        <m:e>
                          <m:r>
                            <a:rPr lang="en-IN" sz="1600" b="1" i="1" smtClean="0">
                              <a:latin typeface="Cambria Math" panose="02040503050406030204" pitchFamily="18" charset="0"/>
                            </a:rPr>
                            <m:t>𝒃</m:t>
                          </m:r>
                        </m:e>
                        <m:sub>
                          <m:r>
                            <a:rPr lang="en-IN" sz="1600" b="0" i="1" smtClean="0">
                              <a:latin typeface="Cambria Math" panose="02040503050406030204" pitchFamily="18" charset="0"/>
                            </a:rPr>
                            <m:t>𝑖</m:t>
                          </m:r>
                        </m:sub>
                        <m:sup>
                          <m:r>
                            <a:rPr lang="en-IN" sz="1600" b="0" i="1" smtClean="0">
                              <a:latin typeface="Cambria Math" panose="02040503050406030204" pitchFamily="18" charset="0"/>
                            </a:rPr>
                            <m:t>(</m:t>
                          </m:r>
                          <m:r>
                            <a:rPr lang="en-IN" sz="1600" b="0" i="1" smtClean="0">
                              <a:latin typeface="Cambria Math" panose="02040503050406030204" pitchFamily="18" charset="0"/>
                            </a:rPr>
                            <m:t>𝑙</m:t>
                          </m:r>
                          <m:r>
                            <a:rPr lang="en-IN" sz="1600" b="0" i="1" smtClean="0">
                              <a:latin typeface="Cambria Math" panose="02040503050406030204" pitchFamily="18" charset="0"/>
                            </a:rPr>
                            <m:t>)</m:t>
                          </m:r>
                        </m:sup>
                      </m:sSubSup>
                    </m:oMath>
                  </m:oMathPara>
                </a14:m>
                <a:endParaRPr lang="en-IN" sz="1600" dirty="0"/>
              </a:p>
            </p:txBody>
          </p:sp>
        </mc:Choice>
        <mc:Fallback xmlns="">
          <p:sp>
            <p:nvSpPr>
              <p:cNvPr id="93" name="Rectangle 92"/>
              <p:cNvSpPr>
                <a:spLocks noRot="1" noChangeAspect="1" noMove="1" noResize="1" noEditPoints="1" noAdjustHandles="1" noChangeArrowheads="1" noChangeShapeType="1" noTextEdit="1"/>
              </p:cNvSpPr>
              <p:nvPr/>
            </p:nvSpPr>
            <p:spPr>
              <a:xfrm>
                <a:off x="3477225" y="1542214"/>
                <a:ext cx="547778" cy="405752"/>
              </a:xfrm>
              <a:prstGeom prst="rect">
                <a:avLst/>
              </a:prstGeom>
              <a:blipFill rotWithShape="0">
                <a:blip r:embed="rId21"/>
                <a:stretch>
                  <a:fillRect/>
                </a:stretch>
              </a:blipFill>
            </p:spPr>
            <p:txBody>
              <a:bodyPr/>
              <a:lstStyle/>
              <a:p>
                <a:r>
                  <a:rPr lang="en-IN">
                    <a:noFill/>
                  </a:rPr>
                  <a:t> </a:t>
                </a:r>
              </a:p>
            </p:txBody>
          </p:sp>
        </mc:Fallback>
      </mc:AlternateContent>
      <p:cxnSp>
        <p:nvCxnSpPr>
          <p:cNvPr id="94" name="Straight Connector 93"/>
          <p:cNvCxnSpPr/>
          <p:nvPr/>
        </p:nvCxnSpPr>
        <p:spPr>
          <a:xfrm flipH="1">
            <a:off x="3747741" y="2078052"/>
            <a:ext cx="1077" cy="468000"/>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670742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1861073" y="832857"/>
            <a:ext cx="8509299"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err="1">
                <a:solidFill>
                  <a:srgbClr val="434343"/>
                </a:solidFill>
              </a:rPr>
              <a:t>Backpropagation</a:t>
            </a:r>
            <a:endParaRPr sz="2800" dirty="0">
              <a:solidFill>
                <a:srgbClr val="434343"/>
              </a:solidFill>
            </a:endParaRPr>
          </a:p>
        </p:txBody>
      </p:sp>
      <p:sp>
        <p:nvSpPr>
          <p:cNvPr id="3" name="Footer Placeholder 2"/>
          <p:cNvSpPr>
            <a:spLocks noGrp="1"/>
          </p:cNvSpPr>
          <p:nvPr>
            <p:ph type="ftr" sz="quarter" idx="3"/>
          </p:nvPr>
        </p:nvSpPr>
        <p:spPr>
          <a:xfrm>
            <a:off x="2199486" y="6356350"/>
            <a:ext cx="8167606" cy="365125"/>
          </a:xfrm>
        </p:spPr>
        <p:txBody>
          <a:bodyPr/>
          <a:lstStyle/>
          <a:p>
            <a:r>
              <a:rPr lang="en-US"/>
              <a:t>CS21206 / FAIML | Perceptron and MLP (c) Abir Das, Ayan Chaudhury</a:t>
            </a:r>
          </a:p>
        </p:txBody>
      </p:sp>
      <p:sp>
        <p:nvSpPr>
          <p:cNvPr id="21" name="Slide Number Placeholder 20"/>
          <p:cNvSpPr>
            <a:spLocks noGrp="1"/>
          </p:cNvSpPr>
          <p:nvPr>
            <p:ph type="sldNum" sz="quarter" idx="4"/>
          </p:nvPr>
        </p:nvSpPr>
        <p:spPr>
          <a:xfrm>
            <a:off x="10757133" y="6356350"/>
            <a:ext cx="783956" cy="365125"/>
          </a:xfrm>
        </p:spPr>
        <p:txBody>
          <a:bodyPr/>
          <a:lstStyle/>
          <a:p>
            <a:fld id="{683B8651-0143-4140-839E-3D36292080E8}" type="slidenum">
              <a:rPr lang="en-US" smtClean="0"/>
              <a:t>35</a:t>
            </a:fld>
            <a:endParaRPr lang="en-US"/>
          </a:p>
        </p:txBody>
      </p:sp>
      <p:sp>
        <p:nvSpPr>
          <p:cNvPr id="62" name="Rectangle 61"/>
          <p:cNvSpPr/>
          <p:nvPr/>
        </p:nvSpPr>
        <p:spPr>
          <a:xfrm>
            <a:off x="804453" y="2522167"/>
            <a:ext cx="727824"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63" name="TextBox 62"/>
              <p:cNvSpPr txBox="1"/>
              <p:nvPr/>
            </p:nvSpPr>
            <p:spPr>
              <a:xfrm>
                <a:off x="860017" y="2864203"/>
                <a:ext cx="632930" cy="38036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Sup>
                        <m:sSubSupPr>
                          <m:ctrlPr>
                            <a:rPr lang="en-IN" i="1" dirty="0">
                              <a:latin typeface="Cambria Math" panose="02040503050406030204" pitchFamily="18" charset="0"/>
                            </a:rPr>
                          </m:ctrlPr>
                        </m:sSubSupPr>
                        <m:e>
                          <m:r>
                            <a:rPr lang="en-US" b="1" i="1" dirty="0">
                              <a:latin typeface="Cambria Math" panose="02040503050406030204" pitchFamily="18" charset="0"/>
                            </a:rPr>
                            <m:t>𝒉</m:t>
                          </m:r>
                        </m:e>
                        <m:sub>
                          <m:r>
                            <a:rPr lang="en-US" i="1" dirty="0">
                              <a:latin typeface="Cambria Math" panose="02040503050406030204" pitchFamily="18" charset="0"/>
                            </a:rPr>
                            <m:t>𝑗</m:t>
                          </m:r>
                        </m:sub>
                        <m:sup>
                          <m:d>
                            <m:dPr>
                              <m:ctrlPr>
                                <a:rPr lang="en-US" i="1" dirty="0">
                                  <a:latin typeface="Cambria Math" panose="02040503050406030204" pitchFamily="18" charset="0"/>
                                </a:rPr>
                              </m:ctrlPr>
                            </m:dPr>
                            <m:e>
                              <m:r>
                                <a:rPr lang="en-US" i="1" dirty="0">
                                  <a:latin typeface="Cambria Math" panose="02040503050406030204" pitchFamily="18" charset="0"/>
                                </a:rPr>
                                <m:t>𝑙</m:t>
                              </m:r>
                              <m:r>
                                <a:rPr lang="en-US" i="1" dirty="0">
                                  <a:latin typeface="Cambria Math" panose="02040503050406030204" pitchFamily="18" charset="0"/>
                                </a:rPr>
                                <m:t>−1</m:t>
                              </m:r>
                            </m:e>
                          </m:d>
                        </m:sup>
                      </m:sSubSup>
                    </m:oMath>
                  </m:oMathPara>
                </a14:m>
                <a:endParaRPr lang="en-IN" dirty="0">
                  <a:solidFill>
                    <a:schemeClr val="tx1"/>
                  </a:solidFill>
                </a:endParaRPr>
              </a:p>
            </p:txBody>
          </p:sp>
        </mc:Choice>
        <mc:Fallback xmlns="">
          <p:sp>
            <p:nvSpPr>
              <p:cNvPr id="63" name="TextBox 62"/>
              <p:cNvSpPr txBox="1">
                <a:spLocks noRot="1" noChangeAspect="1" noMove="1" noResize="1" noEditPoints="1" noAdjustHandles="1" noChangeArrowheads="1" noChangeShapeType="1" noTextEdit="1"/>
              </p:cNvSpPr>
              <p:nvPr/>
            </p:nvSpPr>
            <p:spPr>
              <a:xfrm>
                <a:off x="860017" y="2864203"/>
                <a:ext cx="632930" cy="380361"/>
              </a:xfrm>
              <a:prstGeom prst="rect">
                <a:avLst/>
              </a:prstGeom>
              <a:blipFill rotWithShape="0">
                <a:blip r:embed="rId3"/>
                <a:stretch>
                  <a:fillRect l="-13462" b="-20968"/>
                </a:stretch>
              </a:blipFill>
            </p:spPr>
            <p:txBody>
              <a:bodyPr/>
              <a:lstStyle/>
              <a:p>
                <a:r>
                  <a:rPr lang="en-IN">
                    <a:noFill/>
                  </a:rPr>
                  <a:t> </a:t>
                </a:r>
              </a:p>
            </p:txBody>
          </p:sp>
        </mc:Fallback>
      </mc:AlternateContent>
      <p:cxnSp>
        <p:nvCxnSpPr>
          <p:cNvPr id="64" name="Straight Arrow Connector 63"/>
          <p:cNvCxnSpPr>
            <a:stCxn id="62" idx="3"/>
            <a:endCxn id="65" idx="1"/>
          </p:cNvCxnSpPr>
          <p:nvPr/>
        </p:nvCxnSpPr>
        <p:spPr>
          <a:xfrm>
            <a:off x="1532277" y="3023435"/>
            <a:ext cx="548076" cy="0"/>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65" name="Rectangle 64"/>
          <p:cNvSpPr/>
          <p:nvPr/>
        </p:nvSpPr>
        <p:spPr>
          <a:xfrm>
            <a:off x="2080353" y="2522167"/>
            <a:ext cx="319605" cy="1002535"/>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cxnSp>
        <p:nvCxnSpPr>
          <p:cNvPr id="66" name="Straight Arrow Connector 65"/>
          <p:cNvCxnSpPr/>
          <p:nvPr/>
        </p:nvCxnSpPr>
        <p:spPr>
          <a:xfrm>
            <a:off x="573690" y="3053926"/>
            <a:ext cx="222057" cy="0"/>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65" idx="3"/>
            <a:endCxn id="68" idx="1"/>
          </p:cNvCxnSpPr>
          <p:nvPr/>
        </p:nvCxnSpPr>
        <p:spPr>
          <a:xfrm>
            <a:off x="2399958" y="3023435"/>
            <a:ext cx="1180085" cy="7489"/>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68" name="Rectangle 67"/>
          <p:cNvSpPr/>
          <p:nvPr/>
        </p:nvSpPr>
        <p:spPr>
          <a:xfrm>
            <a:off x="3580043" y="2529656"/>
            <a:ext cx="319605" cy="1002535"/>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sp>
        <p:nvSpPr>
          <p:cNvPr id="69" name="Rectangle 68"/>
          <p:cNvSpPr/>
          <p:nvPr/>
        </p:nvSpPr>
        <p:spPr>
          <a:xfrm>
            <a:off x="4827363" y="2529656"/>
            <a:ext cx="385591"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70" name="TextBox 69"/>
              <p:cNvSpPr txBox="1"/>
              <p:nvPr/>
            </p:nvSpPr>
            <p:spPr>
              <a:xfrm>
                <a:off x="4828970" y="2874834"/>
                <a:ext cx="411266" cy="3525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i="1" smtClean="0">
                              <a:latin typeface="Cambria Math" panose="02040503050406030204" pitchFamily="18" charset="0"/>
                            </a:rPr>
                          </m:ctrlPr>
                        </m:sSubSupPr>
                        <m:e>
                          <m:r>
                            <a:rPr lang="en-IN" b="1" i="1" smtClean="0">
                              <a:latin typeface="Cambria Math" panose="02040503050406030204" pitchFamily="18" charset="0"/>
                            </a:rPr>
                            <m:t>𝒂</m:t>
                          </m:r>
                        </m:e>
                        <m:sub>
                          <m:r>
                            <a:rPr lang="en-IN" b="0" i="1" smtClean="0">
                              <a:latin typeface="Cambria Math" panose="02040503050406030204" pitchFamily="18" charset="0"/>
                            </a:rPr>
                            <m:t>𝑖</m:t>
                          </m:r>
                        </m:sub>
                        <m:sup>
                          <m:r>
                            <a:rPr lang="en-IN" b="0" i="1" smtClean="0">
                              <a:latin typeface="Cambria Math" panose="02040503050406030204" pitchFamily="18" charset="0"/>
                            </a:rPr>
                            <m:t>(</m:t>
                          </m:r>
                          <m:r>
                            <a:rPr lang="en-IN" b="0" i="1" smtClean="0">
                              <a:latin typeface="Cambria Math" panose="02040503050406030204" pitchFamily="18" charset="0"/>
                            </a:rPr>
                            <m:t>𝑙</m:t>
                          </m:r>
                          <m:r>
                            <a:rPr lang="en-IN" b="0" i="1" smtClean="0">
                              <a:latin typeface="Cambria Math" panose="02040503050406030204" pitchFamily="18" charset="0"/>
                            </a:rPr>
                            <m:t>)</m:t>
                          </m:r>
                        </m:sup>
                      </m:sSubSup>
                    </m:oMath>
                  </m:oMathPara>
                </a14:m>
                <a:endParaRPr lang="en-IN" dirty="0"/>
              </a:p>
            </p:txBody>
          </p:sp>
        </mc:Choice>
        <mc:Fallback xmlns="">
          <p:sp>
            <p:nvSpPr>
              <p:cNvPr id="70" name="TextBox 69"/>
              <p:cNvSpPr txBox="1">
                <a:spLocks noRot="1" noChangeAspect="1" noMove="1" noResize="1" noEditPoints="1" noAdjustHandles="1" noChangeArrowheads="1" noChangeShapeType="1" noTextEdit="1"/>
              </p:cNvSpPr>
              <p:nvPr/>
            </p:nvSpPr>
            <p:spPr>
              <a:xfrm>
                <a:off x="4828970" y="2874834"/>
                <a:ext cx="411266" cy="352597"/>
              </a:xfrm>
              <a:prstGeom prst="rect">
                <a:avLst/>
              </a:prstGeom>
              <a:blipFill rotWithShape="0">
                <a:blip r:embed="rId4"/>
                <a:stretch>
                  <a:fillRect l="-7353" t="-3509" r="-11765" b="-19298"/>
                </a:stretch>
              </a:blipFill>
            </p:spPr>
            <p:txBody>
              <a:bodyPr/>
              <a:lstStyle/>
              <a:p>
                <a:r>
                  <a:rPr lang="en-IN">
                    <a:noFill/>
                  </a:rPr>
                  <a:t> </a:t>
                </a:r>
              </a:p>
            </p:txBody>
          </p:sp>
        </mc:Fallback>
      </mc:AlternateContent>
      <p:cxnSp>
        <p:nvCxnSpPr>
          <p:cNvPr id="71" name="Straight Arrow Connector 70"/>
          <p:cNvCxnSpPr>
            <a:stCxn id="68" idx="3"/>
            <a:endCxn id="69" idx="1"/>
          </p:cNvCxnSpPr>
          <p:nvPr/>
        </p:nvCxnSpPr>
        <p:spPr>
          <a:xfrm>
            <a:off x="3899648" y="3030924"/>
            <a:ext cx="927715" cy="0"/>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72" name="Rectangle 71"/>
          <p:cNvSpPr/>
          <p:nvPr/>
        </p:nvSpPr>
        <p:spPr>
          <a:xfrm>
            <a:off x="6022334" y="2529656"/>
            <a:ext cx="441547" cy="1002535"/>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73" name="TextBox 72"/>
              <p:cNvSpPr txBox="1"/>
              <p:nvPr/>
            </p:nvSpPr>
            <p:spPr>
              <a:xfrm>
                <a:off x="6006899" y="2888679"/>
                <a:ext cx="4768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r>
                        <a:rPr lang="en-US" b="0" i="1" smtClean="0">
                          <a:latin typeface="Cambria Math" panose="02040503050406030204" pitchFamily="18" charset="0"/>
                        </a:rPr>
                        <m:t>(.)</m:t>
                      </m:r>
                    </m:oMath>
                  </m:oMathPara>
                </a14:m>
                <a:endParaRPr lang="en-IN" dirty="0"/>
              </a:p>
            </p:txBody>
          </p:sp>
        </mc:Choice>
        <mc:Fallback xmlns="">
          <p:sp>
            <p:nvSpPr>
              <p:cNvPr id="73" name="TextBox 72"/>
              <p:cNvSpPr txBox="1">
                <a:spLocks noRot="1" noChangeAspect="1" noMove="1" noResize="1" noEditPoints="1" noAdjustHandles="1" noChangeArrowheads="1" noChangeShapeType="1" noTextEdit="1"/>
              </p:cNvSpPr>
              <p:nvPr/>
            </p:nvSpPr>
            <p:spPr>
              <a:xfrm>
                <a:off x="6006899" y="2888679"/>
                <a:ext cx="476862" cy="276999"/>
              </a:xfrm>
              <a:prstGeom prst="rect">
                <a:avLst/>
              </a:prstGeom>
              <a:blipFill rotWithShape="0">
                <a:blip r:embed="rId5"/>
                <a:stretch>
                  <a:fillRect l="-11392" t="-2222" r="-16456" b="-3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2148112" y="2890757"/>
                <a:ext cx="21800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74" name="TextBox 73"/>
              <p:cNvSpPr txBox="1">
                <a:spLocks noRot="1" noChangeAspect="1" noMove="1" noResize="1" noEditPoints="1" noAdjustHandles="1" noChangeArrowheads="1" noChangeShapeType="1" noTextEdit="1"/>
              </p:cNvSpPr>
              <p:nvPr/>
            </p:nvSpPr>
            <p:spPr>
              <a:xfrm>
                <a:off x="2148112" y="2890757"/>
                <a:ext cx="218008" cy="276999"/>
              </a:xfrm>
              <a:prstGeom prst="rect">
                <a:avLst/>
              </a:prstGeom>
              <a:blipFill rotWithShape="0">
                <a:blip r:embed="rId6"/>
                <a:stretch>
                  <a:fillRect l="-19444" r="-1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3632163" y="2892424"/>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75" name="TextBox 74"/>
              <p:cNvSpPr txBox="1">
                <a:spLocks noRot="1" noChangeAspect="1" noMove="1" noResize="1" noEditPoints="1" noAdjustHandles="1" noChangeArrowheads="1" noChangeShapeType="1" noTextEdit="1"/>
              </p:cNvSpPr>
              <p:nvPr/>
            </p:nvSpPr>
            <p:spPr>
              <a:xfrm>
                <a:off x="3632163" y="2892424"/>
                <a:ext cx="226024" cy="276999"/>
              </a:xfrm>
              <a:prstGeom prst="rect">
                <a:avLst/>
              </a:prstGeom>
              <a:blipFill rotWithShape="0">
                <a:blip r:embed="rId7"/>
                <a:stretch>
                  <a:fillRect l="-24324" r="-18919" b="-6522"/>
                </a:stretch>
              </a:blipFill>
            </p:spPr>
            <p:txBody>
              <a:bodyPr/>
              <a:lstStyle/>
              <a:p>
                <a:r>
                  <a:rPr lang="en-IN">
                    <a:noFill/>
                  </a:rPr>
                  <a:t> </a:t>
                </a:r>
              </a:p>
            </p:txBody>
          </p:sp>
        </mc:Fallback>
      </mc:AlternateContent>
      <p:cxnSp>
        <p:nvCxnSpPr>
          <p:cNvPr id="76" name="Straight Arrow Connector 75"/>
          <p:cNvCxnSpPr>
            <a:endCxn id="72" idx="1"/>
          </p:cNvCxnSpPr>
          <p:nvPr/>
        </p:nvCxnSpPr>
        <p:spPr>
          <a:xfrm>
            <a:off x="5212954" y="3023435"/>
            <a:ext cx="809380" cy="7489"/>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77" name="Rectangle 76"/>
          <p:cNvSpPr/>
          <p:nvPr/>
        </p:nvSpPr>
        <p:spPr>
          <a:xfrm>
            <a:off x="7147521" y="2529656"/>
            <a:ext cx="727824"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8" name="Straight Arrow Connector 77"/>
          <p:cNvCxnSpPr>
            <a:stCxn id="72" idx="3"/>
            <a:endCxn id="77" idx="1"/>
          </p:cNvCxnSpPr>
          <p:nvPr/>
        </p:nvCxnSpPr>
        <p:spPr>
          <a:xfrm>
            <a:off x="6463881" y="3030924"/>
            <a:ext cx="683640" cy="0"/>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7894376" y="3030924"/>
            <a:ext cx="222057" cy="0"/>
          </a:xfrm>
          <a:prstGeom prst="straightConnector1">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82" name="Rectangle 81"/>
          <p:cNvSpPr/>
          <p:nvPr/>
        </p:nvSpPr>
        <p:spPr>
          <a:xfrm>
            <a:off x="6022334" y="4103245"/>
            <a:ext cx="441547" cy="1002535"/>
          </a:xfrm>
          <a:prstGeom prst="rect">
            <a:avLst/>
          </a:prstGeom>
          <a:ln w="127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84" name="TextBox 83"/>
              <p:cNvSpPr txBox="1"/>
              <p:nvPr/>
            </p:nvSpPr>
            <p:spPr>
              <a:xfrm>
                <a:off x="5995882" y="4462268"/>
                <a:ext cx="5321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r>
                        <a:rPr lang="en-IN" b="0" i="1" smtClean="0">
                          <a:latin typeface="Cambria Math" panose="02040503050406030204" pitchFamily="18" charset="0"/>
                        </a:rPr>
                        <m:t>′</m:t>
                      </m:r>
                      <m:r>
                        <a:rPr lang="en-US" b="0" i="1" smtClean="0">
                          <a:latin typeface="Cambria Math" panose="02040503050406030204" pitchFamily="18" charset="0"/>
                        </a:rPr>
                        <m:t>(.)</m:t>
                      </m:r>
                    </m:oMath>
                  </m:oMathPara>
                </a14:m>
                <a:endParaRPr lang="en-IN" dirty="0"/>
              </a:p>
            </p:txBody>
          </p:sp>
        </mc:Choice>
        <mc:Fallback xmlns="">
          <p:sp>
            <p:nvSpPr>
              <p:cNvPr id="84" name="TextBox 83"/>
              <p:cNvSpPr txBox="1">
                <a:spLocks noRot="1" noChangeAspect="1" noMove="1" noResize="1" noEditPoints="1" noAdjustHandles="1" noChangeArrowheads="1" noChangeShapeType="1" noTextEdit="1"/>
              </p:cNvSpPr>
              <p:nvPr/>
            </p:nvSpPr>
            <p:spPr>
              <a:xfrm>
                <a:off x="5995882" y="4462268"/>
                <a:ext cx="532197" cy="276999"/>
              </a:xfrm>
              <a:prstGeom prst="rect">
                <a:avLst/>
              </a:prstGeom>
              <a:blipFill rotWithShape="0">
                <a:blip r:embed="rId8"/>
                <a:stretch>
                  <a:fillRect l="-10345" t="-4444" r="-16092" b="-35556"/>
                </a:stretch>
              </a:blipFill>
            </p:spPr>
            <p:txBody>
              <a:bodyPr/>
              <a:lstStyle/>
              <a:p>
                <a:r>
                  <a:rPr lang="en-IN">
                    <a:noFill/>
                  </a:rPr>
                  <a:t> </a:t>
                </a:r>
              </a:p>
            </p:txBody>
          </p:sp>
        </mc:Fallback>
      </mc:AlternateContent>
      <p:cxnSp>
        <p:nvCxnSpPr>
          <p:cNvPr id="24" name="Curved Connector 23"/>
          <p:cNvCxnSpPr>
            <a:stCxn id="69" idx="2"/>
            <a:endCxn id="82" idx="0"/>
          </p:cNvCxnSpPr>
          <p:nvPr/>
        </p:nvCxnSpPr>
        <p:spPr>
          <a:xfrm rot="16200000" flipH="1">
            <a:off x="5346106" y="3206243"/>
            <a:ext cx="571054" cy="1222949"/>
          </a:xfrm>
          <a:prstGeom prst="curvedConnector3">
            <a:avLst>
              <a:gd name="adj1" fmla="val 48071"/>
            </a:avLst>
          </a:prstGeom>
          <a:ln w="28575"/>
        </p:spPr>
        <p:style>
          <a:lnRef idx="1">
            <a:schemeClr val="dk1"/>
          </a:lnRef>
          <a:fillRef idx="0">
            <a:schemeClr val="dk1"/>
          </a:fillRef>
          <a:effectRef idx="0">
            <a:schemeClr val="dk1"/>
          </a:effectRef>
          <a:fontRef idx="minor">
            <a:schemeClr val="tx1"/>
          </a:fontRef>
        </p:style>
      </p:cxnSp>
      <p:sp>
        <p:nvSpPr>
          <p:cNvPr id="88" name="Rectangle 87"/>
          <p:cNvSpPr/>
          <p:nvPr/>
        </p:nvSpPr>
        <p:spPr>
          <a:xfrm>
            <a:off x="6011317" y="5419334"/>
            <a:ext cx="461427" cy="1002535"/>
          </a:xfrm>
          <a:prstGeom prst="rect">
            <a:avLst/>
          </a:prstGeom>
          <a:ln w="127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89" name="TextBox 88"/>
              <p:cNvSpPr txBox="1"/>
              <p:nvPr/>
            </p:nvSpPr>
            <p:spPr>
              <a:xfrm>
                <a:off x="6144043" y="5766887"/>
                <a:ext cx="21800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89" name="TextBox 88"/>
              <p:cNvSpPr txBox="1">
                <a:spLocks noRot="1" noChangeAspect="1" noMove="1" noResize="1" noEditPoints="1" noAdjustHandles="1" noChangeArrowheads="1" noChangeShapeType="1" noTextEdit="1"/>
              </p:cNvSpPr>
              <p:nvPr/>
            </p:nvSpPr>
            <p:spPr>
              <a:xfrm>
                <a:off x="6144043" y="5766887"/>
                <a:ext cx="218008" cy="276999"/>
              </a:xfrm>
              <a:prstGeom prst="rect">
                <a:avLst/>
              </a:prstGeom>
              <a:blipFill rotWithShape="0">
                <a:blip r:embed="rId9"/>
                <a:stretch>
                  <a:fillRect l="-19444" r="-16667" b="-2222"/>
                </a:stretch>
              </a:blipFill>
            </p:spPr>
            <p:txBody>
              <a:bodyPr/>
              <a:lstStyle/>
              <a:p>
                <a:r>
                  <a:rPr lang="en-IN">
                    <a:noFill/>
                  </a:rPr>
                  <a:t> </a:t>
                </a:r>
              </a:p>
            </p:txBody>
          </p:sp>
        </mc:Fallback>
      </mc:AlternateContent>
      <p:cxnSp>
        <p:nvCxnSpPr>
          <p:cNvPr id="28" name="Straight Connector 27"/>
          <p:cNvCxnSpPr>
            <a:stCxn id="82" idx="2"/>
            <a:endCxn id="88" idx="0"/>
          </p:cNvCxnSpPr>
          <p:nvPr/>
        </p:nvCxnSpPr>
        <p:spPr>
          <a:xfrm flipH="1">
            <a:off x="6242031" y="5105780"/>
            <a:ext cx="1077" cy="313554"/>
          </a:xfrm>
          <a:prstGeom prst="line">
            <a:avLst/>
          </a:prstGeom>
          <a:ln w="28575"/>
        </p:spPr>
        <p:style>
          <a:lnRef idx="1">
            <a:schemeClr val="dk1"/>
          </a:lnRef>
          <a:fillRef idx="0">
            <a:schemeClr val="dk1"/>
          </a:fillRef>
          <a:effectRef idx="0">
            <a:schemeClr val="dk1"/>
          </a:effectRef>
          <a:fontRef idx="minor">
            <a:schemeClr val="tx1"/>
          </a:fontRef>
        </p:style>
      </p:cxnSp>
      <p:sp>
        <p:nvSpPr>
          <p:cNvPr id="98" name="Rectangle 97"/>
          <p:cNvSpPr/>
          <p:nvPr/>
        </p:nvSpPr>
        <p:spPr>
          <a:xfrm>
            <a:off x="7145806" y="5416531"/>
            <a:ext cx="727824" cy="10025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99" name="TextBox 98"/>
              <p:cNvSpPr txBox="1"/>
              <p:nvPr/>
            </p:nvSpPr>
            <p:spPr>
              <a:xfrm>
                <a:off x="7271445" y="5635177"/>
                <a:ext cx="486928" cy="593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IN" sz="1600" b="1" i="1" smtClean="0">
                                  <a:latin typeface="Cambria Math" panose="02040503050406030204" pitchFamily="18" charset="0"/>
                                </a:rPr>
                                <m:t>𝒉</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oMath>
                  </m:oMathPara>
                </a14:m>
                <a:endParaRPr lang="en-IN" sz="1600" dirty="0"/>
              </a:p>
            </p:txBody>
          </p:sp>
        </mc:Choice>
        <mc:Fallback xmlns="">
          <p:sp>
            <p:nvSpPr>
              <p:cNvPr id="99" name="TextBox 98"/>
              <p:cNvSpPr txBox="1">
                <a:spLocks noRot="1" noChangeAspect="1" noMove="1" noResize="1" noEditPoints="1" noAdjustHandles="1" noChangeArrowheads="1" noChangeShapeType="1" noTextEdit="1"/>
              </p:cNvSpPr>
              <p:nvPr/>
            </p:nvSpPr>
            <p:spPr>
              <a:xfrm>
                <a:off x="7271445" y="5635177"/>
                <a:ext cx="486928" cy="593496"/>
              </a:xfrm>
              <a:prstGeom prst="rect">
                <a:avLst/>
              </a:prstGeom>
              <a:blipFill rotWithShape="0">
                <a:blip r:embed="rId10"/>
                <a:stretch>
                  <a:fillRect/>
                </a:stretch>
              </a:blipFill>
            </p:spPr>
            <p:txBody>
              <a:bodyPr/>
              <a:lstStyle/>
              <a:p>
                <a:r>
                  <a:rPr lang="en-IN">
                    <a:noFill/>
                  </a:rPr>
                  <a:t> </a:t>
                </a:r>
              </a:p>
            </p:txBody>
          </p:sp>
        </mc:Fallback>
      </mc:AlternateContent>
      <p:cxnSp>
        <p:nvCxnSpPr>
          <p:cNvPr id="101" name="Straight Connector 100"/>
          <p:cNvCxnSpPr>
            <a:stCxn id="98" idx="1"/>
            <a:endCxn id="88" idx="3"/>
          </p:cNvCxnSpPr>
          <p:nvPr/>
        </p:nvCxnSpPr>
        <p:spPr>
          <a:xfrm flipH="1">
            <a:off x="6472744" y="5917799"/>
            <a:ext cx="673062" cy="2803"/>
          </a:xfrm>
          <a:prstGeom prst="line">
            <a:avLst/>
          </a:prstGeom>
          <a:ln w="28575"/>
        </p:spPr>
        <p:style>
          <a:lnRef idx="1">
            <a:schemeClr val="dk1"/>
          </a:lnRef>
          <a:fillRef idx="0">
            <a:schemeClr val="dk1"/>
          </a:fillRef>
          <a:effectRef idx="0">
            <a:schemeClr val="dk1"/>
          </a:effectRef>
          <a:fontRef idx="minor">
            <a:schemeClr val="tx1"/>
          </a:fontRef>
        </p:style>
      </p:cxnSp>
      <p:sp>
        <p:nvSpPr>
          <p:cNvPr id="107" name="Rectangle 106"/>
          <p:cNvSpPr/>
          <p:nvPr/>
        </p:nvSpPr>
        <p:spPr>
          <a:xfrm>
            <a:off x="4610431" y="5424699"/>
            <a:ext cx="727824" cy="1002535"/>
          </a:xfrm>
          <a:prstGeom prst="rect">
            <a:avLst/>
          </a:prstGeom>
          <a:solidFill>
            <a:srgbClr val="FFFF00">
              <a:alpha val="50196"/>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112" name="TextBox 111"/>
              <p:cNvSpPr txBox="1"/>
              <p:nvPr/>
            </p:nvSpPr>
            <p:spPr>
              <a:xfrm>
                <a:off x="4730879" y="5635177"/>
                <a:ext cx="485326" cy="593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IN" sz="1600" b="1" i="1" smtClean="0">
                                  <a:latin typeface="Cambria Math" panose="02040503050406030204" pitchFamily="18" charset="0"/>
                                </a:rPr>
                                <m:t>𝒂</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oMath>
                  </m:oMathPara>
                </a14:m>
                <a:endParaRPr lang="en-IN" sz="1600" dirty="0"/>
              </a:p>
            </p:txBody>
          </p:sp>
        </mc:Choice>
        <mc:Fallback xmlns="">
          <p:sp>
            <p:nvSpPr>
              <p:cNvPr id="112" name="TextBox 111"/>
              <p:cNvSpPr txBox="1">
                <a:spLocks noRot="1" noChangeAspect="1" noMove="1" noResize="1" noEditPoints="1" noAdjustHandles="1" noChangeArrowheads="1" noChangeShapeType="1" noTextEdit="1"/>
              </p:cNvSpPr>
              <p:nvPr/>
            </p:nvSpPr>
            <p:spPr>
              <a:xfrm>
                <a:off x="4730879" y="5635177"/>
                <a:ext cx="485326" cy="593496"/>
              </a:xfrm>
              <a:prstGeom prst="rect">
                <a:avLst/>
              </a:prstGeom>
              <a:blipFill rotWithShape="0">
                <a:blip r:embed="rId11"/>
                <a:stretch>
                  <a:fillRect/>
                </a:stretch>
              </a:blipFill>
            </p:spPr>
            <p:txBody>
              <a:bodyPr/>
              <a:lstStyle/>
              <a:p>
                <a:r>
                  <a:rPr lang="en-IN">
                    <a:noFill/>
                  </a:rPr>
                  <a:t> </a:t>
                </a:r>
              </a:p>
            </p:txBody>
          </p:sp>
        </mc:Fallback>
      </mc:AlternateContent>
      <p:cxnSp>
        <p:nvCxnSpPr>
          <p:cNvPr id="116" name="Straight Connector 115"/>
          <p:cNvCxnSpPr/>
          <p:nvPr/>
        </p:nvCxnSpPr>
        <p:spPr>
          <a:xfrm flipH="1">
            <a:off x="5346501" y="5925966"/>
            <a:ext cx="673062" cy="2803"/>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7" name="Rectangle 116"/>
              <p:cNvSpPr/>
              <p:nvPr/>
            </p:nvSpPr>
            <p:spPr>
              <a:xfrm>
                <a:off x="8434918" y="3540991"/>
                <a:ext cx="2145651" cy="6858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IN" sz="1600" b="1" i="1" smtClean="0">
                                  <a:latin typeface="Cambria Math" panose="02040503050406030204" pitchFamily="18" charset="0"/>
                                </a:rPr>
                                <m:t>𝒂</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r>
                        <a:rPr lang="en-IN" sz="1600" b="0" i="1" smtClean="0">
                          <a:latin typeface="Cambria Math" panose="02040503050406030204" pitchFamily="18" charset="0"/>
                        </a:rPr>
                        <m:t>=</m:t>
                      </m:r>
                      <m:f>
                        <m:fPr>
                          <m:ctrlPr>
                            <a:rPr lang="en-IN" sz="1600" i="1">
                              <a:latin typeface="Cambria Math" panose="02040503050406030204" pitchFamily="18" charset="0"/>
                            </a:rPr>
                          </m:ctrlPr>
                        </m:fPr>
                        <m:num>
                          <m:r>
                            <a:rPr lang="en-IN" sz="1600" i="1">
                              <a:latin typeface="Cambria Math" panose="02040503050406030204" pitchFamily="18" charset="0"/>
                            </a:rPr>
                            <m:t>𝜕</m:t>
                          </m:r>
                          <m:r>
                            <a:rPr lang="en-IN" sz="1600" i="1">
                              <a:latin typeface="Cambria Math" panose="02040503050406030204" pitchFamily="18" charset="0"/>
                            </a:rPr>
                            <m:t>𝐽</m:t>
                          </m:r>
                        </m:num>
                        <m:den>
                          <m:r>
                            <a:rPr lang="en-IN" sz="1600" i="1">
                              <a:latin typeface="Cambria Math" panose="02040503050406030204" pitchFamily="18" charset="0"/>
                            </a:rPr>
                            <m:t>𝜕</m:t>
                          </m:r>
                          <m:sSubSup>
                            <m:sSubSupPr>
                              <m:ctrlPr>
                                <a:rPr lang="en-IN" sz="1600" i="1">
                                  <a:latin typeface="Cambria Math" panose="02040503050406030204" pitchFamily="18" charset="0"/>
                                </a:rPr>
                              </m:ctrlPr>
                            </m:sSubSupPr>
                            <m:e>
                              <m:r>
                                <a:rPr lang="en-IN" sz="1600" b="1" i="1">
                                  <a:latin typeface="Cambria Math" panose="02040503050406030204" pitchFamily="18" charset="0"/>
                                </a:rPr>
                                <m:t>𝒉</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r>
                        <a:rPr lang="en-IN" sz="1600" b="0" i="1" smtClean="0">
                          <a:latin typeface="Cambria Math" panose="02040503050406030204" pitchFamily="18" charset="0"/>
                        </a:rPr>
                        <m:t>𝑔</m:t>
                      </m:r>
                      <m:r>
                        <a:rPr lang="en-IN" sz="1600" b="0" i="1" smtClean="0">
                          <a:latin typeface="Cambria Math" panose="02040503050406030204" pitchFamily="18" charset="0"/>
                        </a:rPr>
                        <m:t>′</m:t>
                      </m:r>
                      <m:d>
                        <m:dPr>
                          <m:ctrlPr>
                            <a:rPr lang="en-IN" sz="1600" b="0" i="1" smtClean="0">
                              <a:latin typeface="Cambria Math" panose="02040503050406030204" pitchFamily="18" charset="0"/>
                            </a:rPr>
                          </m:ctrlPr>
                        </m:dPr>
                        <m:e>
                          <m:sSubSup>
                            <m:sSubSupPr>
                              <m:ctrlPr>
                                <a:rPr lang="en-IN" sz="1600" b="0" i="1" smtClean="0">
                                  <a:latin typeface="Cambria Math" panose="02040503050406030204" pitchFamily="18" charset="0"/>
                                </a:rPr>
                              </m:ctrlPr>
                            </m:sSubSupPr>
                            <m:e>
                              <m:r>
                                <a:rPr lang="en-IN" sz="1600" b="1" i="1" smtClean="0">
                                  <a:latin typeface="Cambria Math" panose="02040503050406030204" pitchFamily="18" charset="0"/>
                                </a:rPr>
                                <m:t>𝒂</m:t>
                              </m:r>
                            </m:e>
                            <m:sub>
                              <m:r>
                                <a:rPr lang="en-IN" sz="1600" b="0" i="1" smtClean="0">
                                  <a:latin typeface="Cambria Math" panose="02040503050406030204" pitchFamily="18" charset="0"/>
                                </a:rPr>
                                <m:t>𝑖</m:t>
                              </m:r>
                            </m:sub>
                            <m:sup>
                              <m:r>
                                <a:rPr lang="en-IN" sz="1600" b="0" i="1" smtClean="0">
                                  <a:latin typeface="Cambria Math" panose="02040503050406030204" pitchFamily="18" charset="0"/>
                                </a:rPr>
                                <m:t>(</m:t>
                              </m:r>
                              <m:r>
                                <a:rPr lang="en-IN" sz="1600" b="0" i="1" smtClean="0">
                                  <a:latin typeface="Cambria Math" panose="02040503050406030204" pitchFamily="18" charset="0"/>
                                </a:rPr>
                                <m:t>𝑙</m:t>
                              </m:r>
                              <m:r>
                                <a:rPr lang="en-IN" sz="1600" b="0" i="1" smtClean="0">
                                  <a:latin typeface="Cambria Math" panose="02040503050406030204" pitchFamily="18" charset="0"/>
                                </a:rPr>
                                <m:t>)</m:t>
                              </m:r>
                            </m:sup>
                          </m:sSubSup>
                        </m:e>
                      </m:d>
                    </m:oMath>
                  </m:oMathPara>
                </a14:m>
                <a:endParaRPr lang="en-IN" sz="1600" dirty="0"/>
              </a:p>
            </p:txBody>
          </p:sp>
        </mc:Choice>
        <mc:Fallback xmlns="">
          <p:sp>
            <p:nvSpPr>
              <p:cNvPr id="117" name="Rectangle 116"/>
              <p:cNvSpPr>
                <a:spLocks noRot="1" noChangeAspect="1" noMove="1" noResize="1" noEditPoints="1" noAdjustHandles="1" noChangeArrowheads="1" noChangeShapeType="1" noTextEdit="1"/>
              </p:cNvSpPr>
              <p:nvPr/>
            </p:nvSpPr>
            <p:spPr>
              <a:xfrm>
                <a:off x="8434918" y="3540991"/>
                <a:ext cx="2145651" cy="685829"/>
              </a:xfrm>
              <a:prstGeom prst="rect">
                <a:avLst/>
              </a:prstGeom>
              <a:blipFill rotWithShape="0">
                <a:blip r:embed="rId12"/>
                <a:stretch>
                  <a:fillRect/>
                </a:stretch>
              </a:blipFill>
            </p:spPr>
            <p:txBody>
              <a:bodyPr/>
              <a:lstStyle/>
              <a:p>
                <a:r>
                  <a:rPr lang="en-IN">
                    <a:noFill/>
                  </a:rPr>
                  <a:t> </a:t>
                </a:r>
              </a:p>
            </p:txBody>
          </p:sp>
        </mc:Fallback>
      </mc:AlternateContent>
      <p:sp>
        <p:nvSpPr>
          <p:cNvPr id="118" name="TextBox 117"/>
          <p:cNvSpPr txBox="1"/>
          <p:nvPr/>
        </p:nvSpPr>
        <p:spPr>
          <a:xfrm>
            <a:off x="11240365" y="3714628"/>
            <a:ext cx="601447" cy="338554"/>
          </a:xfrm>
          <a:prstGeom prst="rect">
            <a:avLst/>
          </a:prstGeom>
          <a:noFill/>
        </p:spPr>
        <p:txBody>
          <a:bodyPr wrap="none" rtlCol="0">
            <a:spAutoFit/>
          </a:bodyPr>
          <a:lstStyle/>
          <a:p>
            <a:r>
              <a:rPr lang="en-IN" sz="1600" dirty="0"/>
              <a:t>… (3)</a:t>
            </a:r>
          </a:p>
        </p:txBody>
      </p:sp>
      <p:sp>
        <p:nvSpPr>
          <p:cNvPr id="119" name="Rectangle 118"/>
          <p:cNvSpPr/>
          <p:nvPr/>
        </p:nvSpPr>
        <p:spPr>
          <a:xfrm>
            <a:off x="1902157" y="1363726"/>
            <a:ext cx="595401" cy="694848"/>
          </a:xfrm>
          <a:prstGeom prst="rect">
            <a:avLst/>
          </a:prstGeom>
          <a:no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sp>
        <p:nvSpPr>
          <p:cNvPr id="120" name="Rectangle 119"/>
          <p:cNvSpPr/>
          <p:nvPr/>
        </p:nvSpPr>
        <p:spPr>
          <a:xfrm>
            <a:off x="3580043" y="1393248"/>
            <a:ext cx="319605" cy="687359"/>
          </a:xfrm>
          <a:prstGeom prst="rect">
            <a:avLst/>
          </a:prstGeom>
          <a:no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sp>
        <p:nvSpPr>
          <p:cNvPr id="41" name="Rectangle 40"/>
          <p:cNvSpPr/>
          <p:nvPr/>
        </p:nvSpPr>
        <p:spPr>
          <a:xfrm>
            <a:off x="4101146" y="1350936"/>
            <a:ext cx="726217" cy="729671"/>
          </a:xfrm>
          <a:prstGeom prst="rect">
            <a:avLst/>
          </a:prstGeom>
          <a:solidFill>
            <a:srgbClr val="FFFF00">
              <a:alpha val="50196"/>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42" name="TextBox 41"/>
              <p:cNvSpPr txBox="1"/>
              <p:nvPr/>
            </p:nvSpPr>
            <p:spPr>
              <a:xfrm>
                <a:off x="4221594" y="1444848"/>
                <a:ext cx="482119" cy="593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US" sz="1600" b="1" i="1" smtClean="0">
                                  <a:latin typeface="Cambria Math" charset="0"/>
                                </a:rPr>
                                <m:t>𝒃</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oMath>
                  </m:oMathPara>
                </a14:m>
                <a:endParaRPr lang="en-IN" sz="1600" dirty="0"/>
              </a:p>
            </p:txBody>
          </p:sp>
        </mc:Choice>
        <mc:Fallback xmlns="">
          <p:sp>
            <p:nvSpPr>
              <p:cNvPr id="42" name="TextBox 41"/>
              <p:cNvSpPr txBox="1">
                <a:spLocks noRot="1" noChangeAspect="1" noMove="1" noResize="1" noEditPoints="1" noAdjustHandles="1" noChangeArrowheads="1" noChangeShapeType="1" noTextEdit="1"/>
              </p:cNvSpPr>
              <p:nvPr/>
            </p:nvSpPr>
            <p:spPr>
              <a:xfrm>
                <a:off x="4221594" y="1444848"/>
                <a:ext cx="482119" cy="593496"/>
              </a:xfrm>
              <a:prstGeom prst="rect">
                <a:avLst/>
              </a:prstGeom>
              <a:blipFill rotWithShape="0">
                <a:blip r:embed="rId13"/>
                <a:stretch>
                  <a:fillRect b="-10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8389858" y="4226820"/>
                <a:ext cx="1373518" cy="6858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IN" sz="1600" b="1" i="1" smtClean="0">
                                  <a:latin typeface="Cambria Math" panose="02040503050406030204" pitchFamily="18" charset="0"/>
                                </a:rPr>
                                <m:t>𝒃</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r>
                        <a:rPr lang="en-IN" sz="1600" b="0" i="1" smtClean="0">
                          <a:latin typeface="Cambria Math" panose="02040503050406030204" pitchFamily="18" charset="0"/>
                        </a:rPr>
                        <m:t>=</m:t>
                      </m:r>
                      <m:f>
                        <m:fPr>
                          <m:ctrlPr>
                            <a:rPr lang="en-IN" sz="1600" i="1">
                              <a:latin typeface="Cambria Math" panose="02040503050406030204" pitchFamily="18" charset="0"/>
                            </a:rPr>
                          </m:ctrlPr>
                        </m:fPr>
                        <m:num>
                          <m:r>
                            <a:rPr lang="en-IN" sz="1600" i="1">
                              <a:latin typeface="Cambria Math" panose="02040503050406030204" pitchFamily="18" charset="0"/>
                            </a:rPr>
                            <m:t>𝜕</m:t>
                          </m:r>
                          <m:r>
                            <a:rPr lang="en-IN" sz="1600" i="1">
                              <a:latin typeface="Cambria Math" panose="02040503050406030204" pitchFamily="18" charset="0"/>
                            </a:rPr>
                            <m:t>𝐽</m:t>
                          </m:r>
                        </m:num>
                        <m:den>
                          <m:r>
                            <a:rPr lang="en-IN" sz="1600" i="1">
                              <a:latin typeface="Cambria Math" panose="02040503050406030204" pitchFamily="18" charset="0"/>
                            </a:rPr>
                            <m:t>𝜕</m:t>
                          </m:r>
                          <m:sSubSup>
                            <m:sSubSupPr>
                              <m:ctrlPr>
                                <a:rPr lang="en-IN" sz="1600" i="1">
                                  <a:latin typeface="Cambria Math" panose="02040503050406030204" pitchFamily="18" charset="0"/>
                                </a:rPr>
                              </m:ctrlPr>
                            </m:sSubSupPr>
                            <m:e>
                              <m:r>
                                <a:rPr lang="en-IN" sz="1600" b="1" i="1">
                                  <a:latin typeface="Cambria Math" panose="02040503050406030204" pitchFamily="18" charset="0"/>
                                </a:rPr>
                                <m:t>𝒂</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oMath>
                  </m:oMathPara>
                </a14:m>
                <a:endParaRPr lang="en-IN" sz="1600" dirty="0"/>
              </a:p>
            </p:txBody>
          </p:sp>
        </mc:Choice>
        <mc:Fallback xmlns="">
          <p:sp>
            <p:nvSpPr>
              <p:cNvPr id="43" name="Rectangle 42"/>
              <p:cNvSpPr>
                <a:spLocks noRot="1" noChangeAspect="1" noMove="1" noResize="1" noEditPoints="1" noAdjustHandles="1" noChangeArrowheads="1" noChangeShapeType="1" noTextEdit="1"/>
              </p:cNvSpPr>
              <p:nvPr/>
            </p:nvSpPr>
            <p:spPr>
              <a:xfrm>
                <a:off x="8389858" y="4226820"/>
                <a:ext cx="1373518" cy="685829"/>
              </a:xfrm>
              <a:prstGeom prst="rect">
                <a:avLst/>
              </a:prstGeom>
              <a:blipFill rotWithShape="0">
                <a:blip r:embed="rId14"/>
                <a:stretch>
                  <a:fillRect/>
                </a:stretch>
              </a:blipFill>
            </p:spPr>
            <p:txBody>
              <a:bodyPr/>
              <a:lstStyle/>
              <a:p>
                <a:r>
                  <a:rPr lang="en-IN">
                    <a:noFill/>
                  </a:rPr>
                  <a:t> </a:t>
                </a:r>
              </a:p>
            </p:txBody>
          </p:sp>
        </mc:Fallback>
      </mc:AlternateContent>
      <p:cxnSp>
        <p:nvCxnSpPr>
          <p:cNvPr id="44" name="Straight Connector 43"/>
          <p:cNvCxnSpPr/>
          <p:nvPr/>
        </p:nvCxnSpPr>
        <p:spPr>
          <a:xfrm flipH="1">
            <a:off x="2818845" y="5925966"/>
            <a:ext cx="1800000" cy="2803"/>
          </a:xfrm>
          <a:prstGeom prst="line">
            <a:avLst/>
          </a:prstGeom>
          <a:ln w="28575"/>
        </p:spPr>
        <p:style>
          <a:lnRef idx="1">
            <a:schemeClr val="dk1"/>
          </a:lnRef>
          <a:fillRef idx="0">
            <a:schemeClr val="dk1"/>
          </a:fillRef>
          <a:effectRef idx="0">
            <a:schemeClr val="dk1"/>
          </a:effectRef>
          <a:fontRef idx="minor">
            <a:schemeClr val="tx1"/>
          </a:fontRef>
        </p:style>
      </p:cxnSp>
      <p:cxnSp>
        <p:nvCxnSpPr>
          <p:cNvPr id="45" name="Straight Connector 44"/>
          <p:cNvCxnSpPr>
            <a:endCxn id="41" idx="2"/>
          </p:cNvCxnSpPr>
          <p:nvPr/>
        </p:nvCxnSpPr>
        <p:spPr>
          <a:xfrm flipV="1">
            <a:off x="4450814" y="2080607"/>
            <a:ext cx="13441" cy="3857486"/>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6" name="Rectangle 45"/>
              <p:cNvSpPr/>
              <p:nvPr/>
            </p:nvSpPr>
            <p:spPr>
              <a:xfrm>
                <a:off x="8314883" y="4921455"/>
                <a:ext cx="2000997" cy="71372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IN" sz="1600" b="1" i="1">
                                  <a:latin typeface="Cambria Math" panose="02040503050406030204" pitchFamily="18" charset="0"/>
                                </a:rPr>
                                <m:t>𝑾</m:t>
                              </m:r>
                            </m:e>
                            <m:sub>
                              <m:r>
                                <a:rPr lang="en-IN" sz="1600" i="1">
                                  <a:latin typeface="Cambria Math" panose="02040503050406030204" pitchFamily="18" charset="0"/>
                                </a:rPr>
                                <m:t>𝑖</m:t>
                              </m:r>
                              <m:r>
                                <a:rPr lang="en-IN" sz="1600" i="1">
                                  <a:latin typeface="Cambria Math" panose="02040503050406030204" pitchFamily="18" charset="0"/>
                                </a:rPr>
                                <m:t>,</m:t>
                              </m:r>
                              <m:r>
                                <a:rPr lang="en-IN" sz="1600" i="1">
                                  <a:latin typeface="Cambria Math" panose="02040503050406030204" pitchFamily="18" charset="0"/>
                                </a:rPr>
                                <m:t>𝑗</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r>
                        <a:rPr lang="en-IN" sz="1600" b="0" i="1" smtClean="0">
                          <a:latin typeface="Cambria Math" panose="02040503050406030204" pitchFamily="18" charset="0"/>
                        </a:rPr>
                        <m:t>=</m:t>
                      </m:r>
                      <m:f>
                        <m:fPr>
                          <m:ctrlPr>
                            <a:rPr lang="en-IN" sz="1600" i="1">
                              <a:latin typeface="Cambria Math" panose="02040503050406030204" pitchFamily="18" charset="0"/>
                            </a:rPr>
                          </m:ctrlPr>
                        </m:fPr>
                        <m:num>
                          <m:r>
                            <a:rPr lang="en-IN" sz="1600" i="1">
                              <a:latin typeface="Cambria Math" panose="02040503050406030204" pitchFamily="18" charset="0"/>
                            </a:rPr>
                            <m:t>𝜕</m:t>
                          </m:r>
                          <m:r>
                            <a:rPr lang="en-IN" sz="1600" i="1">
                              <a:latin typeface="Cambria Math" panose="02040503050406030204" pitchFamily="18" charset="0"/>
                            </a:rPr>
                            <m:t>𝐽</m:t>
                          </m:r>
                        </m:num>
                        <m:den>
                          <m:r>
                            <a:rPr lang="en-IN" sz="1600" i="1">
                              <a:latin typeface="Cambria Math" panose="02040503050406030204" pitchFamily="18" charset="0"/>
                            </a:rPr>
                            <m:t>𝜕</m:t>
                          </m:r>
                          <m:sSubSup>
                            <m:sSubSupPr>
                              <m:ctrlPr>
                                <a:rPr lang="en-IN" sz="1600" i="1">
                                  <a:latin typeface="Cambria Math" panose="02040503050406030204" pitchFamily="18" charset="0"/>
                                </a:rPr>
                              </m:ctrlPr>
                            </m:sSubSupPr>
                            <m:e>
                              <m:r>
                                <a:rPr lang="en-IN" sz="1600" b="1" i="1">
                                  <a:latin typeface="Cambria Math" panose="02040503050406030204" pitchFamily="18" charset="0"/>
                                </a:rPr>
                                <m:t>𝒂</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sSubSup>
                        <m:sSubSupPr>
                          <m:ctrlPr>
                            <a:rPr lang="en-IN" sz="1600" i="1" dirty="0">
                              <a:latin typeface="Cambria Math" panose="02040503050406030204" pitchFamily="18" charset="0"/>
                            </a:rPr>
                          </m:ctrlPr>
                        </m:sSubSupPr>
                        <m:e>
                          <m:r>
                            <a:rPr lang="en-US" sz="1600" b="1" i="1" dirty="0">
                              <a:latin typeface="Cambria Math" panose="02040503050406030204" pitchFamily="18" charset="0"/>
                            </a:rPr>
                            <m:t>𝒉</m:t>
                          </m:r>
                        </m:e>
                        <m:sub>
                          <m:r>
                            <a:rPr lang="en-US" sz="1600" i="1" dirty="0">
                              <a:latin typeface="Cambria Math" panose="02040503050406030204" pitchFamily="18" charset="0"/>
                            </a:rPr>
                            <m:t>𝑗</m:t>
                          </m:r>
                        </m:sub>
                        <m:sup>
                          <m:d>
                            <m:dPr>
                              <m:ctrlPr>
                                <a:rPr lang="en-US" sz="1600" i="1" dirty="0">
                                  <a:latin typeface="Cambria Math" panose="02040503050406030204" pitchFamily="18" charset="0"/>
                                </a:rPr>
                              </m:ctrlPr>
                            </m:dPr>
                            <m:e>
                              <m:r>
                                <a:rPr lang="en-US" sz="1600" i="1" dirty="0">
                                  <a:latin typeface="Cambria Math" panose="02040503050406030204" pitchFamily="18" charset="0"/>
                                </a:rPr>
                                <m:t>𝑙</m:t>
                              </m:r>
                              <m:r>
                                <a:rPr lang="en-US" sz="1600" i="1" dirty="0">
                                  <a:latin typeface="Cambria Math" panose="02040503050406030204" pitchFamily="18" charset="0"/>
                                </a:rPr>
                                <m:t>−1</m:t>
                              </m:r>
                            </m:e>
                          </m:d>
                        </m:sup>
                      </m:sSubSup>
                    </m:oMath>
                  </m:oMathPara>
                </a14:m>
                <a:endParaRPr lang="en-IN" sz="1600" dirty="0"/>
              </a:p>
            </p:txBody>
          </p:sp>
        </mc:Choice>
        <mc:Fallback xmlns="">
          <p:sp>
            <p:nvSpPr>
              <p:cNvPr id="46" name="Rectangle 45"/>
              <p:cNvSpPr>
                <a:spLocks noRot="1" noChangeAspect="1" noMove="1" noResize="1" noEditPoints="1" noAdjustHandles="1" noChangeArrowheads="1" noChangeShapeType="1" noTextEdit="1"/>
              </p:cNvSpPr>
              <p:nvPr/>
            </p:nvSpPr>
            <p:spPr>
              <a:xfrm>
                <a:off x="8314883" y="4921455"/>
                <a:ext cx="2000997" cy="713722"/>
              </a:xfrm>
              <a:prstGeom prst="rect">
                <a:avLst/>
              </a:prstGeom>
              <a:blipFill rotWithShape="0">
                <a:blip r:embed="rId15"/>
                <a:stretch>
                  <a:fillRect/>
                </a:stretch>
              </a:blipFill>
            </p:spPr>
            <p:txBody>
              <a:bodyPr/>
              <a:lstStyle/>
              <a:p>
                <a:r>
                  <a:rPr lang="en-IN">
                    <a:noFill/>
                  </a:rPr>
                  <a:t> </a:t>
                </a:r>
              </a:p>
            </p:txBody>
          </p:sp>
        </mc:Fallback>
      </mc:AlternateContent>
      <p:sp>
        <p:nvSpPr>
          <p:cNvPr id="47" name="TextBox 46"/>
          <p:cNvSpPr txBox="1"/>
          <p:nvPr/>
        </p:nvSpPr>
        <p:spPr>
          <a:xfrm>
            <a:off x="11240365" y="4334355"/>
            <a:ext cx="601447" cy="338554"/>
          </a:xfrm>
          <a:prstGeom prst="rect">
            <a:avLst/>
          </a:prstGeom>
          <a:noFill/>
        </p:spPr>
        <p:txBody>
          <a:bodyPr wrap="none" rtlCol="0">
            <a:spAutoFit/>
          </a:bodyPr>
          <a:lstStyle/>
          <a:p>
            <a:r>
              <a:rPr lang="en-IN" sz="1600" dirty="0"/>
              <a:t>… (2)</a:t>
            </a:r>
          </a:p>
        </p:txBody>
      </p:sp>
      <p:sp>
        <p:nvSpPr>
          <p:cNvPr id="48" name="TextBox 47"/>
          <p:cNvSpPr txBox="1"/>
          <p:nvPr/>
        </p:nvSpPr>
        <p:spPr>
          <a:xfrm>
            <a:off x="11240365" y="5080867"/>
            <a:ext cx="601447" cy="338554"/>
          </a:xfrm>
          <a:prstGeom prst="rect">
            <a:avLst/>
          </a:prstGeom>
          <a:noFill/>
        </p:spPr>
        <p:txBody>
          <a:bodyPr wrap="none" rtlCol="0">
            <a:spAutoFit/>
          </a:bodyPr>
          <a:lstStyle/>
          <a:p>
            <a:r>
              <a:rPr lang="en-IN" sz="1600" dirty="0"/>
              <a:t>… (1)</a:t>
            </a:r>
          </a:p>
        </p:txBody>
      </p:sp>
      <p:sp>
        <p:nvSpPr>
          <p:cNvPr id="49" name="Rectangle 48"/>
          <p:cNvSpPr/>
          <p:nvPr/>
        </p:nvSpPr>
        <p:spPr>
          <a:xfrm>
            <a:off x="2618001" y="1350936"/>
            <a:ext cx="726217" cy="729671"/>
          </a:xfrm>
          <a:prstGeom prst="rect">
            <a:avLst/>
          </a:prstGeom>
          <a:solidFill>
            <a:srgbClr val="FFFF00">
              <a:alpha val="50196"/>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50" name="TextBox 49"/>
              <p:cNvSpPr txBox="1"/>
              <p:nvPr/>
            </p:nvSpPr>
            <p:spPr>
              <a:xfrm>
                <a:off x="2727432" y="1452192"/>
                <a:ext cx="559063" cy="6213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smtClean="0">
                                  <a:latin typeface="Cambria Math" panose="02040503050406030204" pitchFamily="18" charset="0"/>
                                </a:rPr>
                              </m:ctrlPr>
                            </m:sSubSupPr>
                            <m:e>
                              <m:r>
                                <a:rPr lang="en-IN" sz="1600" b="1" i="1" smtClean="0">
                                  <a:latin typeface="Cambria Math" panose="02040503050406030204" pitchFamily="18" charset="0"/>
                                </a:rPr>
                                <m:t>𝑾</m:t>
                              </m:r>
                            </m:e>
                            <m:sub>
                              <m:r>
                                <a:rPr lang="en-IN" sz="1600" i="1">
                                  <a:latin typeface="Cambria Math" panose="02040503050406030204" pitchFamily="18" charset="0"/>
                                </a:rPr>
                                <m:t>𝑖</m:t>
                              </m:r>
                              <m:r>
                                <a:rPr lang="en-IN" sz="1600" b="0" i="1" smtClean="0">
                                  <a:latin typeface="Cambria Math" panose="02040503050406030204" pitchFamily="18" charset="0"/>
                                </a:rPr>
                                <m:t>,</m:t>
                              </m:r>
                              <m:r>
                                <a:rPr lang="en-IN" sz="1600" b="0" i="1" smtClean="0">
                                  <a:latin typeface="Cambria Math" panose="02040503050406030204" pitchFamily="18" charset="0"/>
                                </a:rPr>
                                <m:t>𝑗</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oMath>
                  </m:oMathPara>
                </a14:m>
                <a:endParaRPr lang="en-IN" sz="1600" dirty="0"/>
              </a:p>
            </p:txBody>
          </p:sp>
        </mc:Choice>
        <mc:Fallback xmlns="">
          <p:sp>
            <p:nvSpPr>
              <p:cNvPr id="50" name="TextBox 49"/>
              <p:cNvSpPr txBox="1">
                <a:spLocks noRot="1" noChangeAspect="1" noMove="1" noResize="1" noEditPoints="1" noAdjustHandles="1" noChangeArrowheads="1" noChangeShapeType="1" noTextEdit="1"/>
              </p:cNvSpPr>
              <p:nvPr/>
            </p:nvSpPr>
            <p:spPr>
              <a:xfrm>
                <a:off x="2727432" y="1452192"/>
                <a:ext cx="559063" cy="621389"/>
              </a:xfrm>
              <a:prstGeom prst="rect">
                <a:avLst/>
              </a:prstGeom>
              <a:blipFill rotWithShape="0">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7331597" y="2833253"/>
                <a:ext cx="413318" cy="349070"/>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Sup>
                        <m:sSubSupPr>
                          <m:ctrlPr>
                            <a:rPr lang="en-IN" i="1" dirty="0" smtClean="0">
                              <a:latin typeface="Cambria Math" panose="02040503050406030204" pitchFamily="18" charset="0"/>
                            </a:rPr>
                          </m:ctrlPr>
                        </m:sSubSupPr>
                        <m:e>
                          <m:r>
                            <a:rPr lang="en-US" b="1" i="1" dirty="0">
                              <a:latin typeface="Cambria Math" panose="02040503050406030204" pitchFamily="18" charset="0"/>
                            </a:rPr>
                            <m:t>𝒉</m:t>
                          </m:r>
                        </m:e>
                        <m:sub>
                          <m:r>
                            <a:rPr lang="en-US" b="0" i="1" dirty="0" smtClean="0">
                              <a:latin typeface="Cambria Math" panose="02040503050406030204" pitchFamily="18" charset="0"/>
                            </a:rPr>
                            <m:t>𝑖</m:t>
                          </m:r>
                        </m:sub>
                        <m:sup>
                          <m:d>
                            <m:dPr>
                              <m:ctrlPr>
                                <a:rPr lang="en-US" i="1" dirty="0">
                                  <a:latin typeface="Cambria Math" panose="02040503050406030204" pitchFamily="18" charset="0"/>
                                </a:rPr>
                              </m:ctrlPr>
                            </m:dPr>
                            <m:e>
                              <m:r>
                                <a:rPr lang="en-US" i="1" dirty="0">
                                  <a:latin typeface="Cambria Math" panose="02040503050406030204" pitchFamily="18" charset="0"/>
                                </a:rPr>
                                <m:t>𝑙</m:t>
                              </m:r>
                            </m:e>
                          </m:d>
                        </m:sup>
                      </m:sSubSup>
                    </m:oMath>
                  </m:oMathPara>
                </a14:m>
                <a:endParaRPr lang="en-IN" dirty="0">
                  <a:solidFill>
                    <a:schemeClr val="tx1"/>
                  </a:solidFill>
                </a:endParaRPr>
              </a:p>
            </p:txBody>
          </p:sp>
        </mc:Choice>
        <mc:Fallback xmlns="">
          <p:sp>
            <p:nvSpPr>
              <p:cNvPr id="51" name="TextBox 50"/>
              <p:cNvSpPr txBox="1">
                <a:spLocks noRot="1" noChangeAspect="1" noMove="1" noResize="1" noEditPoints="1" noAdjustHandles="1" noChangeArrowheads="1" noChangeShapeType="1" noTextEdit="1"/>
              </p:cNvSpPr>
              <p:nvPr/>
            </p:nvSpPr>
            <p:spPr>
              <a:xfrm>
                <a:off x="7331597" y="2833253"/>
                <a:ext cx="413318" cy="349070"/>
              </a:xfrm>
              <a:prstGeom prst="rect">
                <a:avLst/>
              </a:prstGeom>
              <a:blipFill>
                <a:blip r:embed="rId13"/>
                <a:stretch>
                  <a:fillRect l="-21212" b="-21429"/>
                </a:stretch>
              </a:blipFill>
            </p:spPr>
            <p:txBody>
              <a:bodyPr/>
              <a:lstStyle/>
              <a:p>
                <a:r>
                  <a:rPr lang="en-US">
                    <a:noFill/>
                  </a:rPr>
                  <a:t> </a:t>
                </a:r>
              </a:p>
            </p:txBody>
          </p:sp>
        </mc:Fallback>
      </mc:AlternateContent>
      <p:sp>
        <p:nvSpPr>
          <p:cNvPr id="52" name="Rectangle 51"/>
          <p:cNvSpPr/>
          <p:nvPr/>
        </p:nvSpPr>
        <p:spPr>
          <a:xfrm>
            <a:off x="2821306" y="2285031"/>
            <a:ext cx="319605" cy="32518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53" name="TextBox 52"/>
              <p:cNvSpPr txBox="1"/>
              <p:nvPr/>
            </p:nvSpPr>
            <p:spPr>
              <a:xfrm>
                <a:off x="2880996" y="2309121"/>
                <a:ext cx="21800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53" name="TextBox 52"/>
              <p:cNvSpPr txBox="1">
                <a:spLocks noRot="1" noChangeAspect="1" noMove="1" noResize="1" noEditPoints="1" noAdjustHandles="1" noChangeArrowheads="1" noChangeShapeType="1" noTextEdit="1"/>
              </p:cNvSpPr>
              <p:nvPr/>
            </p:nvSpPr>
            <p:spPr>
              <a:xfrm>
                <a:off x="2880996" y="2309121"/>
                <a:ext cx="218008" cy="276999"/>
              </a:xfrm>
              <a:prstGeom prst="rect">
                <a:avLst/>
              </a:prstGeom>
              <a:blipFill rotWithShape="0">
                <a:blip r:embed="rId18"/>
                <a:stretch>
                  <a:fillRect l="-20000" r="-20000" b="-2222"/>
                </a:stretch>
              </a:blipFill>
            </p:spPr>
            <p:txBody>
              <a:bodyPr/>
              <a:lstStyle/>
              <a:p>
                <a:r>
                  <a:rPr lang="en-IN">
                    <a:noFill/>
                  </a:rPr>
                  <a:t> </a:t>
                </a:r>
              </a:p>
            </p:txBody>
          </p:sp>
        </mc:Fallback>
      </mc:AlternateContent>
      <p:cxnSp>
        <p:nvCxnSpPr>
          <p:cNvPr id="54" name="Straight Connector 53"/>
          <p:cNvCxnSpPr/>
          <p:nvPr/>
        </p:nvCxnSpPr>
        <p:spPr>
          <a:xfrm flipV="1">
            <a:off x="1173939" y="2425585"/>
            <a:ext cx="2543" cy="108000"/>
          </a:xfrm>
          <a:prstGeom prst="line">
            <a:avLst/>
          </a:prstGeom>
          <a:ln w="28575"/>
        </p:spPr>
        <p:style>
          <a:lnRef idx="1">
            <a:schemeClr val="dk1"/>
          </a:lnRef>
          <a:fillRef idx="0">
            <a:schemeClr val="dk1"/>
          </a:fillRef>
          <a:effectRef idx="0">
            <a:schemeClr val="dk1"/>
          </a:effectRef>
          <a:fontRef idx="minor">
            <a:schemeClr val="tx1"/>
          </a:fontRef>
        </p:style>
      </p:cxnSp>
      <p:cxnSp>
        <p:nvCxnSpPr>
          <p:cNvPr id="58" name="Straight Connector 57"/>
          <p:cNvCxnSpPr/>
          <p:nvPr/>
        </p:nvCxnSpPr>
        <p:spPr>
          <a:xfrm flipH="1">
            <a:off x="1164193" y="2411106"/>
            <a:ext cx="1656000" cy="2803"/>
          </a:xfrm>
          <a:prstGeom prst="line">
            <a:avLst/>
          </a:prstGeom>
          <a:ln w="28575"/>
        </p:spPr>
        <p:style>
          <a:lnRef idx="1">
            <a:schemeClr val="dk1"/>
          </a:lnRef>
          <a:fillRef idx="0">
            <a:schemeClr val="dk1"/>
          </a:fillRef>
          <a:effectRef idx="0">
            <a:schemeClr val="dk1"/>
          </a:effectRef>
          <a:fontRef idx="minor">
            <a:schemeClr val="tx1"/>
          </a:fontRef>
        </p:style>
      </p:cxnSp>
      <p:cxnSp>
        <p:nvCxnSpPr>
          <p:cNvPr id="60" name="Straight Connector 59"/>
          <p:cNvCxnSpPr/>
          <p:nvPr/>
        </p:nvCxnSpPr>
        <p:spPr>
          <a:xfrm flipV="1">
            <a:off x="2962520" y="2610210"/>
            <a:ext cx="13441" cy="3312000"/>
          </a:xfrm>
          <a:prstGeom prst="line">
            <a:avLst/>
          </a:prstGeom>
          <a:ln w="28575"/>
        </p:spPr>
        <p:style>
          <a:lnRef idx="1">
            <a:schemeClr val="dk1"/>
          </a:lnRef>
          <a:fillRef idx="0">
            <a:schemeClr val="dk1"/>
          </a:fillRef>
          <a:effectRef idx="0">
            <a:schemeClr val="dk1"/>
          </a:effectRef>
          <a:fontRef idx="minor">
            <a:schemeClr val="tx1"/>
          </a:fontRef>
        </p:style>
      </p:cxnSp>
      <p:cxnSp>
        <p:nvCxnSpPr>
          <p:cNvPr id="61" name="Straight Connector 60"/>
          <p:cNvCxnSpPr/>
          <p:nvPr/>
        </p:nvCxnSpPr>
        <p:spPr>
          <a:xfrm flipH="1">
            <a:off x="2968163" y="2075518"/>
            <a:ext cx="1077" cy="216000"/>
          </a:xfrm>
          <a:prstGeom prst="line">
            <a:avLst/>
          </a:prstGeom>
          <a:ln w="28575"/>
        </p:spPr>
        <p:style>
          <a:lnRef idx="1">
            <a:schemeClr val="dk1"/>
          </a:lnRef>
          <a:fillRef idx="0">
            <a:schemeClr val="dk1"/>
          </a:fillRef>
          <a:effectRef idx="0">
            <a:schemeClr val="dk1"/>
          </a:effectRef>
          <a:fontRef idx="minor">
            <a:schemeClr val="tx1"/>
          </a:fontRef>
        </p:style>
      </p:cxnSp>
      <p:sp>
        <p:nvSpPr>
          <p:cNvPr id="79" name="Rectangle 78"/>
          <p:cNvSpPr/>
          <p:nvPr/>
        </p:nvSpPr>
        <p:spPr>
          <a:xfrm>
            <a:off x="117565" y="5424699"/>
            <a:ext cx="727824" cy="1002535"/>
          </a:xfrm>
          <a:prstGeom prst="rect">
            <a:avLst/>
          </a:prstGeom>
          <a:solidFill>
            <a:srgbClr val="FFFF00">
              <a:alpha val="50196"/>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83" name="TextBox 82"/>
              <p:cNvSpPr txBox="1"/>
              <p:nvPr/>
            </p:nvSpPr>
            <p:spPr>
              <a:xfrm>
                <a:off x="149877" y="5635177"/>
                <a:ext cx="682495" cy="593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IN" sz="1600" b="1" i="1" smtClean="0">
                                  <a:latin typeface="Cambria Math" panose="02040503050406030204" pitchFamily="18" charset="0"/>
                                </a:rPr>
                                <m:t>𝒉</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b="0" i="1" smtClean="0">
                                  <a:latin typeface="Cambria Math" panose="02040503050406030204" pitchFamily="18" charset="0"/>
                                </a:rPr>
                                <m:t>−1</m:t>
                              </m:r>
                              <m:r>
                                <a:rPr lang="en-IN" sz="1600" i="1">
                                  <a:latin typeface="Cambria Math" panose="02040503050406030204" pitchFamily="18" charset="0"/>
                                </a:rPr>
                                <m:t>)</m:t>
                              </m:r>
                            </m:sup>
                          </m:sSubSup>
                        </m:den>
                      </m:f>
                    </m:oMath>
                  </m:oMathPara>
                </a14:m>
                <a:endParaRPr lang="en-IN" sz="1600" dirty="0"/>
              </a:p>
            </p:txBody>
          </p:sp>
        </mc:Choice>
        <mc:Fallback xmlns="">
          <p:sp>
            <p:nvSpPr>
              <p:cNvPr id="83" name="TextBox 82"/>
              <p:cNvSpPr txBox="1">
                <a:spLocks noRot="1" noChangeAspect="1" noMove="1" noResize="1" noEditPoints="1" noAdjustHandles="1" noChangeArrowheads="1" noChangeShapeType="1" noTextEdit="1"/>
              </p:cNvSpPr>
              <p:nvPr/>
            </p:nvSpPr>
            <p:spPr>
              <a:xfrm>
                <a:off x="149877" y="5635177"/>
                <a:ext cx="682495" cy="593496"/>
              </a:xfrm>
              <a:prstGeom prst="rect">
                <a:avLst/>
              </a:prstGeom>
              <a:blipFill rotWithShape="0">
                <a:blip r:embed="rId19"/>
                <a:stretch>
                  <a:fillRect/>
                </a:stretch>
              </a:blipFill>
            </p:spPr>
            <p:txBody>
              <a:bodyPr/>
              <a:lstStyle/>
              <a:p>
                <a:r>
                  <a:rPr lang="en-IN">
                    <a:noFill/>
                  </a:rPr>
                  <a:t> </a:t>
                </a:r>
              </a:p>
            </p:txBody>
          </p:sp>
        </mc:Fallback>
      </mc:AlternateContent>
      <p:sp>
        <p:nvSpPr>
          <p:cNvPr id="59" name="Rectangle 58"/>
          <p:cNvSpPr/>
          <p:nvPr/>
        </p:nvSpPr>
        <p:spPr>
          <a:xfrm>
            <a:off x="1141306" y="5436825"/>
            <a:ext cx="461427" cy="1002535"/>
          </a:xfrm>
          <a:prstGeom prst="rect">
            <a:avLst/>
          </a:prstGeom>
          <a:ln w="127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80" name="TextBox 79"/>
              <p:cNvSpPr txBox="1"/>
              <p:nvPr/>
            </p:nvSpPr>
            <p:spPr>
              <a:xfrm>
                <a:off x="1262697" y="5507902"/>
                <a:ext cx="21800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80" name="TextBox 79"/>
              <p:cNvSpPr txBox="1">
                <a:spLocks noRot="1" noChangeAspect="1" noMove="1" noResize="1" noEditPoints="1" noAdjustHandles="1" noChangeArrowheads="1" noChangeShapeType="1" noTextEdit="1"/>
              </p:cNvSpPr>
              <p:nvPr/>
            </p:nvSpPr>
            <p:spPr>
              <a:xfrm>
                <a:off x="1262697" y="5507902"/>
                <a:ext cx="218008" cy="276999"/>
              </a:xfrm>
              <a:prstGeom prst="rect">
                <a:avLst/>
              </a:prstGeom>
              <a:blipFill rotWithShape="0">
                <a:blip r:embed="rId20"/>
                <a:stretch>
                  <a:fillRect l="-19444" r="-16667" b="-2222"/>
                </a:stretch>
              </a:blipFill>
            </p:spPr>
            <p:txBody>
              <a:bodyPr/>
              <a:lstStyle/>
              <a:p>
                <a:r>
                  <a:rPr lang="en-IN">
                    <a:noFill/>
                  </a:rPr>
                  <a:t> </a:t>
                </a:r>
              </a:p>
            </p:txBody>
          </p:sp>
        </mc:Fallback>
      </mc:AlternateContent>
      <p:cxnSp>
        <p:nvCxnSpPr>
          <p:cNvPr id="85" name="Straight Connector 84"/>
          <p:cNvCxnSpPr/>
          <p:nvPr/>
        </p:nvCxnSpPr>
        <p:spPr>
          <a:xfrm flipH="1">
            <a:off x="851585" y="5902350"/>
            <a:ext cx="288000" cy="2803"/>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6" name="Rectangle 85"/>
              <p:cNvSpPr/>
              <p:nvPr/>
            </p:nvSpPr>
            <p:spPr>
              <a:xfrm>
                <a:off x="8263671" y="5616933"/>
                <a:ext cx="2420856" cy="7859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m:t>
                          </m:r>
                          <m:r>
                            <a:rPr lang="en-IN" sz="1600" i="1">
                              <a:latin typeface="Cambria Math" panose="02040503050406030204" pitchFamily="18" charset="0"/>
                            </a:rPr>
                            <m:t>𝐽</m:t>
                          </m:r>
                        </m:num>
                        <m:den>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IN" sz="1600" b="1" i="1">
                                  <a:latin typeface="Cambria Math" panose="02040503050406030204" pitchFamily="18" charset="0"/>
                                </a:rPr>
                                <m:t>𝒉</m:t>
                              </m:r>
                            </m:e>
                            <m:sub>
                              <m:r>
                                <a:rPr lang="en-IN" sz="1600" i="1">
                                  <a:latin typeface="Cambria Math" panose="02040503050406030204" pitchFamily="18" charset="0"/>
                                </a:rPr>
                                <m:t>𝑖</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b="0" i="1" smtClean="0">
                                  <a:latin typeface="Cambria Math" panose="02040503050406030204" pitchFamily="18" charset="0"/>
                                </a:rPr>
                                <m:t>−1</m:t>
                              </m:r>
                              <m:r>
                                <a:rPr lang="en-IN" sz="1600" i="1">
                                  <a:latin typeface="Cambria Math" panose="02040503050406030204" pitchFamily="18" charset="0"/>
                                </a:rPr>
                                <m:t>)</m:t>
                              </m:r>
                            </m:sup>
                          </m:sSubSup>
                        </m:den>
                      </m:f>
                      <m:r>
                        <a:rPr lang="en-IN" sz="1600" i="1">
                          <a:latin typeface="Cambria Math" panose="02040503050406030204" pitchFamily="18" charset="0"/>
                        </a:rPr>
                        <m:t>=</m:t>
                      </m:r>
                      <m:nary>
                        <m:naryPr>
                          <m:chr m:val="∑"/>
                          <m:ctrlPr>
                            <a:rPr lang="en-IN" sz="1600" i="1">
                              <a:latin typeface="Cambria Math" panose="02040503050406030204" pitchFamily="18" charset="0"/>
                            </a:rPr>
                          </m:ctrlPr>
                        </m:naryPr>
                        <m:sub>
                          <m:r>
                            <m:rPr>
                              <m:brk m:alnAt="23"/>
                            </m:rPr>
                            <a:rPr lang="en-IN" sz="1600" i="1">
                              <a:latin typeface="Cambria Math" panose="02040503050406030204" pitchFamily="18" charset="0"/>
                            </a:rPr>
                            <m:t>𝑚</m:t>
                          </m:r>
                          <m:r>
                            <a:rPr lang="en-IN" sz="1600" i="1">
                              <a:latin typeface="Cambria Math" panose="02040503050406030204" pitchFamily="18" charset="0"/>
                            </a:rPr>
                            <m:t>=1</m:t>
                          </m:r>
                        </m:sub>
                        <m:sup>
                          <m:sSub>
                            <m:sSubPr>
                              <m:ctrlPr>
                                <a:rPr lang="en-IN" sz="1600" i="1">
                                  <a:latin typeface="Cambria Math" panose="02040503050406030204" pitchFamily="18" charset="0"/>
                                </a:rPr>
                              </m:ctrlPr>
                            </m:sSubPr>
                            <m:e>
                              <m:r>
                                <a:rPr lang="en-IN" sz="1600" i="1">
                                  <a:latin typeface="Cambria Math" panose="02040503050406030204" pitchFamily="18" charset="0"/>
                                </a:rPr>
                                <m:t>𝑀</m:t>
                              </m:r>
                            </m:e>
                            <m:sub>
                              <m:r>
                                <a:rPr lang="en-IN" sz="1600" i="1">
                                  <a:latin typeface="Cambria Math" panose="02040503050406030204" pitchFamily="18" charset="0"/>
                                </a:rPr>
                                <m:t>𝑙</m:t>
                              </m:r>
                            </m:sub>
                          </m:sSub>
                        </m:sup>
                        <m:e>
                          <m:f>
                            <m:fPr>
                              <m:ctrlPr>
                                <a:rPr lang="en-IN" sz="1600" i="1">
                                  <a:latin typeface="Cambria Math" panose="02040503050406030204" pitchFamily="18" charset="0"/>
                                </a:rPr>
                              </m:ctrlPr>
                            </m:fPr>
                            <m:num>
                              <m:r>
                                <a:rPr lang="en-IN" sz="1600" i="1">
                                  <a:latin typeface="Cambria Math" panose="02040503050406030204" pitchFamily="18" charset="0"/>
                                </a:rPr>
                                <m:t>𝜕</m:t>
                              </m:r>
                              <m:r>
                                <a:rPr lang="en-IN" sz="1600" i="1">
                                  <a:latin typeface="Cambria Math" panose="02040503050406030204" pitchFamily="18" charset="0"/>
                                </a:rPr>
                                <m:t>𝐽</m:t>
                              </m:r>
                            </m:num>
                            <m:den>
                              <m:r>
                                <a:rPr lang="en-IN" sz="1600" i="1">
                                  <a:latin typeface="Cambria Math" panose="02040503050406030204" pitchFamily="18" charset="0"/>
                                </a:rPr>
                                <m:t>𝜕</m:t>
                              </m:r>
                              <m:sSubSup>
                                <m:sSubSupPr>
                                  <m:ctrlPr>
                                    <a:rPr lang="en-IN" sz="1600" i="1">
                                      <a:latin typeface="Cambria Math" panose="02040503050406030204" pitchFamily="18" charset="0"/>
                                    </a:rPr>
                                  </m:ctrlPr>
                                </m:sSubSupPr>
                                <m:e>
                                  <m:r>
                                    <a:rPr lang="en-IN" sz="1600" b="1" i="1">
                                      <a:latin typeface="Cambria Math" panose="02040503050406030204" pitchFamily="18" charset="0"/>
                                    </a:rPr>
                                    <m:t>𝒂</m:t>
                                  </m:r>
                                </m:e>
                                <m:sub>
                                  <m:r>
                                    <a:rPr lang="en-IN" sz="1600" i="1">
                                      <a:latin typeface="Cambria Math" panose="02040503050406030204" pitchFamily="18" charset="0"/>
                                    </a:rPr>
                                    <m:t>𝑚</m:t>
                                  </m:r>
                                </m:sub>
                                <m:sup>
                                  <m:r>
                                    <a:rPr lang="en-IN" sz="1600" i="1">
                                      <a:latin typeface="Cambria Math" panose="02040503050406030204" pitchFamily="18" charset="0"/>
                                    </a:rPr>
                                    <m:t>(</m:t>
                                  </m:r>
                                  <m:r>
                                    <a:rPr lang="en-IN" sz="1600" i="1">
                                      <a:latin typeface="Cambria Math" panose="02040503050406030204" pitchFamily="18" charset="0"/>
                                    </a:rPr>
                                    <m:t>𝑙</m:t>
                                  </m:r>
                                  <m:r>
                                    <a:rPr lang="en-IN" sz="1600" i="1">
                                      <a:latin typeface="Cambria Math" panose="02040503050406030204" pitchFamily="18" charset="0"/>
                                    </a:rPr>
                                    <m:t>)</m:t>
                                  </m:r>
                                </m:sup>
                              </m:sSubSup>
                            </m:den>
                          </m:f>
                        </m:e>
                      </m:nary>
                      <m:sSubSup>
                        <m:sSubSupPr>
                          <m:ctrlPr>
                            <a:rPr lang="en-IN" sz="1600" i="1">
                              <a:latin typeface="Cambria Math" panose="02040503050406030204" pitchFamily="18" charset="0"/>
                            </a:rPr>
                          </m:ctrlPr>
                        </m:sSubSupPr>
                        <m:e>
                          <m:r>
                            <a:rPr lang="en-US" sz="1600" b="1" i="1">
                              <a:latin typeface="Cambria Math" panose="02040503050406030204" pitchFamily="18" charset="0"/>
                            </a:rPr>
                            <m:t>𝑾</m:t>
                          </m:r>
                        </m:e>
                        <m:sub>
                          <m:r>
                            <a:rPr lang="en-IN" sz="1600" i="1">
                              <a:latin typeface="Cambria Math" panose="02040503050406030204" pitchFamily="18" charset="0"/>
                            </a:rPr>
                            <m:t>𝑚</m:t>
                          </m:r>
                          <m:r>
                            <a:rPr lang="en-US" sz="1600" i="1">
                              <a:latin typeface="Cambria Math" panose="02040503050406030204" pitchFamily="18" charset="0"/>
                            </a:rPr>
                            <m:t>,</m:t>
                          </m:r>
                          <m:r>
                            <a:rPr lang="en-IN" sz="1600" i="1">
                              <a:latin typeface="Cambria Math" panose="02040503050406030204" pitchFamily="18" charset="0"/>
                            </a:rPr>
                            <m:t>𝑖</m:t>
                          </m:r>
                        </m:sub>
                        <m:sup>
                          <m:d>
                            <m:dPr>
                              <m:ctrlPr>
                                <a:rPr lang="en-US" sz="1600" i="1">
                                  <a:latin typeface="Cambria Math" panose="02040503050406030204" pitchFamily="18" charset="0"/>
                                </a:rPr>
                              </m:ctrlPr>
                            </m:dPr>
                            <m:e>
                              <m:r>
                                <a:rPr lang="en-US" sz="1600" i="1">
                                  <a:latin typeface="Cambria Math" panose="02040503050406030204" pitchFamily="18" charset="0"/>
                                </a:rPr>
                                <m:t>𝑙</m:t>
                              </m:r>
                            </m:e>
                          </m:d>
                        </m:sup>
                      </m:sSubSup>
                    </m:oMath>
                  </m:oMathPara>
                </a14:m>
                <a:endParaRPr lang="en-IN" sz="1600" dirty="0"/>
              </a:p>
            </p:txBody>
          </p:sp>
        </mc:Choice>
        <mc:Fallback xmlns="">
          <p:sp>
            <p:nvSpPr>
              <p:cNvPr id="86" name="Rectangle 85"/>
              <p:cNvSpPr>
                <a:spLocks noRot="1" noChangeAspect="1" noMove="1" noResize="1" noEditPoints="1" noAdjustHandles="1" noChangeArrowheads="1" noChangeShapeType="1" noTextEdit="1"/>
              </p:cNvSpPr>
              <p:nvPr/>
            </p:nvSpPr>
            <p:spPr>
              <a:xfrm>
                <a:off x="8263671" y="5616933"/>
                <a:ext cx="2420856" cy="785984"/>
              </a:xfrm>
              <a:prstGeom prst="rect">
                <a:avLst/>
              </a:prstGeom>
              <a:blipFill rotWithShape="0">
                <a:blip r:embed="rId21"/>
                <a:stretch>
                  <a:fillRect/>
                </a:stretch>
              </a:blipFill>
            </p:spPr>
            <p:txBody>
              <a:bodyPr/>
              <a:lstStyle/>
              <a:p>
                <a:r>
                  <a:rPr lang="en-IN">
                    <a:noFill/>
                  </a:rPr>
                  <a:t> </a:t>
                </a:r>
              </a:p>
            </p:txBody>
          </p:sp>
        </mc:Fallback>
      </mc:AlternateContent>
      <p:sp>
        <p:nvSpPr>
          <p:cNvPr id="87" name="TextBox 86"/>
          <p:cNvSpPr txBox="1"/>
          <p:nvPr/>
        </p:nvSpPr>
        <p:spPr>
          <a:xfrm>
            <a:off x="11246793" y="5849668"/>
            <a:ext cx="601447" cy="338554"/>
          </a:xfrm>
          <a:prstGeom prst="rect">
            <a:avLst/>
          </a:prstGeom>
          <a:noFill/>
        </p:spPr>
        <p:txBody>
          <a:bodyPr wrap="none" rtlCol="0">
            <a:spAutoFit/>
          </a:bodyPr>
          <a:lstStyle/>
          <a:p>
            <a:r>
              <a:rPr lang="en-IN" sz="1600" dirty="0"/>
              <a:t>… (4)</a:t>
            </a:r>
          </a:p>
        </p:txBody>
      </p:sp>
      <p:sp>
        <p:nvSpPr>
          <p:cNvPr id="90" name="Rectangle 89"/>
          <p:cNvSpPr/>
          <p:nvPr/>
        </p:nvSpPr>
        <p:spPr>
          <a:xfrm>
            <a:off x="1981130" y="5772839"/>
            <a:ext cx="835881" cy="319490"/>
          </a:xfrm>
          <a:prstGeom prst="rect">
            <a:avLst/>
          </a:prstGeom>
          <a:solidFill>
            <a:schemeClr val="accent1">
              <a:lumMod val="40000"/>
              <a:lumOff val="60000"/>
            </a:schemeClr>
          </a:solidFill>
          <a:ln>
            <a:solidFill>
              <a:schemeClr val="bg1">
                <a:lumMod val="75000"/>
              </a:schemeClr>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2" name="TextBox 1"/>
              <p:cNvSpPr txBox="1"/>
              <p:nvPr/>
            </p:nvSpPr>
            <p:spPr>
              <a:xfrm>
                <a:off x="1976873" y="5814488"/>
                <a:ext cx="8508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1400" b="0" i="1" smtClean="0">
                          <a:latin typeface="Cambria Math" panose="02040503050406030204" pitchFamily="18" charset="0"/>
                        </a:rPr>
                        <m:t>∀</m:t>
                      </m:r>
                      <m:r>
                        <a:rPr lang="en-IN" sz="1400" b="0" i="1" smtClean="0">
                          <a:latin typeface="Cambria Math" panose="02040503050406030204" pitchFamily="18" charset="0"/>
                        </a:rPr>
                        <m:t>𝑖</m:t>
                      </m:r>
                      <m:r>
                        <a:rPr lang="en-IN" sz="1400" b="0" i="1" smtClean="0">
                          <a:latin typeface="Cambria Math" panose="02040503050406030204" pitchFamily="18" charset="0"/>
                        </a:rPr>
                        <m:t>=1:</m:t>
                      </m:r>
                      <m:sSub>
                        <m:sSubPr>
                          <m:ctrlPr>
                            <a:rPr lang="en-IN" sz="1400" b="0" i="1" smtClean="0">
                              <a:latin typeface="Cambria Math" panose="02040503050406030204" pitchFamily="18" charset="0"/>
                            </a:rPr>
                          </m:ctrlPr>
                        </m:sSubPr>
                        <m:e>
                          <m:r>
                            <a:rPr lang="en-IN" sz="1400" b="0" i="1" smtClean="0">
                              <a:latin typeface="Cambria Math" panose="02040503050406030204" pitchFamily="18" charset="0"/>
                            </a:rPr>
                            <m:t>𝑀</m:t>
                          </m:r>
                        </m:e>
                        <m:sub>
                          <m:r>
                            <a:rPr lang="en-IN" sz="1400" b="0" i="1" smtClean="0">
                              <a:latin typeface="Cambria Math" panose="02040503050406030204" pitchFamily="18" charset="0"/>
                            </a:rPr>
                            <m:t>𝐿</m:t>
                          </m:r>
                        </m:sub>
                      </m:sSub>
                    </m:oMath>
                  </m:oMathPara>
                </a14:m>
                <a:endParaRPr lang="en-IN" sz="1400" dirty="0"/>
              </a:p>
            </p:txBody>
          </p:sp>
        </mc:Choice>
        <mc:Fallback xmlns="">
          <p:sp>
            <p:nvSpPr>
              <p:cNvPr id="2" name="TextBox 1"/>
              <p:cNvSpPr txBox="1">
                <a:spLocks noRot="1" noChangeAspect="1" noMove="1" noResize="1" noEditPoints="1" noAdjustHandles="1" noChangeArrowheads="1" noChangeShapeType="1" noTextEdit="1"/>
              </p:cNvSpPr>
              <p:nvPr/>
            </p:nvSpPr>
            <p:spPr>
              <a:xfrm>
                <a:off x="1976873" y="5814488"/>
                <a:ext cx="850810" cy="215444"/>
              </a:xfrm>
              <a:prstGeom prst="rect">
                <a:avLst/>
              </a:prstGeom>
              <a:blipFill rotWithShape="0">
                <a:blip r:embed="rId22"/>
                <a:stretch>
                  <a:fillRect l="-3571" b="-14286"/>
                </a:stretch>
              </a:blipFill>
            </p:spPr>
            <p:txBody>
              <a:bodyPr/>
              <a:lstStyle/>
              <a:p>
                <a:r>
                  <a:rPr lang="en-IN">
                    <a:noFill/>
                  </a:rPr>
                  <a:t> </a:t>
                </a:r>
              </a:p>
            </p:txBody>
          </p:sp>
        </mc:Fallback>
      </mc:AlternateContent>
      <p:cxnSp>
        <p:nvCxnSpPr>
          <p:cNvPr id="91" name="Straight Connector 90"/>
          <p:cNvCxnSpPr/>
          <p:nvPr/>
        </p:nvCxnSpPr>
        <p:spPr>
          <a:xfrm flipH="1">
            <a:off x="1600631" y="5909094"/>
            <a:ext cx="396000" cy="2803"/>
          </a:xfrm>
          <a:prstGeom prst="line">
            <a:avLst/>
          </a:prstGeom>
          <a:ln w="28575"/>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1122890" y="5763230"/>
            <a:ext cx="497252" cy="338554"/>
          </a:xfrm>
          <a:prstGeom prst="rect">
            <a:avLst/>
          </a:prstGeom>
          <a:noFill/>
        </p:spPr>
        <p:txBody>
          <a:bodyPr wrap="none" rtlCol="0">
            <a:spAutoFit/>
          </a:bodyPr>
          <a:lstStyle/>
          <a:p>
            <a:pPr algn="ctr"/>
            <a:r>
              <a:rPr lang="en-IN" sz="1600" dirty="0"/>
              <a:t>and</a:t>
            </a:r>
          </a:p>
        </p:txBody>
      </p:sp>
      <mc:AlternateContent xmlns:mc="http://schemas.openxmlformats.org/markup-compatibility/2006" xmlns:a14="http://schemas.microsoft.com/office/drawing/2010/main">
        <mc:Choice Requires="a14">
          <p:sp>
            <p:nvSpPr>
              <p:cNvPr id="95" name="TextBox 94"/>
              <p:cNvSpPr txBox="1"/>
              <p:nvPr/>
            </p:nvSpPr>
            <p:spPr>
              <a:xfrm>
                <a:off x="1256454" y="6075569"/>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95" name="TextBox 94"/>
              <p:cNvSpPr txBox="1">
                <a:spLocks noRot="1" noChangeAspect="1" noMove="1" noResize="1" noEditPoints="1" noAdjustHandles="1" noChangeArrowheads="1" noChangeShapeType="1" noTextEdit="1"/>
              </p:cNvSpPr>
              <p:nvPr/>
            </p:nvSpPr>
            <p:spPr>
              <a:xfrm>
                <a:off x="1256454" y="6075569"/>
                <a:ext cx="226024" cy="276999"/>
              </a:xfrm>
              <a:prstGeom prst="rect">
                <a:avLst/>
              </a:prstGeom>
              <a:blipFill rotWithShape="0">
                <a:blip r:embed="rId23"/>
                <a:stretch>
                  <a:fillRect l="-21622" r="-21622" b="-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1839039" y="1683743"/>
                <a:ext cx="739753" cy="4131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i="1" smtClean="0">
                              <a:latin typeface="Cambria Math" panose="02040503050406030204" pitchFamily="18" charset="0"/>
                            </a:rPr>
                          </m:ctrlPr>
                        </m:dPr>
                        <m:e>
                          <m:sSubSup>
                            <m:sSubSupPr>
                              <m:ctrlPr>
                                <a:rPr lang="en-US" sz="1400" i="1">
                                  <a:latin typeface="Cambria Math" panose="02040503050406030204" pitchFamily="18" charset="0"/>
                                </a:rPr>
                              </m:ctrlPr>
                            </m:sSubSupPr>
                            <m:e>
                              <m:r>
                                <a:rPr lang="en-IN" sz="1400" b="1" i="1">
                                  <a:latin typeface="Cambria Math" panose="02040503050406030204" pitchFamily="18" charset="0"/>
                                </a:rPr>
                                <m:t>𝑾</m:t>
                              </m:r>
                            </m:e>
                            <m:sub>
                              <m:r>
                                <a:rPr lang="en-IN" sz="1400" i="1">
                                  <a:latin typeface="Cambria Math" panose="02040503050406030204" pitchFamily="18" charset="0"/>
                                </a:rPr>
                                <m:t>𝑖</m:t>
                              </m:r>
                              <m:r>
                                <a:rPr lang="en-IN" sz="1400" i="1">
                                  <a:latin typeface="Cambria Math" panose="02040503050406030204" pitchFamily="18" charset="0"/>
                                </a:rPr>
                                <m:t>,</m:t>
                              </m:r>
                              <m:r>
                                <a:rPr lang="en-IN" sz="1400" i="1">
                                  <a:latin typeface="Cambria Math" panose="02040503050406030204" pitchFamily="18" charset="0"/>
                                </a:rPr>
                                <m:t>𝑗</m:t>
                              </m:r>
                            </m:sub>
                            <m:sup>
                              <m:r>
                                <a:rPr lang="en-IN" sz="1400" i="1">
                                  <a:latin typeface="Cambria Math" panose="02040503050406030204" pitchFamily="18" charset="0"/>
                                </a:rPr>
                                <m:t>(</m:t>
                              </m:r>
                              <m:r>
                                <a:rPr lang="en-IN" sz="1400" i="1">
                                  <a:latin typeface="Cambria Math" panose="02040503050406030204" pitchFamily="18" charset="0"/>
                                </a:rPr>
                                <m:t>𝑙</m:t>
                              </m:r>
                              <m:r>
                                <a:rPr lang="en-IN" sz="1400" i="1">
                                  <a:latin typeface="Cambria Math" panose="02040503050406030204" pitchFamily="18" charset="0"/>
                                </a:rPr>
                                <m:t>)</m:t>
                              </m:r>
                            </m:sup>
                          </m:sSubSup>
                          <m:r>
                            <m:rPr>
                              <m:nor/>
                            </m:rPr>
                            <a:rPr lang="en-IN" sz="1400" dirty="0"/>
                            <m:t> </m:t>
                          </m:r>
                        </m:e>
                      </m:d>
                    </m:oMath>
                  </m:oMathPara>
                </a14:m>
                <a:endParaRPr lang="en-IN" sz="1400" dirty="0"/>
              </a:p>
            </p:txBody>
          </p:sp>
        </mc:Choice>
        <mc:Fallback xmlns="">
          <p:sp>
            <p:nvSpPr>
              <p:cNvPr id="7" name="Rectangle 6"/>
              <p:cNvSpPr>
                <a:spLocks noRot="1" noChangeAspect="1" noMove="1" noResize="1" noEditPoints="1" noAdjustHandles="1" noChangeArrowheads="1" noChangeShapeType="1" noTextEdit="1"/>
              </p:cNvSpPr>
              <p:nvPr/>
            </p:nvSpPr>
            <p:spPr>
              <a:xfrm>
                <a:off x="1839039" y="1683743"/>
                <a:ext cx="739753" cy="413190"/>
              </a:xfrm>
              <a:prstGeom prst="rect">
                <a:avLst/>
              </a:prstGeom>
              <a:blipFill rotWithShape="0">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6" name="Rectangle 95"/>
              <p:cNvSpPr/>
              <p:nvPr/>
            </p:nvSpPr>
            <p:spPr>
              <a:xfrm>
                <a:off x="1826327" y="1319907"/>
                <a:ext cx="782073" cy="4131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i="1" smtClean="0">
                              <a:latin typeface="Cambria Math" panose="02040503050406030204" pitchFamily="18" charset="0"/>
                            </a:rPr>
                          </m:ctrlPr>
                        </m:dPr>
                        <m:e>
                          <m:sSubSup>
                            <m:sSubSupPr>
                              <m:ctrlPr>
                                <a:rPr lang="en-US" sz="1400" i="1">
                                  <a:latin typeface="Cambria Math" panose="02040503050406030204" pitchFamily="18" charset="0"/>
                                </a:rPr>
                              </m:ctrlPr>
                            </m:sSubSupPr>
                            <m:e>
                              <m:r>
                                <a:rPr lang="en-IN" sz="1400" b="1" i="1">
                                  <a:latin typeface="Cambria Math" panose="02040503050406030204" pitchFamily="18" charset="0"/>
                                </a:rPr>
                                <m:t>𝑾</m:t>
                              </m:r>
                            </m:e>
                            <m:sub>
                              <m:r>
                                <a:rPr lang="en-IN" sz="1400" b="0" i="1" smtClean="0">
                                  <a:latin typeface="Cambria Math" panose="02040503050406030204" pitchFamily="18" charset="0"/>
                                </a:rPr>
                                <m:t>𝑚</m:t>
                              </m:r>
                              <m:r>
                                <a:rPr lang="en-IN" sz="1400" i="1">
                                  <a:latin typeface="Cambria Math" panose="02040503050406030204" pitchFamily="18" charset="0"/>
                                </a:rPr>
                                <m:t>,</m:t>
                              </m:r>
                              <m:r>
                                <a:rPr lang="en-IN" sz="1400" b="0" i="1" smtClean="0">
                                  <a:latin typeface="Cambria Math" panose="02040503050406030204" pitchFamily="18" charset="0"/>
                                </a:rPr>
                                <m:t>𝑖</m:t>
                              </m:r>
                            </m:sub>
                            <m:sup>
                              <m:r>
                                <a:rPr lang="en-IN" sz="1400" i="1">
                                  <a:latin typeface="Cambria Math" panose="02040503050406030204" pitchFamily="18" charset="0"/>
                                </a:rPr>
                                <m:t>(</m:t>
                              </m:r>
                              <m:r>
                                <a:rPr lang="en-IN" sz="1400" i="1">
                                  <a:latin typeface="Cambria Math" panose="02040503050406030204" pitchFamily="18" charset="0"/>
                                </a:rPr>
                                <m:t>𝑙</m:t>
                              </m:r>
                              <m:r>
                                <a:rPr lang="en-IN" sz="1400" i="1">
                                  <a:latin typeface="Cambria Math" panose="02040503050406030204" pitchFamily="18" charset="0"/>
                                </a:rPr>
                                <m:t>)</m:t>
                              </m:r>
                            </m:sup>
                          </m:sSubSup>
                          <m:r>
                            <m:rPr>
                              <m:nor/>
                            </m:rPr>
                            <a:rPr lang="en-IN" sz="1400" dirty="0"/>
                            <m:t> </m:t>
                          </m:r>
                        </m:e>
                      </m:d>
                    </m:oMath>
                  </m:oMathPara>
                </a14:m>
                <a:endParaRPr lang="en-IN" sz="1400" dirty="0"/>
              </a:p>
            </p:txBody>
          </p:sp>
        </mc:Choice>
        <mc:Fallback xmlns="">
          <p:sp>
            <p:nvSpPr>
              <p:cNvPr id="96" name="Rectangle 95"/>
              <p:cNvSpPr>
                <a:spLocks noRot="1" noChangeAspect="1" noMove="1" noResize="1" noEditPoints="1" noAdjustHandles="1" noChangeArrowheads="1" noChangeShapeType="1" noTextEdit="1"/>
              </p:cNvSpPr>
              <p:nvPr/>
            </p:nvSpPr>
            <p:spPr>
              <a:xfrm>
                <a:off x="1826327" y="1319907"/>
                <a:ext cx="782073" cy="413190"/>
              </a:xfrm>
              <a:prstGeom prst="rect">
                <a:avLst/>
              </a:prstGeom>
              <a:blipFill rotWithShape="0">
                <a:blip r:embed="rId25"/>
                <a:stretch>
                  <a:fillRect/>
                </a:stretch>
              </a:blipFill>
            </p:spPr>
            <p:txBody>
              <a:bodyPr/>
              <a:lstStyle/>
              <a:p>
                <a:r>
                  <a:rPr lang="en-IN">
                    <a:noFill/>
                  </a:rPr>
                  <a:t> </a:t>
                </a:r>
              </a:p>
            </p:txBody>
          </p:sp>
        </mc:Fallback>
      </mc:AlternateContent>
      <p:cxnSp>
        <p:nvCxnSpPr>
          <p:cNvPr id="9" name="Straight Connector 8"/>
          <p:cNvCxnSpPr>
            <a:stCxn id="119" idx="1"/>
            <a:endCxn id="119" idx="3"/>
          </p:cNvCxnSpPr>
          <p:nvPr/>
        </p:nvCxnSpPr>
        <p:spPr>
          <a:xfrm>
            <a:off x="1902157" y="1711150"/>
            <a:ext cx="595401" cy="0"/>
          </a:xfrm>
          <a:prstGeom prst="line">
            <a:avLst/>
          </a:prstGeom>
        </p:spPr>
        <p:style>
          <a:lnRef idx="1">
            <a:schemeClr val="dk1"/>
          </a:lnRef>
          <a:fillRef idx="0">
            <a:schemeClr val="dk1"/>
          </a:fillRef>
          <a:effectRef idx="0">
            <a:schemeClr val="dk1"/>
          </a:effectRef>
          <a:fontRef idx="minor">
            <a:schemeClr val="tx1"/>
          </a:fontRef>
        </p:style>
      </p:cxnSp>
      <p:cxnSp>
        <p:nvCxnSpPr>
          <p:cNvPr id="97" name="Straight Connector 96"/>
          <p:cNvCxnSpPr/>
          <p:nvPr/>
        </p:nvCxnSpPr>
        <p:spPr>
          <a:xfrm flipH="1">
            <a:off x="2207838" y="2050719"/>
            <a:ext cx="1077" cy="468000"/>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2" name="Rectangle 101"/>
              <p:cNvSpPr/>
              <p:nvPr/>
            </p:nvSpPr>
            <p:spPr>
              <a:xfrm>
                <a:off x="3477225" y="1542214"/>
                <a:ext cx="547778" cy="4057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IN" sz="1600" i="1" smtClean="0">
                              <a:latin typeface="Cambria Math" panose="02040503050406030204" pitchFamily="18" charset="0"/>
                            </a:rPr>
                          </m:ctrlPr>
                        </m:sSubSupPr>
                        <m:e>
                          <m:r>
                            <a:rPr lang="en-IN" sz="1600" b="1" i="1" smtClean="0">
                              <a:latin typeface="Cambria Math" panose="02040503050406030204" pitchFamily="18" charset="0"/>
                            </a:rPr>
                            <m:t>𝒃</m:t>
                          </m:r>
                        </m:e>
                        <m:sub>
                          <m:r>
                            <a:rPr lang="en-IN" sz="1600" b="0" i="1" smtClean="0">
                              <a:latin typeface="Cambria Math" panose="02040503050406030204" pitchFamily="18" charset="0"/>
                            </a:rPr>
                            <m:t>𝑖</m:t>
                          </m:r>
                        </m:sub>
                        <m:sup>
                          <m:r>
                            <a:rPr lang="en-IN" sz="1600" b="0" i="1" smtClean="0">
                              <a:latin typeface="Cambria Math" panose="02040503050406030204" pitchFamily="18" charset="0"/>
                            </a:rPr>
                            <m:t>(</m:t>
                          </m:r>
                          <m:r>
                            <a:rPr lang="en-IN" sz="1600" b="0" i="1" smtClean="0">
                              <a:latin typeface="Cambria Math" panose="02040503050406030204" pitchFamily="18" charset="0"/>
                            </a:rPr>
                            <m:t>𝑙</m:t>
                          </m:r>
                          <m:r>
                            <a:rPr lang="en-IN" sz="1600" b="0" i="1" smtClean="0">
                              <a:latin typeface="Cambria Math" panose="02040503050406030204" pitchFamily="18" charset="0"/>
                            </a:rPr>
                            <m:t>)</m:t>
                          </m:r>
                        </m:sup>
                      </m:sSubSup>
                    </m:oMath>
                  </m:oMathPara>
                </a14:m>
                <a:endParaRPr lang="en-IN" sz="1600" dirty="0"/>
              </a:p>
            </p:txBody>
          </p:sp>
        </mc:Choice>
        <mc:Fallback xmlns="">
          <p:sp>
            <p:nvSpPr>
              <p:cNvPr id="102" name="Rectangle 101"/>
              <p:cNvSpPr>
                <a:spLocks noRot="1" noChangeAspect="1" noMove="1" noResize="1" noEditPoints="1" noAdjustHandles="1" noChangeArrowheads="1" noChangeShapeType="1" noTextEdit="1"/>
              </p:cNvSpPr>
              <p:nvPr/>
            </p:nvSpPr>
            <p:spPr>
              <a:xfrm>
                <a:off x="3477225" y="1542214"/>
                <a:ext cx="547778" cy="405752"/>
              </a:xfrm>
              <a:prstGeom prst="rect">
                <a:avLst/>
              </a:prstGeom>
              <a:blipFill rotWithShape="0">
                <a:blip r:embed="rId26"/>
                <a:stretch>
                  <a:fillRect/>
                </a:stretch>
              </a:blipFill>
            </p:spPr>
            <p:txBody>
              <a:bodyPr/>
              <a:lstStyle/>
              <a:p>
                <a:r>
                  <a:rPr lang="en-IN">
                    <a:noFill/>
                  </a:rPr>
                  <a:t> </a:t>
                </a:r>
              </a:p>
            </p:txBody>
          </p:sp>
        </mc:Fallback>
      </mc:AlternateContent>
      <p:cxnSp>
        <p:nvCxnSpPr>
          <p:cNvPr id="103" name="Straight Connector 102"/>
          <p:cNvCxnSpPr/>
          <p:nvPr/>
        </p:nvCxnSpPr>
        <p:spPr>
          <a:xfrm flipH="1">
            <a:off x="3747741" y="2078052"/>
            <a:ext cx="1077" cy="468000"/>
          </a:xfrm>
          <a:prstGeom prst="line">
            <a:avLst/>
          </a:prstGeom>
          <a:ln w="28575"/>
        </p:spPr>
        <p:style>
          <a:lnRef idx="1">
            <a:schemeClr val="dk1"/>
          </a:lnRef>
          <a:fillRef idx="0">
            <a:schemeClr val="dk1"/>
          </a:fillRef>
          <a:effectRef idx="0">
            <a:schemeClr val="dk1"/>
          </a:effectRef>
          <a:fontRef idx="minor">
            <a:schemeClr val="tx1"/>
          </a:fontRef>
        </p:style>
      </p:cxnSp>
      <p:sp>
        <p:nvSpPr>
          <p:cNvPr id="12" name="Freeform 11"/>
          <p:cNvSpPr/>
          <p:nvPr/>
        </p:nvSpPr>
        <p:spPr>
          <a:xfrm>
            <a:off x="1388125" y="1514742"/>
            <a:ext cx="517793" cy="3929254"/>
          </a:xfrm>
          <a:custGeom>
            <a:avLst/>
            <a:gdLst>
              <a:gd name="connsiteX0" fmla="*/ 517793 w 517793"/>
              <a:gd name="connsiteY0" fmla="*/ 5586 h 3929254"/>
              <a:gd name="connsiteX1" fmla="*/ 363557 w 517793"/>
              <a:gd name="connsiteY1" fmla="*/ 534395 h 3929254"/>
              <a:gd name="connsiteX2" fmla="*/ 242371 w 517793"/>
              <a:gd name="connsiteY2" fmla="*/ 3376747 h 3929254"/>
              <a:gd name="connsiteX3" fmla="*/ 0 w 517793"/>
              <a:gd name="connsiteY3" fmla="*/ 3927591 h 3929254"/>
            </a:gdLst>
            <a:ahLst/>
            <a:cxnLst>
              <a:cxn ang="0">
                <a:pos x="connsiteX0" y="connsiteY0"/>
              </a:cxn>
              <a:cxn ang="0">
                <a:pos x="connsiteX1" y="connsiteY1"/>
              </a:cxn>
              <a:cxn ang="0">
                <a:pos x="connsiteX2" y="connsiteY2"/>
              </a:cxn>
              <a:cxn ang="0">
                <a:pos x="connsiteX3" y="connsiteY3"/>
              </a:cxn>
            </a:cxnLst>
            <a:rect l="l" t="t" r="r" b="b"/>
            <a:pathLst>
              <a:path w="517793" h="3929254">
                <a:moveTo>
                  <a:pt x="517793" y="5586"/>
                </a:moveTo>
                <a:cubicBezTo>
                  <a:pt x="463627" y="-10940"/>
                  <a:pt x="409461" y="-27465"/>
                  <a:pt x="363557" y="534395"/>
                </a:cubicBezTo>
                <a:cubicBezTo>
                  <a:pt x="317653" y="1096255"/>
                  <a:pt x="302964" y="2811214"/>
                  <a:pt x="242371" y="3376747"/>
                </a:cubicBezTo>
                <a:cubicBezTo>
                  <a:pt x="181778" y="3942280"/>
                  <a:pt x="90889" y="3934935"/>
                  <a:pt x="0" y="3927591"/>
                </a:cubicBezTo>
              </a:path>
            </a:pathLst>
          </a:cu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
        <p:nvSpPr>
          <p:cNvPr id="93" name="Rectangle 92"/>
          <p:cNvSpPr/>
          <p:nvPr/>
        </p:nvSpPr>
        <p:spPr>
          <a:xfrm>
            <a:off x="1267877" y="3964219"/>
            <a:ext cx="835881" cy="319490"/>
          </a:xfrm>
          <a:prstGeom prst="rect">
            <a:avLst/>
          </a:prstGeom>
          <a:solidFill>
            <a:schemeClr val="accent1">
              <a:lumMod val="40000"/>
              <a:lumOff val="60000"/>
            </a:schemeClr>
          </a:solidFill>
          <a:ln>
            <a:solidFill>
              <a:schemeClr val="bg1">
                <a:lumMod val="75000"/>
              </a:schemeClr>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94" name="TextBox 93"/>
              <p:cNvSpPr txBox="1"/>
              <p:nvPr/>
            </p:nvSpPr>
            <p:spPr>
              <a:xfrm>
                <a:off x="1263620" y="4005868"/>
                <a:ext cx="8508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1400" b="0" i="1" smtClean="0">
                          <a:latin typeface="Cambria Math" panose="02040503050406030204" pitchFamily="18" charset="0"/>
                        </a:rPr>
                        <m:t>∀</m:t>
                      </m:r>
                      <m:r>
                        <a:rPr lang="en-IN" sz="1400" b="0" i="1" smtClean="0">
                          <a:latin typeface="Cambria Math" panose="02040503050406030204" pitchFamily="18" charset="0"/>
                        </a:rPr>
                        <m:t>𝑖</m:t>
                      </m:r>
                      <m:r>
                        <a:rPr lang="en-IN" sz="1400" b="0" i="1" smtClean="0">
                          <a:latin typeface="Cambria Math" panose="02040503050406030204" pitchFamily="18" charset="0"/>
                        </a:rPr>
                        <m:t>=1:</m:t>
                      </m:r>
                      <m:sSub>
                        <m:sSubPr>
                          <m:ctrlPr>
                            <a:rPr lang="en-IN" sz="1400" b="0" i="1" smtClean="0">
                              <a:latin typeface="Cambria Math" panose="02040503050406030204" pitchFamily="18" charset="0"/>
                            </a:rPr>
                          </m:ctrlPr>
                        </m:sSubPr>
                        <m:e>
                          <m:r>
                            <a:rPr lang="en-IN" sz="1400" b="0" i="1" smtClean="0">
                              <a:latin typeface="Cambria Math" panose="02040503050406030204" pitchFamily="18" charset="0"/>
                            </a:rPr>
                            <m:t>𝑀</m:t>
                          </m:r>
                        </m:e>
                        <m:sub>
                          <m:r>
                            <a:rPr lang="en-IN" sz="1400" b="0" i="1" smtClean="0">
                              <a:latin typeface="Cambria Math" panose="02040503050406030204" pitchFamily="18" charset="0"/>
                            </a:rPr>
                            <m:t>𝐿</m:t>
                          </m:r>
                        </m:sub>
                      </m:sSub>
                    </m:oMath>
                  </m:oMathPara>
                </a14:m>
                <a:endParaRPr lang="en-IN" sz="1400" dirty="0"/>
              </a:p>
            </p:txBody>
          </p:sp>
        </mc:Choice>
        <mc:Fallback xmlns="">
          <p:sp>
            <p:nvSpPr>
              <p:cNvPr id="94" name="TextBox 93"/>
              <p:cNvSpPr txBox="1">
                <a:spLocks noRot="1" noChangeAspect="1" noMove="1" noResize="1" noEditPoints="1" noAdjustHandles="1" noChangeArrowheads="1" noChangeShapeType="1" noTextEdit="1"/>
              </p:cNvSpPr>
              <p:nvPr/>
            </p:nvSpPr>
            <p:spPr>
              <a:xfrm>
                <a:off x="1263620" y="4005868"/>
                <a:ext cx="850810" cy="215444"/>
              </a:xfrm>
              <a:prstGeom prst="rect">
                <a:avLst/>
              </a:prstGeom>
              <a:blipFill rotWithShape="0">
                <a:blip r:embed="rId22"/>
                <a:stretch>
                  <a:fillRect l="-3571" b="-14286"/>
                </a:stretch>
              </a:blipFill>
            </p:spPr>
            <p:txBody>
              <a:bodyPr/>
              <a:lstStyle/>
              <a:p>
                <a:r>
                  <a:rPr lang="en-IN">
                    <a:noFill/>
                  </a:rPr>
                  <a:t> </a:t>
                </a:r>
              </a:p>
            </p:txBody>
          </p:sp>
        </mc:Fallback>
      </mc:AlternateContent>
    </p:spTree>
    <p:extLst>
      <p:ext uri="{BB962C8B-B14F-4D97-AF65-F5344CB8AC3E}">
        <p14:creationId xmlns:p14="http://schemas.microsoft.com/office/powerpoint/2010/main" val="10492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9440" y="963706"/>
            <a:ext cx="5538401" cy="5538401"/>
          </a:xfrm>
          <a:prstGeom prst="rect">
            <a:avLst/>
          </a:prstGeom>
        </p:spPr>
      </p:pic>
      <p:sp>
        <p:nvSpPr>
          <p:cNvPr id="3" name="Google Shape;100;p14"/>
          <p:cNvSpPr txBox="1"/>
          <p:nvPr/>
        </p:nvSpPr>
        <p:spPr>
          <a:xfrm>
            <a:off x="213360" y="832857"/>
            <a:ext cx="11765279"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solidFill>
                  <a:srgbClr val="434343"/>
                </a:solidFill>
              </a:rPr>
              <a:t>Training Multilayer Neural Network for </a:t>
            </a:r>
            <a:r>
              <a:rPr lang="en-US" sz="2800">
                <a:solidFill>
                  <a:srgbClr val="434343"/>
                </a:solidFill>
              </a:rPr>
              <a:t>non-linearly Separable Data</a:t>
            </a:r>
            <a:endParaRPr sz="2800" dirty="0">
              <a:solidFill>
                <a:srgbClr val="434343"/>
              </a:solidFill>
            </a:endParaRPr>
          </a:p>
        </p:txBody>
      </p:sp>
      <p:sp>
        <p:nvSpPr>
          <p:cNvPr id="2" name="TextBox 1"/>
          <p:cNvSpPr txBox="1"/>
          <p:nvPr/>
        </p:nvSpPr>
        <p:spPr>
          <a:xfrm>
            <a:off x="5387952" y="6132775"/>
            <a:ext cx="1416093" cy="369332"/>
          </a:xfrm>
          <a:prstGeom prst="rect">
            <a:avLst/>
          </a:prstGeom>
          <a:noFill/>
        </p:spPr>
        <p:txBody>
          <a:bodyPr wrap="none" rtlCol="0">
            <a:spAutoFit/>
          </a:bodyPr>
          <a:lstStyle/>
          <a:p>
            <a:r>
              <a:rPr lang="en-US"/>
              <a:t>Training Data</a:t>
            </a:r>
          </a:p>
        </p:txBody>
      </p:sp>
      <p:sp>
        <p:nvSpPr>
          <p:cNvPr id="6" name="Footer Placeholder 2"/>
          <p:cNvSpPr>
            <a:spLocks noGrp="1"/>
          </p:cNvSpPr>
          <p:nvPr>
            <p:ph type="ftr" sz="quarter" idx="3"/>
          </p:nvPr>
        </p:nvSpPr>
        <p:spPr>
          <a:xfrm>
            <a:off x="2199486" y="6356350"/>
            <a:ext cx="8167606" cy="365125"/>
          </a:xfrm>
        </p:spPr>
        <p:txBody>
          <a:bodyPr/>
          <a:lstStyle/>
          <a:p>
            <a:r>
              <a:rPr lang="en-US"/>
              <a:t>CS21206 / FAIML | Perceptron and MLP (c) Abir Das, Ayan Chaudhury</a:t>
            </a:r>
          </a:p>
        </p:txBody>
      </p:sp>
      <p:sp>
        <p:nvSpPr>
          <p:cNvPr id="7" name="Slide Number Placeholder 20"/>
          <p:cNvSpPr>
            <a:spLocks noGrp="1"/>
          </p:cNvSpPr>
          <p:nvPr>
            <p:ph type="sldNum" sz="quarter" idx="4"/>
          </p:nvPr>
        </p:nvSpPr>
        <p:spPr>
          <a:xfrm>
            <a:off x="10757133" y="6356350"/>
            <a:ext cx="783956" cy="365125"/>
          </a:xfrm>
        </p:spPr>
        <p:txBody>
          <a:bodyPr/>
          <a:lstStyle/>
          <a:p>
            <a:r>
              <a:rPr lang="en-US" dirty="0"/>
              <a:t>35</a:t>
            </a:r>
          </a:p>
        </p:txBody>
      </p:sp>
    </p:spTree>
    <p:extLst>
      <p:ext uri="{BB962C8B-B14F-4D97-AF65-F5344CB8AC3E}">
        <p14:creationId xmlns:p14="http://schemas.microsoft.com/office/powerpoint/2010/main" val="17108271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357" y="1267603"/>
            <a:ext cx="2880000" cy="2880000"/>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04180" y="1267603"/>
            <a:ext cx="2880000" cy="2880000"/>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66003" y="1267603"/>
            <a:ext cx="2880000" cy="2880000"/>
          </a:xfrm>
          <a:prstGeom prst="rect">
            <a:avLst/>
          </a:prstGeom>
        </p:spPr>
      </p:pic>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27827" y="1267603"/>
            <a:ext cx="2880000" cy="2880000"/>
          </a:xfrm>
          <a:prstGeom prst="rect">
            <a:avLst/>
          </a:prstGeom>
        </p:spPr>
      </p:pic>
      <p:pic>
        <p:nvPicPr>
          <p:cNvPr id="6" name="Picture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2357" y="3954693"/>
            <a:ext cx="2880000" cy="2880000"/>
          </a:xfrm>
          <a:prstGeom prst="rect">
            <a:avLst/>
          </a:prstGeom>
        </p:spPr>
      </p:pic>
      <p:pic>
        <p:nvPicPr>
          <p:cNvPr id="7" name="Picture 6"/>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404180" y="3954693"/>
            <a:ext cx="2880000" cy="2880000"/>
          </a:xfrm>
          <a:prstGeom prst="rect">
            <a:avLst/>
          </a:prstGeom>
        </p:spPr>
      </p:pic>
      <p:pic>
        <p:nvPicPr>
          <p:cNvPr id="8" name="Picture 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66003" y="3954693"/>
            <a:ext cx="2880000" cy="2880000"/>
          </a:xfrm>
          <a:prstGeom prst="rect">
            <a:avLst/>
          </a:prstGeom>
        </p:spPr>
      </p:pic>
      <p:pic>
        <p:nvPicPr>
          <p:cNvPr id="9" name="Picture 8"/>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127827" y="3954693"/>
            <a:ext cx="2880000" cy="2880000"/>
          </a:xfrm>
          <a:prstGeom prst="rect">
            <a:avLst/>
          </a:prstGeom>
        </p:spPr>
      </p:pic>
      <p:sp>
        <p:nvSpPr>
          <p:cNvPr id="10" name="Google Shape;100;p14"/>
          <p:cNvSpPr txBox="1"/>
          <p:nvPr/>
        </p:nvSpPr>
        <p:spPr>
          <a:xfrm>
            <a:off x="213360" y="832857"/>
            <a:ext cx="11765279"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solidFill>
                  <a:srgbClr val="434343"/>
                </a:solidFill>
              </a:rPr>
              <a:t>Learned Decision Boundary with Single Hidden Layer</a:t>
            </a:r>
            <a:endParaRPr sz="2800" dirty="0">
              <a:solidFill>
                <a:srgbClr val="434343"/>
              </a:solidFill>
            </a:endParaRPr>
          </a:p>
        </p:txBody>
      </p:sp>
      <p:sp>
        <p:nvSpPr>
          <p:cNvPr id="11" name="TextBox 10"/>
          <p:cNvSpPr txBox="1"/>
          <p:nvPr/>
        </p:nvSpPr>
        <p:spPr>
          <a:xfrm>
            <a:off x="902606" y="3816582"/>
            <a:ext cx="2159502" cy="338554"/>
          </a:xfrm>
          <a:prstGeom prst="rect">
            <a:avLst/>
          </a:prstGeom>
          <a:noFill/>
        </p:spPr>
        <p:txBody>
          <a:bodyPr wrap="none" rtlCol="0">
            <a:spAutoFit/>
          </a:bodyPr>
          <a:lstStyle/>
          <a:p>
            <a:r>
              <a:rPr lang="en-US" sz="1600" dirty="0"/>
              <a:t># of hidden neurons = 2</a:t>
            </a:r>
          </a:p>
        </p:txBody>
      </p:sp>
      <p:sp>
        <p:nvSpPr>
          <p:cNvPr id="12" name="TextBox 11"/>
          <p:cNvSpPr txBox="1"/>
          <p:nvPr/>
        </p:nvSpPr>
        <p:spPr>
          <a:xfrm>
            <a:off x="3744339" y="3816582"/>
            <a:ext cx="2159502" cy="338554"/>
          </a:xfrm>
          <a:prstGeom prst="rect">
            <a:avLst/>
          </a:prstGeom>
          <a:noFill/>
        </p:spPr>
        <p:txBody>
          <a:bodyPr wrap="none" rtlCol="0">
            <a:spAutoFit/>
          </a:bodyPr>
          <a:lstStyle/>
          <a:p>
            <a:r>
              <a:rPr lang="en-US" sz="1600" dirty="0"/>
              <a:t># of hidden neurons = 4</a:t>
            </a:r>
          </a:p>
        </p:txBody>
      </p:sp>
      <p:sp>
        <p:nvSpPr>
          <p:cNvPr id="13" name="TextBox 12"/>
          <p:cNvSpPr txBox="1"/>
          <p:nvPr/>
        </p:nvSpPr>
        <p:spPr>
          <a:xfrm>
            <a:off x="6586072" y="3809049"/>
            <a:ext cx="2159502" cy="338554"/>
          </a:xfrm>
          <a:prstGeom prst="rect">
            <a:avLst/>
          </a:prstGeom>
          <a:noFill/>
        </p:spPr>
        <p:txBody>
          <a:bodyPr wrap="none" rtlCol="0">
            <a:spAutoFit/>
          </a:bodyPr>
          <a:lstStyle/>
          <a:p>
            <a:r>
              <a:rPr lang="en-US" sz="1600" dirty="0"/>
              <a:t># of hidden neurons = 8</a:t>
            </a:r>
          </a:p>
        </p:txBody>
      </p:sp>
      <p:sp>
        <p:nvSpPr>
          <p:cNvPr id="14" name="TextBox 13"/>
          <p:cNvSpPr txBox="1"/>
          <p:nvPr/>
        </p:nvSpPr>
        <p:spPr>
          <a:xfrm>
            <a:off x="9427805" y="3809049"/>
            <a:ext cx="2263697" cy="338554"/>
          </a:xfrm>
          <a:prstGeom prst="rect">
            <a:avLst/>
          </a:prstGeom>
          <a:noFill/>
        </p:spPr>
        <p:txBody>
          <a:bodyPr wrap="none" rtlCol="0">
            <a:spAutoFit/>
          </a:bodyPr>
          <a:lstStyle/>
          <a:p>
            <a:r>
              <a:rPr lang="en-US" sz="1600" dirty="0"/>
              <a:t># of hidden neurons = 16</a:t>
            </a:r>
          </a:p>
        </p:txBody>
      </p:sp>
      <p:sp>
        <p:nvSpPr>
          <p:cNvPr id="15" name="TextBox 14"/>
          <p:cNvSpPr txBox="1"/>
          <p:nvPr/>
        </p:nvSpPr>
        <p:spPr>
          <a:xfrm>
            <a:off x="902606" y="6496139"/>
            <a:ext cx="2263697" cy="338554"/>
          </a:xfrm>
          <a:prstGeom prst="rect">
            <a:avLst/>
          </a:prstGeom>
          <a:noFill/>
        </p:spPr>
        <p:txBody>
          <a:bodyPr wrap="none" rtlCol="0">
            <a:spAutoFit/>
          </a:bodyPr>
          <a:lstStyle/>
          <a:p>
            <a:r>
              <a:rPr lang="en-US" sz="1600" dirty="0"/>
              <a:t># of hidden neurons = 32</a:t>
            </a:r>
          </a:p>
        </p:txBody>
      </p:sp>
      <p:sp>
        <p:nvSpPr>
          <p:cNvPr id="16" name="TextBox 15"/>
          <p:cNvSpPr txBox="1"/>
          <p:nvPr/>
        </p:nvSpPr>
        <p:spPr>
          <a:xfrm>
            <a:off x="3748234" y="6496139"/>
            <a:ext cx="2263697" cy="338554"/>
          </a:xfrm>
          <a:prstGeom prst="rect">
            <a:avLst/>
          </a:prstGeom>
          <a:noFill/>
        </p:spPr>
        <p:txBody>
          <a:bodyPr wrap="none" rtlCol="0">
            <a:spAutoFit/>
          </a:bodyPr>
          <a:lstStyle/>
          <a:p>
            <a:r>
              <a:rPr lang="en-US" sz="1600" dirty="0"/>
              <a:t># of hidden neurons = 64</a:t>
            </a:r>
          </a:p>
        </p:txBody>
      </p:sp>
      <p:sp>
        <p:nvSpPr>
          <p:cNvPr id="17" name="TextBox 16"/>
          <p:cNvSpPr txBox="1"/>
          <p:nvPr/>
        </p:nvSpPr>
        <p:spPr>
          <a:xfrm>
            <a:off x="6593862" y="6496139"/>
            <a:ext cx="2367892" cy="338554"/>
          </a:xfrm>
          <a:prstGeom prst="rect">
            <a:avLst/>
          </a:prstGeom>
          <a:noFill/>
        </p:spPr>
        <p:txBody>
          <a:bodyPr wrap="none" rtlCol="0">
            <a:spAutoFit/>
          </a:bodyPr>
          <a:lstStyle/>
          <a:p>
            <a:r>
              <a:rPr lang="en-US" sz="1600" dirty="0"/>
              <a:t># of hidden neurons = 128</a:t>
            </a:r>
          </a:p>
        </p:txBody>
      </p:sp>
      <p:sp>
        <p:nvSpPr>
          <p:cNvPr id="18" name="TextBox 17"/>
          <p:cNvSpPr txBox="1"/>
          <p:nvPr/>
        </p:nvSpPr>
        <p:spPr>
          <a:xfrm>
            <a:off x="9543686" y="6496139"/>
            <a:ext cx="2367892" cy="338554"/>
          </a:xfrm>
          <a:prstGeom prst="rect">
            <a:avLst/>
          </a:prstGeom>
          <a:noFill/>
        </p:spPr>
        <p:txBody>
          <a:bodyPr wrap="none" rtlCol="0">
            <a:spAutoFit/>
          </a:bodyPr>
          <a:lstStyle/>
          <a:p>
            <a:r>
              <a:rPr lang="en-US" sz="1600" dirty="0"/>
              <a:t># of hidden neurons = 256</a:t>
            </a:r>
          </a:p>
        </p:txBody>
      </p:sp>
      <p:sp>
        <p:nvSpPr>
          <p:cNvPr id="19" name="Footer Placeholder 2"/>
          <p:cNvSpPr>
            <a:spLocks noGrp="1"/>
          </p:cNvSpPr>
          <p:nvPr>
            <p:ph type="ftr" sz="quarter" idx="3"/>
          </p:nvPr>
        </p:nvSpPr>
        <p:spPr>
          <a:xfrm>
            <a:off x="2199486" y="6356350"/>
            <a:ext cx="8167606" cy="365125"/>
          </a:xfrm>
        </p:spPr>
        <p:txBody>
          <a:bodyPr/>
          <a:lstStyle/>
          <a:p>
            <a:r>
              <a:rPr lang="en-US"/>
              <a:t>CS21206 / FAIML | Perceptron and MLP (c) Abir Das, Ayan Chaudhury</a:t>
            </a:r>
          </a:p>
        </p:txBody>
      </p:sp>
      <p:sp>
        <p:nvSpPr>
          <p:cNvPr id="20" name="Slide Number Placeholder 20"/>
          <p:cNvSpPr>
            <a:spLocks noGrp="1"/>
          </p:cNvSpPr>
          <p:nvPr>
            <p:ph type="sldNum" sz="quarter" idx="4"/>
          </p:nvPr>
        </p:nvSpPr>
        <p:spPr>
          <a:xfrm>
            <a:off x="10757133" y="6356350"/>
            <a:ext cx="783956" cy="365125"/>
          </a:xfrm>
        </p:spPr>
        <p:txBody>
          <a:bodyPr/>
          <a:lstStyle/>
          <a:p>
            <a:r>
              <a:rPr lang="en-US" dirty="0"/>
              <a:t>36</a:t>
            </a:r>
          </a:p>
        </p:txBody>
      </p:sp>
    </p:spTree>
    <p:extLst>
      <p:ext uri="{BB962C8B-B14F-4D97-AF65-F5344CB8AC3E}">
        <p14:creationId xmlns:p14="http://schemas.microsoft.com/office/powerpoint/2010/main" val="21454419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 name="Picture 9"/>
          <p:cNvPicPr>
            <a:picLocks noChangeAspect="1"/>
          </p:cNvPicPr>
          <p:nvPr/>
        </p:nvPicPr>
        <p:blipFill rotWithShape="1">
          <a:blip r:embed="rId3">
            <a:extLst>
              <a:ext uri="{28A0092B-C50C-407E-A947-70E740481C1C}">
                <a14:useLocalDpi xmlns:a14="http://schemas.microsoft.com/office/drawing/2010/main" val="0"/>
              </a:ext>
            </a:extLst>
          </a:blip>
          <a:srcRect l="6381" t="7097" r="5248" b="6649"/>
          <a:stretch/>
        </p:blipFill>
        <p:spPr>
          <a:xfrm>
            <a:off x="1142999" y="1280159"/>
            <a:ext cx="2545081" cy="2484121"/>
          </a:xfrm>
          <a:prstGeom prst="rect">
            <a:avLst/>
          </a:prstGeom>
        </p:spPr>
      </p:pic>
      <p:pic>
        <p:nvPicPr>
          <p:cNvPr id="11" name="Picture 10"/>
          <p:cNvPicPr>
            <a:picLocks noChangeAspect="1"/>
          </p:cNvPicPr>
          <p:nvPr/>
        </p:nvPicPr>
        <p:blipFill rotWithShape="1">
          <a:blip r:embed="rId4">
            <a:extLst>
              <a:ext uri="{28A0092B-C50C-407E-A947-70E740481C1C}">
                <a14:useLocalDpi xmlns:a14="http://schemas.microsoft.com/office/drawing/2010/main" val="0"/>
              </a:ext>
            </a:extLst>
          </a:blip>
          <a:srcRect l="6620" t="7097" r="6068" b="6648"/>
          <a:stretch/>
        </p:blipFill>
        <p:spPr>
          <a:xfrm>
            <a:off x="4876800" y="1280159"/>
            <a:ext cx="2514600" cy="2484121"/>
          </a:xfrm>
          <a:prstGeom prst="rect">
            <a:avLst/>
          </a:prstGeom>
        </p:spPr>
      </p:pic>
      <p:pic>
        <p:nvPicPr>
          <p:cNvPr id="12" name="Picture 11"/>
          <p:cNvPicPr>
            <a:picLocks noChangeAspect="1"/>
          </p:cNvPicPr>
          <p:nvPr/>
        </p:nvPicPr>
        <p:blipFill rotWithShape="1">
          <a:blip r:embed="rId5">
            <a:extLst>
              <a:ext uri="{28A0092B-C50C-407E-A947-70E740481C1C}">
                <a14:useLocalDpi xmlns:a14="http://schemas.microsoft.com/office/drawing/2010/main" val="0"/>
              </a:ext>
            </a:extLst>
          </a:blip>
          <a:srcRect l="5802" t="7097" r="5828" b="6648"/>
          <a:stretch/>
        </p:blipFill>
        <p:spPr>
          <a:xfrm>
            <a:off x="8580120" y="1280159"/>
            <a:ext cx="2545080" cy="2484121"/>
          </a:xfrm>
          <a:prstGeom prst="rect">
            <a:avLst/>
          </a:prstGeom>
        </p:spPr>
      </p:pic>
      <p:pic>
        <p:nvPicPr>
          <p:cNvPr id="13" name="Picture 12"/>
          <p:cNvPicPr>
            <a:picLocks noChangeAspect="1"/>
          </p:cNvPicPr>
          <p:nvPr/>
        </p:nvPicPr>
        <p:blipFill rotWithShape="1">
          <a:blip r:embed="rId6">
            <a:extLst>
              <a:ext uri="{28A0092B-C50C-407E-A947-70E740481C1C}">
                <a14:useLocalDpi xmlns:a14="http://schemas.microsoft.com/office/drawing/2010/main" val="0"/>
              </a:ext>
            </a:extLst>
          </a:blip>
          <a:srcRect l="8353" t="8881" r="6451" b="6638"/>
          <a:stretch/>
        </p:blipFill>
        <p:spPr>
          <a:xfrm>
            <a:off x="3063240" y="4028701"/>
            <a:ext cx="2453640" cy="2433059"/>
          </a:xfrm>
          <a:prstGeom prst="rect">
            <a:avLst/>
          </a:prstGeom>
        </p:spPr>
      </p:pic>
      <p:pic>
        <p:nvPicPr>
          <p:cNvPr id="14" name="Picture 13"/>
          <p:cNvPicPr>
            <a:picLocks noChangeAspect="1"/>
          </p:cNvPicPr>
          <p:nvPr/>
        </p:nvPicPr>
        <p:blipFill rotWithShape="1">
          <a:blip r:embed="rId7">
            <a:extLst>
              <a:ext uri="{28A0092B-C50C-407E-A947-70E740481C1C}">
                <a14:useLocalDpi xmlns:a14="http://schemas.microsoft.com/office/drawing/2010/main" val="0"/>
              </a:ext>
            </a:extLst>
          </a:blip>
          <a:srcRect l="7534" t="8883" r="6212" b="6636"/>
          <a:stretch/>
        </p:blipFill>
        <p:spPr>
          <a:xfrm>
            <a:off x="6766559" y="4028701"/>
            <a:ext cx="2484121" cy="2433059"/>
          </a:xfrm>
          <a:prstGeom prst="rect">
            <a:avLst/>
          </a:prstGeom>
        </p:spPr>
      </p:pic>
      <p:sp>
        <p:nvSpPr>
          <p:cNvPr id="7" name="Google Shape;100;p14"/>
          <p:cNvSpPr txBox="1"/>
          <p:nvPr/>
        </p:nvSpPr>
        <p:spPr>
          <a:xfrm>
            <a:off x="213360" y="832857"/>
            <a:ext cx="11765279" cy="5777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solidFill>
                  <a:srgbClr val="434343"/>
                </a:solidFill>
              </a:rPr>
              <a:t>Learned Decision Boundary with Two Hidden Layers</a:t>
            </a:r>
            <a:endParaRPr sz="2800" dirty="0">
              <a:solidFill>
                <a:srgbClr val="434343"/>
              </a:solidFill>
            </a:endParaRPr>
          </a:p>
        </p:txBody>
      </p:sp>
      <p:sp>
        <p:nvSpPr>
          <p:cNvPr id="8" name="Footer Placeholder 2"/>
          <p:cNvSpPr>
            <a:spLocks noGrp="1"/>
          </p:cNvSpPr>
          <p:nvPr>
            <p:ph type="ftr" sz="quarter" idx="3"/>
          </p:nvPr>
        </p:nvSpPr>
        <p:spPr>
          <a:xfrm>
            <a:off x="2199486" y="6356350"/>
            <a:ext cx="8167606" cy="365125"/>
          </a:xfrm>
        </p:spPr>
        <p:txBody>
          <a:bodyPr/>
          <a:lstStyle/>
          <a:p>
            <a:r>
              <a:rPr lang="en-US"/>
              <a:t>CS21206 / FAIML | Perceptron and MLP (c) Abir Das, Ayan Chaudhury</a:t>
            </a:r>
          </a:p>
        </p:txBody>
      </p:sp>
      <p:sp>
        <p:nvSpPr>
          <p:cNvPr id="9" name="Slide Number Placeholder 20"/>
          <p:cNvSpPr>
            <a:spLocks noGrp="1"/>
          </p:cNvSpPr>
          <p:nvPr>
            <p:ph type="sldNum" sz="quarter" idx="4"/>
          </p:nvPr>
        </p:nvSpPr>
        <p:spPr>
          <a:xfrm>
            <a:off x="10757133" y="6356350"/>
            <a:ext cx="783956" cy="365125"/>
          </a:xfrm>
        </p:spPr>
        <p:txBody>
          <a:bodyPr/>
          <a:lstStyle/>
          <a:p>
            <a:r>
              <a:rPr lang="en-US" dirty="0"/>
              <a:t>37</a:t>
            </a:r>
          </a:p>
        </p:txBody>
      </p:sp>
      <p:sp>
        <p:nvSpPr>
          <p:cNvPr id="16" name="TextBox 15"/>
          <p:cNvSpPr txBox="1"/>
          <p:nvPr/>
        </p:nvSpPr>
        <p:spPr>
          <a:xfrm>
            <a:off x="694155" y="3735232"/>
            <a:ext cx="3253006" cy="338554"/>
          </a:xfrm>
          <a:prstGeom prst="rect">
            <a:avLst/>
          </a:prstGeom>
          <a:noFill/>
        </p:spPr>
        <p:txBody>
          <a:bodyPr wrap="none" rtlCol="0">
            <a:spAutoFit/>
          </a:bodyPr>
          <a:lstStyle/>
          <a:p>
            <a:r>
              <a:rPr lang="en-US" sz="1600" dirty="0"/>
              <a:t># of neurons in </a:t>
            </a:r>
            <a:r>
              <a:rPr lang="en-US" sz="1600"/>
              <a:t>each hidden layer </a:t>
            </a:r>
            <a:r>
              <a:rPr lang="en-US" sz="1600" dirty="0"/>
              <a:t>= 2</a:t>
            </a:r>
          </a:p>
        </p:txBody>
      </p:sp>
      <p:sp>
        <p:nvSpPr>
          <p:cNvPr id="17" name="TextBox 16"/>
          <p:cNvSpPr txBox="1"/>
          <p:nvPr/>
        </p:nvSpPr>
        <p:spPr>
          <a:xfrm>
            <a:off x="4396005" y="3729464"/>
            <a:ext cx="3253006" cy="338554"/>
          </a:xfrm>
          <a:prstGeom prst="rect">
            <a:avLst/>
          </a:prstGeom>
          <a:noFill/>
        </p:spPr>
        <p:txBody>
          <a:bodyPr wrap="none" rtlCol="0">
            <a:spAutoFit/>
          </a:bodyPr>
          <a:lstStyle/>
          <a:p>
            <a:r>
              <a:rPr lang="en-US" sz="1600" dirty="0"/>
              <a:t># of neurons in each hidden layer = 4</a:t>
            </a:r>
          </a:p>
        </p:txBody>
      </p:sp>
      <p:sp>
        <p:nvSpPr>
          <p:cNvPr id="18" name="TextBox 17"/>
          <p:cNvSpPr txBox="1"/>
          <p:nvPr/>
        </p:nvSpPr>
        <p:spPr>
          <a:xfrm>
            <a:off x="8356936" y="3738566"/>
            <a:ext cx="3253006" cy="338554"/>
          </a:xfrm>
          <a:prstGeom prst="rect">
            <a:avLst/>
          </a:prstGeom>
          <a:noFill/>
        </p:spPr>
        <p:txBody>
          <a:bodyPr wrap="none" rtlCol="0">
            <a:spAutoFit/>
          </a:bodyPr>
          <a:lstStyle/>
          <a:p>
            <a:r>
              <a:rPr lang="en-US" sz="1600" dirty="0"/>
              <a:t># of neurons in each hidden layer = 8</a:t>
            </a:r>
          </a:p>
        </p:txBody>
      </p:sp>
      <p:sp>
        <p:nvSpPr>
          <p:cNvPr id="19" name="TextBox 18"/>
          <p:cNvSpPr txBox="1"/>
          <p:nvPr/>
        </p:nvSpPr>
        <p:spPr>
          <a:xfrm>
            <a:off x="2739023" y="6253064"/>
            <a:ext cx="3357201" cy="338554"/>
          </a:xfrm>
          <a:prstGeom prst="rect">
            <a:avLst/>
          </a:prstGeom>
          <a:noFill/>
        </p:spPr>
        <p:txBody>
          <a:bodyPr wrap="none" rtlCol="0">
            <a:spAutoFit/>
          </a:bodyPr>
          <a:lstStyle/>
          <a:p>
            <a:r>
              <a:rPr lang="en-US" sz="1600" dirty="0"/>
              <a:t># of neurons in each hidden layer = 16</a:t>
            </a:r>
          </a:p>
        </p:txBody>
      </p:sp>
      <p:sp>
        <p:nvSpPr>
          <p:cNvPr id="20" name="TextBox 19"/>
          <p:cNvSpPr txBox="1"/>
          <p:nvPr/>
        </p:nvSpPr>
        <p:spPr>
          <a:xfrm>
            <a:off x="6486265" y="6253064"/>
            <a:ext cx="3357201" cy="338554"/>
          </a:xfrm>
          <a:prstGeom prst="rect">
            <a:avLst/>
          </a:prstGeom>
          <a:noFill/>
        </p:spPr>
        <p:txBody>
          <a:bodyPr wrap="none" rtlCol="0">
            <a:spAutoFit/>
          </a:bodyPr>
          <a:lstStyle/>
          <a:p>
            <a:r>
              <a:rPr lang="en-US" sz="1600" dirty="0"/>
              <a:t># of neurons in each hidden layer = 32</a:t>
            </a:r>
          </a:p>
        </p:txBody>
      </p:sp>
    </p:spTree>
    <p:extLst>
      <p:ext uri="{BB962C8B-B14F-4D97-AF65-F5344CB8AC3E}">
        <p14:creationId xmlns:p14="http://schemas.microsoft.com/office/powerpoint/2010/main" val="10443167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enter4AITemplate" id="{0D5693AE-206D-E541-A370-EAE42AF6800D}" vid="{4B2C9114-E5EC-7D4A-AE95-EC178593E73C}"/>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enter4AITemplate" id="{0D5693AE-206D-E541-A370-EAE42AF6800D}" vid="{4B2C9114-E5EC-7D4A-AE95-EC178593E73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Center4AITemplate</Template>
  <TotalTime>23114</TotalTime>
  <Words>4197</Words>
  <Application>Microsoft Macintosh PowerPoint</Application>
  <PresentationFormat>Widescreen</PresentationFormat>
  <Paragraphs>727</Paragraphs>
  <Slides>38</Slides>
  <Notes>38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38</vt:i4>
      </vt:variant>
    </vt:vector>
  </HeadingPairs>
  <TitlesOfParts>
    <vt:vector size="46" baseType="lpstr">
      <vt:lpstr>Arial</vt:lpstr>
      <vt:lpstr>Arial Narrow</vt:lpstr>
      <vt:lpstr>Calibri</vt:lpstr>
      <vt:lpstr>Cambria Math</vt:lpstr>
      <vt:lpstr>Quattrocento Sans</vt:lpstr>
      <vt:lpstr>Segoe UI</vt:lpstr>
      <vt:lpstr>Office Theme</vt:lpstr>
      <vt:lpstr>1_Office Theme</vt:lpstr>
      <vt:lpstr>Foundations of AI and ML CS21206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Foundations and Applications</dc:title>
  <dc:creator>Das, Abir</dc:creator>
  <cp:lastModifiedBy>abir</cp:lastModifiedBy>
  <cp:revision>292</cp:revision>
  <dcterms:created xsi:type="dcterms:W3CDTF">2019-01-13T09:33:50Z</dcterms:created>
  <dcterms:modified xsi:type="dcterms:W3CDTF">2026-03-12T09:08:57Z</dcterms:modified>
</cp:coreProperties>
</file>