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  <p:sldMasterId id="2147483660" r:id="rId2"/>
  </p:sldMasterIdLst>
  <p:notesMasterIdLst>
    <p:notesMasterId r:id="rId20"/>
  </p:notesMasterIdLst>
  <p:sldIdLst>
    <p:sldId id="300" r:id="rId3"/>
    <p:sldId id="259" r:id="rId4"/>
    <p:sldId id="260" r:id="rId5"/>
    <p:sldId id="261" r:id="rId6"/>
    <p:sldId id="304" r:id="rId7"/>
    <p:sldId id="262" r:id="rId8"/>
    <p:sldId id="263" r:id="rId9"/>
    <p:sldId id="264" r:id="rId10"/>
    <p:sldId id="305" r:id="rId11"/>
    <p:sldId id="306" r:id="rId12"/>
    <p:sldId id="303" r:id="rId13"/>
    <p:sldId id="307" r:id="rId14"/>
    <p:sldId id="308" r:id="rId15"/>
    <p:sldId id="309" r:id="rId16"/>
    <p:sldId id="310" r:id="rId17"/>
    <p:sldId id="265" r:id="rId18"/>
    <p:sldId id="26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  <a:srgbClr val="FF40FF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06" autoAdjust="0"/>
    <p:restoredTop sz="81692" autoAdjust="0"/>
  </p:normalViewPr>
  <p:slideViewPr>
    <p:cSldViewPr snapToGrid="0" snapToObjects="1">
      <p:cViewPr varScale="1">
        <p:scale>
          <a:sx n="97" d="100"/>
          <a:sy n="97" d="100"/>
        </p:scale>
        <p:origin x="824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70" d="100"/>
          <a:sy n="70" d="100"/>
        </p:scale>
        <p:origin x="2760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B2B5F3-CA21-B746-93BD-89BD39E53309}" type="datetimeFigureOut">
              <a:rPr lang="en-US" smtClean="0"/>
              <a:t>3/3/26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97D147-E104-D44D-A191-1057172D2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086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760311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" baseline="0" dirty="0"/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373896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4c03cd9916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g4c03cd9916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It is worthwhile to mention that it is not only the AI enthusiasts who are getting motivations from neuroscientific works but the reverse is also true. Prof. James </a:t>
            </a:r>
            <a:r>
              <a:rPr lang="en-US" dirty="0" err="1"/>
              <a:t>DiCarlo</a:t>
            </a:r>
            <a:r>
              <a:rPr lang="en-US" dirty="0"/>
              <a:t> the Head of the Department of Brain and Cognitive Sciences at MIT gave a fantastic Keynote speech at CVPR 2017 where he elaborated how advances in deep neural networks are helping explain what happens in the human visual cortex. I would highly encourage you all to listen to the talk which is available in </a:t>
            </a:r>
            <a:r>
              <a:rPr lang="en-US" dirty="0" err="1"/>
              <a:t>youtube</a:t>
            </a:r>
            <a:r>
              <a:rPr lang="en-US" dirty="0"/>
              <a:t>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And our reference to biological neurons stops here for the purpose of this course. Just the take home message is: To us, a neuron is a computation unit that takes in a bunch of input signals, performs mathematical operations on them and transmit the resulting signal out.</a:t>
            </a:r>
            <a:endParaRPr dirty="0"/>
          </a:p>
        </p:txBody>
      </p:sp>
      <p:sp>
        <p:nvSpPr>
          <p:cNvPr id="92" name="Google Shape;92;g4c03cd9916_0_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109279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4c03cd9916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g4c03cd9916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8" name="Google Shape;98;g4c03cd9916_0_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598236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4c03cd9916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g4c03cd9916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8" name="Google Shape;98;g4c03cd9916_0_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745676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4c03cd9916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g4c03cd9916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8" name="Google Shape;98;g4c03cd9916_0_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339336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4c03cd9916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g4c03cd9916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8" name="Google Shape;98;g4c03cd9916_0_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110111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4c03cd9916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g4c03cd9916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8" name="Google Shape;98;g4c03cd9916_0_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869110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4c03cd9916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g4c03cd9916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8" name="Google Shape;98;g4c03cd9916_0_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348704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4c03cd9916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g4c03cd9916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8" name="Google Shape;98;g4c03cd9916_0_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751635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4c03cd9916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g4c03cd9916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8" name="Google Shape;98;g4c03cd9916_0_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98696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4c03cd9916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g4c03cd9916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8" name="Google Shape;98;g4c03cd9916_0_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611899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4c03cd9916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g4c03cd9916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8" name="Google Shape;98;g4c03cd9916_0_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953963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4c03cd9916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g4c03cd9916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8" name="Google Shape;98;g4c03cd9916_0_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713830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4c03cd9916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g4c03cd9916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What does the </a:t>
            </a:r>
            <a:r>
              <a:rPr lang="en-US"/>
              <a:t>last line means </a:t>
            </a:r>
            <a:r>
              <a:rPr lang="en-US" dirty="0"/>
              <a:t>-- http://</a:t>
            </a:r>
            <a:r>
              <a:rPr lang="en-US" dirty="0" err="1"/>
              <a:t>www.cs.columbia.edu</a:t>
            </a:r>
            <a:r>
              <a:rPr lang="en-US" dirty="0"/>
              <a:t>/~</a:t>
            </a:r>
            <a:r>
              <a:rPr lang="en-US" dirty="0" err="1"/>
              <a:t>mcollins</a:t>
            </a:r>
            <a:r>
              <a:rPr lang="en-US" dirty="0"/>
              <a:t>/courses/6998-2012/notes/</a:t>
            </a:r>
            <a:r>
              <a:rPr lang="en-US" dirty="0" err="1"/>
              <a:t>perc.converge.pdf</a:t>
            </a:r>
            <a:r>
              <a:rPr lang="en-US" dirty="0"/>
              <a:t> – look at the theorem statement.</a:t>
            </a:r>
            <a:endParaRPr dirty="0"/>
          </a:p>
        </p:txBody>
      </p:sp>
      <p:sp>
        <p:nvSpPr>
          <p:cNvPr id="98" name="Google Shape;98;g4c03cd9916_0_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17657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4c03cd9916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g4c03cd9916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8" name="Google Shape;98;g4c03cd9916_0_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380056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4c03cd9916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g4c03cd9916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8" name="Google Shape;98;g4c03cd9916_0_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575134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197" y="6356350"/>
            <a:ext cx="81676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0432FF"/>
                </a:solidFill>
                <a:latin typeface="Segoe UI" charset="0"/>
                <a:ea typeface="Segoe UI" charset="0"/>
                <a:cs typeface="Segoe UI" charset="0"/>
              </a:defRPr>
            </a:lvl1pPr>
          </a:lstStyle>
          <a:p>
            <a:r>
              <a:rPr lang="en-US"/>
              <a:t>CS21206 / FAIML | Perceptron (c) Abir Das, Ayan Chaudhury</a:t>
            </a: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9844" y="6356350"/>
            <a:ext cx="7839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432FF"/>
                </a:solidFill>
                <a:latin typeface="Segoe UI" charset="0"/>
                <a:ea typeface="Segoe UI" charset="0"/>
                <a:cs typeface="Segoe UI" charset="0"/>
              </a:defRPr>
            </a:lvl1pPr>
          </a:lstStyle>
          <a:p>
            <a:fld id="{683B8651-0143-4140-839E-3D36292080E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93380AB9-5E02-224D-B291-E76A8C66CC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9644" y="6392209"/>
            <a:ext cx="17525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0432FF"/>
                </a:solidFill>
                <a:latin typeface="Segoe UI" charset="0"/>
                <a:ea typeface="Segoe UI" charset="0"/>
                <a:cs typeface="Segoe UI" charset="0"/>
              </a:defRPr>
            </a:lvl1pPr>
          </a:lstStyle>
          <a:p>
            <a:r>
              <a:rPr lang="en-IN"/>
              <a:t>21, 27 Jan 2022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867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197" y="6356350"/>
            <a:ext cx="81676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0432FF"/>
                </a:solidFill>
                <a:latin typeface="Segoe UI" charset="0"/>
                <a:ea typeface="Segoe UI" charset="0"/>
                <a:cs typeface="Segoe UI" charset="0"/>
              </a:defRPr>
            </a:lvl1pPr>
          </a:lstStyle>
          <a:p>
            <a:r>
              <a:rPr lang="en-US"/>
              <a:t>CS21206 / FAIML | Perceptron (c) Abir Das, Ayan Chaudhury</a:t>
            </a: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9844" y="6356350"/>
            <a:ext cx="7839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432FF"/>
                </a:solidFill>
                <a:latin typeface="Segoe UI" charset="0"/>
                <a:ea typeface="Segoe UI" charset="0"/>
                <a:cs typeface="Segoe UI" charset="0"/>
              </a:defRPr>
            </a:lvl1pPr>
          </a:lstStyle>
          <a:p>
            <a:fld id="{683B8651-0143-4140-839E-3D36292080E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208A262E-A419-2840-B8D7-A71FA9C547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9644" y="6392209"/>
            <a:ext cx="17525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0432FF"/>
                </a:solidFill>
                <a:latin typeface="Segoe UI" charset="0"/>
                <a:ea typeface="Segoe UI" charset="0"/>
                <a:cs typeface="Segoe UI" charset="0"/>
              </a:defRPr>
            </a:lvl1pPr>
          </a:lstStyle>
          <a:p>
            <a:r>
              <a:rPr lang="en-IN"/>
              <a:t>21, 27 Jan 2022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5287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 algn="l">
              <a:defRPr sz="5400" b="1" cap="sm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197" y="6356350"/>
            <a:ext cx="81676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0432FF"/>
                </a:solidFill>
                <a:latin typeface="Segoe UI" charset="0"/>
                <a:ea typeface="Segoe UI" charset="0"/>
                <a:cs typeface="Segoe UI" charset="0"/>
              </a:defRPr>
            </a:lvl1pPr>
          </a:lstStyle>
          <a:p>
            <a:r>
              <a:rPr lang="en-US"/>
              <a:t>CS21206 / FAIML | Perceptron (c) Abir Das, Ayan Chaudhury</a:t>
            </a:r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2"/>
          </p:nvPr>
        </p:nvSpPr>
        <p:spPr>
          <a:xfrm>
            <a:off x="259644" y="6392209"/>
            <a:ext cx="17525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0432FF"/>
                </a:solidFill>
                <a:latin typeface="Segoe UI" charset="0"/>
                <a:ea typeface="Segoe UI" charset="0"/>
                <a:cs typeface="Segoe UI" charset="0"/>
              </a:defRPr>
            </a:lvl1pPr>
          </a:lstStyle>
          <a:p>
            <a:r>
              <a:rPr lang="en-IN"/>
              <a:t>21, 27 Jan 2022</a:t>
            </a: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9844" y="6356350"/>
            <a:ext cx="7839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432FF"/>
                </a:solidFill>
                <a:latin typeface="Segoe UI" charset="0"/>
                <a:ea typeface="Segoe UI" charset="0"/>
                <a:cs typeface="Segoe UI" charset="0"/>
              </a:defRPr>
            </a:lvl1pPr>
          </a:lstStyle>
          <a:p>
            <a:fld id="{683B8651-0143-4140-839E-3D36292080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294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184863"/>
            <a:ext cx="5181600" cy="39920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84863"/>
            <a:ext cx="5181600" cy="3992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197" y="6356350"/>
            <a:ext cx="81676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0432FF"/>
                </a:solidFill>
                <a:latin typeface="Segoe UI" charset="0"/>
                <a:ea typeface="Segoe UI" charset="0"/>
                <a:cs typeface="Segoe UI" charset="0"/>
              </a:defRPr>
            </a:lvl1pPr>
          </a:lstStyle>
          <a:p>
            <a:r>
              <a:rPr lang="en-US"/>
              <a:t>CS21206 / FAIML | Perceptron (c) Abir Das, Ayan Chaudhury</a:t>
            </a:r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9844" y="6356350"/>
            <a:ext cx="7839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432FF"/>
                </a:solidFill>
                <a:latin typeface="Segoe UI" charset="0"/>
                <a:ea typeface="Segoe UI" charset="0"/>
                <a:cs typeface="Segoe UI" charset="0"/>
              </a:defRPr>
            </a:lvl1pPr>
          </a:lstStyle>
          <a:p>
            <a:fld id="{683B8651-0143-4140-839E-3D36292080E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B6D2AFE7-0970-284B-A16E-9E917E946B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9644" y="6392209"/>
            <a:ext cx="17525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0432FF"/>
                </a:solidFill>
                <a:latin typeface="Segoe UI" charset="0"/>
                <a:ea typeface="Segoe UI" charset="0"/>
                <a:cs typeface="Segoe UI" charset="0"/>
              </a:defRPr>
            </a:lvl1pPr>
          </a:lstStyle>
          <a:p>
            <a:r>
              <a:rPr lang="en-IN"/>
              <a:t>21, 27 Jan 2022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707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2130606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954517"/>
            <a:ext cx="5157787" cy="32351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2130606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54517"/>
            <a:ext cx="5183188" cy="32351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838200" y="974360"/>
            <a:ext cx="10515600" cy="10311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2012197" y="6356350"/>
            <a:ext cx="81676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0432FF"/>
                </a:solidFill>
                <a:latin typeface="Segoe UI" charset="0"/>
                <a:ea typeface="Segoe UI" charset="0"/>
                <a:cs typeface="Segoe UI" charset="0"/>
              </a:defRPr>
            </a:lvl1pPr>
          </a:lstStyle>
          <a:p>
            <a:r>
              <a:rPr lang="en-US"/>
              <a:t>CS21206 / FAIML | Perceptron (c) Abir Das, Ayan Chaudhury</a:t>
            </a:r>
            <a:endParaRPr lang="en-US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69844" y="6356350"/>
            <a:ext cx="7839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432FF"/>
                </a:solidFill>
                <a:latin typeface="Segoe UI" charset="0"/>
                <a:ea typeface="Segoe UI" charset="0"/>
                <a:cs typeface="Segoe UI" charset="0"/>
              </a:defRPr>
            </a:lvl1pPr>
          </a:lstStyle>
          <a:p>
            <a:fld id="{683B8651-0143-4140-839E-3D36292080E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38438B93-DBD5-A847-9770-E834EC13DA5F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259644" y="6392209"/>
            <a:ext cx="17525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0432FF"/>
                </a:solidFill>
                <a:latin typeface="Segoe UI" charset="0"/>
                <a:ea typeface="Segoe UI" charset="0"/>
                <a:cs typeface="Segoe UI" charset="0"/>
              </a:defRPr>
            </a:lvl1pPr>
          </a:lstStyle>
          <a:p>
            <a:r>
              <a:rPr lang="en-IN"/>
              <a:t>21, 27 Jan 2022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6265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197" y="6356350"/>
            <a:ext cx="81676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0432FF"/>
                </a:solidFill>
                <a:latin typeface="Segoe UI" charset="0"/>
                <a:ea typeface="Segoe UI" charset="0"/>
                <a:cs typeface="Segoe UI" charset="0"/>
              </a:defRPr>
            </a:lvl1pPr>
          </a:lstStyle>
          <a:p>
            <a:r>
              <a:rPr lang="en-US"/>
              <a:t>CS21206 / FAIML | Perceptron (c) Abir Das, Ayan Chaudhury</a:t>
            </a: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9844" y="6356350"/>
            <a:ext cx="7839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432FF"/>
                </a:solidFill>
                <a:latin typeface="Segoe UI" charset="0"/>
                <a:ea typeface="Segoe UI" charset="0"/>
                <a:cs typeface="Segoe UI" charset="0"/>
              </a:defRPr>
            </a:lvl1pPr>
          </a:lstStyle>
          <a:p>
            <a:fld id="{683B8651-0143-4140-839E-3D36292080E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8AE85DC5-5EC7-BD41-9564-5312F0778D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9644" y="6392209"/>
            <a:ext cx="17525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0432FF"/>
                </a:solidFill>
                <a:latin typeface="Segoe UI" charset="0"/>
                <a:ea typeface="Segoe UI" charset="0"/>
                <a:cs typeface="Segoe UI" charset="0"/>
              </a:defRPr>
            </a:lvl1pPr>
          </a:lstStyle>
          <a:p>
            <a:r>
              <a:rPr lang="en-IN"/>
              <a:t>21, 27 Jan 2022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3667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197" y="6356350"/>
            <a:ext cx="81676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0432FF"/>
                </a:solidFill>
                <a:latin typeface="Segoe UI" charset="0"/>
                <a:ea typeface="Segoe UI" charset="0"/>
                <a:cs typeface="Segoe UI" charset="0"/>
              </a:defRPr>
            </a:lvl1pPr>
          </a:lstStyle>
          <a:p>
            <a:r>
              <a:rPr lang="en-US"/>
              <a:t>CS21206 / FAIML | Perceptron (c) Abir Das, Ayan Chaudhury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9844" y="6356350"/>
            <a:ext cx="7839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432FF"/>
                </a:solidFill>
                <a:latin typeface="Segoe UI" charset="0"/>
                <a:ea typeface="Segoe UI" charset="0"/>
                <a:cs typeface="Segoe UI" charset="0"/>
              </a:defRPr>
            </a:lvl1pPr>
          </a:lstStyle>
          <a:p>
            <a:fld id="{683B8651-0143-4140-839E-3D36292080E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CDA50C14-983A-304A-9903-55ACD560DF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9644" y="6392209"/>
            <a:ext cx="17525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0432FF"/>
                </a:solidFill>
                <a:latin typeface="Segoe UI" charset="0"/>
                <a:ea typeface="Segoe UI" charset="0"/>
                <a:cs typeface="Segoe UI" charset="0"/>
              </a:defRPr>
            </a:lvl1pPr>
          </a:lstStyle>
          <a:p>
            <a:r>
              <a:rPr lang="en-IN"/>
              <a:t>21, 27 Jan 2022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2463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197" y="6356350"/>
            <a:ext cx="81676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0432FF"/>
                </a:solidFill>
                <a:latin typeface="Segoe UI" charset="0"/>
                <a:ea typeface="Segoe UI" charset="0"/>
                <a:cs typeface="Segoe UI" charset="0"/>
              </a:defRPr>
            </a:lvl1pPr>
          </a:lstStyle>
          <a:p>
            <a:r>
              <a:rPr lang="en-US"/>
              <a:t>CS21206 / FAIML | Perceptron (c) Abir Das, Ayan Chaudhury</a:t>
            </a:r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9844" y="6356350"/>
            <a:ext cx="7839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432FF"/>
                </a:solidFill>
                <a:latin typeface="Segoe UI" charset="0"/>
                <a:ea typeface="Segoe UI" charset="0"/>
                <a:cs typeface="Segoe UI" charset="0"/>
              </a:defRPr>
            </a:lvl1pPr>
          </a:lstStyle>
          <a:p>
            <a:fld id="{683B8651-0143-4140-839E-3D36292080E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525245D9-B6F6-6747-9D6C-4F494D327E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9644" y="6392209"/>
            <a:ext cx="17525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0432FF"/>
                </a:solidFill>
                <a:latin typeface="Segoe UI" charset="0"/>
                <a:ea typeface="Segoe UI" charset="0"/>
                <a:cs typeface="Segoe UI" charset="0"/>
              </a:defRPr>
            </a:lvl1pPr>
          </a:lstStyle>
          <a:p>
            <a:r>
              <a:rPr lang="en-IN"/>
              <a:t>21, 27 Jan 2022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90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197" y="6356350"/>
            <a:ext cx="81676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0432FF"/>
                </a:solidFill>
                <a:latin typeface="Segoe UI" charset="0"/>
                <a:ea typeface="Segoe UI" charset="0"/>
                <a:cs typeface="Segoe UI" charset="0"/>
              </a:defRPr>
            </a:lvl1pPr>
          </a:lstStyle>
          <a:p>
            <a:r>
              <a:rPr lang="en-US"/>
              <a:t>CS21206 / FAIML | Perceptron (c) Abir Das, Ayan Chaudhury</a:t>
            </a:r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9844" y="6356350"/>
            <a:ext cx="7839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432FF"/>
                </a:solidFill>
                <a:latin typeface="Segoe UI" charset="0"/>
                <a:ea typeface="Segoe UI" charset="0"/>
                <a:cs typeface="Segoe UI" charset="0"/>
              </a:defRPr>
            </a:lvl1pPr>
          </a:lstStyle>
          <a:p>
            <a:fld id="{683B8651-0143-4140-839E-3D36292080E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9B8F4BF2-3A7C-0646-B329-452EFD779D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9644" y="6392209"/>
            <a:ext cx="17525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0432FF"/>
                </a:solidFill>
                <a:latin typeface="Segoe UI" charset="0"/>
                <a:ea typeface="Segoe UI" charset="0"/>
                <a:cs typeface="Segoe UI" charset="0"/>
              </a:defRPr>
            </a:lvl1pPr>
          </a:lstStyle>
          <a:p>
            <a:r>
              <a:rPr lang="en-IN"/>
              <a:t>21, 27 Jan 2022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1575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197" y="6356350"/>
            <a:ext cx="81676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0432FF"/>
                </a:solidFill>
                <a:latin typeface="Segoe UI" charset="0"/>
                <a:ea typeface="Segoe UI" charset="0"/>
                <a:cs typeface="Segoe UI" charset="0"/>
              </a:defRPr>
            </a:lvl1pPr>
          </a:lstStyle>
          <a:p>
            <a:r>
              <a:rPr lang="en-US"/>
              <a:t>CS21206 / FAIML | Perceptron (c) Abir Das, Ayan Chaudhury</a:t>
            </a: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9844" y="6356350"/>
            <a:ext cx="7839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432FF"/>
                </a:solidFill>
                <a:latin typeface="Segoe UI" charset="0"/>
                <a:ea typeface="Segoe UI" charset="0"/>
                <a:cs typeface="Segoe UI" charset="0"/>
              </a:defRPr>
            </a:lvl1pPr>
          </a:lstStyle>
          <a:p>
            <a:fld id="{683B8651-0143-4140-839E-3D36292080E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46ADBE8E-61DF-0C40-8743-399CC7E25B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9644" y="6392209"/>
            <a:ext cx="17525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0432FF"/>
                </a:solidFill>
                <a:latin typeface="Segoe UI" charset="0"/>
                <a:ea typeface="Segoe UI" charset="0"/>
                <a:cs typeface="Segoe UI" charset="0"/>
              </a:defRPr>
            </a:lvl1pPr>
          </a:lstStyle>
          <a:p>
            <a:r>
              <a:rPr lang="en-IN"/>
              <a:t>21, 27 Jan 2022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3107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197" y="6356350"/>
            <a:ext cx="81676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0432FF"/>
                </a:solidFill>
                <a:latin typeface="Segoe UI" charset="0"/>
                <a:ea typeface="Segoe UI" charset="0"/>
                <a:cs typeface="Segoe UI" charset="0"/>
              </a:defRPr>
            </a:lvl1pPr>
          </a:lstStyle>
          <a:p>
            <a:r>
              <a:rPr lang="en-US"/>
              <a:t>CS21206 / FAIML | Perceptron (c) Abir Das, Ayan Chaudhury</a:t>
            </a: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9844" y="6356350"/>
            <a:ext cx="7839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432FF"/>
                </a:solidFill>
                <a:latin typeface="Segoe UI" charset="0"/>
                <a:ea typeface="Segoe UI" charset="0"/>
                <a:cs typeface="Segoe UI" charset="0"/>
              </a:defRPr>
            </a:lvl1pPr>
          </a:lstStyle>
          <a:p>
            <a:fld id="{683B8651-0143-4140-839E-3D36292080E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285B578A-9464-2946-B322-AEC044C33F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9644" y="6392209"/>
            <a:ext cx="17525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0432FF"/>
                </a:solidFill>
                <a:latin typeface="Segoe UI" charset="0"/>
                <a:ea typeface="Segoe UI" charset="0"/>
                <a:cs typeface="Segoe UI" charset="0"/>
              </a:defRPr>
            </a:lvl1pPr>
          </a:lstStyle>
          <a:p>
            <a:r>
              <a:rPr lang="en-IN"/>
              <a:t>21, 27 Jan 2022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76432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B8651-0143-4140-839E-3D36292080E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12197" y="6356350"/>
            <a:ext cx="8167606" cy="365125"/>
          </a:xfrm>
        </p:spPr>
        <p:txBody>
          <a:bodyPr/>
          <a:lstStyle/>
          <a:p>
            <a:r>
              <a:rPr lang="en-US"/>
              <a:t>CS21206 / FAIML | Perceptron (c) Abir Das, Ayan Chaudhury</a:t>
            </a:r>
            <a:endParaRPr lang="en-US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CA1380A0-DEC7-424E-B5A8-06AF199B77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9644" y="6392209"/>
            <a:ext cx="17525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0432FF"/>
                </a:solidFill>
                <a:latin typeface="Segoe UI" charset="0"/>
                <a:ea typeface="Segoe UI" charset="0"/>
                <a:cs typeface="Segoe UI" charset="0"/>
              </a:defRPr>
            </a:lvl1pPr>
          </a:lstStyle>
          <a:p>
            <a:r>
              <a:rPr lang="en-IN"/>
              <a:t>21, 27 Jan 2022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05496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B8651-0143-4140-839E-3D36292080E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12197" y="6356350"/>
            <a:ext cx="8167606" cy="365125"/>
          </a:xfrm>
        </p:spPr>
        <p:txBody>
          <a:bodyPr/>
          <a:lstStyle/>
          <a:p>
            <a:r>
              <a:rPr lang="en-US"/>
              <a:t>CS21206 / FAIML | Perceptron (c) Abir Das, Ayan Chaudhury</a:t>
            </a:r>
            <a:endParaRPr lang="en-US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7613AA7D-B0AC-7842-A5F5-B3FC33DD97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9644" y="6392209"/>
            <a:ext cx="17525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0432FF"/>
                </a:solidFill>
                <a:latin typeface="Segoe UI" charset="0"/>
                <a:ea typeface="Segoe UI" charset="0"/>
                <a:cs typeface="Segoe UI" charset="0"/>
              </a:defRPr>
            </a:lvl1pPr>
          </a:lstStyle>
          <a:p>
            <a:r>
              <a:rPr lang="en-IN"/>
              <a:t>21, 27 Jan 2022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79241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 algn="l">
              <a:defRPr sz="5400" b="1" cap="sm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CS21206 / FAIML | Perceptron (c) Abir Das, Ayan Chaudhury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B8651-0143-4140-839E-3D36292080E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F08BFD2F-3420-A943-B547-F12008197A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9644" y="6392209"/>
            <a:ext cx="17525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0432FF"/>
                </a:solidFill>
                <a:latin typeface="Segoe UI" charset="0"/>
                <a:ea typeface="Segoe UI" charset="0"/>
                <a:cs typeface="Segoe UI" charset="0"/>
              </a:defRPr>
            </a:lvl1pPr>
          </a:lstStyle>
          <a:p>
            <a:r>
              <a:rPr lang="en-IN"/>
              <a:t>21, 27 Jan 2022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9288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184863"/>
            <a:ext cx="5181600" cy="39920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84863"/>
            <a:ext cx="5181600" cy="3992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B8651-0143-4140-839E-3D36292080E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12197" y="6356350"/>
            <a:ext cx="8167606" cy="365125"/>
          </a:xfrm>
        </p:spPr>
        <p:txBody>
          <a:bodyPr/>
          <a:lstStyle/>
          <a:p>
            <a:r>
              <a:rPr lang="en-US"/>
              <a:t>CS21206 / FAIML | Perceptron (c) Abir Das, Ayan Chaudhury</a:t>
            </a:r>
            <a:endParaRPr lang="en-US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CD4D831F-BE33-F94E-A1C3-B66629DA8F63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259644" y="6392209"/>
            <a:ext cx="17525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0432FF"/>
                </a:solidFill>
                <a:latin typeface="Segoe UI" charset="0"/>
                <a:ea typeface="Segoe UI" charset="0"/>
                <a:cs typeface="Segoe UI" charset="0"/>
              </a:defRPr>
            </a:lvl1pPr>
          </a:lstStyle>
          <a:p>
            <a:r>
              <a:rPr lang="en-IN"/>
              <a:t>21, 27 Jan 2022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6455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2130606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954517"/>
            <a:ext cx="5157787" cy="32351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2130606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54517"/>
            <a:ext cx="5183188" cy="32351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B8651-0143-4140-839E-3D36292080E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838200" y="974360"/>
            <a:ext cx="10515600" cy="10311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12197" y="6356350"/>
            <a:ext cx="8167606" cy="365125"/>
          </a:xfrm>
        </p:spPr>
        <p:txBody>
          <a:bodyPr/>
          <a:lstStyle/>
          <a:p>
            <a:r>
              <a:rPr lang="en-US"/>
              <a:t>CS21206 / FAIML | Perceptron (c) Abir Das, Ayan Chaudhury</a:t>
            </a:r>
            <a:endParaRPr lang="en-US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82F3E026-F4BA-FF45-BCE6-35E7D86B52EA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259644" y="6392209"/>
            <a:ext cx="17525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0432FF"/>
                </a:solidFill>
                <a:latin typeface="Segoe UI" charset="0"/>
                <a:ea typeface="Segoe UI" charset="0"/>
                <a:cs typeface="Segoe UI" charset="0"/>
              </a:defRPr>
            </a:lvl1pPr>
          </a:lstStyle>
          <a:p>
            <a:r>
              <a:rPr lang="en-IN"/>
              <a:t>21, 27 Jan 2022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9515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569844" y="6492277"/>
            <a:ext cx="783956" cy="365125"/>
          </a:xfrm>
        </p:spPr>
        <p:txBody>
          <a:bodyPr/>
          <a:lstStyle/>
          <a:p>
            <a:fld id="{683B8651-0143-4140-839E-3D36292080E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12197" y="6492277"/>
            <a:ext cx="8167606" cy="365125"/>
          </a:xfrm>
        </p:spPr>
        <p:txBody>
          <a:bodyPr/>
          <a:lstStyle/>
          <a:p>
            <a:r>
              <a:rPr lang="en-US"/>
              <a:t>CS21206 / FAIML | Perceptron (c) Abir Das, Ayan Chaudhury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B34D6B45-09FB-1C40-8850-18C3D935D7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9644" y="6392209"/>
            <a:ext cx="17525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0432FF"/>
                </a:solidFill>
                <a:latin typeface="Segoe UI" charset="0"/>
                <a:ea typeface="Segoe UI" charset="0"/>
                <a:cs typeface="Segoe UI" charset="0"/>
              </a:defRPr>
            </a:lvl1pPr>
          </a:lstStyle>
          <a:p>
            <a:r>
              <a:rPr lang="en-IN"/>
              <a:t>21, 27 Jan 2022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6590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B8651-0143-4140-839E-3D36292080E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12197" y="6356350"/>
            <a:ext cx="8167606" cy="365125"/>
          </a:xfrm>
        </p:spPr>
        <p:txBody>
          <a:bodyPr/>
          <a:lstStyle/>
          <a:p>
            <a:r>
              <a:rPr lang="en-US"/>
              <a:t>CS21206 / FAIML | Perceptron (c) Abir Das, Ayan Chaudhury</a:t>
            </a:r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DAC46D19-DD50-604A-A98D-939A0B1907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9644" y="6392209"/>
            <a:ext cx="17525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0432FF"/>
                </a:solidFill>
                <a:latin typeface="Segoe UI" charset="0"/>
                <a:ea typeface="Segoe UI" charset="0"/>
                <a:cs typeface="Segoe UI" charset="0"/>
              </a:defRPr>
            </a:lvl1pPr>
          </a:lstStyle>
          <a:p>
            <a:r>
              <a:rPr lang="en-IN"/>
              <a:t>21, 27 Jan 2022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6839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B8651-0143-4140-839E-3D36292080E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12197" y="6356350"/>
            <a:ext cx="8167606" cy="365125"/>
          </a:xfrm>
        </p:spPr>
        <p:txBody>
          <a:bodyPr/>
          <a:lstStyle/>
          <a:p>
            <a:r>
              <a:rPr lang="en-US"/>
              <a:t>CS21206 / FAIML | Perceptron (c) Abir Das, Ayan Chaudhury</a:t>
            </a:r>
            <a:endParaRPr lang="en-US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89B4F9B1-7478-C648-BBA7-ED68B36BD75C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259644" y="6392209"/>
            <a:ext cx="17525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0432FF"/>
                </a:solidFill>
                <a:latin typeface="Segoe UI" charset="0"/>
                <a:ea typeface="Segoe UI" charset="0"/>
                <a:cs typeface="Segoe UI" charset="0"/>
              </a:defRPr>
            </a:lvl1pPr>
          </a:lstStyle>
          <a:p>
            <a:r>
              <a:rPr lang="en-IN"/>
              <a:t>21, 27 Jan 2022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68538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B8651-0143-4140-839E-3D36292080E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12197" y="6356350"/>
            <a:ext cx="8167606" cy="365125"/>
          </a:xfrm>
        </p:spPr>
        <p:txBody>
          <a:bodyPr/>
          <a:lstStyle/>
          <a:p>
            <a:r>
              <a:rPr lang="en-US"/>
              <a:t>CS21206 / FAIML | Perceptron (c) Abir Das, Ayan Chaudhury</a:t>
            </a:r>
            <a:endParaRPr lang="en-US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81E776B5-A6B8-2348-9AD0-2F395BE73893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259644" y="6392209"/>
            <a:ext cx="17525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0432FF"/>
                </a:solidFill>
                <a:latin typeface="Segoe UI" charset="0"/>
                <a:ea typeface="Segoe UI" charset="0"/>
                <a:cs typeface="Segoe UI" charset="0"/>
              </a:defRPr>
            </a:lvl1pPr>
          </a:lstStyle>
          <a:p>
            <a:r>
              <a:rPr lang="en-IN"/>
              <a:t>21, 27 Jan 2022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999193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B8651-0143-4140-839E-3D36292080E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12197" y="6356350"/>
            <a:ext cx="8167606" cy="365125"/>
          </a:xfrm>
        </p:spPr>
        <p:txBody>
          <a:bodyPr/>
          <a:lstStyle/>
          <a:p>
            <a:r>
              <a:rPr lang="en-US"/>
              <a:t>CS21206 / FAIML | Perceptron (c) Abir Das, Ayan Chaudhury</a:t>
            </a:r>
            <a:endParaRPr lang="en-US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C10CD971-5492-264E-B5E5-D1DA8436D5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9644" y="6392209"/>
            <a:ext cx="17525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0432FF"/>
                </a:solidFill>
                <a:latin typeface="Segoe UI" charset="0"/>
                <a:ea typeface="Segoe UI" charset="0"/>
                <a:cs typeface="Segoe UI" charset="0"/>
              </a:defRPr>
            </a:lvl1pPr>
          </a:lstStyle>
          <a:p>
            <a:r>
              <a:rPr lang="en-IN"/>
              <a:t>21, 27 Jan 2022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91119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B8651-0143-4140-839E-3D36292080E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12197" y="6356350"/>
            <a:ext cx="8167606" cy="365125"/>
          </a:xfrm>
        </p:spPr>
        <p:txBody>
          <a:bodyPr/>
          <a:lstStyle/>
          <a:p>
            <a:r>
              <a:rPr lang="en-US"/>
              <a:t>CS21206 / FAIML | Perceptron (c) Abir Das, Ayan Chaudhury</a:t>
            </a:r>
            <a:endParaRPr lang="en-US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4169C6A8-1F71-9F4C-9122-ADE46B2A8C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9644" y="6392209"/>
            <a:ext cx="17525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0432FF"/>
                </a:solidFill>
                <a:latin typeface="Segoe UI" charset="0"/>
                <a:ea typeface="Segoe UI" charset="0"/>
                <a:cs typeface="Segoe UI" charset="0"/>
              </a:defRPr>
            </a:lvl1pPr>
          </a:lstStyle>
          <a:p>
            <a:r>
              <a:rPr lang="en-IN"/>
              <a:t>21, 27 Jan 2022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9188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974360"/>
            <a:ext cx="10515600" cy="10311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134482"/>
            <a:ext cx="10515600" cy="40783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0" y="914398"/>
            <a:ext cx="12192000" cy="10758"/>
          </a:xfrm>
          <a:prstGeom prst="line">
            <a:avLst/>
          </a:prstGeom>
          <a:ln w="22225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88" y="15871"/>
            <a:ext cx="781048" cy="875765"/>
          </a:xfrm>
          <a:prstGeom prst="rect">
            <a:avLst/>
          </a:prstGeom>
        </p:spPr>
      </p:pic>
      <p:sp>
        <p:nvSpPr>
          <p:cNvPr id="11" name="TextBox 10"/>
          <p:cNvSpPr txBox="1"/>
          <p:nvPr userDrawn="1"/>
        </p:nvSpPr>
        <p:spPr>
          <a:xfrm>
            <a:off x="4435479" y="272251"/>
            <a:ext cx="74285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>
                <a:solidFill>
                  <a:srgbClr val="0432FF"/>
                </a:solidFill>
                <a:latin typeface="Segoe UI" charset="0"/>
                <a:ea typeface="Segoe UI" charset="0"/>
                <a:cs typeface="Segoe UI" charset="0"/>
              </a:rPr>
              <a:t>Computer Science and Engineering</a:t>
            </a:r>
            <a:r>
              <a:rPr lang="en-US" b="1" dirty="0">
                <a:solidFill>
                  <a:prstClr val="black"/>
                </a:solidFill>
                <a:latin typeface="Segoe UI" charset="0"/>
                <a:ea typeface="Segoe UI" charset="0"/>
                <a:cs typeface="Segoe UI" charset="0"/>
              </a:rPr>
              <a:t>| Indian Institute of Technology Kharagpur</a:t>
            </a:r>
          </a:p>
          <a:p>
            <a:pPr algn="r"/>
            <a:r>
              <a:rPr lang="en-US" i="1" dirty="0" err="1">
                <a:solidFill>
                  <a:prstClr val="black"/>
                </a:solidFill>
                <a:latin typeface="Segoe UI" charset="0"/>
                <a:ea typeface="Segoe UI" charset="0"/>
                <a:cs typeface="Segoe UI" charset="0"/>
              </a:rPr>
              <a:t>cse.iitkgp.ac.in</a:t>
            </a:r>
            <a:endParaRPr lang="en-US" i="1" dirty="0">
              <a:solidFill>
                <a:prstClr val="black"/>
              </a:solidFill>
              <a:latin typeface="Segoe UI" charset="0"/>
              <a:ea typeface="Segoe UI" charset="0"/>
              <a:cs typeface="Segoe UI" charset="0"/>
            </a:endParaRPr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197" y="6356350"/>
            <a:ext cx="81676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0432FF"/>
                </a:solidFill>
                <a:latin typeface="Segoe UI" charset="0"/>
                <a:ea typeface="Segoe UI" charset="0"/>
                <a:cs typeface="Segoe UI" charset="0"/>
              </a:defRPr>
            </a:lvl1pPr>
          </a:lstStyle>
          <a:p>
            <a:r>
              <a:rPr lang="en-US"/>
              <a:t>CS21206 / FAIML | Perceptron (c) Abir Das, Ayan Chaudhury</a:t>
            </a:r>
            <a:endParaRPr lang="en-US" dirty="0"/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2"/>
          </p:nvPr>
        </p:nvSpPr>
        <p:spPr>
          <a:xfrm>
            <a:off x="316090" y="6392209"/>
            <a:ext cx="16961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0432FF"/>
                </a:solidFill>
                <a:latin typeface="Segoe UI" charset="0"/>
                <a:ea typeface="Segoe UI" charset="0"/>
                <a:cs typeface="Segoe UI" charset="0"/>
              </a:defRPr>
            </a:lvl1pPr>
          </a:lstStyle>
          <a:p>
            <a:r>
              <a:rPr lang="en-IN"/>
              <a:t>21, 27 Jan 2022</a:t>
            </a:r>
            <a:endParaRPr lang="en-US" dirty="0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9844" y="6356350"/>
            <a:ext cx="7839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432FF"/>
                </a:solidFill>
                <a:latin typeface="Segoe UI" charset="0"/>
                <a:ea typeface="Segoe UI" charset="0"/>
                <a:cs typeface="Segoe UI" charset="0"/>
              </a:defRPr>
            </a:lvl1pPr>
          </a:lstStyle>
          <a:p>
            <a:fld id="{683B8651-0143-4140-839E-3D36292080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599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Segoe UI" charset="0"/>
          <a:ea typeface="Segoe UI" charset="0"/>
          <a:cs typeface="Segoe UI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Segoe UI" charset="0"/>
          <a:ea typeface="Segoe UI" charset="0"/>
          <a:cs typeface="Segoe UI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Segoe UI" charset="0"/>
          <a:ea typeface="Segoe UI" charset="0"/>
          <a:cs typeface="Segoe UI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Segoe UI" charset="0"/>
          <a:ea typeface="Segoe UI" charset="0"/>
          <a:cs typeface="Segoe UI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Segoe UI" charset="0"/>
          <a:ea typeface="Segoe UI" charset="0"/>
          <a:cs typeface="Segoe UI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Segoe UI" charset="0"/>
          <a:ea typeface="Segoe UI" charset="0"/>
          <a:cs typeface="Segoe UI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974360"/>
            <a:ext cx="10515600" cy="10311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098623"/>
            <a:ext cx="10515600" cy="40783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197" y="6356350"/>
            <a:ext cx="81676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0432FF"/>
                </a:solidFill>
                <a:latin typeface="Segoe UI" charset="0"/>
                <a:ea typeface="Segoe UI" charset="0"/>
                <a:cs typeface="Segoe UI" charset="0"/>
              </a:defRPr>
            </a:lvl1pPr>
          </a:lstStyle>
          <a:p>
            <a:r>
              <a:rPr lang="en-US"/>
              <a:t>CS21206 / FAIML | Perceptron (c) Abir Das, Ayan Chaudhury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9844" y="6356350"/>
            <a:ext cx="7839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432FF"/>
                </a:solidFill>
                <a:latin typeface="Segoe UI" charset="0"/>
                <a:ea typeface="Segoe UI" charset="0"/>
                <a:cs typeface="Segoe UI" charset="0"/>
              </a:defRPr>
            </a:lvl1pPr>
          </a:lstStyle>
          <a:p>
            <a:fld id="{683B8651-0143-4140-839E-3D36292080E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4435479" y="272251"/>
            <a:ext cx="74285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>
                <a:solidFill>
                  <a:srgbClr val="0432FF"/>
                </a:solidFill>
                <a:latin typeface="Segoe UI" charset="0"/>
                <a:ea typeface="Segoe UI" charset="0"/>
                <a:cs typeface="Segoe UI" charset="0"/>
              </a:rPr>
              <a:t>Computer Science and Engineering</a:t>
            </a:r>
            <a:r>
              <a:rPr lang="en-US" b="1" dirty="0">
                <a:solidFill>
                  <a:prstClr val="black"/>
                </a:solidFill>
                <a:latin typeface="Segoe UI" charset="0"/>
                <a:ea typeface="Segoe UI" charset="0"/>
                <a:cs typeface="Segoe UI" charset="0"/>
              </a:rPr>
              <a:t>| Indian Institute of Technology Kharagpur</a:t>
            </a:r>
          </a:p>
          <a:p>
            <a:pPr algn="r"/>
            <a:r>
              <a:rPr lang="en-US" i="1" dirty="0" err="1">
                <a:solidFill>
                  <a:prstClr val="black"/>
                </a:solidFill>
                <a:latin typeface="Segoe UI" charset="0"/>
                <a:ea typeface="Segoe UI" charset="0"/>
                <a:cs typeface="Segoe UI" charset="0"/>
              </a:rPr>
              <a:t>cse.iitkgp.ac.in</a:t>
            </a:r>
            <a:endParaRPr lang="en-US" i="1" dirty="0">
              <a:solidFill>
                <a:prstClr val="black"/>
              </a:solidFill>
              <a:latin typeface="Segoe UI" charset="0"/>
              <a:ea typeface="Segoe UI" charset="0"/>
              <a:cs typeface="Segoe UI" charset="0"/>
            </a:endParaRP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0" y="914398"/>
            <a:ext cx="12192000" cy="10758"/>
          </a:xfrm>
          <a:prstGeom prst="line">
            <a:avLst/>
          </a:prstGeom>
          <a:ln w="22225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88" y="15871"/>
            <a:ext cx="781048" cy="875765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DA4F6C0F-C505-774B-9053-8B080E112E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9644" y="6392209"/>
            <a:ext cx="17525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0432FF"/>
                </a:solidFill>
                <a:latin typeface="Segoe UI" charset="0"/>
                <a:ea typeface="Segoe UI" charset="0"/>
                <a:cs typeface="Segoe UI" charset="0"/>
              </a:defRPr>
            </a:lvl1pPr>
          </a:lstStyle>
          <a:p>
            <a:r>
              <a:rPr lang="en-IN"/>
              <a:t>21, 27 Jan 2022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7043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Segoe UI" charset="0"/>
          <a:ea typeface="Segoe UI" charset="0"/>
          <a:cs typeface="Segoe UI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Segoe UI" charset="0"/>
          <a:ea typeface="Segoe UI" charset="0"/>
          <a:cs typeface="Segoe UI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Segoe UI" charset="0"/>
          <a:ea typeface="Segoe UI" charset="0"/>
          <a:cs typeface="Segoe UI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Segoe UI" charset="0"/>
          <a:ea typeface="Segoe UI" charset="0"/>
          <a:cs typeface="Segoe UI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Segoe UI" charset="0"/>
          <a:ea typeface="Segoe UI" charset="0"/>
          <a:cs typeface="Segoe UI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Segoe UI" charset="0"/>
          <a:ea typeface="Segoe UI" charset="0"/>
          <a:cs typeface="Segoe UI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4.emf"/><Relationship Id="rId1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19" Type="http://schemas.openxmlformats.org/officeDocument/2006/relationships/image" Target="../media/image13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jpeg"/><Relationship Id="rId5" Type="http://schemas.openxmlformats.org/officeDocument/2006/relationships/image" Target="../media/image22.jpe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27.png"/><Relationship Id="rId3" Type="http://schemas.openxmlformats.org/officeDocument/2006/relationships/image" Target="../media/image4.png"/><Relationship Id="rId21" Type="http://schemas.openxmlformats.org/officeDocument/2006/relationships/image" Target="../media/image270.png"/><Relationship Id="rId7" Type="http://schemas.openxmlformats.org/officeDocument/2006/relationships/image" Target="../media/image8.png"/><Relationship Id="rId12" Type="http://schemas.openxmlformats.org/officeDocument/2006/relationships/image" Target="../media/image4.emf"/><Relationship Id="rId17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5.png"/><Relationship Id="rId20" Type="http://schemas.openxmlformats.org/officeDocument/2006/relationships/image" Target="../media/image26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24.png"/><Relationship Id="rId23" Type="http://schemas.openxmlformats.org/officeDocument/2006/relationships/image" Target="../media/image30.png"/><Relationship Id="rId10" Type="http://schemas.openxmlformats.org/officeDocument/2006/relationships/image" Target="../media/image11.png"/><Relationship Id="rId19" Type="http://schemas.openxmlformats.org/officeDocument/2006/relationships/image" Target="../media/image28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Relationship Id="rId22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18" Type="http://schemas.openxmlformats.org/officeDocument/2006/relationships/image" Target="../media/image33.png"/><Relationship Id="rId3" Type="http://schemas.openxmlformats.org/officeDocument/2006/relationships/image" Target="../media/image31.png"/><Relationship Id="rId17" Type="http://schemas.openxmlformats.org/officeDocument/2006/relationships/image" Target="../media/image44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4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52.png"/><Relationship Id="rId18" Type="http://schemas.openxmlformats.org/officeDocument/2006/relationships/image" Target="../media/image57.png"/><Relationship Id="rId3" Type="http://schemas.openxmlformats.org/officeDocument/2006/relationships/image" Target="../media/image401.png"/><Relationship Id="rId21" Type="http://schemas.openxmlformats.org/officeDocument/2006/relationships/image" Target="../media/image60.png"/><Relationship Id="rId7" Type="http://schemas.openxmlformats.org/officeDocument/2006/relationships/image" Target="../media/image46.png"/><Relationship Id="rId12" Type="http://schemas.openxmlformats.org/officeDocument/2006/relationships/image" Target="../media/image51.png"/><Relationship Id="rId17" Type="http://schemas.openxmlformats.org/officeDocument/2006/relationships/image" Target="../media/image56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55.png"/><Relationship Id="rId20" Type="http://schemas.openxmlformats.org/officeDocument/2006/relationships/image" Target="../media/image5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5" Type="http://schemas.openxmlformats.org/officeDocument/2006/relationships/image" Target="../media/image420.png"/><Relationship Id="rId15" Type="http://schemas.openxmlformats.org/officeDocument/2006/relationships/image" Target="../media/image54.png"/><Relationship Id="rId23" Type="http://schemas.openxmlformats.org/officeDocument/2006/relationships/image" Target="../media/image62.png"/><Relationship Id="rId10" Type="http://schemas.openxmlformats.org/officeDocument/2006/relationships/image" Target="../media/image49.png"/><Relationship Id="rId19" Type="http://schemas.openxmlformats.org/officeDocument/2006/relationships/image" Target="../media/image58.png"/><Relationship Id="rId4" Type="http://schemas.openxmlformats.org/officeDocument/2006/relationships/image" Target="../media/image410.png"/><Relationship Id="rId9" Type="http://schemas.openxmlformats.org/officeDocument/2006/relationships/image" Target="../media/image48.png"/><Relationship Id="rId14" Type="http://schemas.openxmlformats.org/officeDocument/2006/relationships/image" Target="../media/image53.png"/><Relationship Id="rId22" Type="http://schemas.openxmlformats.org/officeDocument/2006/relationships/image" Target="../media/image6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71.png"/><Relationship Id="rId4" Type="http://schemas.openxmlformats.org/officeDocument/2006/relationships/image" Target="../media/image66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01.png"/><Relationship Id="rId4" Type="http://schemas.openxmlformats.org/officeDocument/2006/relationships/image" Target="../media/image69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g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64.png"/><Relationship Id="rId7" Type="http://schemas.openxmlformats.org/officeDocument/2006/relationships/image" Target="../media/image45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6.png"/><Relationship Id="rId5" Type="http://schemas.openxmlformats.org/officeDocument/2006/relationships/image" Target="../media/image400.png"/><Relationship Id="rId10" Type="http://schemas.openxmlformats.org/officeDocument/2006/relationships/image" Target="../media/image660.png"/><Relationship Id="rId4" Type="http://schemas.openxmlformats.org/officeDocument/2006/relationships/image" Target="../media/image65.png"/><Relationship Id="rId9" Type="http://schemas.openxmlformats.org/officeDocument/2006/relationships/image" Target="../media/image47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"/>
          <p:cNvSpPr txBox="1">
            <a:spLocks noGrp="1"/>
          </p:cNvSpPr>
          <p:nvPr>
            <p:ph type="ctrTitle"/>
          </p:nvPr>
        </p:nvSpPr>
        <p:spPr>
          <a:xfrm>
            <a:off x="1127448" y="1814964"/>
            <a:ext cx="9937104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</a:pPr>
            <a:r>
              <a:rPr lang="en-US" sz="3600" dirty="0"/>
              <a:t>Foundations of AI and ML</a:t>
            </a:r>
            <a:br>
              <a:rPr lang="en-US" sz="3600" dirty="0"/>
            </a:br>
            <a:r>
              <a:rPr lang="en-US" sz="3600" dirty="0"/>
              <a:t>CS21206</a:t>
            </a:r>
            <a:endParaRPr sz="3600" i="1" dirty="0"/>
          </a:p>
        </p:txBody>
      </p:sp>
      <p:sp>
        <p:nvSpPr>
          <p:cNvPr id="79" name="Google Shape;79;p11"/>
          <p:cNvSpPr txBox="1">
            <a:spLocks noGrp="1"/>
          </p:cNvSpPr>
          <p:nvPr>
            <p:ph type="subTitle" idx="1"/>
          </p:nvPr>
        </p:nvSpPr>
        <p:spPr>
          <a:xfrm>
            <a:off x="2895600" y="3645024"/>
            <a:ext cx="6400800" cy="19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None/>
            </a:pPr>
            <a:r>
              <a:rPr lang="en-US" sz="2000" b="1" dirty="0" err="1">
                <a:solidFill>
                  <a:srgbClr val="000099"/>
                </a:solidFill>
              </a:rPr>
              <a:t>Abir</a:t>
            </a:r>
            <a:r>
              <a:rPr lang="en-US" sz="2000" b="1" dirty="0">
                <a:solidFill>
                  <a:srgbClr val="000099"/>
                </a:solidFill>
              </a:rPr>
              <a:t> Das and Ayan Chaudhury</a:t>
            </a:r>
            <a:endParaRPr dirty="0"/>
          </a:p>
          <a:p>
            <a:pPr marL="0" lvl="0" indent="0" algn="ctr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</a:pPr>
            <a:r>
              <a:rPr lang="en-US" sz="2000" dirty="0">
                <a:solidFill>
                  <a:srgbClr val="3F3F3F"/>
                </a:solidFill>
              </a:rPr>
              <a:t>Computer Science and Engineering Department</a:t>
            </a:r>
            <a:endParaRPr dirty="0"/>
          </a:p>
          <a:p>
            <a:pPr marL="0" lvl="0" indent="0" algn="ctr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</a:pPr>
            <a:r>
              <a:rPr lang="en-US" sz="2000" dirty="0">
                <a:solidFill>
                  <a:srgbClr val="3F3F3F"/>
                </a:solidFill>
              </a:rPr>
              <a:t>Indian Institute of Technology Kharagpur</a:t>
            </a:r>
            <a:endParaRPr sz="2000" dirty="0">
              <a:solidFill>
                <a:srgbClr val="3F3F3F"/>
              </a:solidFill>
            </a:endParaRPr>
          </a:p>
          <a:p>
            <a:pPr marL="0" lvl="0" indent="0" algn="ctr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</a:pPr>
            <a:endParaRPr sz="2000" dirty="0">
              <a:solidFill>
                <a:srgbClr val="3F3F3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332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4000" y="1698688"/>
            <a:ext cx="8943975" cy="402907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2"/>
          <p:cNvSpPr txBox="1"/>
          <p:nvPr/>
        </p:nvSpPr>
        <p:spPr>
          <a:xfrm>
            <a:off x="2491800" y="938575"/>
            <a:ext cx="7208400" cy="8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434343"/>
                </a:solidFill>
              </a:rPr>
              <a:t>Biological Neural Network</a:t>
            </a:r>
            <a:endParaRPr sz="3000">
              <a:solidFill>
                <a:srgbClr val="434343"/>
              </a:solidFill>
            </a:endParaRPr>
          </a:p>
        </p:txBody>
      </p:sp>
      <p:sp>
        <p:nvSpPr>
          <p:cNvPr id="88" name="Google Shape;88;p12"/>
          <p:cNvSpPr txBox="1"/>
          <p:nvPr/>
        </p:nvSpPr>
        <p:spPr>
          <a:xfrm>
            <a:off x="7248900" y="5881875"/>
            <a:ext cx="49431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999999"/>
                </a:solidFill>
              </a:rPr>
              <a:t>Image courtesy: F. </a:t>
            </a:r>
            <a:r>
              <a:rPr lang="en-US" sz="1000" dirty="0">
                <a:solidFill>
                  <a:srgbClr val="999999"/>
                </a:solidFill>
              </a:rPr>
              <a:t>A. </a:t>
            </a:r>
            <a:r>
              <a:rPr lang="en-US" sz="1000" dirty="0" err="1">
                <a:solidFill>
                  <a:srgbClr val="999999"/>
                </a:solidFill>
              </a:rPr>
              <a:t>Makinde</a:t>
            </a:r>
            <a:r>
              <a:rPr lang="en-US" sz="1000" dirty="0">
                <a:solidFill>
                  <a:srgbClr val="999999"/>
                </a:solidFill>
              </a:rPr>
              <a:t> et. al., “Prediction of crude oil viscosity using feed-forward back-propagation neural network (FFBPNN)”." Petroleum &amp; Coal 2012</a:t>
            </a:r>
            <a:endParaRPr sz="1000" dirty="0">
              <a:solidFill>
                <a:srgbClr val="999999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0569844" y="6356350"/>
            <a:ext cx="783956" cy="365125"/>
          </a:xfrm>
        </p:spPr>
        <p:txBody>
          <a:bodyPr/>
          <a:lstStyle/>
          <a:p>
            <a:fld id="{683B8651-0143-4140-839E-3D36292080E8}" type="slidenum">
              <a:rPr lang="en-US" smtClean="0"/>
              <a:t>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CS21206 / FAIML | Perceptron (c) Abir Das, Ayan Chaudhury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5733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3"/>
          <p:cNvPicPr preferRelativeResize="0"/>
          <p:nvPr/>
        </p:nvPicPr>
        <p:blipFill rotWithShape="1">
          <a:blip r:embed="rId3">
            <a:alphaModFix/>
          </a:blip>
          <a:srcRect l="-4942" t="-23050" b="-19237"/>
          <a:stretch/>
        </p:blipFill>
        <p:spPr>
          <a:xfrm>
            <a:off x="-172975" y="228600"/>
            <a:ext cx="11650132" cy="655319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2012197" y="6356350"/>
            <a:ext cx="8167606" cy="365125"/>
          </a:xfrm>
        </p:spPr>
        <p:txBody>
          <a:bodyPr/>
          <a:lstStyle/>
          <a:p>
            <a:r>
              <a:rPr lang="en-US"/>
              <a:t>CS21206 / FAIML | Perceptron (c) Abir Das, Ayan Chaudhury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0569844" y="6356350"/>
            <a:ext cx="783956" cy="365125"/>
          </a:xfrm>
        </p:spPr>
        <p:txBody>
          <a:bodyPr/>
          <a:lstStyle/>
          <a:p>
            <a:fld id="{683B8651-0143-4140-839E-3D36292080E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111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 txBox="1"/>
          <p:nvPr/>
        </p:nvSpPr>
        <p:spPr>
          <a:xfrm>
            <a:off x="2501680" y="832857"/>
            <a:ext cx="7208400" cy="8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434343"/>
                </a:solidFill>
              </a:rPr>
              <a:t>Artificial Neuron</a:t>
            </a:r>
            <a:endParaRPr sz="3200" dirty="0">
              <a:solidFill>
                <a:srgbClr val="434343"/>
              </a:solidFill>
            </a:endParaRPr>
          </a:p>
        </p:txBody>
      </p:sp>
      <p:sp>
        <p:nvSpPr>
          <p:cNvPr id="119" name="Google Shape;119;p14"/>
          <p:cNvSpPr/>
          <p:nvPr/>
        </p:nvSpPr>
        <p:spPr>
          <a:xfrm>
            <a:off x="591661" y="2472466"/>
            <a:ext cx="167400" cy="3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cxnSp>
        <p:nvCxnSpPr>
          <p:cNvPr id="23" name="Straight Arrow Connector 22"/>
          <p:cNvCxnSpPr>
            <a:endCxn id="22" idx="1"/>
          </p:cNvCxnSpPr>
          <p:nvPr/>
        </p:nvCxnSpPr>
        <p:spPr>
          <a:xfrm>
            <a:off x="981142" y="2549195"/>
            <a:ext cx="1113565" cy="556303"/>
          </a:xfrm>
          <a:prstGeom prst="straightConnector1">
            <a:avLst/>
          </a:prstGeom>
          <a:ln w="38100">
            <a:solidFill>
              <a:srgbClr val="000099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endCxn id="22" idx="2"/>
          </p:cNvCxnSpPr>
          <p:nvPr/>
        </p:nvCxnSpPr>
        <p:spPr>
          <a:xfrm>
            <a:off x="981142" y="3360085"/>
            <a:ext cx="1008112" cy="0"/>
          </a:xfrm>
          <a:prstGeom prst="straightConnector1">
            <a:avLst/>
          </a:prstGeom>
          <a:ln w="38100">
            <a:solidFill>
              <a:srgbClr val="000099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endCxn id="22" idx="3"/>
          </p:cNvCxnSpPr>
          <p:nvPr/>
        </p:nvCxnSpPr>
        <p:spPr>
          <a:xfrm flipV="1">
            <a:off x="1048234" y="3614672"/>
            <a:ext cx="1046473" cy="1249612"/>
          </a:xfrm>
          <a:prstGeom prst="straightConnector1">
            <a:avLst/>
          </a:prstGeom>
          <a:ln w="38100">
            <a:solidFill>
              <a:srgbClr val="000099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endCxn id="22" idx="4"/>
          </p:cNvCxnSpPr>
          <p:nvPr/>
        </p:nvCxnSpPr>
        <p:spPr>
          <a:xfrm flipV="1">
            <a:off x="2349294" y="3720125"/>
            <a:ext cx="0" cy="1080120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22" idx="6"/>
          </p:cNvCxnSpPr>
          <p:nvPr/>
        </p:nvCxnSpPr>
        <p:spPr>
          <a:xfrm flipV="1">
            <a:off x="2709334" y="3357596"/>
            <a:ext cx="1081771" cy="2489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/>
          <p:cNvGrpSpPr/>
          <p:nvPr/>
        </p:nvGrpSpPr>
        <p:grpSpPr>
          <a:xfrm>
            <a:off x="1457400" y="3771088"/>
            <a:ext cx="36000" cy="340800"/>
            <a:chOff x="2731586" y="4043627"/>
            <a:chExt cx="36000" cy="340800"/>
          </a:xfrm>
        </p:grpSpPr>
        <p:sp>
          <p:nvSpPr>
            <p:cNvPr id="5" name="Oval 4"/>
            <p:cNvSpPr/>
            <p:nvPr/>
          </p:nvSpPr>
          <p:spPr>
            <a:xfrm>
              <a:off x="2731586" y="4043627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4" name="Oval 43"/>
            <p:cNvSpPr/>
            <p:nvPr/>
          </p:nvSpPr>
          <p:spPr>
            <a:xfrm>
              <a:off x="2731586" y="4196027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5" name="Oval 44"/>
            <p:cNvSpPr/>
            <p:nvPr/>
          </p:nvSpPr>
          <p:spPr>
            <a:xfrm>
              <a:off x="2731586" y="4348427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04792" y="2219053"/>
                <a:ext cx="50853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200" b="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792" y="2219053"/>
                <a:ext cx="508537" cy="492443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504792" y="3027827"/>
                <a:ext cx="51802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3200" b="0" dirty="0"/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792" y="3027827"/>
                <a:ext cx="518027" cy="492443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504792" y="4485232"/>
                <a:ext cx="54514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lang="en-US" sz="3200" b="0" dirty="0"/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792" y="4485232"/>
                <a:ext cx="545149" cy="492443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1261360" y="2274971"/>
                <a:ext cx="583878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200" b="0" dirty="0"/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1360" y="2274971"/>
                <a:ext cx="583878" cy="492443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1261360" y="2834376"/>
                <a:ext cx="593368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3200" b="0" dirty="0"/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1360" y="2834376"/>
                <a:ext cx="593368" cy="492443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/>
              <p:cNvSpPr txBox="1"/>
              <p:nvPr/>
            </p:nvSpPr>
            <p:spPr>
              <a:xfrm>
                <a:off x="1261360" y="4456082"/>
                <a:ext cx="62049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lang="en-US" sz="3200" b="0" dirty="0"/>
              </a:p>
            </p:txBody>
          </p:sp>
        </mc:Choice>
        <mc:Fallback xmlns="">
          <p:sp>
            <p:nvSpPr>
              <p:cNvPr id="52" name="Text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1360" y="4456082"/>
                <a:ext cx="620491" cy="492443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203521" y="4870443"/>
                <a:ext cx="29815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521" y="4870443"/>
                <a:ext cx="298159" cy="430887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456475" y="4024034"/>
                <a:ext cx="122937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6475" y="4024034"/>
                <a:ext cx="1229376" cy="430887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736172" y="2865153"/>
                <a:ext cx="92333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32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6172" y="2865153"/>
                <a:ext cx="923330" cy="492443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/>
          <p:cNvGrpSpPr/>
          <p:nvPr/>
        </p:nvGrpSpPr>
        <p:grpSpPr>
          <a:xfrm>
            <a:off x="1989254" y="3000045"/>
            <a:ext cx="860767" cy="720080"/>
            <a:chOff x="3359696" y="3429000"/>
            <a:chExt cx="860767" cy="720080"/>
          </a:xfrm>
        </p:grpSpPr>
        <p:sp>
          <p:nvSpPr>
            <p:cNvPr id="22" name="Oval 21"/>
            <p:cNvSpPr/>
            <p:nvPr/>
          </p:nvSpPr>
          <p:spPr>
            <a:xfrm>
              <a:off x="3359696" y="3429000"/>
              <a:ext cx="720080" cy="720080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426091" y="3443712"/>
              <a:ext cx="794372" cy="690906"/>
            </a:xfrm>
            <a:prstGeom prst="rect">
              <a:avLst/>
            </a:prstGeom>
          </p:spPr>
        </p:pic>
      </p:grpSp>
      <p:grpSp>
        <p:nvGrpSpPr>
          <p:cNvPr id="15" name="Group 14"/>
          <p:cNvGrpSpPr/>
          <p:nvPr/>
        </p:nvGrpSpPr>
        <p:grpSpPr>
          <a:xfrm>
            <a:off x="3807710" y="2997556"/>
            <a:ext cx="772071" cy="720080"/>
            <a:chOff x="6644172" y="4270432"/>
            <a:chExt cx="772071" cy="720080"/>
          </a:xfrm>
        </p:grpSpPr>
        <p:sp>
          <p:nvSpPr>
            <p:cNvPr id="61" name="Oval 60"/>
            <p:cNvSpPr/>
            <p:nvPr/>
          </p:nvSpPr>
          <p:spPr>
            <a:xfrm>
              <a:off x="6644172" y="4270432"/>
              <a:ext cx="720080" cy="720080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/>
                <p:cNvSpPr txBox="1"/>
                <p:nvPr/>
              </p:nvSpPr>
              <p:spPr>
                <a:xfrm>
                  <a:off x="6644172" y="4383657"/>
                  <a:ext cx="772071" cy="40011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IN" sz="2600" dirty="0"/>
                </a:p>
              </p:txBody>
            </p:sp>
          </mc:Choice>
          <mc:Fallback xmlns="">
            <p:sp>
              <p:nvSpPr>
                <p:cNvPr id="14" name="TextBox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44172" y="4383657"/>
                  <a:ext cx="772071" cy="400110"/>
                </a:xfrm>
                <a:prstGeom prst="rect">
                  <a:avLst/>
                </a:prstGeom>
                <a:blipFill rotWithShape="0"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5" name="Straight Arrow Connector 64"/>
          <p:cNvCxnSpPr/>
          <p:nvPr/>
        </p:nvCxnSpPr>
        <p:spPr>
          <a:xfrm>
            <a:off x="4527790" y="3355107"/>
            <a:ext cx="622884" cy="2489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5118716" y="3041582"/>
                <a:ext cx="35003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IN" sz="320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8716" y="3041582"/>
                <a:ext cx="350032" cy="492443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/>
              <p:cNvSpPr txBox="1"/>
              <p:nvPr/>
            </p:nvSpPr>
            <p:spPr>
              <a:xfrm>
                <a:off x="6076266" y="2127531"/>
                <a:ext cx="4449487" cy="10459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 </m:t>
                      </m:r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69" name="TextBox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6266" y="2127531"/>
                <a:ext cx="4449487" cy="1045927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6076266" y="1674790"/>
                <a:ext cx="259532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6266" y="1674790"/>
                <a:ext cx="2595326" cy="369332"/>
              </a:xfrm>
              <a:prstGeom prst="rect">
                <a:avLst/>
              </a:prstGeom>
              <a:blipFill rotWithShape="0">
                <a:blip r:embed="rId16"/>
                <a:stretch>
                  <a:fillRect l="-939" t="-1667"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/>
              <p:cNvSpPr txBox="1"/>
              <p:nvPr/>
            </p:nvSpPr>
            <p:spPr>
              <a:xfrm>
                <a:off x="9253638" y="1673590"/>
                <a:ext cx="236039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72" name="TextBox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3638" y="1673590"/>
                <a:ext cx="2360390" cy="369332"/>
              </a:xfrm>
              <a:prstGeom prst="rect">
                <a:avLst/>
              </a:prstGeom>
              <a:blipFill rotWithShape="0">
                <a:blip r:embed="rId17"/>
                <a:stretch>
                  <a:fillRect l="-1034" t="-1667" r="-258"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/>
          <p:cNvSpPr txBox="1"/>
          <p:nvPr/>
        </p:nvSpPr>
        <p:spPr>
          <a:xfrm>
            <a:off x="8721203" y="1761902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and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6076266" y="3279752"/>
                <a:ext cx="17236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6266" y="3279752"/>
                <a:ext cx="1723613" cy="369332"/>
              </a:xfrm>
              <a:prstGeom prst="rect">
                <a:avLst/>
              </a:prstGeom>
              <a:blipFill rotWithShape="0">
                <a:blip r:embed="rId18"/>
                <a:stretch>
                  <a:fillRect l="-3534" r="-5300" b="-3442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6076266" y="4349413"/>
                <a:ext cx="3763338" cy="166199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200" u="sng" dirty="0"/>
                  <a:t>Terminologies</a:t>
                </a:r>
                <a:r>
                  <a:rPr lang="en-US" sz="2200" dirty="0"/>
                  <a:t>:-</a:t>
                </a:r>
              </a:p>
              <a:p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IN" sz="2000" b="1" dirty="0"/>
                  <a:t>:</a:t>
                </a:r>
                <a:r>
                  <a:rPr lang="en-IN" sz="2000" dirty="0"/>
                  <a:t> input,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en-IN" sz="2000" b="1" dirty="0"/>
                  <a:t>:</a:t>
                </a:r>
                <a:r>
                  <a:rPr lang="en-IN" sz="2000" dirty="0"/>
                  <a:t> weights,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IN" sz="2000" b="1" dirty="0"/>
                  <a:t>:</a:t>
                </a:r>
                <a:r>
                  <a:rPr lang="en-IN" sz="2000" dirty="0"/>
                  <a:t> bias</a:t>
                </a:r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IN" sz="2000" dirty="0"/>
                  <a:t>: pre-activation (input activation)</a:t>
                </a:r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IN" sz="2000" dirty="0"/>
                  <a:t>: activation function</a:t>
                </a:r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IN" sz="2000" dirty="0"/>
                  <a:t>: activation (output activation)</a:t>
                </a:r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6266" y="4349413"/>
                <a:ext cx="3763338" cy="1661993"/>
              </a:xfrm>
              <a:prstGeom prst="rect">
                <a:avLst/>
              </a:prstGeom>
              <a:blipFill rotWithShape="0">
                <a:blip r:embed="rId19"/>
                <a:stretch>
                  <a:fillRect l="-2107" t="-2198" r="-972" b="-54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2012197" y="6356350"/>
            <a:ext cx="8167606" cy="365125"/>
          </a:xfrm>
        </p:spPr>
        <p:txBody>
          <a:bodyPr/>
          <a:lstStyle/>
          <a:p>
            <a:r>
              <a:rPr lang="en-US"/>
              <a:t>CS21206 / FAIML | Perceptron (c) Abir Das, Ayan Chaudhury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0569844" y="6356350"/>
            <a:ext cx="783956" cy="365125"/>
          </a:xfrm>
        </p:spPr>
        <p:txBody>
          <a:bodyPr/>
          <a:lstStyle/>
          <a:p>
            <a:fld id="{683B8651-0143-4140-839E-3D36292080E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6380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704" y="1303060"/>
            <a:ext cx="5772254" cy="2358314"/>
          </a:xfrm>
          <a:prstGeom prst="rect">
            <a:avLst/>
          </a:prstGeom>
        </p:spPr>
      </p:pic>
      <p:sp>
        <p:nvSpPr>
          <p:cNvPr id="100" name="Google Shape;100;p14"/>
          <p:cNvSpPr txBox="1"/>
          <p:nvPr/>
        </p:nvSpPr>
        <p:spPr>
          <a:xfrm>
            <a:off x="2501680" y="832857"/>
            <a:ext cx="7208400" cy="8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434343"/>
                </a:solidFill>
              </a:rPr>
              <a:t>Perceptron</a:t>
            </a:r>
            <a:endParaRPr sz="3200" dirty="0">
              <a:solidFill>
                <a:srgbClr val="434343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012197" y="6356350"/>
            <a:ext cx="8167606" cy="365125"/>
          </a:xfrm>
        </p:spPr>
        <p:txBody>
          <a:bodyPr/>
          <a:lstStyle/>
          <a:p>
            <a:r>
              <a:rPr lang="en-US"/>
              <a:t>CS21206 / FAIML | Perceptron (c) Abir Das, Ayan Chaudhury</a:t>
            </a:r>
          </a:p>
        </p:txBody>
      </p:sp>
      <p:sp>
        <p:nvSpPr>
          <p:cNvPr id="21" name="Slide Number Placeholder 20"/>
          <p:cNvSpPr>
            <a:spLocks noGrp="1"/>
          </p:cNvSpPr>
          <p:nvPr>
            <p:ph type="sldNum" sz="quarter" idx="4"/>
          </p:nvPr>
        </p:nvSpPr>
        <p:spPr>
          <a:xfrm>
            <a:off x="10569844" y="6356350"/>
            <a:ext cx="783956" cy="365125"/>
          </a:xfrm>
        </p:spPr>
        <p:txBody>
          <a:bodyPr/>
          <a:lstStyle/>
          <a:p>
            <a:fld id="{683B8651-0143-4140-839E-3D36292080E8}" type="slidenum">
              <a:rPr lang="en-US" smtClean="0"/>
              <a:t>5</a:t>
            </a:fld>
            <a:endParaRPr lang="en-US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279" y="3560542"/>
            <a:ext cx="4747103" cy="2896640"/>
          </a:xfrm>
          <a:prstGeom prst="rect">
            <a:avLst/>
          </a:prstGeom>
        </p:spPr>
      </p:pic>
      <p:pic>
        <p:nvPicPr>
          <p:cNvPr id="1026" name="Picture 2" descr="http://www.rutherfordjournal.org/images/TAHC_rosenblatt-sepia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5165" y="2993024"/>
            <a:ext cx="2481239" cy="2751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://www.rutherfordjournal.org/images/TAHC_perceptron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2680" y="2993024"/>
            <a:ext cx="3059360" cy="2751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Google Shape;88;p12"/>
          <p:cNvSpPr txBox="1"/>
          <p:nvPr/>
        </p:nvSpPr>
        <p:spPr>
          <a:xfrm>
            <a:off x="7248900" y="5880850"/>
            <a:ext cx="49431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1000" dirty="0">
                <a:solidFill>
                  <a:srgbClr val="999999"/>
                </a:solidFill>
              </a:rPr>
              <a:t>Image courtesy: https://</a:t>
            </a:r>
            <a:r>
              <a:rPr lang="en-US" sz="1000" dirty="0" err="1">
                <a:solidFill>
                  <a:srgbClr val="999999"/>
                </a:solidFill>
              </a:rPr>
              <a:t>blogs.umass.edu</a:t>
            </a:r>
            <a:r>
              <a:rPr lang="en-US" sz="1000" dirty="0">
                <a:solidFill>
                  <a:srgbClr val="999999"/>
                </a:solidFill>
              </a:rPr>
              <a:t>/</a:t>
            </a:r>
            <a:r>
              <a:rPr lang="en-US" sz="1000" dirty="0" err="1">
                <a:solidFill>
                  <a:srgbClr val="999999"/>
                </a:solidFill>
              </a:rPr>
              <a:t>comphon</a:t>
            </a:r>
            <a:r>
              <a:rPr lang="en-US" sz="1000" dirty="0">
                <a:solidFill>
                  <a:srgbClr val="999999"/>
                </a:solidFill>
              </a:rPr>
              <a:t>/2017/06/15/did-frank-rosenblatt-invent-deep-learning-in-1962/</a:t>
            </a:r>
          </a:p>
        </p:txBody>
      </p:sp>
    </p:spTree>
    <p:extLst>
      <p:ext uri="{BB962C8B-B14F-4D97-AF65-F5344CB8AC3E}">
        <p14:creationId xmlns:p14="http://schemas.microsoft.com/office/powerpoint/2010/main" val="20155222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 txBox="1"/>
          <p:nvPr/>
        </p:nvSpPr>
        <p:spPr>
          <a:xfrm>
            <a:off x="2501680" y="832857"/>
            <a:ext cx="7208400" cy="8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434343"/>
                </a:solidFill>
              </a:rPr>
              <a:t>Perceptron</a:t>
            </a:r>
            <a:endParaRPr sz="3200" dirty="0">
              <a:solidFill>
                <a:srgbClr val="434343"/>
              </a:solidFill>
            </a:endParaRPr>
          </a:p>
        </p:txBody>
      </p:sp>
      <p:sp>
        <p:nvSpPr>
          <p:cNvPr id="119" name="Google Shape;119;p14"/>
          <p:cNvSpPr/>
          <p:nvPr/>
        </p:nvSpPr>
        <p:spPr>
          <a:xfrm>
            <a:off x="591661" y="2472466"/>
            <a:ext cx="167400" cy="3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cxnSp>
        <p:nvCxnSpPr>
          <p:cNvPr id="23" name="Straight Arrow Connector 22"/>
          <p:cNvCxnSpPr>
            <a:endCxn id="22" idx="1"/>
          </p:cNvCxnSpPr>
          <p:nvPr/>
        </p:nvCxnSpPr>
        <p:spPr>
          <a:xfrm>
            <a:off x="981142" y="2549195"/>
            <a:ext cx="1113565" cy="556303"/>
          </a:xfrm>
          <a:prstGeom prst="straightConnector1">
            <a:avLst/>
          </a:prstGeom>
          <a:ln w="38100">
            <a:solidFill>
              <a:srgbClr val="000099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endCxn id="22" idx="2"/>
          </p:cNvCxnSpPr>
          <p:nvPr/>
        </p:nvCxnSpPr>
        <p:spPr>
          <a:xfrm>
            <a:off x="981142" y="3360085"/>
            <a:ext cx="1008112" cy="0"/>
          </a:xfrm>
          <a:prstGeom prst="straightConnector1">
            <a:avLst/>
          </a:prstGeom>
          <a:ln w="38100">
            <a:solidFill>
              <a:srgbClr val="000099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endCxn id="22" idx="3"/>
          </p:cNvCxnSpPr>
          <p:nvPr/>
        </p:nvCxnSpPr>
        <p:spPr>
          <a:xfrm flipV="1">
            <a:off x="1048234" y="3614672"/>
            <a:ext cx="1046473" cy="1249612"/>
          </a:xfrm>
          <a:prstGeom prst="straightConnector1">
            <a:avLst/>
          </a:prstGeom>
          <a:ln w="38100">
            <a:solidFill>
              <a:srgbClr val="000099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endCxn id="22" idx="4"/>
          </p:cNvCxnSpPr>
          <p:nvPr/>
        </p:nvCxnSpPr>
        <p:spPr>
          <a:xfrm flipV="1">
            <a:off x="2349294" y="3720125"/>
            <a:ext cx="0" cy="1080120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22" idx="6"/>
          </p:cNvCxnSpPr>
          <p:nvPr/>
        </p:nvCxnSpPr>
        <p:spPr>
          <a:xfrm flipV="1">
            <a:off x="2709334" y="3357596"/>
            <a:ext cx="1081771" cy="2489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/>
          <p:cNvGrpSpPr/>
          <p:nvPr/>
        </p:nvGrpSpPr>
        <p:grpSpPr>
          <a:xfrm>
            <a:off x="1457400" y="3771088"/>
            <a:ext cx="36000" cy="340800"/>
            <a:chOff x="2731586" y="4043627"/>
            <a:chExt cx="36000" cy="340800"/>
          </a:xfrm>
        </p:grpSpPr>
        <p:sp>
          <p:nvSpPr>
            <p:cNvPr id="5" name="Oval 4"/>
            <p:cNvSpPr/>
            <p:nvPr/>
          </p:nvSpPr>
          <p:spPr>
            <a:xfrm>
              <a:off x="2731586" y="4043627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4" name="Oval 43"/>
            <p:cNvSpPr/>
            <p:nvPr/>
          </p:nvSpPr>
          <p:spPr>
            <a:xfrm>
              <a:off x="2731586" y="4196027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5" name="Oval 44"/>
            <p:cNvSpPr/>
            <p:nvPr/>
          </p:nvSpPr>
          <p:spPr>
            <a:xfrm>
              <a:off x="2731586" y="4348427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04792" y="2219053"/>
                <a:ext cx="50853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200" b="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792" y="2219053"/>
                <a:ext cx="508537" cy="492443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504792" y="3027827"/>
                <a:ext cx="51802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3200" b="0" dirty="0"/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792" y="3027827"/>
                <a:ext cx="518027" cy="492443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504792" y="4485232"/>
                <a:ext cx="54514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lang="en-US" sz="3200" b="0" dirty="0"/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792" y="4485232"/>
                <a:ext cx="545149" cy="492443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1261360" y="2274971"/>
                <a:ext cx="583878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200" b="0" dirty="0"/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1360" y="2274971"/>
                <a:ext cx="583878" cy="492443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1261360" y="2834376"/>
                <a:ext cx="593368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3200" b="0" dirty="0"/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1360" y="2834376"/>
                <a:ext cx="593368" cy="492443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/>
              <p:cNvSpPr txBox="1"/>
              <p:nvPr/>
            </p:nvSpPr>
            <p:spPr>
              <a:xfrm>
                <a:off x="1261360" y="4456082"/>
                <a:ext cx="62049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lang="en-US" sz="3200" b="0" dirty="0"/>
              </a:p>
            </p:txBody>
          </p:sp>
        </mc:Choice>
        <mc:Fallback xmlns="">
          <p:sp>
            <p:nvSpPr>
              <p:cNvPr id="52" name="Text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1360" y="4456082"/>
                <a:ext cx="620491" cy="492443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203521" y="4870443"/>
                <a:ext cx="29815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521" y="4870443"/>
                <a:ext cx="298159" cy="430887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456475" y="4024034"/>
                <a:ext cx="122937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6475" y="4024034"/>
                <a:ext cx="1229376" cy="430887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736172" y="2865153"/>
                <a:ext cx="92333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32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6172" y="2865153"/>
                <a:ext cx="923330" cy="492443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/>
          <p:cNvGrpSpPr/>
          <p:nvPr/>
        </p:nvGrpSpPr>
        <p:grpSpPr>
          <a:xfrm>
            <a:off x="1989254" y="3000045"/>
            <a:ext cx="860767" cy="720080"/>
            <a:chOff x="3359696" y="3429000"/>
            <a:chExt cx="860767" cy="720080"/>
          </a:xfrm>
        </p:grpSpPr>
        <p:sp>
          <p:nvSpPr>
            <p:cNvPr id="22" name="Oval 21"/>
            <p:cNvSpPr/>
            <p:nvPr/>
          </p:nvSpPr>
          <p:spPr>
            <a:xfrm>
              <a:off x="3359696" y="3429000"/>
              <a:ext cx="720080" cy="720080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426091" y="3443712"/>
              <a:ext cx="794372" cy="690906"/>
            </a:xfrm>
            <a:prstGeom prst="rect">
              <a:avLst/>
            </a:prstGeom>
          </p:spPr>
        </p:pic>
      </p:grpSp>
      <p:grpSp>
        <p:nvGrpSpPr>
          <p:cNvPr id="15" name="Group 14"/>
          <p:cNvGrpSpPr/>
          <p:nvPr/>
        </p:nvGrpSpPr>
        <p:grpSpPr>
          <a:xfrm>
            <a:off x="3807710" y="2997556"/>
            <a:ext cx="772071" cy="720080"/>
            <a:chOff x="6644172" y="4270432"/>
            <a:chExt cx="772071" cy="720080"/>
          </a:xfrm>
        </p:grpSpPr>
        <p:sp>
          <p:nvSpPr>
            <p:cNvPr id="61" name="Oval 60"/>
            <p:cNvSpPr/>
            <p:nvPr/>
          </p:nvSpPr>
          <p:spPr>
            <a:xfrm>
              <a:off x="6644172" y="4270432"/>
              <a:ext cx="720080" cy="720080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/>
                <p:cNvSpPr txBox="1"/>
                <p:nvPr/>
              </p:nvSpPr>
              <p:spPr>
                <a:xfrm>
                  <a:off x="6644172" y="4383657"/>
                  <a:ext cx="772071" cy="40011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IN" sz="2600" dirty="0"/>
                </a:p>
              </p:txBody>
            </p:sp>
          </mc:Choice>
          <mc:Fallback xmlns="">
            <p:sp>
              <p:nvSpPr>
                <p:cNvPr id="14" name="TextBox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44172" y="4383657"/>
                  <a:ext cx="772071" cy="400110"/>
                </a:xfrm>
                <a:prstGeom prst="rect">
                  <a:avLst/>
                </a:prstGeom>
                <a:blipFill rotWithShape="0"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5" name="Straight Arrow Connector 64"/>
          <p:cNvCxnSpPr/>
          <p:nvPr/>
        </p:nvCxnSpPr>
        <p:spPr>
          <a:xfrm>
            <a:off x="4527790" y="3355107"/>
            <a:ext cx="622884" cy="2489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5118716" y="3041582"/>
                <a:ext cx="35003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IN" sz="320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8716" y="3041582"/>
                <a:ext cx="350032" cy="492443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5816541" y="1411672"/>
                <a:ext cx="4738348" cy="4056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IN" sz="1800" dirty="0"/>
                  <a:t> and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∈{0, 1}</m:t>
                    </m:r>
                  </m:oMath>
                </a14:m>
                <a:r>
                  <a:rPr lang="en-IN" sz="1800" dirty="0"/>
                  <a:t> – Binary Classification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6541" y="1411672"/>
                <a:ext cx="4738348" cy="405624"/>
              </a:xfrm>
              <a:prstGeom prst="rect">
                <a:avLst/>
              </a:prstGeom>
              <a:blipFill rotWithShape="0">
                <a:blip r:embed="rId15"/>
                <a:stretch>
                  <a:fillRect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5961639" y="1889514"/>
                <a:ext cx="2390077" cy="6865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1,  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&amp;0, 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&lt;0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1639" y="1889514"/>
                <a:ext cx="2390077" cy="686535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8807109" y="2053310"/>
            <a:ext cx="16562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(Rosenblatt, 1957)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5626166" y="2716228"/>
                <a:ext cx="6429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1800" dirty="0"/>
                  <a:t>To make things simpler, the response is taken as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∈{−1, 1}</m:t>
                    </m:r>
                  </m:oMath>
                </a14:m>
                <a:r>
                  <a:rPr lang="en-IN" sz="1800" dirty="0"/>
                  <a:t> </a:t>
                </a:r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6166" y="2716228"/>
                <a:ext cx="6429132" cy="369332"/>
              </a:xfrm>
              <a:prstGeom prst="rect">
                <a:avLst/>
              </a:prstGeom>
              <a:blipFill rotWithShape="0">
                <a:blip r:embed="rId17"/>
                <a:stretch>
                  <a:fillRect l="-853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5961639" y="3260843"/>
                <a:ext cx="2582438" cy="6865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  1, 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&amp;−1, 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&lt;0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1639" y="3260843"/>
                <a:ext cx="2582438" cy="686535"/>
              </a:xfrm>
              <a:prstGeom prst="rect">
                <a:avLst/>
              </a:prstGeom>
              <a:blipFill rotWithShape="0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Group 19"/>
          <p:cNvGrpSpPr/>
          <p:nvPr/>
        </p:nvGrpSpPr>
        <p:grpSpPr>
          <a:xfrm>
            <a:off x="8887211" y="3179962"/>
            <a:ext cx="3269210" cy="1330973"/>
            <a:chOff x="5866934" y="4680706"/>
            <a:chExt cx="4139055" cy="1660078"/>
          </a:xfrm>
        </p:grpSpPr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13618" y="4680706"/>
              <a:ext cx="3492371" cy="1285578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/>
                <p:cNvSpPr txBox="1"/>
                <p:nvPr/>
              </p:nvSpPr>
              <p:spPr>
                <a:xfrm>
                  <a:off x="5866934" y="5095093"/>
                  <a:ext cx="677859" cy="34549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IN" sz="1800" dirty="0"/>
                </a:p>
              </p:txBody>
            </p:sp>
          </mc:Choice>
          <mc:Fallback xmlns="">
            <p:sp>
              <p:nvSpPr>
                <p:cNvPr id="47" name="TextBox 4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66934" y="5095093"/>
                  <a:ext cx="677859" cy="345492"/>
                </a:xfrm>
                <a:prstGeom prst="rect">
                  <a:avLst/>
                </a:prstGeom>
                <a:blipFill rotWithShape="0">
                  <a:blip r:embed="rId20"/>
                  <a:stretch>
                    <a:fillRect l="-9091" t="-2174" r="-14773" b="-32609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Rectangle 17"/>
                <p:cNvSpPr/>
                <p:nvPr/>
              </p:nvSpPr>
              <p:spPr>
                <a:xfrm>
                  <a:off x="8167477" y="5880128"/>
                  <a:ext cx="484486" cy="46065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IN" sz="1800" dirty="0"/>
                </a:p>
              </p:txBody>
            </p:sp>
          </mc:Choice>
          <mc:Fallback xmlns="">
            <p:sp>
              <p:nvSpPr>
                <p:cNvPr id="18" name="Rectangle 1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67477" y="5880128"/>
                  <a:ext cx="484486" cy="460656"/>
                </a:xfrm>
                <a:prstGeom prst="rect">
                  <a:avLst/>
                </a:prstGeom>
                <a:blipFill rotWithShape="0"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5961639" y="4976237"/>
                <a:ext cx="2967094" cy="6865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  1,  </m:t>
                              </m:r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&amp;−1,  </m:t>
                              </m:r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&lt;0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1639" y="4976237"/>
                <a:ext cx="2967094" cy="686535"/>
              </a:xfrm>
              <a:prstGeom prst="rect">
                <a:avLst/>
              </a:prstGeom>
              <a:blipFill rotWithShape="0"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TextBox 53"/>
          <p:cNvSpPr txBox="1"/>
          <p:nvPr/>
        </p:nvSpPr>
        <p:spPr>
          <a:xfrm>
            <a:off x="5679105" y="4555074"/>
            <a:ext cx="55194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The perceptron classification rule, thus, translates to</a:t>
            </a:r>
            <a:endParaRPr lang="en-IN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8965672" y="5052054"/>
                <a:ext cx="3190232" cy="553421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Remember: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16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IN" dirty="0"/>
                  <a:t> represents</a:t>
                </a:r>
              </a:p>
              <a:p>
                <a:pPr algn="ctr"/>
                <a:r>
                  <a:rPr lang="en-US" dirty="0"/>
                  <a:t>a </a:t>
                </a:r>
                <a:r>
                  <a:rPr lang="en-US" dirty="0" err="1"/>
                  <a:t>hyperplane</a:t>
                </a:r>
                <a:r>
                  <a:rPr lang="en-US" dirty="0"/>
                  <a:t>.</a:t>
                </a:r>
                <a:endParaRPr lang="en-IN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5672" y="5052054"/>
                <a:ext cx="3190232" cy="553421"/>
              </a:xfrm>
              <a:prstGeom prst="rect">
                <a:avLst/>
              </a:prstGeom>
              <a:blipFill rotWithShape="0">
                <a:blip r:embed="rId23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012197" y="6356350"/>
            <a:ext cx="8167606" cy="365125"/>
          </a:xfrm>
        </p:spPr>
        <p:txBody>
          <a:bodyPr/>
          <a:lstStyle/>
          <a:p>
            <a:r>
              <a:rPr lang="en-US"/>
              <a:t>CS21206 / FAIML | Perceptron (c) Abir Das, Ayan Chaudhury</a:t>
            </a:r>
          </a:p>
        </p:txBody>
      </p:sp>
      <p:sp>
        <p:nvSpPr>
          <p:cNvPr id="21" name="Slide Number Placeholder 20"/>
          <p:cNvSpPr>
            <a:spLocks noGrp="1"/>
          </p:cNvSpPr>
          <p:nvPr>
            <p:ph type="sldNum" sz="quarter" idx="4"/>
          </p:nvPr>
        </p:nvSpPr>
        <p:spPr>
          <a:xfrm>
            <a:off x="10569844" y="6356350"/>
            <a:ext cx="783956" cy="365125"/>
          </a:xfrm>
        </p:spPr>
        <p:txBody>
          <a:bodyPr/>
          <a:lstStyle/>
          <a:p>
            <a:fld id="{683B8651-0143-4140-839E-3D36292080E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025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6" grpId="0"/>
      <p:bldP spid="53" grpId="0"/>
      <p:bldP spid="54" grpId="0"/>
      <p:bldP spid="2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 txBox="1"/>
          <p:nvPr/>
        </p:nvSpPr>
        <p:spPr>
          <a:xfrm>
            <a:off x="2501680" y="832857"/>
            <a:ext cx="7208400" cy="8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434343"/>
                </a:solidFill>
              </a:rPr>
              <a:t>Perceptron Learning Algorithm</a:t>
            </a:r>
            <a:endParaRPr sz="3200" dirty="0">
              <a:solidFill>
                <a:srgbClr val="434343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300789" y="4848726"/>
                <a:ext cx="6567112" cy="11382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700" u="sng" dirty="0"/>
                  <a:t>Convergence Theorem</a:t>
                </a:r>
                <a:r>
                  <a:rPr lang="en-US" sz="1700" dirty="0"/>
                  <a:t>:-</a:t>
                </a:r>
              </a:p>
              <a:p>
                <a:r>
                  <a:rPr lang="en-US" sz="1500" dirty="0"/>
                  <a:t>For a finite and linearly separable set of data, the perceptron learning algorithm will find a linear separator in at most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en-US" sz="15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sz="15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15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500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p>
                                <m:r>
                                  <a:rPr lang="en-US" sz="15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US" sz="15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500" b="0" i="1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  <m:sup>
                                <m:r>
                                  <a:rPr lang="en-US" sz="15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box>
                  </m:oMath>
                </a14:m>
                <a:r>
                  <a:rPr lang="en-US" sz="1500" dirty="0"/>
                  <a:t> iterations where the maximum length of any data point is </a:t>
                </a:r>
                <a14:m>
                  <m:oMath xmlns:m="http://schemas.openxmlformats.org/officeDocument/2006/math">
                    <m:r>
                      <a:rPr lang="en-US" sz="1500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1500" dirty="0"/>
                  <a:t> and </a:t>
                </a:r>
                <a14:m>
                  <m:oMath xmlns:m="http://schemas.openxmlformats.org/officeDocument/2006/math">
                    <m:r>
                      <a:rPr lang="en-US" sz="1500" b="0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sz="1500" dirty="0"/>
                  <a:t> is the maximum margin of the linear separators.</a:t>
                </a:r>
                <a:endParaRPr lang="en-IN" sz="1500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789" y="4848726"/>
                <a:ext cx="6567112" cy="1138260"/>
              </a:xfrm>
              <a:prstGeom prst="rect">
                <a:avLst/>
              </a:prstGeom>
              <a:blipFill rotWithShape="0">
                <a:blip r:embed="rId3"/>
                <a:stretch>
                  <a:fillRect l="-557" t="-1604" b="-5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4" name="Group 73"/>
          <p:cNvGrpSpPr/>
          <p:nvPr/>
        </p:nvGrpSpPr>
        <p:grpSpPr>
          <a:xfrm>
            <a:off x="7357277" y="1942767"/>
            <a:ext cx="4493827" cy="4386510"/>
            <a:chOff x="7357277" y="1942767"/>
            <a:chExt cx="4493827" cy="4386510"/>
          </a:xfrm>
        </p:grpSpPr>
        <p:pic>
          <p:nvPicPr>
            <p:cNvPr id="32" name="Picture 31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10" t="11416" r="10249" b="8502"/>
            <a:stretch/>
          </p:blipFill>
          <p:spPr>
            <a:xfrm>
              <a:off x="7357277" y="1942767"/>
              <a:ext cx="4493827" cy="4386510"/>
            </a:xfrm>
            <a:prstGeom prst="rect">
              <a:avLst/>
            </a:prstGeom>
          </p:spPr>
        </p:pic>
        <p:cxnSp>
          <p:nvCxnSpPr>
            <p:cNvPr id="35" name="Straight Arrow Connector 34"/>
            <p:cNvCxnSpPr/>
            <p:nvPr/>
          </p:nvCxnSpPr>
          <p:spPr>
            <a:xfrm flipH="1">
              <a:off x="8536844" y="2297137"/>
              <a:ext cx="190831" cy="205200"/>
            </a:xfrm>
            <a:prstGeom prst="straightConnector1">
              <a:avLst/>
            </a:prstGeom>
            <a:ln w="19050"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Straight Arrow Connector 69"/>
            <p:cNvCxnSpPr/>
            <p:nvPr/>
          </p:nvCxnSpPr>
          <p:spPr>
            <a:xfrm rot="10800000" flipH="1">
              <a:off x="8172409" y="2696027"/>
              <a:ext cx="190831" cy="205200"/>
            </a:xfrm>
            <a:prstGeom prst="straightConnector1">
              <a:avLst/>
            </a:prstGeom>
            <a:ln w="19050"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/>
                <p:cNvSpPr txBox="1"/>
                <p:nvPr/>
              </p:nvSpPr>
              <p:spPr>
                <a:xfrm>
                  <a:off x="8392594" y="2471431"/>
                  <a:ext cx="158698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𝜸</m:t>
                        </m:r>
                      </m:oMath>
                    </m:oMathPara>
                  </a14:m>
                  <a:endParaRPr lang="en-IN" b="1" dirty="0"/>
                </a:p>
              </p:txBody>
            </p:sp>
          </mc:Choice>
          <mc:Fallback xmlns="">
            <p:sp>
              <p:nvSpPr>
                <p:cNvPr id="36" name="TextBox 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92594" y="2471431"/>
                  <a:ext cx="158698" cy="215444"/>
                </a:xfrm>
                <a:prstGeom prst="rect">
                  <a:avLst/>
                </a:prstGeom>
                <a:blipFill rotWithShape="0">
                  <a:blip r:embed="rId16"/>
                  <a:stretch>
                    <a:fillRect l="-46154" r="-46154" b="-5555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2" name="Straight Arrow Connector 41"/>
            <p:cNvCxnSpPr/>
            <p:nvPr/>
          </p:nvCxnSpPr>
          <p:spPr>
            <a:xfrm flipH="1" flipV="1">
              <a:off x="8030819" y="3172572"/>
              <a:ext cx="1725431" cy="882593"/>
            </a:xfrm>
            <a:prstGeom prst="straightConnector1">
              <a:avLst/>
            </a:prstGeom>
            <a:ln w="19050">
              <a:solidFill>
                <a:srgbClr val="0070C0"/>
              </a:solidFill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TextBox 75"/>
                <p:cNvSpPr txBox="1"/>
                <p:nvPr/>
              </p:nvSpPr>
              <p:spPr>
                <a:xfrm>
                  <a:off x="8727675" y="3594051"/>
                  <a:ext cx="171522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oMath>
                    </m:oMathPara>
                  </a14:m>
                  <a:endParaRPr lang="en-IN" b="1" dirty="0"/>
                </a:p>
              </p:txBody>
            </p:sp>
          </mc:Choice>
          <mc:Fallback xmlns="">
            <p:sp>
              <p:nvSpPr>
                <p:cNvPr id="76" name="TextBox 7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27675" y="3594051"/>
                  <a:ext cx="171522" cy="215444"/>
                </a:xfrm>
                <a:prstGeom prst="rect">
                  <a:avLst/>
                </a:prstGeom>
                <a:blipFill rotWithShape="0">
                  <a:blip r:embed="rId17"/>
                  <a:stretch>
                    <a:fillRect l="-60714" t="-5714" r="-60714" b="-7428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2012197" y="6356350"/>
            <a:ext cx="8167606" cy="365125"/>
          </a:xfrm>
        </p:spPr>
        <p:txBody>
          <a:bodyPr/>
          <a:lstStyle/>
          <a:p>
            <a:r>
              <a:rPr lang="en-US"/>
              <a:t>CS21206 / FAIML | Perceptron (c) Abir Das, Ayan Chaudhury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9844" y="6356350"/>
            <a:ext cx="783956" cy="365125"/>
          </a:xfrm>
        </p:spPr>
        <p:txBody>
          <a:bodyPr/>
          <a:lstStyle/>
          <a:p>
            <a:fld id="{683B8651-0143-4140-839E-3D36292080E8}" type="slidenum">
              <a:rPr lang="en-US" smtClean="0"/>
              <a:t>7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6064" y="1728104"/>
            <a:ext cx="7096359" cy="2255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168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993" y="1021885"/>
            <a:ext cx="2470491" cy="247049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9101" y="1021885"/>
            <a:ext cx="2468885" cy="246888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604" y="1021885"/>
            <a:ext cx="2468885" cy="246888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599" y="3814005"/>
            <a:ext cx="2468885" cy="246888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9100" y="3814004"/>
            <a:ext cx="2468885" cy="246888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601" y="3814004"/>
            <a:ext cx="2468885" cy="2468885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012197" y="6356350"/>
            <a:ext cx="8167606" cy="365125"/>
          </a:xfrm>
        </p:spPr>
        <p:txBody>
          <a:bodyPr/>
          <a:lstStyle/>
          <a:p>
            <a:r>
              <a:rPr lang="en-US"/>
              <a:t>CS21206 / FAIML | Perceptron (c) Abir Das, Ayan Chaudhury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0569844" y="6356350"/>
            <a:ext cx="783956" cy="365125"/>
          </a:xfrm>
        </p:spPr>
        <p:txBody>
          <a:bodyPr/>
          <a:lstStyle/>
          <a:p>
            <a:fld id="{683B8651-0143-4140-839E-3D36292080E8}" type="slidenum">
              <a:rPr lang="en-US" smtClean="0"/>
              <a:t>8</a:t>
            </a:fld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774192" y="1860017"/>
            <a:ext cx="64008" cy="64008"/>
          </a:xfrm>
          <a:prstGeom prst="ellipse">
            <a:avLst/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934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/>
          <p:nvPr/>
        </p:nvCxnSpPr>
        <p:spPr>
          <a:xfrm flipV="1">
            <a:off x="1184969" y="2204304"/>
            <a:ext cx="45720" cy="1874520"/>
          </a:xfrm>
          <a:prstGeom prst="line">
            <a:avLst/>
          </a:prstGeom>
          <a:ln>
            <a:prstDash val="lgDash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1184223" y="2356704"/>
            <a:ext cx="198120" cy="1812057"/>
          </a:xfrm>
          <a:prstGeom prst="line">
            <a:avLst/>
          </a:prstGeom>
          <a:ln>
            <a:prstDash val="lgDash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7" idx="7"/>
          </p:cNvCxnSpPr>
          <p:nvPr/>
        </p:nvCxnSpPr>
        <p:spPr>
          <a:xfrm flipV="1">
            <a:off x="1217298" y="2509105"/>
            <a:ext cx="317445" cy="1581607"/>
          </a:xfrm>
          <a:prstGeom prst="line">
            <a:avLst/>
          </a:prstGeom>
          <a:ln>
            <a:prstDash val="lgDash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1217298" y="3781082"/>
            <a:ext cx="1617342" cy="356000"/>
          </a:xfrm>
          <a:prstGeom prst="line">
            <a:avLst/>
          </a:prstGeom>
          <a:ln>
            <a:prstDash val="lgDash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V="1">
            <a:off x="1226442" y="3619701"/>
            <a:ext cx="1391415" cy="517381"/>
          </a:xfrm>
          <a:prstGeom prst="line">
            <a:avLst/>
          </a:prstGeom>
          <a:ln>
            <a:prstDash val="lgDash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00" name="Google Shape;100;p14"/>
          <p:cNvSpPr txBox="1"/>
          <p:nvPr/>
        </p:nvSpPr>
        <p:spPr>
          <a:xfrm>
            <a:off x="674557" y="832857"/>
            <a:ext cx="10088381" cy="8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434343"/>
                </a:solidFill>
              </a:rPr>
              <a:t>Perceptron Learning Algorithm </a:t>
            </a:r>
            <a:r>
              <a:rPr lang="mr-IN" sz="3200" dirty="0">
                <a:solidFill>
                  <a:srgbClr val="434343"/>
                </a:solidFill>
              </a:rPr>
              <a:t>–</a:t>
            </a:r>
            <a:r>
              <a:rPr lang="en-US" sz="3200" dirty="0">
                <a:solidFill>
                  <a:srgbClr val="434343"/>
                </a:solidFill>
              </a:rPr>
              <a:t> Convergence Proof</a:t>
            </a:r>
            <a:endParaRPr sz="3200" dirty="0">
              <a:solidFill>
                <a:srgbClr val="434343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80868" y="1415979"/>
            <a:ext cx="3599649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u="sng" dirty="0"/>
              <a:t>Some Important Brush-ups</a:t>
            </a:r>
            <a:r>
              <a:rPr lang="en-US" sz="1700" dirty="0"/>
              <a:t>:-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2012197" y="6356350"/>
            <a:ext cx="8167606" cy="365125"/>
          </a:xfrm>
        </p:spPr>
        <p:txBody>
          <a:bodyPr/>
          <a:lstStyle/>
          <a:p>
            <a:r>
              <a:rPr lang="en-US"/>
              <a:t>CS21206 / FAIML | Perceptron (c) Abir Das, Ayan Chaudhury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9844" y="6356350"/>
            <a:ext cx="783956" cy="365125"/>
          </a:xfrm>
        </p:spPr>
        <p:txBody>
          <a:bodyPr/>
          <a:lstStyle/>
          <a:p>
            <a:fld id="{683B8651-0143-4140-839E-3D36292080E8}" type="slidenum">
              <a:rPr lang="en-US" smtClean="0"/>
              <a:t>9</a:t>
            </a:fld>
            <a:endParaRPr lang="en-US"/>
          </a:p>
        </p:txBody>
      </p:sp>
      <p:cxnSp>
        <p:nvCxnSpPr>
          <p:cNvPr id="4" name="Straight Connector 3"/>
          <p:cNvCxnSpPr/>
          <p:nvPr/>
        </p:nvCxnSpPr>
        <p:spPr>
          <a:xfrm>
            <a:off x="1184223" y="2158584"/>
            <a:ext cx="2233534" cy="223353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139249" y="4077321"/>
            <a:ext cx="91440" cy="9144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1693985" y="3169017"/>
            <a:ext cx="54864" cy="54864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1846385" y="3321417"/>
            <a:ext cx="54864" cy="54864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1998785" y="3473817"/>
            <a:ext cx="54864" cy="54864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812200" y="2304802"/>
                <a:ext cx="473206" cy="28469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1" i="1">
                              <a:solidFill>
                                <a:prstClr val="black"/>
                              </a:solidFill>
                              <a:latin typeface="Cambria Math" charset="0"/>
                            </a:rPr>
                            <m:t>𝒙</m:t>
                          </m:r>
                        </m:e>
                        <m:sup>
                          <m:r>
                            <a:rPr lang="en-US" sz="1200" i="1">
                              <a:solidFill>
                                <a:prstClr val="black"/>
                              </a:solidFill>
                              <a:latin typeface="Cambria Math" charset="0"/>
                            </a:rPr>
                            <m:t>(</m:t>
                          </m:r>
                          <m:r>
                            <a:rPr lang="en-US" sz="1200" b="0" i="1" smtClean="0">
                              <a:solidFill>
                                <a:prstClr val="black"/>
                              </a:solidFill>
                              <a:latin typeface="Cambria Math" charset="0"/>
                            </a:rPr>
                            <m:t>1</m:t>
                          </m:r>
                          <m:r>
                            <a:rPr lang="en-US" sz="1200" i="1">
                              <a:solidFill>
                                <a:prstClr val="black"/>
                              </a:solidFill>
                              <a:latin typeface="Cambria Math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200" y="2304802"/>
                <a:ext cx="473206" cy="284693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1061537" y="2466890"/>
                <a:ext cx="473206" cy="28469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1" i="1">
                              <a:solidFill>
                                <a:prstClr val="black"/>
                              </a:solidFill>
                              <a:latin typeface="Cambria Math" charset="0"/>
                            </a:rPr>
                            <m:t>𝒙</m:t>
                          </m:r>
                        </m:e>
                        <m:sup>
                          <m:r>
                            <a:rPr lang="en-US" sz="1200" i="1">
                              <a:solidFill>
                                <a:prstClr val="black"/>
                              </a:solidFill>
                              <a:latin typeface="Cambria Math" charset="0"/>
                            </a:rPr>
                            <m:t>(</m:t>
                          </m:r>
                          <m:r>
                            <a:rPr lang="en-US" sz="1200" b="0" i="1" smtClean="0">
                              <a:solidFill>
                                <a:prstClr val="black"/>
                              </a:solidFill>
                              <a:latin typeface="Cambria Math" charset="0"/>
                            </a:rPr>
                            <m:t>2</m:t>
                          </m:r>
                          <m:r>
                            <a:rPr lang="en-US" sz="1200" i="1">
                              <a:solidFill>
                                <a:prstClr val="black"/>
                              </a:solidFill>
                              <a:latin typeface="Cambria Math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537" y="2466890"/>
                <a:ext cx="473206" cy="284693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/>
              <p:cNvSpPr/>
              <p:nvPr/>
            </p:nvSpPr>
            <p:spPr>
              <a:xfrm>
                <a:off x="1226442" y="2620182"/>
                <a:ext cx="473206" cy="28469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1" i="1">
                              <a:solidFill>
                                <a:prstClr val="black"/>
                              </a:solidFill>
                              <a:latin typeface="Cambria Math" charset="0"/>
                            </a:rPr>
                            <m:t>𝒙</m:t>
                          </m:r>
                        </m:e>
                        <m:sup>
                          <m:r>
                            <a:rPr lang="en-US" sz="1200" i="1">
                              <a:solidFill>
                                <a:prstClr val="black"/>
                              </a:solidFill>
                              <a:latin typeface="Cambria Math" charset="0"/>
                            </a:rPr>
                            <m:t>(</m:t>
                          </m:r>
                          <m:r>
                            <a:rPr lang="en-US" sz="1200" b="0" i="1" smtClean="0">
                              <a:solidFill>
                                <a:prstClr val="black"/>
                              </a:solidFill>
                              <a:latin typeface="Cambria Math" charset="0"/>
                            </a:rPr>
                            <m:t>3</m:t>
                          </m:r>
                          <m:r>
                            <a:rPr lang="en-US" sz="1200" i="1">
                              <a:solidFill>
                                <a:prstClr val="black"/>
                              </a:solidFill>
                              <a:latin typeface="Cambria Math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6442" y="2620182"/>
                <a:ext cx="473206" cy="284693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Connector 27"/>
          <p:cNvCxnSpPr/>
          <p:nvPr/>
        </p:nvCxnSpPr>
        <p:spPr>
          <a:xfrm flipV="1">
            <a:off x="2216139" y="2806501"/>
            <a:ext cx="381994" cy="371708"/>
          </a:xfrm>
          <a:prstGeom prst="line">
            <a:avLst/>
          </a:prstGeom>
          <a:ln w="1270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972626" y="4214331"/>
                <a:ext cx="423193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(0,0)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2626" y="4214331"/>
                <a:ext cx="423193" cy="215444"/>
              </a:xfrm>
              <a:prstGeom prst="rect">
                <a:avLst/>
              </a:prstGeom>
              <a:blipFill rotWithShape="0">
                <a:blip r:embed="rId6"/>
                <a:stretch>
                  <a:fillRect l="-14493" r="-15942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/>
              <p:cNvSpPr/>
              <p:nvPr/>
            </p:nvSpPr>
            <p:spPr>
              <a:xfrm>
                <a:off x="2472227" y="2554335"/>
                <a:ext cx="341760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 smtClean="0">
                          <a:solidFill>
                            <a:prstClr val="black"/>
                          </a:solidFill>
                          <a:latin typeface="Cambria Math" charset="0"/>
                        </a:rPr>
                        <m:t>𝒘</m:t>
                      </m:r>
                    </m:oMath>
                  </m:oMathPara>
                </a14:m>
                <a:endParaRPr lang="en-US" sz="1200" b="1" dirty="0"/>
              </a:p>
            </p:txBody>
          </p:sp>
        </mc:Choice>
        <mc:Fallback xmlns="">
          <p:sp>
            <p:nvSpPr>
              <p:cNvPr id="35" name="Rectangle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2227" y="2554335"/>
                <a:ext cx="341760" cy="276999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Connector 35"/>
          <p:cNvCxnSpPr/>
          <p:nvPr/>
        </p:nvCxnSpPr>
        <p:spPr>
          <a:xfrm flipV="1">
            <a:off x="1217298" y="3173061"/>
            <a:ext cx="999668" cy="935939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Left Brace 37"/>
          <p:cNvSpPr/>
          <p:nvPr/>
        </p:nvSpPr>
        <p:spPr>
          <a:xfrm rot="2842594">
            <a:off x="1456879" y="2849609"/>
            <a:ext cx="253205" cy="1369621"/>
          </a:xfrm>
          <a:prstGeom prst="leftBrace">
            <a:avLst>
              <a:gd name="adj1" fmla="val 8333"/>
              <a:gd name="adj2" fmla="val 50662"/>
            </a:avLst>
          </a:prstGeom>
          <a:ln>
            <a:solidFill>
              <a:srgbClr val="FF0000"/>
            </a:solidFill>
          </a:ln>
          <a:scene3d>
            <a:camera prst="orthographicFront">
              <a:rot lat="0" lon="0" rev="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2956124" y="4429775"/>
                <a:ext cx="818173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1" i="1" smtClean="0">
                              <a:latin typeface="Cambria Math" charset="0"/>
                            </a:rPr>
                            <m:t>𝒘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charset="0"/>
                            </a:rPr>
                            <m:t>𝑇</m:t>
                          </m:r>
                        </m:sup>
                      </m:sSup>
                      <m:r>
                        <a:rPr lang="en-US" sz="1600" b="1" i="1" smtClean="0">
                          <a:latin typeface="Cambria Math" charset="0"/>
                        </a:rPr>
                        <m:t>𝒙</m:t>
                      </m:r>
                      <m:r>
                        <a:rPr lang="en-US" sz="1600" b="1" i="1" smtClean="0">
                          <a:latin typeface="Cambria Math" charset="0"/>
                        </a:rPr>
                        <m:t>=</m:t>
                      </m:r>
                      <m:r>
                        <a:rPr lang="en-US" sz="1600" b="0" i="1" smtClean="0">
                          <a:latin typeface="Cambria Math" charset="0"/>
                        </a:rPr>
                        <m:t>𝑎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6124" y="4429775"/>
                <a:ext cx="818173" cy="246221"/>
              </a:xfrm>
              <a:prstGeom prst="rect">
                <a:avLst/>
              </a:prstGeom>
              <a:blipFill rotWithShape="0">
                <a:blip r:embed="rId8"/>
                <a:stretch>
                  <a:fillRect l="-3731" t="-2500" r="-1493" b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/>
              <p:cNvSpPr/>
              <p:nvPr/>
            </p:nvSpPr>
            <p:spPr>
              <a:xfrm>
                <a:off x="1304884" y="3202905"/>
                <a:ext cx="340029" cy="3231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 b="0" i="1" smtClean="0">
                          <a:solidFill>
                            <a:prstClr val="black"/>
                          </a:solidFill>
                          <a:latin typeface="Cambria Math" charset="0"/>
                        </a:rPr>
                        <m:t>𝑎</m:t>
                      </m:r>
                    </m:oMath>
                  </m:oMathPara>
                </a14:m>
                <a:endParaRPr lang="en-US" sz="15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40" name="Rectangle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4884" y="3202905"/>
                <a:ext cx="340029" cy="323165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219757" y="4949077"/>
                <a:ext cx="4047346" cy="11387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700" dirty="0"/>
                  <a:t>For a hyperplane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7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700" b="1" i="1" smtClean="0">
                            <a:latin typeface="Cambria Math" charset="0"/>
                          </a:rPr>
                          <m:t>𝒘</m:t>
                        </m:r>
                      </m:e>
                      <m:sup>
                        <m:r>
                          <a:rPr lang="en-US" sz="1700" b="0" i="1" smtClean="0">
                            <a:latin typeface="Cambria Math" charset="0"/>
                          </a:rPr>
                          <m:t>𝑇</m:t>
                        </m:r>
                      </m:sup>
                    </m:sSup>
                    <m:r>
                      <a:rPr lang="en-US" sz="1700" b="1" i="1" smtClean="0">
                        <a:latin typeface="Cambria Math" charset="0"/>
                      </a:rPr>
                      <m:t>𝒙</m:t>
                    </m:r>
                    <m:r>
                      <a:rPr lang="en-US" sz="1700" b="0" i="1" smtClean="0">
                        <a:latin typeface="Cambria Math" charset="0"/>
                      </a:rPr>
                      <m:t>=</m:t>
                    </m:r>
                    <m:r>
                      <a:rPr lang="en-US" sz="1700" b="0" i="1" smtClean="0">
                        <a:latin typeface="Cambria Math" charset="0"/>
                      </a:rPr>
                      <m:t>𝑎</m:t>
                    </m:r>
                  </m:oMath>
                </a14:m>
                <a:r>
                  <a:rPr lang="en-US" sz="1700" dirty="0"/>
                  <a:t>, </a:t>
                </a:r>
                <a14:m>
                  <m:oMath xmlns:m="http://schemas.openxmlformats.org/officeDocument/2006/math">
                    <m:r>
                      <a:rPr lang="en-US" sz="1700" b="1" i="1">
                        <a:latin typeface="Cambria Math" charset="0"/>
                      </a:rPr>
                      <m:t>𝒘</m:t>
                    </m:r>
                  </m:oMath>
                </a14:m>
                <a:r>
                  <a:rPr lang="en-US" sz="1700" dirty="0"/>
                  <a:t> is the normal vector (often assumed to be unit normal vector) to the hyperplane and </a:t>
                </a:r>
                <a14:m>
                  <m:oMath xmlns:m="http://schemas.openxmlformats.org/officeDocument/2006/math">
                    <m:r>
                      <a:rPr lang="en-US" sz="1700" b="0" i="1" smtClean="0">
                        <a:latin typeface="Cambria Math" charset="0"/>
                      </a:rPr>
                      <m:t>𝑎</m:t>
                    </m:r>
                  </m:oMath>
                </a14:m>
                <a:r>
                  <a:rPr lang="en-US" sz="1700" dirty="0"/>
                  <a:t> is the distance from the origin.</a:t>
                </a:r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757" y="4949077"/>
                <a:ext cx="4047346" cy="1138773"/>
              </a:xfrm>
              <a:prstGeom prst="rect">
                <a:avLst/>
              </a:prstGeom>
              <a:blipFill rotWithShape="0">
                <a:blip r:embed="rId10"/>
                <a:stretch>
                  <a:fillRect l="-904" t="-2139" r="-904" b="-64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2" name="Group 101"/>
          <p:cNvGrpSpPr/>
          <p:nvPr/>
        </p:nvGrpSpPr>
        <p:grpSpPr>
          <a:xfrm>
            <a:off x="5302677" y="2034714"/>
            <a:ext cx="2962097" cy="2517412"/>
            <a:chOff x="5302677" y="2034714"/>
            <a:chExt cx="2962097" cy="2517412"/>
          </a:xfrm>
        </p:grpSpPr>
        <p:cxnSp>
          <p:nvCxnSpPr>
            <p:cNvPr id="43" name="Straight Connector 42"/>
            <p:cNvCxnSpPr/>
            <p:nvPr/>
          </p:nvCxnSpPr>
          <p:spPr>
            <a:xfrm flipV="1">
              <a:off x="5675446" y="2080434"/>
              <a:ext cx="45720" cy="1874520"/>
            </a:xfrm>
            <a:prstGeom prst="line">
              <a:avLst/>
            </a:prstGeom>
            <a:ln>
              <a:prstDash val="lgDash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 flipV="1">
              <a:off x="5674700" y="2232834"/>
              <a:ext cx="198120" cy="1812057"/>
            </a:xfrm>
            <a:prstGeom prst="line">
              <a:avLst/>
            </a:prstGeom>
            <a:ln>
              <a:prstDash val="lgDash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>
              <a:stCxn id="48" idx="7"/>
            </p:cNvCxnSpPr>
            <p:nvPr/>
          </p:nvCxnSpPr>
          <p:spPr>
            <a:xfrm flipV="1">
              <a:off x="5707775" y="2385235"/>
              <a:ext cx="317445" cy="1581607"/>
            </a:xfrm>
            <a:prstGeom prst="line">
              <a:avLst/>
            </a:prstGeom>
            <a:ln>
              <a:prstDash val="lgDash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 flipV="1">
              <a:off x="5707775" y="3657212"/>
              <a:ext cx="1617342" cy="356000"/>
            </a:xfrm>
            <a:prstGeom prst="line">
              <a:avLst/>
            </a:prstGeom>
            <a:ln>
              <a:prstDash val="lgDash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 flipV="1">
              <a:off x="5716918" y="3402200"/>
              <a:ext cx="1608199" cy="611014"/>
            </a:xfrm>
            <a:prstGeom prst="line">
              <a:avLst/>
            </a:prstGeom>
            <a:ln>
              <a:solidFill>
                <a:srgbClr val="FF0000"/>
              </a:solidFill>
              <a:prstDash val="lgDash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>
              <a:off x="5674700" y="2034714"/>
              <a:ext cx="2233534" cy="2233534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9" name="Oval 48"/>
            <p:cNvSpPr/>
            <p:nvPr/>
          </p:nvSpPr>
          <p:spPr>
            <a:xfrm>
              <a:off x="5629726" y="3953451"/>
              <a:ext cx="91440" cy="9144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/>
            <p:cNvSpPr/>
            <p:nvPr/>
          </p:nvSpPr>
          <p:spPr>
            <a:xfrm>
              <a:off x="6184462" y="3045147"/>
              <a:ext cx="54864" cy="54864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/>
            <p:cNvSpPr/>
            <p:nvPr/>
          </p:nvSpPr>
          <p:spPr>
            <a:xfrm>
              <a:off x="6336862" y="3197547"/>
              <a:ext cx="54864" cy="54864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/>
            <p:cNvSpPr/>
            <p:nvPr/>
          </p:nvSpPr>
          <p:spPr>
            <a:xfrm>
              <a:off x="6489262" y="3349947"/>
              <a:ext cx="54864" cy="54864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Rectangle 52"/>
                <p:cNvSpPr/>
                <p:nvPr/>
              </p:nvSpPr>
              <p:spPr>
                <a:xfrm>
                  <a:off x="5302677" y="2180932"/>
                  <a:ext cx="473206" cy="28469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12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1" i="1">
                                <a:solidFill>
                                  <a:prstClr val="black"/>
                                </a:solidFill>
                                <a:latin typeface="Cambria Math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sz="1200" i="1">
                                <a:solidFill>
                                  <a:prstClr val="black"/>
                                </a:solidFill>
                                <a:latin typeface="Cambria Math" charset="0"/>
                              </a:rPr>
                              <m:t>(</m:t>
                            </m:r>
                            <m:r>
                              <a:rPr lang="en-US" sz="1200" b="0" i="1" smtClean="0">
                                <a:solidFill>
                                  <a:prstClr val="black"/>
                                </a:solidFill>
                                <a:latin typeface="Cambria Math" charset="0"/>
                              </a:rPr>
                              <m:t>1</m:t>
                            </m:r>
                            <m:r>
                              <a:rPr lang="en-US" sz="1200" i="1">
                                <a:solidFill>
                                  <a:prstClr val="black"/>
                                </a:solidFill>
                                <a:latin typeface="Cambria Math" charset="0"/>
                              </a:rPr>
                              <m:t>)</m:t>
                            </m:r>
                          </m:sup>
                        </m:sSup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53" name="Rectangle 5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02677" y="2180932"/>
                  <a:ext cx="473206" cy="284693"/>
                </a:xfrm>
                <a:prstGeom prst="rect">
                  <a:avLst/>
                </a:prstGeom>
                <a:blipFill rotWithShape="0"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Rectangle 53"/>
                <p:cNvSpPr/>
                <p:nvPr/>
              </p:nvSpPr>
              <p:spPr>
                <a:xfrm>
                  <a:off x="5552014" y="2343020"/>
                  <a:ext cx="473206" cy="28469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12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1" i="1">
                                <a:solidFill>
                                  <a:prstClr val="black"/>
                                </a:solidFill>
                                <a:latin typeface="Cambria Math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sz="1200" i="1">
                                <a:solidFill>
                                  <a:prstClr val="black"/>
                                </a:solidFill>
                                <a:latin typeface="Cambria Math" charset="0"/>
                              </a:rPr>
                              <m:t>(</m:t>
                            </m:r>
                            <m:r>
                              <a:rPr lang="en-US" sz="1200" b="0" i="1" smtClean="0">
                                <a:solidFill>
                                  <a:prstClr val="black"/>
                                </a:solidFill>
                                <a:latin typeface="Cambria Math" charset="0"/>
                              </a:rPr>
                              <m:t>2</m:t>
                            </m:r>
                            <m:r>
                              <a:rPr lang="en-US" sz="1200" i="1">
                                <a:solidFill>
                                  <a:prstClr val="black"/>
                                </a:solidFill>
                                <a:latin typeface="Cambria Math" charset="0"/>
                              </a:rPr>
                              <m:t>)</m:t>
                            </m:r>
                          </m:sup>
                        </m:sSup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54" name="Rectangle 5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52014" y="2343020"/>
                  <a:ext cx="473206" cy="284693"/>
                </a:xfrm>
                <a:prstGeom prst="rect">
                  <a:avLst/>
                </a:prstGeom>
                <a:blipFill rotWithShape="0"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Rectangle 54"/>
                <p:cNvSpPr/>
                <p:nvPr/>
              </p:nvSpPr>
              <p:spPr>
                <a:xfrm>
                  <a:off x="5716919" y="2496312"/>
                  <a:ext cx="473206" cy="28469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12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1" i="1">
                                <a:solidFill>
                                  <a:prstClr val="black"/>
                                </a:solidFill>
                                <a:latin typeface="Cambria Math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sz="1200" i="1">
                                <a:solidFill>
                                  <a:prstClr val="black"/>
                                </a:solidFill>
                                <a:latin typeface="Cambria Math" charset="0"/>
                              </a:rPr>
                              <m:t>(</m:t>
                            </m:r>
                            <m:r>
                              <a:rPr lang="en-US" sz="1200" b="0" i="1" smtClean="0">
                                <a:solidFill>
                                  <a:prstClr val="black"/>
                                </a:solidFill>
                                <a:latin typeface="Cambria Math" charset="0"/>
                              </a:rPr>
                              <m:t>3</m:t>
                            </m:r>
                            <m:r>
                              <a:rPr lang="en-US" sz="1200" i="1">
                                <a:solidFill>
                                  <a:prstClr val="black"/>
                                </a:solidFill>
                                <a:latin typeface="Cambria Math" charset="0"/>
                              </a:rPr>
                              <m:t>)</m:t>
                            </m:r>
                          </m:sup>
                        </m:sSup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55" name="Rectangle 5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16919" y="2496312"/>
                  <a:ext cx="473206" cy="284693"/>
                </a:xfrm>
                <a:prstGeom prst="rect">
                  <a:avLst/>
                </a:prstGeom>
                <a:blipFill rotWithShape="0"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6" name="Straight Connector 55"/>
            <p:cNvCxnSpPr/>
            <p:nvPr/>
          </p:nvCxnSpPr>
          <p:spPr>
            <a:xfrm flipV="1">
              <a:off x="6706616" y="2682631"/>
              <a:ext cx="381994" cy="371708"/>
            </a:xfrm>
            <a:prstGeom prst="line">
              <a:avLst/>
            </a:prstGeom>
            <a:ln w="12700">
              <a:tailEnd type="stealth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/>
                <p:cNvSpPr txBox="1"/>
                <p:nvPr/>
              </p:nvSpPr>
              <p:spPr>
                <a:xfrm>
                  <a:off x="5463103" y="4090461"/>
                  <a:ext cx="423193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charset="0"/>
                          </a:rPr>
                          <m:t>(0,0)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57" name="TextBox 5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63103" y="4090461"/>
                  <a:ext cx="423193" cy="215444"/>
                </a:xfrm>
                <a:prstGeom prst="rect">
                  <a:avLst/>
                </a:prstGeom>
                <a:blipFill rotWithShape="0">
                  <a:blip r:embed="rId14"/>
                  <a:stretch>
                    <a:fillRect l="-14286" r="-14286" b="-371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Rectangle 57"/>
                <p:cNvSpPr/>
                <p:nvPr/>
              </p:nvSpPr>
              <p:spPr>
                <a:xfrm>
                  <a:off x="6962704" y="2430465"/>
                  <a:ext cx="341760" cy="27699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1" i="1" smtClean="0">
                            <a:solidFill>
                              <a:prstClr val="black"/>
                            </a:solidFill>
                            <a:latin typeface="Cambria Math" charset="0"/>
                          </a:rPr>
                          <m:t>𝒘</m:t>
                        </m:r>
                      </m:oMath>
                    </m:oMathPara>
                  </a14:m>
                  <a:endParaRPr lang="en-US" sz="1200" b="1" dirty="0"/>
                </a:p>
              </p:txBody>
            </p:sp>
          </mc:Choice>
          <mc:Fallback xmlns="">
            <p:sp>
              <p:nvSpPr>
                <p:cNvPr id="58" name="Rectangle 5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62704" y="2430465"/>
                  <a:ext cx="341760" cy="276999"/>
                </a:xfrm>
                <a:prstGeom prst="rect">
                  <a:avLst/>
                </a:prstGeom>
                <a:blipFill rotWithShape="0"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9" name="Straight Connector 58"/>
            <p:cNvCxnSpPr/>
            <p:nvPr/>
          </p:nvCxnSpPr>
          <p:spPr>
            <a:xfrm flipV="1">
              <a:off x="5707775" y="3049191"/>
              <a:ext cx="999668" cy="935939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Left Brace 59"/>
            <p:cNvSpPr/>
            <p:nvPr/>
          </p:nvSpPr>
          <p:spPr>
            <a:xfrm rot="2842594">
              <a:off x="6031437" y="2534087"/>
              <a:ext cx="268820" cy="1605013"/>
            </a:xfrm>
            <a:prstGeom prst="leftBrace">
              <a:avLst>
                <a:gd name="adj1" fmla="val 8333"/>
                <a:gd name="adj2" fmla="val 50662"/>
              </a:avLst>
            </a:prstGeom>
            <a:ln>
              <a:solidFill>
                <a:srgbClr val="FF0000"/>
              </a:solidFill>
            </a:ln>
            <a:scene3d>
              <a:camera prst="orthographicFront">
                <a:rot lat="0" lon="0" rev="0"/>
              </a:camera>
              <a:lightRig rig="threePt" dir="t"/>
            </a:scene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/>
                <p:cNvSpPr txBox="1"/>
                <p:nvPr/>
              </p:nvSpPr>
              <p:spPr>
                <a:xfrm>
                  <a:off x="7446601" y="4305905"/>
                  <a:ext cx="818173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1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1" i="1" smtClean="0">
                                <a:latin typeface="Cambria Math" charset="0"/>
                              </a:rPr>
                              <m:t>𝒘</m:t>
                            </m:r>
                          </m:e>
                          <m:sup>
                            <m:r>
                              <a:rPr lang="en-US" sz="1600" b="0" i="1" smtClean="0">
                                <a:latin typeface="Cambria Math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sz="1600" b="1" i="1" smtClean="0">
                            <a:latin typeface="Cambria Math" charset="0"/>
                          </a:rPr>
                          <m:t>𝒙</m:t>
                        </m:r>
                        <m:r>
                          <a:rPr lang="en-US" sz="1600" b="1" i="1" smtClean="0">
                            <a:latin typeface="Cambria Math" charset="0"/>
                          </a:rPr>
                          <m:t>=</m:t>
                        </m:r>
                        <m:r>
                          <a:rPr lang="en-US" sz="1600" b="0" i="1" smtClean="0">
                            <a:latin typeface="Cambria Math" charset="0"/>
                          </a:rPr>
                          <m:t>𝑎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61" name="TextBox 6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46601" y="4305905"/>
                  <a:ext cx="818173" cy="246221"/>
                </a:xfrm>
                <a:prstGeom prst="rect">
                  <a:avLst/>
                </a:prstGeom>
                <a:blipFill rotWithShape="0">
                  <a:blip r:embed="rId16"/>
                  <a:stretch>
                    <a:fillRect l="-3731" r="-149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Rectangle 61"/>
                <p:cNvSpPr/>
                <p:nvPr/>
              </p:nvSpPr>
              <p:spPr>
                <a:xfrm>
                  <a:off x="5828154" y="3013079"/>
                  <a:ext cx="537711" cy="3231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500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&gt;</m:t>
                        </m:r>
                        <m:r>
                          <a:rPr lang="en-US" sz="1500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𝑎</m:t>
                        </m:r>
                      </m:oMath>
                    </m:oMathPara>
                  </a14:m>
                  <a:endParaRPr lang="en-US" sz="15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62" name="Rectangle 6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28154" y="3013079"/>
                  <a:ext cx="537711" cy="323165"/>
                </a:xfrm>
                <a:prstGeom prst="rect">
                  <a:avLst/>
                </a:prstGeom>
                <a:blipFill rotWithShape="0"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6" name="Straight Connector 65"/>
            <p:cNvCxnSpPr/>
            <p:nvPr/>
          </p:nvCxnSpPr>
          <p:spPr>
            <a:xfrm>
              <a:off x="6853961" y="2904875"/>
              <a:ext cx="503485" cy="497325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03" name="Group 102"/>
          <p:cNvGrpSpPr/>
          <p:nvPr/>
        </p:nvGrpSpPr>
        <p:grpSpPr>
          <a:xfrm>
            <a:off x="9189384" y="1997057"/>
            <a:ext cx="2962097" cy="2517412"/>
            <a:chOff x="9189384" y="1997057"/>
            <a:chExt cx="2962097" cy="2517412"/>
          </a:xfrm>
        </p:grpSpPr>
        <p:cxnSp>
          <p:nvCxnSpPr>
            <p:cNvPr id="69" name="Straight Connector 68"/>
            <p:cNvCxnSpPr/>
            <p:nvPr/>
          </p:nvCxnSpPr>
          <p:spPr>
            <a:xfrm flipV="1">
              <a:off x="9562153" y="2042777"/>
              <a:ext cx="45720" cy="1874520"/>
            </a:xfrm>
            <a:prstGeom prst="line">
              <a:avLst/>
            </a:prstGeom>
            <a:ln>
              <a:prstDash val="lgDash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 flipV="1">
              <a:off x="9561407" y="2195177"/>
              <a:ext cx="198120" cy="1812057"/>
            </a:xfrm>
            <a:prstGeom prst="line">
              <a:avLst/>
            </a:prstGeom>
            <a:ln>
              <a:prstDash val="lgDash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 flipV="1">
              <a:off x="9594482" y="2347578"/>
              <a:ext cx="317445" cy="1581607"/>
            </a:xfrm>
            <a:prstGeom prst="line">
              <a:avLst/>
            </a:prstGeom>
            <a:ln>
              <a:prstDash val="lgDash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 flipV="1">
              <a:off x="9594482" y="3619555"/>
              <a:ext cx="1617342" cy="356000"/>
            </a:xfrm>
            <a:prstGeom prst="line">
              <a:avLst/>
            </a:prstGeom>
            <a:ln>
              <a:prstDash val="lgDash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/>
            <p:nvPr/>
          </p:nvCxnSpPr>
          <p:spPr>
            <a:xfrm flipV="1">
              <a:off x="9603625" y="3637719"/>
              <a:ext cx="743661" cy="337838"/>
            </a:xfrm>
            <a:prstGeom prst="line">
              <a:avLst/>
            </a:prstGeom>
            <a:ln>
              <a:solidFill>
                <a:srgbClr val="0432FF"/>
              </a:solidFill>
              <a:prstDash val="lgDash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/>
          </p:nvCxnSpPr>
          <p:spPr>
            <a:xfrm>
              <a:off x="9561407" y="1997057"/>
              <a:ext cx="2233534" cy="2233534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5" name="Oval 74"/>
            <p:cNvSpPr/>
            <p:nvPr/>
          </p:nvSpPr>
          <p:spPr>
            <a:xfrm>
              <a:off x="9516433" y="3915794"/>
              <a:ext cx="91440" cy="9144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Oval 75"/>
            <p:cNvSpPr/>
            <p:nvPr/>
          </p:nvSpPr>
          <p:spPr>
            <a:xfrm>
              <a:off x="10071169" y="3007490"/>
              <a:ext cx="54864" cy="54864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Oval 76"/>
            <p:cNvSpPr/>
            <p:nvPr/>
          </p:nvSpPr>
          <p:spPr>
            <a:xfrm>
              <a:off x="10223569" y="3159890"/>
              <a:ext cx="54864" cy="54864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Oval 77"/>
            <p:cNvSpPr/>
            <p:nvPr/>
          </p:nvSpPr>
          <p:spPr>
            <a:xfrm>
              <a:off x="10375969" y="3312290"/>
              <a:ext cx="54864" cy="54864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Rectangle 78"/>
                <p:cNvSpPr/>
                <p:nvPr/>
              </p:nvSpPr>
              <p:spPr>
                <a:xfrm>
                  <a:off x="9189384" y="2143275"/>
                  <a:ext cx="473206" cy="28469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12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1" i="1">
                                <a:solidFill>
                                  <a:prstClr val="black"/>
                                </a:solidFill>
                                <a:latin typeface="Cambria Math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sz="1200" i="1">
                                <a:solidFill>
                                  <a:prstClr val="black"/>
                                </a:solidFill>
                                <a:latin typeface="Cambria Math" charset="0"/>
                              </a:rPr>
                              <m:t>(</m:t>
                            </m:r>
                            <m:r>
                              <a:rPr lang="en-US" sz="1200" b="0" i="1" smtClean="0">
                                <a:solidFill>
                                  <a:prstClr val="black"/>
                                </a:solidFill>
                                <a:latin typeface="Cambria Math" charset="0"/>
                              </a:rPr>
                              <m:t>1</m:t>
                            </m:r>
                            <m:r>
                              <a:rPr lang="en-US" sz="1200" i="1">
                                <a:solidFill>
                                  <a:prstClr val="black"/>
                                </a:solidFill>
                                <a:latin typeface="Cambria Math" charset="0"/>
                              </a:rPr>
                              <m:t>)</m:t>
                            </m:r>
                          </m:sup>
                        </m:sSup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79" name="Rectangle 7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89384" y="2143275"/>
                  <a:ext cx="473206" cy="284693"/>
                </a:xfrm>
                <a:prstGeom prst="rect">
                  <a:avLst/>
                </a:prstGeom>
                <a:blipFill rotWithShape="0"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Rectangle 79"/>
                <p:cNvSpPr/>
                <p:nvPr/>
              </p:nvSpPr>
              <p:spPr>
                <a:xfrm>
                  <a:off x="9438721" y="2305363"/>
                  <a:ext cx="473206" cy="28469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12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1" i="1">
                                <a:solidFill>
                                  <a:prstClr val="black"/>
                                </a:solidFill>
                                <a:latin typeface="Cambria Math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sz="1200" i="1">
                                <a:solidFill>
                                  <a:prstClr val="black"/>
                                </a:solidFill>
                                <a:latin typeface="Cambria Math" charset="0"/>
                              </a:rPr>
                              <m:t>(</m:t>
                            </m:r>
                            <m:r>
                              <a:rPr lang="en-US" sz="1200" b="0" i="1" smtClean="0">
                                <a:solidFill>
                                  <a:prstClr val="black"/>
                                </a:solidFill>
                                <a:latin typeface="Cambria Math" charset="0"/>
                              </a:rPr>
                              <m:t>2</m:t>
                            </m:r>
                            <m:r>
                              <a:rPr lang="en-US" sz="1200" i="1">
                                <a:solidFill>
                                  <a:prstClr val="black"/>
                                </a:solidFill>
                                <a:latin typeface="Cambria Math" charset="0"/>
                              </a:rPr>
                              <m:t>)</m:t>
                            </m:r>
                          </m:sup>
                        </m:sSup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80" name="Rectangle 7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38721" y="2305363"/>
                  <a:ext cx="473206" cy="284693"/>
                </a:xfrm>
                <a:prstGeom prst="rect">
                  <a:avLst/>
                </a:prstGeom>
                <a:blipFill rotWithShape="0"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Rectangle 80"/>
                <p:cNvSpPr/>
                <p:nvPr/>
              </p:nvSpPr>
              <p:spPr>
                <a:xfrm>
                  <a:off x="9603626" y="2458655"/>
                  <a:ext cx="473206" cy="28469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12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1" i="1">
                                <a:solidFill>
                                  <a:prstClr val="black"/>
                                </a:solidFill>
                                <a:latin typeface="Cambria Math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sz="1200" i="1">
                                <a:solidFill>
                                  <a:prstClr val="black"/>
                                </a:solidFill>
                                <a:latin typeface="Cambria Math" charset="0"/>
                              </a:rPr>
                              <m:t>(</m:t>
                            </m:r>
                            <m:r>
                              <a:rPr lang="en-US" sz="1200" b="0" i="1" smtClean="0">
                                <a:solidFill>
                                  <a:prstClr val="black"/>
                                </a:solidFill>
                                <a:latin typeface="Cambria Math" charset="0"/>
                              </a:rPr>
                              <m:t>3</m:t>
                            </m:r>
                            <m:r>
                              <a:rPr lang="en-US" sz="1200" i="1">
                                <a:solidFill>
                                  <a:prstClr val="black"/>
                                </a:solidFill>
                                <a:latin typeface="Cambria Math" charset="0"/>
                              </a:rPr>
                              <m:t>)</m:t>
                            </m:r>
                          </m:sup>
                        </m:sSup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81" name="Rectangle 8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03626" y="2458655"/>
                  <a:ext cx="473206" cy="284693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2" name="Straight Connector 81"/>
            <p:cNvCxnSpPr/>
            <p:nvPr/>
          </p:nvCxnSpPr>
          <p:spPr>
            <a:xfrm flipV="1">
              <a:off x="10593323" y="2644974"/>
              <a:ext cx="381994" cy="371708"/>
            </a:xfrm>
            <a:prstGeom prst="line">
              <a:avLst/>
            </a:prstGeom>
            <a:ln w="12700">
              <a:tailEnd type="stealth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TextBox 82"/>
                <p:cNvSpPr txBox="1"/>
                <p:nvPr/>
              </p:nvSpPr>
              <p:spPr>
                <a:xfrm>
                  <a:off x="9349810" y="4052804"/>
                  <a:ext cx="423193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charset="0"/>
                          </a:rPr>
                          <m:t>(0,0)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83" name="TextBox 8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49810" y="4052804"/>
                  <a:ext cx="423193" cy="215444"/>
                </a:xfrm>
                <a:prstGeom prst="rect">
                  <a:avLst/>
                </a:prstGeom>
                <a:blipFill rotWithShape="0">
                  <a:blip r:embed="rId20"/>
                  <a:stretch>
                    <a:fillRect l="-14493" r="-15942" b="-371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Rectangle 83"/>
                <p:cNvSpPr/>
                <p:nvPr/>
              </p:nvSpPr>
              <p:spPr>
                <a:xfrm>
                  <a:off x="10849411" y="2392808"/>
                  <a:ext cx="341760" cy="27699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1" i="1" smtClean="0">
                            <a:solidFill>
                              <a:prstClr val="black"/>
                            </a:solidFill>
                            <a:latin typeface="Cambria Math" charset="0"/>
                          </a:rPr>
                          <m:t>𝒘</m:t>
                        </m:r>
                      </m:oMath>
                    </m:oMathPara>
                  </a14:m>
                  <a:endParaRPr lang="en-US" sz="1200" b="1" dirty="0"/>
                </a:p>
              </p:txBody>
            </p:sp>
          </mc:Choice>
          <mc:Fallback xmlns="">
            <p:sp>
              <p:nvSpPr>
                <p:cNvPr id="84" name="Rectangle 8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49411" y="2392808"/>
                  <a:ext cx="341760" cy="276999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5" name="Straight Connector 84"/>
            <p:cNvCxnSpPr/>
            <p:nvPr/>
          </p:nvCxnSpPr>
          <p:spPr>
            <a:xfrm flipV="1">
              <a:off x="9594482" y="3011534"/>
              <a:ext cx="999668" cy="935939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Left Brace 85"/>
            <p:cNvSpPr/>
            <p:nvPr/>
          </p:nvSpPr>
          <p:spPr>
            <a:xfrm rot="2842594">
              <a:off x="9606920" y="3205812"/>
              <a:ext cx="272637" cy="760764"/>
            </a:xfrm>
            <a:prstGeom prst="leftBrace">
              <a:avLst>
                <a:gd name="adj1" fmla="val 8333"/>
                <a:gd name="adj2" fmla="val 50662"/>
              </a:avLst>
            </a:prstGeom>
            <a:ln>
              <a:solidFill>
                <a:srgbClr val="0432FF"/>
              </a:solidFill>
            </a:ln>
            <a:scene3d>
              <a:camera prst="orthographicFront">
                <a:rot lat="0" lon="0" rev="0"/>
              </a:camera>
              <a:lightRig rig="threePt" dir="t"/>
            </a:scene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TextBox 86"/>
                <p:cNvSpPr txBox="1"/>
                <p:nvPr/>
              </p:nvSpPr>
              <p:spPr>
                <a:xfrm>
                  <a:off x="11333308" y="4268248"/>
                  <a:ext cx="818173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1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1" i="1" smtClean="0">
                                <a:latin typeface="Cambria Math" charset="0"/>
                              </a:rPr>
                              <m:t>𝒘</m:t>
                            </m:r>
                          </m:e>
                          <m:sup>
                            <m:r>
                              <a:rPr lang="en-US" sz="1600" b="0" i="1" smtClean="0">
                                <a:latin typeface="Cambria Math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sz="1600" b="1" i="1" smtClean="0">
                            <a:latin typeface="Cambria Math" charset="0"/>
                          </a:rPr>
                          <m:t>𝒙</m:t>
                        </m:r>
                        <m:r>
                          <a:rPr lang="en-US" sz="1600" b="1" i="1" smtClean="0">
                            <a:latin typeface="Cambria Math" charset="0"/>
                          </a:rPr>
                          <m:t>=</m:t>
                        </m:r>
                        <m:r>
                          <a:rPr lang="en-US" sz="1600" b="0" i="1" smtClean="0">
                            <a:latin typeface="Cambria Math" charset="0"/>
                          </a:rPr>
                          <m:t>𝑎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87" name="TextBox 8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33308" y="4268248"/>
                  <a:ext cx="818173" cy="246221"/>
                </a:xfrm>
                <a:prstGeom prst="rect">
                  <a:avLst/>
                </a:prstGeom>
                <a:blipFill rotWithShape="0">
                  <a:blip r:embed="rId21"/>
                  <a:stretch>
                    <a:fillRect l="-2985" r="-223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Rectangle 87"/>
                <p:cNvSpPr/>
                <p:nvPr/>
              </p:nvSpPr>
              <p:spPr>
                <a:xfrm>
                  <a:off x="9363969" y="3231816"/>
                  <a:ext cx="537711" cy="3231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500" i="1" smtClean="0">
                            <a:solidFill>
                              <a:srgbClr val="0432FF"/>
                            </a:solidFill>
                            <a:latin typeface="Cambria Math" charset="0"/>
                          </a:rPr>
                          <m:t>&lt;</m:t>
                        </m:r>
                        <m:r>
                          <a:rPr lang="en-US" sz="1500" b="0" i="1" smtClean="0">
                            <a:solidFill>
                              <a:srgbClr val="0432FF"/>
                            </a:solidFill>
                            <a:latin typeface="Cambria Math" charset="0"/>
                          </a:rPr>
                          <m:t>𝑎</m:t>
                        </m:r>
                      </m:oMath>
                    </m:oMathPara>
                  </a14:m>
                  <a:endParaRPr lang="en-US" sz="1500" dirty="0">
                    <a:solidFill>
                      <a:srgbClr val="0432FF"/>
                    </a:solidFill>
                  </a:endParaRPr>
                </a:p>
              </p:txBody>
            </p:sp>
          </mc:Choice>
          <mc:Fallback xmlns="">
            <p:sp>
              <p:nvSpPr>
                <p:cNvPr id="88" name="Rectangle 8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63969" y="3231816"/>
                  <a:ext cx="537711" cy="323165"/>
                </a:xfrm>
                <a:prstGeom prst="rect">
                  <a:avLst/>
                </a:prstGeom>
                <a:blipFill rotWithShape="0"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9" name="Straight Connector 88"/>
            <p:cNvCxnSpPr/>
            <p:nvPr/>
          </p:nvCxnSpPr>
          <p:spPr>
            <a:xfrm>
              <a:off x="10115443" y="3442493"/>
              <a:ext cx="208343" cy="211473"/>
            </a:xfrm>
            <a:prstGeom prst="line">
              <a:avLst/>
            </a:prstGeom>
            <a:ln w="12700">
              <a:solidFill>
                <a:srgbClr val="0432FF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/>
              <p:cNvSpPr txBox="1"/>
              <p:nvPr/>
            </p:nvSpPr>
            <p:spPr>
              <a:xfrm>
                <a:off x="5773760" y="5125900"/>
                <a:ext cx="5910380" cy="8771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700" dirty="0"/>
                  <a:t>Thus a hyperplane with normal vector </a:t>
                </a:r>
                <a14:m>
                  <m:oMath xmlns:m="http://schemas.openxmlformats.org/officeDocument/2006/math">
                    <m:r>
                      <a:rPr lang="en-US" sz="1700" b="1" i="0" smtClean="0">
                        <a:latin typeface="Cambria Math" charset="0"/>
                      </a:rPr>
                      <m:t>𝐰</m:t>
                    </m:r>
                  </m:oMath>
                </a14:m>
                <a:r>
                  <a:rPr lang="en-US" sz="1700" dirty="0"/>
                  <a:t>, can separate two sets of points by examining 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700" b="1" i="1">
                            <a:latin typeface="Cambria Math" charset="0"/>
                          </a:rPr>
                          <m:t>𝒘</m:t>
                        </m:r>
                      </m:e>
                      <m:sup>
                        <m:r>
                          <a:rPr lang="en-US" sz="1700" i="1">
                            <a:latin typeface="Cambria Math" charset="0"/>
                          </a:rPr>
                          <m:t>𝑇</m:t>
                        </m:r>
                      </m:sup>
                    </m:sSup>
                    <m:r>
                      <a:rPr lang="en-US" sz="1700" b="1" i="1">
                        <a:latin typeface="Cambria Math" charset="0"/>
                      </a:rPr>
                      <m:t>𝒙</m:t>
                    </m:r>
                    <m:r>
                      <a:rPr lang="en-US" sz="1700" b="0" i="1" smtClean="0">
                        <a:latin typeface="Cambria Math" charset="0"/>
                      </a:rPr>
                      <m:t>−</m:t>
                    </m:r>
                    <m:r>
                      <a:rPr lang="en-US" sz="1700" b="0" i="1" smtClean="0">
                        <a:latin typeface="Cambria Math" charset="0"/>
                      </a:rPr>
                      <m:t>𝑎</m:t>
                    </m:r>
                  </m:oMath>
                </a14:m>
                <a:r>
                  <a:rPr lang="en-US" sz="1700" dirty="0"/>
                  <a:t> is &gt; 0 or &lt; 0. (Remember our notation says </a:t>
                </a:r>
                <a:r>
                  <a:rPr lang="mr-IN" sz="1700" dirty="0"/>
                  <a:t>–</a:t>
                </a:r>
                <a:r>
                  <a:rPr lang="en-US" sz="1700" dirty="0"/>
                  <a:t>a is nothing but b).</a:t>
                </a:r>
              </a:p>
            </p:txBody>
          </p:sp>
        </mc:Choice>
        <mc:Fallback xmlns="">
          <p:sp>
            <p:nvSpPr>
              <p:cNvPr id="92" name="TextBox 9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3760" y="5125900"/>
                <a:ext cx="5910380" cy="877163"/>
              </a:xfrm>
              <a:prstGeom prst="rect">
                <a:avLst/>
              </a:prstGeom>
              <a:blipFill rotWithShape="0">
                <a:blip r:embed="rId23"/>
                <a:stretch>
                  <a:fillRect l="-619" t="-2778"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8222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 txBox="1"/>
          <p:nvPr/>
        </p:nvSpPr>
        <p:spPr>
          <a:xfrm>
            <a:off x="674557" y="832857"/>
            <a:ext cx="10088381" cy="8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434343"/>
                </a:solidFill>
              </a:rPr>
              <a:t>Perceptron Learning Algorithm </a:t>
            </a:r>
            <a:r>
              <a:rPr lang="mr-IN" sz="3200" dirty="0">
                <a:solidFill>
                  <a:srgbClr val="434343"/>
                </a:solidFill>
              </a:rPr>
              <a:t>–</a:t>
            </a:r>
            <a:r>
              <a:rPr lang="en-US" sz="3200" dirty="0">
                <a:solidFill>
                  <a:srgbClr val="434343"/>
                </a:solidFill>
              </a:rPr>
              <a:t> Convergence Proof</a:t>
            </a:r>
            <a:endParaRPr sz="3200" dirty="0">
              <a:solidFill>
                <a:srgbClr val="434343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2012197" y="6356350"/>
            <a:ext cx="8167606" cy="365125"/>
          </a:xfrm>
        </p:spPr>
        <p:txBody>
          <a:bodyPr/>
          <a:lstStyle/>
          <a:p>
            <a:r>
              <a:rPr lang="en-US"/>
              <a:t>CS21206 / FAIML | Perceptron (c) Abir Das, Ayan Chaudhury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9844" y="6356350"/>
            <a:ext cx="783956" cy="365125"/>
          </a:xfrm>
        </p:spPr>
        <p:txBody>
          <a:bodyPr/>
          <a:lstStyle/>
          <a:p>
            <a:fld id="{683B8651-0143-4140-839E-3D36292080E8}" type="slidenum">
              <a:rPr lang="en-US" smtClean="0"/>
              <a:t>10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/>
              <p:cNvSpPr txBox="1"/>
              <p:nvPr/>
            </p:nvSpPr>
            <p:spPr>
              <a:xfrm>
                <a:off x="317785" y="1506446"/>
                <a:ext cx="11556430" cy="5209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charset="0"/>
                  <a:buChar char="•"/>
                </a:pPr>
                <a:r>
                  <a:rPr lang="en-US" sz="2400" dirty="0"/>
                  <a:t>Thus a simple classification rule can be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charset="0"/>
                          </a:rPr>
                          <m:t>𝒘</m:t>
                        </m:r>
                      </m:e>
                      <m:sup>
                        <m:r>
                          <a:rPr lang="en-US" sz="2400" b="0" i="1" smtClean="0">
                            <a:latin typeface="Cambria Math" charset="0"/>
                          </a:rPr>
                          <m:t>𝑇</m:t>
                        </m:r>
                      </m:sup>
                    </m:sSup>
                    <m:r>
                      <a:rPr lang="en-US" sz="2400" b="1" i="1" smtClean="0">
                        <a:latin typeface="Cambria Math" charset="0"/>
                      </a:rPr>
                      <m:t>𝒙</m:t>
                    </m:r>
                    <m:r>
                      <a:rPr lang="en-US" sz="2400" b="0" i="1" smtClean="0">
                        <a:latin typeface="Cambria Math" charset="0"/>
                      </a:rPr>
                      <m:t>+</m:t>
                    </m:r>
                    <m:r>
                      <a:rPr lang="en-US" sz="2400" b="0" i="1" smtClean="0">
                        <a:latin typeface="Cambria Math" charset="0"/>
                      </a:rPr>
                      <m:t>𝑏</m:t>
                    </m:r>
                    <m:r>
                      <a:rPr lang="en-US" sz="2400" b="0" i="1" smtClean="0">
                        <a:latin typeface="Cambria Math" charset="0"/>
                      </a:rPr>
                      <m:t>&gt;0</m:t>
                    </m:r>
                  </m:oMath>
                </a14:m>
                <a:r>
                  <a:rPr lang="en-US" sz="2400" dirty="0"/>
                  <a:t> or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charset="0"/>
                      </a:rPr>
                      <m:t>&lt;</m:t>
                    </m:r>
                    <m:r>
                      <a:rPr lang="en-US" sz="2400" i="1">
                        <a:latin typeface="Cambria Math" charset="0"/>
                      </a:rPr>
                      <m:t>0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342900" indent="-342900">
                  <a:buFont typeface="Arial" charset="0"/>
                  <a:buChar char="•"/>
                </a:pPr>
                <a:endParaRPr lang="en-US" sz="2400" dirty="0"/>
              </a:p>
              <a:p>
                <a:pPr marL="342900" indent="-342900">
                  <a:buFont typeface="Arial" charset="0"/>
                  <a:buChar char="•"/>
                </a:pPr>
                <a:r>
                  <a:rPr lang="en-US" sz="2400" dirty="0"/>
                  <a:t>For simplicity, let us assume that the hyperplane passes through origin </a:t>
                </a:r>
                <a:r>
                  <a:rPr lang="mr-IN" sz="2400" dirty="0"/>
                  <a:t>–</a:t>
                </a:r>
                <a:r>
                  <a:rPr lang="en-US" sz="2400" dirty="0"/>
                  <a:t> This does not affect the problem in our hand as it just shifts the origin. But that means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charset="0"/>
                      </a:rPr>
                      <m:t>𝑏</m:t>
                    </m:r>
                    <m:r>
                      <a:rPr lang="en-US" sz="2400" b="0" i="1" smtClean="0">
                        <a:latin typeface="Cambria Math" charset="0"/>
                      </a:rPr>
                      <m:t>=0</m:t>
                    </m:r>
                  </m:oMath>
                </a14:m>
                <a:r>
                  <a:rPr lang="en-US" sz="2400" dirty="0"/>
                  <a:t>. Thus the classification rule becomes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charset="0"/>
                      </a:rPr>
                      <m:t>𝑠𝑔𝑛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1">
                                <a:latin typeface="Cambria Math" charset="0"/>
                              </a:rPr>
                              <m:t>𝒘</m:t>
                            </m:r>
                          </m:e>
                          <m:sup>
                            <m:r>
                              <a:rPr lang="en-US" sz="2400" i="1">
                                <a:latin typeface="Cambria Math" charset="0"/>
                              </a:rPr>
                              <m:t>𝑇</m:t>
                            </m:r>
                          </m:sup>
                        </m:sSup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1">
                                <a:latin typeface="Cambria Math" charset="0"/>
                              </a:rPr>
                              <m:t>𝒙</m:t>
                            </m:r>
                          </m:e>
                          <m:sup>
                            <m:d>
                              <m:d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𝑖</m:t>
                                </m:r>
                              </m:e>
                            </m:d>
                          </m:sup>
                        </m:sSup>
                      </m:e>
                    </m:d>
                    <m:r>
                      <a:rPr lang="en-US" sz="2400" b="0" i="1" smtClean="0">
                        <a:latin typeface="Cambria Math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charset="0"/>
                          </a:rPr>
                          <m:t>𝑦</m:t>
                        </m:r>
                      </m:e>
                      <m:sup>
                        <m:r>
                          <a:rPr lang="en-US" sz="2400" b="0" i="1" smtClean="0">
                            <a:latin typeface="Cambria Math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charset="0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 charset="0"/>
                          </a:rPr>
                          <m:t>)</m:t>
                        </m:r>
                      </m:sup>
                    </m:sSup>
                    <m:r>
                      <a:rPr lang="en-US" sz="2400" b="0" i="1" smtClean="0">
                        <a:latin typeface="Cambria Math" charset="0"/>
                      </a:rPr>
                      <m:t>∀(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charset="0"/>
                          </a:rPr>
                          <m:t>𝒙</m:t>
                        </m:r>
                      </m:e>
                      <m:sup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charset="0"/>
                              </a:rPr>
                              <m:t>𝑖</m:t>
                            </m:r>
                          </m:e>
                        </m:d>
                      </m:sup>
                    </m:sSup>
                    <m:r>
                      <a:rPr lang="en-US" sz="2400" b="0" i="1" smtClean="0">
                        <a:latin typeface="Cambria Math" charset="0"/>
                      </a:rPr>
                      <m:t>,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charset="0"/>
                          </a:rPr>
                          <m:t>𝑦</m:t>
                        </m:r>
                      </m:e>
                      <m:sup>
                        <m:r>
                          <a:rPr lang="en-US" sz="2400" i="1">
                            <a:latin typeface="Cambria Math" charset="0"/>
                          </a:rPr>
                          <m:t>(</m:t>
                        </m:r>
                        <m:r>
                          <a:rPr lang="en-US" sz="2400" i="1">
                            <a:latin typeface="Cambria Math" charset="0"/>
                          </a:rPr>
                          <m:t>𝑖</m:t>
                        </m:r>
                        <m:r>
                          <a:rPr lang="en-US" sz="2400" i="1">
                            <a:latin typeface="Cambria Math" charset="0"/>
                          </a:rPr>
                          <m:t>)</m:t>
                        </m:r>
                      </m:sup>
                    </m:sSup>
                    <m:r>
                      <a:rPr lang="en-US" sz="2400" b="0" i="1" smtClean="0">
                        <a:latin typeface="Cambria Math" charset="0"/>
                      </a:rPr>
                      <m:t>)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342900" indent="-342900">
                  <a:buFont typeface="Arial" charset="0"/>
                  <a:buChar char="•"/>
                </a:pPr>
                <a:endParaRPr lang="en-US" sz="2400" dirty="0"/>
              </a:p>
              <a:p>
                <a:pPr marL="342900" indent="-342900">
                  <a:buFont typeface="Arial" charset="0"/>
                  <a:buChar char="•"/>
                </a:pPr>
                <a:r>
                  <a:rPr lang="en-US" sz="2400" dirty="0"/>
                  <a:t>There may not exist such hyperplane that can separate two sets of data. If it exists then the data is known to be linearly separable.</a:t>
                </a:r>
              </a:p>
              <a:p>
                <a:pPr marL="342900" indent="-342900">
                  <a:buFont typeface="Arial" charset="0"/>
                  <a:buChar char="•"/>
                </a:pPr>
                <a:endParaRPr lang="en-US" sz="2400" dirty="0"/>
              </a:p>
              <a:p>
                <a:pPr marL="342900" indent="-342900">
                  <a:buFont typeface="Arial" charset="0"/>
                  <a:buChar char="•"/>
                </a:pPr>
                <a:r>
                  <a:rPr lang="en-US" sz="2400" dirty="0"/>
                  <a:t>A more formal definition is </a:t>
                </a:r>
                <a:r>
                  <a:rPr lang="mr-IN" sz="2400" dirty="0"/>
                  <a:t>–</a:t>
                </a:r>
                <a:r>
                  <a:rPr lang="en-US" sz="2400" dirty="0"/>
                  <a:t> Two sets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charset="0"/>
                      </a:rPr>
                      <m:t>𝑃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charset="0"/>
                      </a:rPr>
                      <m:t>𝑁</m:t>
                    </m:r>
                  </m:oMath>
                </a14:m>
                <a:r>
                  <a:rPr lang="en-US" sz="2400" dirty="0"/>
                  <a:t>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charset="0"/>
                      </a:rPr>
                      <m:t>𝑑</m:t>
                    </m:r>
                  </m:oMath>
                </a14:m>
                <a:r>
                  <a:rPr lang="en-US" sz="2400" dirty="0"/>
                  <a:t> dimensional points are said to be linearly separable if there exists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charset="0"/>
                      </a:rPr>
                      <m:t>𝑑</m:t>
                    </m:r>
                    <m:r>
                      <a:rPr lang="en-US" sz="2400" b="0" i="1" smtClean="0">
                        <a:latin typeface="Cambria Math" charset="0"/>
                      </a:rPr>
                      <m:t>+1</m:t>
                    </m:r>
                  </m:oMath>
                </a14:m>
                <a:r>
                  <a:rPr lang="en-US" sz="2400" dirty="0"/>
                  <a:t> real numbers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charset="0"/>
                          </a:rPr>
                          <m:t>𝒘</m:t>
                        </m:r>
                        <m:r>
                          <a:rPr lang="en-US" sz="2400" b="0" i="1" smtClean="0">
                            <a:latin typeface="Cambria Math" charset="0"/>
                          </a:rPr>
                          <m:t>=(</m:t>
                        </m:r>
                        <m:r>
                          <a:rPr lang="en-US" sz="2400" b="0" i="1" smtClean="0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sz="2400" b="0" i="1" smtClean="0">
                            <a:latin typeface="Cambria Math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 charset="0"/>
                      </a:rPr>
                      <m:t>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sz="2400" b="0" i="1" smtClean="0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charset="0"/>
                      </a:rPr>
                      <m:t>, ⋯,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sz="2400" b="0" i="1" smtClean="0">
                            <a:latin typeface="Cambria Math" charset="0"/>
                          </a:rPr>
                          <m:t>𝑑</m:t>
                        </m:r>
                        <m:r>
                          <a:rPr lang="en-US" sz="2400" b="0" i="1" smtClean="0">
                            <a:latin typeface="Cambria Math" charset="0"/>
                          </a:rPr>
                          <m:t>+1</m:t>
                        </m:r>
                      </m:sub>
                    </m:sSub>
                    <m:r>
                      <a:rPr lang="en-US" sz="2400" b="0" i="1" smtClean="0">
                        <a:latin typeface="Cambria Math" charset="0"/>
                      </a:rPr>
                      <m:t>)</m:t>
                    </m:r>
                  </m:oMath>
                </a14:m>
                <a:r>
                  <a:rPr lang="en-US" sz="2400" dirty="0"/>
                  <a:t> such that every point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charset="0"/>
                      </a:rPr>
                      <m:t>𝒙</m:t>
                    </m:r>
                    <m:r>
                      <a:rPr lang="en-US" sz="2400" b="0" i="0" smtClean="0">
                        <a:latin typeface="Cambria Math" charset="0"/>
                      </a:rPr>
                      <m:t>=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charset="0"/>
                          </a:rPr>
                          <m:t>1</m:t>
                        </m:r>
                        <m:r>
                          <a:rPr lang="en-US" sz="2400" i="1"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i="1">
                            <a:latin typeface="Cambria Math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charset="0"/>
                          </a:rPr>
                          <m:t>,</m:t>
                        </m:r>
                        <m:r>
                          <a:rPr lang="en-US" sz="2400" i="1">
                            <a:latin typeface="Cambria Math" charset="0"/>
                          </a:rPr>
                          <m:t>⋯, 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charset="0"/>
                              </a:rPr>
                              <m:t>𝑑</m:t>
                            </m:r>
                            <m:r>
                              <a:rPr lang="en-US" sz="2400" i="1">
                                <a:latin typeface="Cambria Math" charset="0"/>
                              </a:rPr>
                              <m:t>+1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charset="0"/>
                      </a:rPr>
                      <m:t>∈</m:t>
                    </m:r>
                    <m:r>
                      <a:rPr lang="en-US" sz="2400" b="0" i="1" smtClean="0">
                        <a:latin typeface="Cambria Math" charset="0"/>
                      </a:rPr>
                      <m:t>𝑃</m:t>
                    </m:r>
                  </m:oMath>
                </a14:m>
                <a:r>
                  <a:rPr lang="en-US" sz="2400" dirty="0"/>
                  <a:t>, satisfies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charset="0"/>
                      </a:rPr>
                      <m:t>𝑠𝑔𝑛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1" smtClean="0">
                                <a:latin typeface="Cambria Math" charset="0"/>
                              </a:rPr>
                              <m:t>𝒘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sz="2400" b="1" i="1" smtClean="0">
                            <a:latin typeface="Cambria Math" charset="0"/>
                          </a:rPr>
                          <m:t>𝒙</m:t>
                        </m:r>
                      </m:e>
                    </m:d>
                    <m:r>
                      <a:rPr lang="en-US" sz="2400" b="0" i="1" smtClean="0">
                        <a:latin typeface="Cambria Math" charset="0"/>
                      </a:rPr>
                      <m:t>=1</m:t>
                    </m:r>
                  </m:oMath>
                </a14:m>
                <a:r>
                  <a:rPr lang="en-US" sz="2400" dirty="0"/>
                  <a:t> and every point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charset="0"/>
                      </a:rPr>
                      <m:t>𝒙</m:t>
                    </m:r>
                    <m:r>
                      <a:rPr lang="en-US" sz="2400">
                        <a:latin typeface="Cambria Math" charset="0"/>
                      </a:rPr>
                      <m:t>=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charset="0"/>
                          </a:rPr>
                          <m:t>1,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i="1">
                            <a:latin typeface="Cambria Math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>
                                <a:latin typeface="Cambria Math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i="1">
                            <a:latin typeface="Cambria Math" charset="0"/>
                          </a:rPr>
                          <m:t>,⋯, 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charset="0"/>
                              </a:rPr>
                              <m:t>𝑑</m:t>
                            </m:r>
                            <m:r>
                              <a:rPr lang="en-US" sz="2400" i="1">
                                <a:latin typeface="Cambria Math" charset="0"/>
                              </a:rPr>
                              <m:t>+1</m:t>
                            </m:r>
                          </m:sub>
                        </m:sSub>
                      </m:e>
                    </m:d>
                    <m:r>
                      <a:rPr lang="en-US" sz="2400" i="1">
                        <a:latin typeface="Cambria Math" charset="0"/>
                      </a:rPr>
                      <m:t>∈</m:t>
                    </m:r>
                    <m:r>
                      <a:rPr lang="en-US" sz="2400" b="0" i="1" smtClean="0">
                        <a:latin typeface="Cambria Math" charset="0"/>
                      </a:rPr>
                      <m:t>𝑁</m:t>
                    </m:r>
                  </m:oMath>
                </a14:m>
                <a:r>
                  <a:rPr lang="en-US" sz="2400" dirty="0"/>
                  <a:t>, satisfies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</a:rPr>
                      <m:t>𝑠𝑔𝑛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1">
                                <a:latin typeface="Cambria Math" charset="0"/>
                              </a:rPr>
                              <m:t>𝒘</m:t>
                            </m:r>
                          </m:e>
                          <m:sup>
                            <m:r>
                              <a:rPr lang="en-US" sz="2400" i="1">
                                <a:latin typeface="Cambria Math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sz="2400" b="1" i="1">
                            <a:latin typeface="Cambria Math" charset="0"/>
                          </a:rPr>
                          <m:t>𝒙</m:t>
                        </m:r>
                      </m:e>
                    </m:d>
                    <m:r>
                      <a:rPr lang="en-US" sz="2400" i="1">
                        <a:latin typeface="Cambria Math" charset="0"/>
                      </a:rPr>
                      <m:t>=</m:t>
                    </m:r>
                    <m:r>
                      <a:rPr lang="en-US" sz="2400" b="0" i="1" smtClean="0">
                        <a:latin typeface="Cambria Math" charset="0"/>
                      </a:rPr>
                      <m:t>−</m:t>
                    </m:r>
                    <m:r>
                      <a:rPr lang="en-US" sz="2400" i="1">
                        <a:latin typeface="Cambria Math" charset="0"/>
                      </a:rPr>
                      <m:t>1</m:t>
                    </m:r>
                  </m:oMath>
                </a14:m>
                <a:r>
                  <a:rPr lang="en-US" sz="2400" dirty="0"/>
                  <a:t>, </a:t>
                </a:r>
              </a:p>
              <a:p>
                <a:endParaRPr lang="en-US" sz="1700" dirty="0"/>
              </a:p>
            </p:txBody>
          </p:sp>
        </mc:Choice>
        <mc:Fallback xmlns="">
          <p:sp>
            <p:nvSpPr>
              <p:cNvPr id="90" name="TextBox 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785" y="1506446"/>
                <a:ext cx="11556430" cy="5209888"/>
              </a:xfrm>
              <a:prstGeom prst="rect">
                <a:avLst/>
              </a:prstGeom>
              <a:blipFill rotWithShape="0">
                <a:blip r:embed="rId3"/>
                <a:stretch>
                  <a:fillRect l="-686" t="-936" r="-5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13243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 txBox="1"/>
          <p:nvPr/>
        </p:nvSpPr>
        <p:spPr>
          <a:xfrm>
            <a:off x="674557" y="832857"/>
            <a:ext cx="10088381" cy="8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434343"/>
                </a:solidFill>
              </a:rPr>
              <a:t>Perceptron Learning Algorithm </a:t>
            </a:r>
            <a:r>
              <a:rPr lang="mr-IN" sz="3200" dirty="0">
                <a:solidFill>
                  <a:srgbClr val="434343"/>
                </a:solidFill>
              </a:rPr>
              <a:t>–</a:t>
            </a:r>
            <a:r>
              <a:rPr lang="en-US" sz="3200" dirty="0">
                <a:solidFill>
                  <a:srgbClr val="434343"/>
                </a:solidFill>
              </a:rPr>
              <a:t> Convergence Proof</a:t>
            </a:r>
            <a:endParaRPr sz="3200" dirty="0">
              <a:solidFill>
                <a:srgbClr val="434343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180868" y="1415979"/>
                <a:ext cx="12011132" cy="46365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Without loss of generalization we will also assume the following while proving the convergence theorem.</a:t>
                </a:r>
              </a:p>
              <a:p>
                <a:pPr marL="285750" indent="-285750">
                  <a:buFont typeface="Arial" charset="0"/>
                  <a:buChar char="•"/>
                </a:pPr>
                <a:r>
                  <a:rPr lang="en-US" sz="2400" dirty="0"/>
                  <a:t>We normalize all the points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charset="0"/>
                          </a:rPr>
                          <m:t>𝒙</m:t>
                        </m:r>
                      </m:e>
                      <m:sup>
                        <m:r>
                          <a:rPr lang="en-US" sz="2400" b="0" i="1" smtClean="0">
                            <a:latin typeface="Cambria Math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charset="0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IN" sz="2400" dirty="0"/>
                  <a:t> so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charset="0"/>
                          </a:rPr>
                          <m:t>𝑚𝑎𝑥</m:t>
                        </m:r>
                        <m:r>
                          <a:rPr lang="en-US" sz="2400" b="1" i="1" smtClean="0">
                            <a:latin typeface="Cambria Math" charset="0"/>
                          </a:rPr>
                          <m:t> ||</m:t>
                        </m:r>
                        <m:r>
                          <a:rPr lang="en-US" sz="2400" b="1" i="1">
                            <a:latin typeface="Cambria Math" charset="0"/>
                          </a:rPr>
                          <m:t>𝒙</m:t>
                        </m:r>
                      </m:e>
                      <m:sup>
                        <m:r>
                          <a:rPr lang="en-US" sz="2400" i="1">
                            <a:latin typeface="Cambria Math" charset="0"/>
                          </a:rPr>
                          <m:t>(</m:t>
                        </m:r>
                        <m:r>
                          <a:rPr lang="en-US" sz="2400" i="1">
                            <a:latin typeface="Cambria Math" charset="0"/>
                          </a:rPr>
                          <m:t>𝑖</m:t>
                        </m:r>
                        <m:r>
                          <a:rPr lang="en-US" sz="2400" i="1">
                            <a:latin typeface="Cambria Math" charset="0"/>
                          </a:rPr>
                          <m:t>)</m:t>
                        </m:r>
                      </m:sup>
                    </m:sSup>
                    <m:r>
                      <a:rPr lang="en-US" sz="2400" b="0" i="1" smtClean="0">
                        <a:latin typeface="Cambria Math" charset="0"/>
                      </a:rPr>
                      <m:t>||=1</m:t>
                    </m:r>
                  </m:oMath>
                </a14:m>
                <a:r>
                  <a:rPr lang="en-IN" sz="2400" dirty="0"/>
                  <a:t>, </a:t>
                </a:r>
                <a:r>
                  <a:rPr lang="en-IN" sz="2400" i="1" dirty="0"/>
                  <a:t>i.e.,</a:t>
                </a:r>
                <a:r>
                  <a:rPr lang="en-IN" sz="2400" dirty="0"/>
                  <a:t> </a:t>
                </a:r>
                <a:r>
                  <a:rPr lang="en-US" sz="2400" dirty="0"/>
                  <a:t>maximum length of any data point is 1. Notice that this does not affect the algorithm or the solution as,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</a:rPr>
                      <m:t>𝑠𝑔𝑛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1">
                                <a:latin typeface="Cambria Math" charset="0"/>
                              </a:rPr>
                              <m:t>𝒘</m:t>
                            </m:r>
                          </m:e>
                          <m:sup>
                            <m:r>
                              <a:rPr lang="en-US" sz="2400" i="1">
                                <a:latin typeface="Cambria Math" charset="0"/>
                              </a:rPr>
                              <m:t>𝑇</m:t>
                            </m:r>
                          </m:sup>
                        </m:sSup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1">
                                <a:latin typeface="Cambria Math" charset="0"/>
                              </a:rPr>
                              <m:t>𝒙</m:t>
                            </m:r>
                          </m:e>
                          <m:sup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charset="0"/>
                                  </a:rPr>
                                  <m:t>𝑖</m:t>
                                </m:r>
                              </m:e>
                            </m:d>
                          </m:sup>
                        </m:sSup>
                      </m:e>
                    </m:d>
                    <m:r>
                      <a:rPr lang="en-US" sz="2400" b="0" i="1" smtClean="0">
                        <a:latin typeface="Cambria Math" charset="0"/>
                      </a:rPr>
                      <m:t>=</m:t>
                    </m:r>
                    <m:r>
                      <a:rPr lang="en-US" sz="2400" i="1">
                        <a:latin typeface="Cambria Math" charset="0"/>
                      </a:rPr>
                      <m:t>𝑠𝑔𝑛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1">
                                <a:latin typeface="Cambria Math" charset="0"/>
                              </a:rPr>
                              <m:t>𝒘</m:t>
                            </m:r>
                          </m:e>
                          <m:sup>
                            <m:r>
                              <a:rPr lang="en-US" sz="2400" i="1">
                                <a:latin typeface="Cambria Math" charset="0"/>
                              </a:rPr>
                              <m:t>𝑇</m:t>
                            </m:r>
                          </m:sup>
                        </m:sSup>
                        <m:f>
                          <m:fPr>
                            <m:ctrlPr>
                              <a:rPr lang="mr-IN" sz="2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1" i="1">
                                    <a:latin typeface="Cambria Math" charset="0"/>
                                  </a:rPr>
                                  <m:t>𝒙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latin typeface="Cambria Math" charset="0"/>
                                      </a:rPr>
                                      <m:t>𝑖</m:t>
                                    </m:r>
                                  </m:e>
                                </m:d>
                              </m:sup>
                            </m:sSup>
                          </m:num>
                          <m:den>
                            <m:r>
                              <a:rPr lang="en-US" sz="2400" b="0" i="1" smtClean="0">
                                <a:latin typeface="Cambria Math" charset="0"/>
                              </a:rPr>
                              <m:t>||</m:t>
                            </m:r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1" i="1">
                                    <a:latin typeface="Cambria Math" charset="0"/>
                                  </a:rPr>
                                  <m:t>𝒙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latin typeface="Cambria Math" charset="0"/>
                                      </a:rPr>
                                      <m:t>𝑖</m:t>
                                    </m:r>
                                  </m:e>
                                </m:d>
                              </m:sup>
                            </m:sSup>
                            <m:r>
                              <a:rPr lang="en-US" sz="2400" b="0" i="1" smtClean="0">
                                <a:latin typeface="Cambria Math" charset="0"/>
                              </a:rPr>
                              <m:t>||</m:t>
                            </m:r>
                          </m:den>
                        </m:f>
                      </m:e>
                    </m:d>
                  </m:oMath>
                </a14:m>
                <a:endParaRPr lang="en-IN" sz="2400" dirty="0"/>
              </a:p>
              <a:p>
                <a:pPr marL="285750" indent="-285750">
                  <a:buFont typeface="Arial" charset="0"/>
                  <a:buChar char="•"/>
                </a:pPr>
                <a:endParaRPr lang="en-IN" sz="2400" dirty="0"/>
              </a:p>
              <a:p>
                <a:pPr marL="285750" indent="-285750">
                  <a:buFont typeface="Arial" charset="0"/>
                  <a:buChar char="•"/>
                </a:pPr>
                <a:endParaRPr lang="en-IN" sz="2400" dirty="0"/>
              </a:p>
              <a:p>
                <a:pPr marL="285750" indent="-285750">
                  <a:buFont typeface="Arial" charset="0"/>
                  <a:buChar char="•"/>
                </a:pPr>
                <a:r>
                  <a:rPr lang="en-IN" sz="2400" dirty="0"/>
                  <a:t>Margin of separation: This is the minimum distance between any data point and the hyperplane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charset="0"/>
                          </a:rPr>
                          <m:t>𝒘</m:t>
                        </m:r>
                      </m:e>
                      <m:sup>
                        <m:r>
                          <a:rPr lang="en-US" sz="2400" i="1">
                            <a:latin typeface="Cambria Math" charset="0"/>
                          </a:rPr>
                          <m:t>𝑇</m:t>
                        </m:r>
                      </m:sup>
                    </m:sSup>
                    <m:r>
                      <a:rPr lang="en-US" sz="2400" b="1" i="1">
                        <a:latin typeface="Cambria Math" charset="0"/>
                      </a:rPr>
                      <m:t>𝒙</m:t>
                    </m:r>
                    <m:r>
                      <a:rPr lang="en-US" sz="2400" b="1" i="1">
                        <a:latin typeface="Cambria Math" charset="0"/>
                      </a:rPr>
                      <m:t>=</m:t>
                    </m:r>
                    <m:r>
                      <a:rPr lang="en-US" sz="2400" b="0" i="1" smtClean="0">
                        <a:latin typeface="Cambria Math" charset="0"/>
                      </a:rPr>
                      <m:t>0</m:t>
                    </m:r>
                  </m:oMath>
                </a14:m>
                <a:r>
                  <a:rPr lang="en-IN" sz="2400" dirty="0"/>
                  <a:t>. Among all the hyperplanes,  a hyperplane having the </a:t>
                </a:r>
                <a:r>
                  <a:rPr lang="en-IN" sz="2400" i="1" dirty="0"/>
                  <a:t>maximum</a:t>
                </a:r>
                <a:r>
                  <a:rPr lang="en-IN" sz="2400" dirty="0"/>
                  <a:t> margin of separation is called the </a:t>
                </a:r>
                <a:r>
                  <a:rPr lang="en-IN" sz="2400" i="1" dirty="0"/>
                  <a:t>maximum margin separator</a:t>
                </a:r>
                <a:r>
                  <a:rPr lang="en-IN" sz="2400" dirty="0"/>
                  <a:t>.</a:t>
                </a:r>
                <a:br>
                  <a:rPr lang="en-IN" sz="2400" dirty="0"/>
                </a:b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charset="0"/>
                      </a:rPr>
                      <m:t>𝛾</m:t>
                    </m:r>
                    <m:r>
                      <a:rPr lang="en-US" sz="2400" b="0" i="1" smtClean="0">
                        <a:latin typeface="Cambria Math" charset="0"/>
                      </a:rPr>
                      <m:t>=</m:t>
                    </m:r>
                    <m:func>
                      <m:funcPr>
                        <m:ctrlPr>
                          <a:rPr lang="mr-IN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mr-IN" sz="2400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mr-IN" sz="2400" b="0" i="0" smtClean="0">
                                <a:latin typeface="Cambria Math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sz="2400" b="1" i="1" smtClean="0">
                                <a:latin typeface="Cambria Math" charset="0"/>
                              </a:rPr>
                              <m:t>𝒙</m:t>
                            </m:r>
                          </m:lim>
                        </m:limLow>
                      </m:fName>
                      <m:e>
                        <m:r>
                          <a:rPr lang="en-US" sz="2400" b="0" i="1" smtClean="0">
                            <a:latin typeface="Cambria Math" charset="0"/>
                          </a:rPr>
                          <m:t>|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1" smtClean="0">
                                <a:latin typeface="Cambria Math" charset="0"/>
                              </a:rPr>
                              <m:t>𝒘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sz="2400" b="1" i="1" smtClean="0">
                            <a:latin typeface="Cambria Math" charset="0"/>
                          </a:rPr>
                          <m:t>𝒙</m:t>
                        </m:r>
                        <m:r>
                          <a:rPr lang="en-US" sz="2400" b="1" i="1" smtClean="0">
                            <a:latin typeface="Cambria Math" charset="0"/>
                          </a:rPr>
                          <m:t>|</m:t>
                        </m:r>
                      </m:e>
                    </m:func>
                  </m:oMath>
                </a14:m>
                <a:endParaRPr lang="en-IN" sz="2400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868" y="1415979"/>
                <a:ext cx="12011132" cy="4636526"/>
              </a:xfrm>
              <a:prstGeom prst="rect">
                <a:avLst/>
              </a:prstGeom>
              <a:blipFill>
                <a:blip r:embed="rId3"/>
                <a:stretch>
                  <a:fillRect l="-845" t="-1093" r="-8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2012197" y="6356350"/>
            <a:ext cx="8167606" cy="365125"/>
          </a:xfrm>
        </p:spPr>
        <p:txBody>
          <a:bodyPr/>
          <a:lstStyle/>
          <a:p>
            <a:r>
              <a:rPr lang="en-US"/>
              <a:t>CS21206 / FAIML | Perceptron (c) Abir Das, Ayan Chaudhury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9844" y="6356350"/>
            <a:ext cx="783956" cy="365125"/>
          </a:xfrm>
        </p:spPr>
        <p:txBody>
          <a:bodyPr/>
          <a:lstStyle/>
          <a:p>
            <a:fld id="{683B8651-0143-4140-839E-3D36292080E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031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 txBox="1"/>
          <p:nvPr/>
        </p:nvSpPr>
        <p:spPr>
          <a:xfrm>
            <a:off x="674557" y="832857"/>
            <a:ext cx="10088381" cy="8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434343"/>
                </a:solidFill>
              </a:rPr>
              <a:t>Perceptron Learning Algorithm </a:t>
            </a:r>
            <a:r>
              <a:rPr lang="mr-IN" sz="3200" dirty="0">
                <a:solidFill>
                  <a:srgbClr val="434343"/>
                </a:solidFill>
              </a:rPr>
              <a:t>–</a:t>
            </a:r>
            <a:r>
              <a:rPr lang="en-US" sz="3200" dirty="0">
                <a:solidFill>
                  <a:srgbClr val="434343"/>
                </a:solidFill>
              </a:rPr>
              <a:t> Convergence Proof</a:t>
            </a:r>
            <a:endParaRPr sz="3200" dirty="0">
              <a:solidFill>
                <a:srgbClr val="434343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180868" y="1371009"/>
                <a:ext cx="12011132" cy="54298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charset="0"/>
                  <a:buChar char="•"/>
                </a:pPr>
                <a:r>
                  <a:rPr lang="en-IN" sz="2400" dirty="0"/>
                  <a:t>Let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charset="0"/>
                          </a:rPr>
                          <m:t>𝒘</m:t>
                        </m:r>
                      </m:e>
                      <m:sup>
                        <m:r>
                          <a:rPr lang="en-US" sz="2400" b="0" i="1" smtClean="0">
                            <a:latin typeface="Cambria Math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IN" sz="2400" dirty="0"/>
                  <a:t> be the normal to the maximum margin linear separator. We want our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charset="0"/>
                      </a:rPr>
                      <m:t>𝒘</m:t>
                    </m:r>
                  </m:oMath>
                </a14:m>
                <a:r>
                  <a:rPr lang="en-IN" sz="2400" dirty="0"/>
                  <a:t> in the perceptron algorithm in each step getting closer and closer to this (sort of) ideal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charset="0"/>
                          </a:rPr>
                          <m:t>𝒘</m:t>
                        </m:r>
                      </m:e>
                      <m:sup>
                        <m:r>
                          <a:rPr lang="en-US" sz="2400" i="1">
                            <a:latin typeface="Cambria Math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IN" sz="2400" dirty="0"/>
                  <a:t>.</a:t>
                </a:r>
              </a:p>
              <a:p>
                <a:pPr marL="342900" indent="-342900">
                  <a:buFont typeface="Arial" charset="0"/>
                  <a:buChar char="•"/>
                </a:pPr>
                <a:r>
                  <a:rPr lang="en-IN" sz="2400" dirty="0"/>
                  <a:t>This means that the inner product between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charset="0"/>
                      </a:rPr>
                      <m:t>𝒘</m:t>
                    </m:r>
                  </m:oMath>
                </a14:m>
                <a:r>
                  <a:rPr lang="en-IN" sz="2400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charset="0"/>
                          </a:rPr>
                          <m:t>𝒘</m:t>
                        </m:r>
                      </m:e>
                      <m:sup>
                        <m:r>
                          <a:rPr lang="en-US" sz="2400" i="1">
                            <a:latin typeface="Cambria Math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IN" sz="2400" dirty="0"/>
                  <a:t> should increase with each update.</a:t>
                </a:r>
              </a:p>
              <a:p>
                <a:pPr marL="342900" indent="-342900">
                  <a:buFont typeface="Arial" charset="0"/>
                  <a:buChar char="•"/>
                </a:pPr>
                <a:r>
                  <a:rPr lang="en-IN" sz="2400" dirty="0"/>
                  <a:t>Remember the update rule: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charset="0"/>
                          </a:rPr>
                          <m:t>𝒘</m:t>
                        </m:r>
                      </m:e>
                      <m:sup>
                        <m:r>
                          <a:rPr lang="en-US" sz="2400" b="0" i="1" smtClean="0">
                            <a:latin typeface="Cambria Math" charset="0"/>
                          </a:rPr>
                          <m:t>′</m:t>
                        </m:r>
                      </m:sup>
                    </m:sSup>
                    <m:r>
                      <a:rPr lang="en-US" sz="2400" b="0" i="1" smtClean="0">
                        <a:latin typeface="Cambria Math" charset="0"/>
                      </a:rPr>
                      <m:t>=</m:t>
                    </m:r>
                    <m:r>
                      <a:rPr lang="en-US" sz="2400" b="1" i="1">
                        <a:latin typeface="Cambria Math" charset="0"/>
                      </a:rPr>
                      <m:t>𝒘</m:t>
                    </m:r>
                    <m:r>
                      <a:rPr lang="en-US" sz="2400" b="1" i="1" smtClean="0">
                        <a:latin typeface="Cambria Math" charset="0"/>
                      </a:rPr>
                      <m:t>+</m:t>
                    </m:r>
                    <m:sSup>
                      <m:sSup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charset="0"/>
                          </a:rPr>
                          <m:t>𝒙</m:t>
                        </m:r>
                      </m:e>
                      <m:sup>
                        <m:d>
                          <m:d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charset="0"/>
                              </a:rPr>
                              <m:t>𝑖</m:t>
                            </m:r>
                          </m:e>
                        </m:d>
                      </m:sup>
                    </m:sSup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charset="0"/>
                          </a:rPr>
                          <m:t>𝑦</m:t>
                        </m:r>
                      </m:e>
                      <m:sup>
                        <m:d>
                          <m:d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>
                                <a:latin typeface="Cambria Math" charset="0"/>
                              </a:rPr>
                              <m:t>𝑖</m:t>
                            </m:r>
                          </m:e>
                        </m:d>
                      </m:sup>
                    </m:sSup>
                  </m:oMath>
                </a14:m>
                <a:endParaRPr lang="en-IN" sz="2400" b="1" dirty="0"/>
              </a:p>
              <a:p>
                <a:pPr marL="342900" indent="-342900">
                  <a:buFont typeface="Arial" charset="0"/>
                  <a:buChar char="•"/>
                </a:pPr>
                <a:r>
                  <a:rPr lang="en-IN" sz="2400" dirty="0"/>
                  <a:t>So,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1" i="1">
                                    <a:solidFill>
                                      <a:prstClr val="black"/>
                                    </a:solidFill>
                                    <a:latin typeface="Cambria Math" charset="0"/>
                                  </a:rPr>
                                  <m:t>𝒘</m:t>
                                </m:r>
                              </m:e>
                              <m:sup>
                                <m:r>
                                  <a:rPr lang="en-US" sz="2400" i="1">
                                    <a:solidFill>
                                      <a:prstClr val="black"/>
                                    </a:solidFill>
                                    <a:latin typeface="Cambria Math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charset="0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en-US" sz="2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solidFill>
                              <a:prstClr val="black"/>
                            </a:solidFill>
                            <a:latin typeface="Cambria Math" charset="0"/>
                          </a:rPr>
                          <m:t>𝒘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charset="0"/>
                          </a:rPr>
                          <m:t>∗</m:t>
                        </m:r>
                      </m:sup>
                    </m:sSup>
                    <m:r>
                      <a:rPr lang="en-US" sz="2400" b="1" i="1" smtClean="0">
                        <a:solidFill>
                          <a:prstClr val="black"/>
                        </a:solidFill>
                        <a:latin typeface="Cambria Math" charset="0"/>
                      </a:rPr>
                      <m:t>=</m:t>
                    </m:r>
                    <m:sSup>
                      <m:sSupPr>
                        <m:ctrlPr>
                          <a:rPr lang="en-US" sz="2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1">
                                <a:solidFill>
                                  <a:prstClr val="black"/>
                                </a:solidFill>
                                <a:latin typeface="Cambria Math" charset="0"/>
                              </a:rPr>
                              <m:t>𝒘</m:t>
                            </m:r>
                            <m:r>
                              <a:rPr lang="en-US" sz="2400" b="1" i="1">
                                <a:solidFill>
                                  <a:prstClr val="black"/>
                                </a:solidFill>
                                <a:latin typeface="Cambria Math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sz="240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1" i="1">
                                    <a:solidFill>
                                      <a:prstClr val="black"/>
                                    </a:solidFill>
                                    <a:latin typeface="Cambria Math" charset="0"/>
                                  </a:rPr>
                                  <m:t>𝒙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sz="2400" b="1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solidFill>
                                          <a:prstClr val="black"/>
                                        </a:solidFill>
                                        <a:latin typeface="Cambria Math" charset="0"/>
                                      </a:rPr>
                                      <m:t>𝑖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e>
                      <m:sup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charset="0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en-US" sz="2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solidFill>
                              <a:prstClr val="black"/>
                            </a:solidFill>
                            <a:latin typeface="Cambria Math" charset="0"/>
                          </a:rPr>
                          <m:t>𝒘</m:t>
                        </m:r>
                      </m:e>
                      <m:sup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IN" sz="2400" dirty="0"/>
                  <a:t>(assuming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charset="0"/>
                          </a:rPr>
                          <m:t>𝑦</m:t>
                        </m:r>
                      </m:e>
                      <m:sup>
                        <m:d>
                          <m:dPr>
                            <m:ctrlPr>
                              <a:rPr lang="en-US" sz="24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prstClr val="black"/>
                                </a:solidFill>
                                <a:latin typeface="Cambria Math" charset="0"/>
                              </a:rPr>
                              <m:t>𝑖</m:t>
                            </m:r>
                          </m:e>
                        </m:d>
                      </m:sup>
                    </m:sSup>
                    <m:r>
                      <a:rPr lang="en-US" sz="2400" b="1" i="1" smtClean="0">
                        <a:solidFill>
                          <a:prstClr val="black"/>
                        </a:solidFill>
                        <a:latin typeface="Cambria Math" charset="0"/>
                      </a:rPr>
                      <m:t>=+</m:t>
                    </m:r>
                    <m:r>
                      <a:rPr lang="en-US" sz="2400" b="0" i="1" smtClean="0">
                        <a:solidFill>
                          <a:prstClr val="black"/>
                        </a:solidFill>
                        <a:latin typeface="Cambria Math" charset="0"/>
                      </a:rPr>
                      <m:t>1</m:t>
                    </m:r>
                  </m:oMath>
                </a14:m>
                <a:r>
                  <a:rPr lang="en-IN" sz="2400" dirty="0"/>
                  <a:t>)</a:t>
                </a:r>
                <a:br>
                  <a:rPr lang="en-IN" sz="2400" dirty="0"/>
                </a:br>
                <a:r>
                  <a:rPr lang="en-IN" sz="2400" dirty="0"/>
                  <a:t>		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charset="0"/>
                      </a:rPr>
                      <m:t>  </m:t>
                    </m:r>
                    <m:r>
                      <a:rPr lang="en-US" sz="2400" b="0" i="1" smtClean="0">
                        <a:latin typeface="Cambria Math" charset="0"/>
                      </a:rPr>
                      <m:t>=</m:t>
                    </m:r>
                    <m:sSup>
                      <m:sSupPr>
                        <m:ctrlPr>
                          <a:rPr lang="en-US" sz="2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solidFill>
                              <a:prstClr val="black"/>
                            </a:solidFill>
                            <a:latin typeface="Cambria Math" charset="0"/>
                          </a:rPr>
                          <m:t>𝒘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charset="0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en-US" sz="2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solidFill>
                              <a:prstClr val="black"/>
                            </a:solidFill>
                            <a:latin typeface="Cambria Math" charset="0"/>
                          </a:rPr>
                          <m:t>𝒘</m:t>
                        </m:r>
                      </m:e>
                      <m:sup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charset="0"/>
                          </a:rPr>
                          <m:t>∗</m:t>
                        </m:r>
                      </m:sup>
                    </m:sSup>
                    <m:r>
                      <a:rPr lang="en-US" sz="2400" b="1" i="1" smtClean="0">
                        <a:solidFill>
                          <a:prstClr val="black"/>
                        </a:solidFill>
                        <a:latin typeface="Cambria Math" charset="0"/>
                      </a:rPr>
                      <m:t>+</m:t>
                    </m:r>
                    <m:sSup>
                      <m:sSupPr>
                        <m:ctrlPr>
                          <a:rPr lang="en-US" sz="2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40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1" i="1">
                                    <a:solidFill>
                                      <a:prstClr val="black"/>
                                    </a:solidFill>
                                    <a:latin typeface="Cambria Math" charset="0"/>
                                  </a:rPr>
                                  <m:t>𝒙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sz="2400" b="1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solidFill>
                                          <a:prstClr val="black"/>
                                        </a:solidFill>
                                        <a:latin typeface="Cambria Math" charset="0"/>
                                      </a:rPr>
                                      <m:t>𝑖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e>
                      <m:sup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charset="0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en-US" sz="2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solidFill>
                              <a:prstClr val="black"/>
                            </a:solidFill>
                            <a:latin typeface="Cambria Math" charset="0"/>
                          </a:rPr>
                          <m:t>𝒘</m:t>
                        </m:r>
                      </m:e>
                      <m:sup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charset="0"/>
                          </a:rPr>
                          <m:t>∗</m:t>
                        </m:r>
                      </m:sup>
                    </m:sSup>
                  </m:oMath>
                </a14:m>
                <a:endParaRPr lang="en-IN" sz="2400" dirty="0"/>
              </a:p>
              <a:p>
                <a:pPr marL="342900" indent="-342900">
                  <a:buFont typeface="Arial" charset="0"/>
                  <a:buChar char="•"/>
                </a:pPr>
                <a:endParaRPr lang="en-IN" sz="2400" dirty="0"/>
              </a:p>
              <a:p>
                <a:pPr marL="342900" indent="-342900">
                  <a:buFont typeface="Arial" charset="0"/>
                  <a:buChar char="•"/>
                </a:pPr>
                <a:endParaRPr lang="en-IN" sz="2400" dirty="0"/>
              </a:p>
              <a:p>
                <a:pPr marL="342900" indent="-342900">
                  <a:buFont typeface="Arial" charset="0"/>
                  <a:buChar char="•"/>
                </a:pPr>
                <a:r>
                  <a:rPr lang="en-IN" sz="2400" dirty="0"/>
                  <a:t>Similarly for a negative training example,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1" i="1">
                                      <a:solidFill>
                                        <a:prstClr val="black"/>
                                      </a:solidFill>
                                      <a:latin typeface="Cambria Math" charset="0"/>
                                    </a:rPr>
                                    <m:t>𝒘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solidFill>
                                        <a:prstClr val="black"/>
                                      </a:solidFill>
                                      <a:latin typeface="Cambria Math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2400" i="1">
                              <a:solidFill>
                                <a:prstClr val="black"/>
                              </a:solidFill>
                              <a:latin typeface="Cambria Math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sz="2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>
                              <a:solidFill>
                                <a:prstClr val="black"/>
                              </a:solidFill>
                              <a:latin typeface="Cambria Math" charset="0"/>
                            </a:rPr>
                            <m:t>𝒘</m:t>
                          </m:r>
                        </m:e>
                        <m:sup>
                          <m:r>
                            <a:rPr lang="en-US" sz="2400" i="1">
                              <a:solidFill>
                                <a:prstClr val="black"/>
                              </a:solidFill>
                              <a:latin typeface="Cambria Math" charset="0"/>
                            </a:rPr>
                            <m:t>∗</m:t>
                          </m:r>
                        </m:sup>
                      </m:sSup>
                      <m:r>
                        <a:rPr lang="en-US" sz="2400" b="1" i="1">
                          <a:solidFill>
                            <a:prstClr val="black"/>
                          </a:solidFill>
                          <a:latin typeface="Cambria Math" charset="0"/>
                        </a:rPr>
                        <m:t>=</m:t>
                      </m:r>
                      <m:sSup>
                        <m:sSupPr>
                          <m:ctrlPr>
                            <a:rPr lang="en-US" sz="2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1" i="1">
                                  <a:solidFill>
                                    <a:prstClr val="black"/>
                                  </a:solidFill>
                                  <a:latin typeface="Cambria Math" charset="0"/>
                                </a:rPr>
                                <m:t>𝒘</m:t>
                              </m:r>
                              <m:r>
                                <a:rPr lang="en-US" sz="2400" b="1" i="1" smtClean="0">
                                  <a:solidFill>
                                    <a:prstClr val="black"/>
                                  </a:solidFill>
                                  <a:latin typeface="Cambria Math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4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1" i="1">
                                      <a:solidFill>
                                        <a:prstClr val="black"/>
                                      </a:solidFill>
                                      <a:latin typeface="Cambria Math" charset="0"/>
                                    </a:rPr>
                                    <m:t>𝒙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sz="2400" b="1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solidFill>
                                            <a:prstClr val="black"/>
                                          </a:solidFill>
                                          <a:latin typeface="Cambria Math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2400" i="1">
                              <a:solidFill>
                                <a:prstClr val="black"/>
                              </a:solidFill>
                              <a:latin typeface="Cambria Math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sz="2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>
                              <a:solidFill>
                                <a:prstClr val="black"/>
                              </a:solidFill>
                              <a:latin typeface="Cambria Math" charset="0"/>
                            </a:rPr>
                            <m:t>𝒘</m:t>
                          </m:r>
                        </m:e>
                        <m:sup>
                          <m:r>
                            <a:rPr lang="en-US" sz="2400" i="1">
                              <a:solidFill>
                                <a:prstClr val="black"/>
                              </a:solidFill>
                              <a:latin typeface="Cambria Math" charset="0"/>
                            </a:rPr>
                            <m:t>∗</m:t>
                          </m:r>
                        </m:sup>
                      </m:sSup>
                      <m:r>
                        <a:rPr lang="en-US" sz="2400" b="1" i="1" smtClean="0">
                          <a:solidFill>
                            <a:prstClr val="black"/>
                          </a:solidFill>
                          <a:latin typeface="Cambria Math" charset="0"/>
                        </a:rPr>
                        <m:t>=</m:t>
                      </m:r>
                      <m:sSup>
                        <m:sSupPr>
                          <m:ctrlPr>
                            <a:rPr lang="en-US" sz="2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>
                              <a:solidFill>
                                <a:prstClr val="black"/>
                              </a:solidFill>
                              <a:latin typeface="Cambria Math" charset="0"/>
                            </a:rPr>
                            <m:t>𝒘</m:t>
                          </m:r>
                        </m:e>
                        <m:sup>
                          <m:r>
                            <a:rPr lang="en-US" sz="2400" i="1">
                              <a:solidFill>
                                <a:prstClr val="black"/>
                              </a:solidFill>
                              <a:latin typeface="Cambria Math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sz="2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>
                              <a:solidFill>
                                <a:prstClr val="black"/>
                              </a:solidFill>
                              <a:latin typeface="Cambria Math" charset="0"/>
                            </a:rPr>
                            <m:t>𝒘</m:t>
                          </m:r>
                        </m:e>
                        <m:sup>
                          <m:r>
                            <a:rPr lang="en-US" sz="2400" i="1">
                              <a:solidFill>
                                <a:prstClr val="black"/>
                              </a:solidFill>
                              <a:latin typeface="Cambria Math" charset="0"/>
                            </a:rPr>
                            <m:t>∗</m:t>
                          </m:r>
                        </m:sup>
                      </m:sSup>
                      <m:r>
                        <a:rPr lang="en-US" sz="2400" b="1" i="1" smtClean="0">
                          <a:solidFill>
                            <a:prstClr val="black"/>
                          </a:solidFill>
                          <a:latin typeface="Cambria Math" charset="0"/>
                        </a:rPr>
                        <m:t>−</m:t>
                      </m:r>
                      <m:sSup>
                        <m:sSupPr>
                          <m:ctrlPr>
                            <a:rPr lang="en-US" sz="2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1" i="1">
                                      <a:solidFill>
                                        <a:prstClr val="black"/>
                                      </a:solidFill>
                                      <a:latin typeface="Cambria Math" charset="0"/>
                                    </a:rPr>
                                    <m:t>𝒙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sz="2400" b="1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solidFill>
                                            <a:prstClr val="black"/>
                                          </a:solidFill>
                                          <a:latin typeface="Cambria Math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2400" i="1">
                              <a:solidFill>
                                <a:prstClr val="black"/>
                              </a:solidFill>
                              <a:latin typeface="Cambria Math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sz="2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>
                              <a:solidFill>
                                <a:prstClr val="black"/>
                              </a:solidFill>
                              <a:latin typeface="Cambria Math" charset="0"/>
                            </a:rPr>
                            <m:t>𝒘</m:t>
                          </m:r>
                        </m:e>
                        <m:sup>
                          <m:r>
                            <a:rPr lang="en-US" sz="2400" i="1">
                              <a:solidFill>
                                <a:prstClr val="black"/>
                              </a:solidFill>
                              <a:latin typeface="Cambria Math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IN" sz="24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40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1" i="1">
                                    <a:solidFill>
                                      <a:prstClr val="black"/>
                                    </a:solidFill>
                                    <a:latin typeface="Cambria Math" charset="0"/>
                                  </a:rPr>
                                  <m:t>𝒙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sz="2400" b="1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solidFill>
                                          <a:prstClr val="black"/>
                                        </a:solidFill>
                                        <a:latin typeface="Cambria Math" charset="0"/>
                                      </a:rPr>
                                      <m:t>𝑖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e>
                      <m:sup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charset="0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en-US" sz="2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solidFill>
                              <a:prstClr val="black"/>
                            </a:solidFill>
                            <a:latin typeface="Cambria Math" charset="0"/>
                          </a:rPr>
                          <m:t>𝒘</m:t>
                        </m:r>
                      </m:e>
                      <m:sup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IN" sz="2400" dirty="0"/>
                  <a:t> is negative as the example is negative and thus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solidFill>
                          <a:prstClr val="black"/>
                        </a:solidFill>
                        <a:latin typeface="Cambria Math" charset="0"/>
                      </a:rPr>
                      <m:t>−</m:t>
                    </m:r>
                    <m:sSup>
                      <m:sSupPr>
                        <m:ctrlPr>
                          <a:rPr lang="en-US" sz="2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40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1" i="1">
                                    <a:solidFill>
                                      <a:prstClr val="black"/>
                                    </a:solidFill>
                                    <a:latin typeface="Cambria Math" charset="0"/>
                                  </a:rPr>
                                  <m:t>𝒙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sz="2400" b="1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solidFill>
                                          <a:prstClr val="black"/>
                                        </a:solidFill>
                                        <a:latin typeface="Cambria Math" charset="0"/>
                                      </a:rPr>
                                      <m:t>𝑖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e>
                      <m:sup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charset="0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en-US" sz="2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solidFill>
                              <a:prstClr val="black"/>
                            </a:solidFill>
                            <a:latin typeface="Cambria Math" charset="0"/>
                          </a:rPr>
                          <m:t>𝒘</m:t>
                        </m:r>
                      </m:e>
                      <m:sup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charset="0"/>
                          </a:rPr>
                          <m:t>∗</m:t>
                        </m:r>
                      </m:sup>
                    </m:sSup>
                    <m:r>
                      <a:rPr lang="en-US" sz="2400" b="1" i="1" smtClean="0">
                        <a:solidFill>
                          <a:prstClr val="black"/>
                        </a:solidFill>
                        <a:latin typeface="Cambria Math" charset="0"/>
                      </a:rPr>
                      <m:t>≥</m:t>
                    </m:r>
                    <m:r>
                      <a:rPr lang="en-US" sz="2400" b="0" i="1" smtClean="0">
                        <a:solidFill>
                          <a:prstClr val="black"/>
                        </a:solidFill>
                        <a:latin typeface="Cambria Math" charset="0"/>
                      </a:rPr>
                      <m:t>𝛾</m:t>
                    </m:r>
                  </m:oMath>
                </a14:m>
                <a:r>
                  <a:rPr lang="en-IN" sz="2400" dirty="0"/>
                  <a:t>.</a:t>
                </a:r>
              </a:p>
              <a:p>
                <a:pPr marL="342900" indent="-342900">
                  <a:buFont typeface="Arial" charset="0"/>
                  <a:buChar char="•"/>
                </a:pPr>
                <a:r>
                  <a:rPr lang="en-IN" sz="2400" dirty="0"/>
                  <a:t>So, in both cases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1" i="1">
                                    <a:solidFill>
                                      <a:prstClr val="black"/>
                                    </a:solidFill>
                                    <a:latin typeface="Cambria Math" charset="0"/>
                                  </a:rPr>
                                  <m:t>𝒘</m:t>
                                </m:r>
                              </m:e>
                              <m:sup>
                                <m:r>
                                  <a:rPr lang="en-US" sz="2400" i="1">
                                    <a:solidFill>
                                      <a:prstClr val="black"/>
                                    </a:solidFill>
                                    <a:latin typeface="Cambria Math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charset="0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en-US" sz="2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solidFill>
                              <a:prstClr val="black"/>
                            </a:solidFill>
                            <a:latin typeface="Cambria Math" charset="0"/>
                          </a:rPr>
                          <m:t>𝒘</m:t>
                        </m:r>
                      </m:e>
                      <m:sup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IN" sz="2400" dirty="0"/>
                  <a:t> is increasing by at least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prstClr val="black"/>
                        </a:solidFill>
                        <a:latin typeface="Cambria Math" charset="0"/>
                      </a:rPr>
                      <m:t>𝛾</m:t>
                    </m:r>
                  </m:oMath>
                </a14:m>
                <a:r>
                  <a:rPr lang="en-IN" sz="2400" dirty="0"/>
                  <a:t>. Which means length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charset="0"/>
                          </a:rPr>
                          <m:t>𝒘</m:t>
                        </m:r>
                      </m:e>
                      <m:sup>
                        <m:r>
                          <a:rPr lang="en-US" sz="2400" i="1">
                            <a:latin typeface="Cambria Math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IN" sz="2400" dirty="0"/>
                  <a:t> increases with each update </a:t>
                </a:r>
                <a:r>
                  <a:rPr lang="en-IN" sz="2400" dirty="0">
                    <a:solidFill>
                      <a:srgbClr val="FF0000"/>
                    </a:solidFill>
                    <a:sym typeface="Wingdings"/>
                  </a:rPr>
                  <a:t> Observation 1</a:t>
                </a:r>
                <a:endParaRPr lang="en-IN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868" y="1371009"/>
                <a:ext cx="12011132" cy="5429820"/>
              </a:xfrm>
              <a:prstGeom prst="rect">
                <a:avLst/>
              </a:prstGeom>
              <a:blipFill rotWithShape="0">
                <a:blip r:embed="rId3"/>
                <a:stretch>
                  <a:fillRect l="-711" t="-898" b="-1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9844" y="6462366"/>
            <a:ext cx="783956" cy="365125"/>
          </a:xfrm>
        </p:spPr>
        <p:txBody>
          <a:bodyPr/>
          <a:lstStyle/>
          <a:p>
            <a:fld id="{683B8651-0143-4140-839E-3D36292080E8}" type="slidenum">
              <a:rPr lang="en-US" smtClean="0"/>
              <a:t>12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48536" y="4162482"/>
                <a:ext cx="1663661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Previous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solidFill>
                              <a:prstClr val="black"/>
                            </a:solidFill>
                            <a:latin typeface="Cambria Math" charset="0"/>
                          </a:rPr>
                          <m:t>𝒘</m:t>
                        </m:r>
                      </m:e>
                      <m:sup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charset="0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en-US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solidFill>
                              <a:prstClr val="black"/>
                            </a:solidFill>
                            <a:latin typeface="Cambria Math" charset="0"/>
                          </a:rPr>
                          <m:t>𝒘</m:t>
                        </m:r>
                      </m:e>
                      <m:sup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charset="0"/>
                          </a:rPr>
                          <m:t>∗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536" y="4162482"/>
                <a:ext cx="1663661" cy="369332"/>
              </a:xfrm>
              <a:prstGeom prst="rect">
                <a:avLst/>
              </a:prstGeom>
              <a:blipFill rotWithShape="0">
                <a:blip r:embed="rId4"/>
                <a:stretch>
                  <a:fillRect l="-2545" t="-8065" b="-2419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046494" y="4162482"/>
                <a:ext cx="1672253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This is at least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𝛾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6494" y="4162482"/>
                <a:ext cx="1672253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2899" t="-8065" b="-2419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Curved Connector 6"/>
          <p:cNvCxnSpPr>
            <a:endCxn id="3" idx="3"/>
          </p:cNvCxnSpPr>
          <p:nvPr/>
        </p:nvCxnSpPr>
        <p:spPr>
          <a:xfrm rot="10800000" flipV="1">
            <a:off x="2012197" y="3852472"/>
            <a:ext cx="835934" cy="494676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Curved Connector 9"/>
          <p:cNvCxnSpPr>
            <a:endCxn id="8" idx="0"/>
          </p:cNvCxnSpPr>
          <p:nvPr/>
        </p:nvCxnSpPr>
        <p:spPr>
          <a:xfrm>
            <a:off x="4332157" y="3932402"/>
            <a:ext cx="550464" cy="230080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012197" y="6555130"/>
            <a:ext cx="8167606" cy="365125"/>
          </a:xfrm>
        </p:spPr>
        <p:txBody>
          <a:bodyPr/>
          <a:lstStyle/>
          <a:p>
            <a:r>
              <a:rPr lang="en-US"/>
              <a:t>CS21206 / FAIML | Perceptron (c) Abir Das, Ayan Chaudhury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48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" grpId="0" animBg="1"/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 txBox="1"/>
          <p:nvPr/>
        </p:nvSpPr>
        <p:spPr>
          <a:xfrm>
            <a:off x="674557" y="832857"/>
            <a:ext cx="10088381" cy="8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434343"/>
                </a:solidFill>
              </a:rPr>
              <a:t>Perceptron Learning Algorithm </a:t>
            </a:r>
            <a:r>
              <a:rPr lang="mr-IN" sz="3200" dirty="0">
                <a:solidFill>
                  <a:srgbClr val="434343"/>
                </a:solidFill>
              </a:rPr>
              <a:t>–</a:t>
            </a:r>
            <a:r>
              <a:rPr lang="en-US" sz="3200" dirty="0">
                <a:solidFill>
                  <a:srgbClr val="434343"/>
                </a:solidFill>
              </a:rPr>
              <a:t> Convergence Proof</a:t>
            </a:r>
            <a:endParaRPr sz="3200" dirty="0">
              <a:solidFill>
                <a:srgbClr val="434343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180868" y="1371009"/>
                <a:ext cx="12011132" cy="48531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charset="0"/>
                  <a:buChar char="•"/>
                </a:pPr>
                <a:r>
                  <a:rPr lang="en-IN" sz="2400" dirty="0"/>
                  <a:t>length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charset="0"/>
                          </a:rPr>
                          <m:t>𝒘</m:t>
                        </m:r>
                      </m:e>
                      <m:sup>
                        <m:r>
                          <a:rPr lang="en-US" sz="2400" i="1">
                            <a:latin typeface="Cambria Math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IN" sz="2400" dirty="0"/>
                  <a:t>is given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charset="0"/>
                          </a:rPr>
                          <m:t>||</m:t>
                        </m:r>
                        <m:r>
                          <a:rPr lang="en-US" sz="2400" b="1" i="1">
                            <a:latin typeface="Cambria Math" charset="0"/>
                          </a:rPr>
                          <m:t>𝒘</m:t>
                        </m:r>
                      </m:e>
                      <m:sup>
                        <m:r>
                          <a:rPr lang="en-US" sz="2400" i="1">
                            <a:latin typeface="Cambria Math" charset="0"/>
                          </a:rPr>
                          <m:t>′</m:t>
                        </m:r>
                      </m:sup>
                    </m:sSup>
                    <m:r>
                      <a:rPr lang="en-US" sz="2400" b="0" i="1" smtClean="0">
                        <a:latin typeface="Cambria Math" charset="0"/>
                      </a:rPr>
                      <m:t>|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>
                                <a:latin typeface="Cambria Math" charset="0"/>
                              </a:rPr>
                              <m:t>​</m:t>
                            </m:r>
                          </m:e>
                        </m:d>
                      </m:e>
                      <m:sup>
                        <m:r>
                          <a:rPr lang="en-US" sz="2400" b="0" i="1" smtClean="0">
                            <a:latin typeface="Cambria Math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sz="2400" dirty="0"/>
                  <a:t>. Let us see, how this changes with each update.</a:t>
                </a:r>
              </a:p>
              <a:p>
                <a:pPr marL="342900" indent="-342900">
                  <a:buFont typeface="Arial" charset="0"/>
                  <a:buChar char="•"/>
                </a:pPr>
                <a:endParaRPr lang="en-IN" sz="2400" dirty="0"/>
              </a:p>
              <a:p>
                <a:pPr marL="342900" indent="-342900">
                  <a:buFont typeface="Arial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1" i="1">
                            <a:latin typeface="Cambria Math" charset="0"/>
                          </a:rPr>
                          <m:t>||</m:t>
                        </m:r>
                        <m:r>
                          <a:rPr lang="en-US" sz="2200" b="1" i="1">
                            <a:latin typeface="Cambria Math" charset="0"/>
                          </a:rPr>
                          <m:t>𝒘</m:t>
                        </m:r>
                      </m:e>
                      <m:sup>
                        <m:r>
                          <a:rPr lang="en-US" sz="2200" i="1">
                            <a:latin typeface="Cambria Math" charset="0"/>
                          </a:rPr>
                          <m:t>′</m:t>
                        </m:r>
                      </m:sup>
                    </m:sSup>
                    <m:r>
                      <a:rPr lang="en-US" sz="2200" i="1">
                        <a:latin typeface="Cambria Math" charset="0"/>
                      </a:rPr>
                      <m:t>|</m:t>
                    </m:r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>
                                <a:latin typeface="Cambria Math" charset="0"/>
                              </a:rPr>
                              <m:t>​</m:t>
                            </m:r>
                          </m:e>
                        </m:d>
                      </m:e>
                      <m:sup>
                        <m:r>
                          <a:rPr lang="en-US" sz="2200" i="1"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sz="2200" b="0" i="1" smtClean="0">
                        <a:latin typeface="Cambria Math" charset="0"/>
                      </a:rPr>
                      <m:t>=</m:t>
                    </m:r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200" b="1" i="1" smtClean="0">
                                    <a:latin typeface="Cambria Math" charset="0"/>
                                  </a:rPr>
                                  <m:t>𝒘</m:t>
                                </m:r>
                              </m:e>
                              <m:sup>
                                <m:r>
                                  <a:rPr lang="en-US" sz="2200" b="0" i="1" smtClean="0">
                                    <a:latin typeface="Cambria Math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sz="2200" b="0" i="1" smtClean="0">
                            <a:latin typeface="Cambria Math" charset="0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1" i="1">
                            <a:latin typeface="Cambria Math" charset="0"/>
                          </a:rPr>
                          <m:t>𝒘</m:t>
                        </m:r>
                      </m:e>
                      <m:sup>
                        <m:r>
                          <a:rPr lang="en-US" sz="2200" i="1">
                            <a:latin typeface="Cambria Math" charset="0"/>
                          </a:rPr>
                          <m:t>′</m:t>
                        </m:r>
                      </m:sup>
                    </m:sSup>
                    <m:r>
                      <a:rPr lang="en-US" sz="2200" b="0" i="1" smtClean="0">
                        <a:latin typeface="Cambria Math" charset="0"/>
                      </a:rPr>
                      <m:t>=</m:t>
                    </m:r>
                    <m:sSup>
                      <m:sSupPr>
                        <m:ctrlPr>
                          <a:rPr lang="en-US" sz="22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b="1" i="1">
                                <a:latin typeface="Cambria Math" charset="0"/>
                              </a:rPr>
                              <m:t>𝒘</m:t>
                            </m:r>
                            <m:r>
                              <a:rPr lang="en-US" sz="2200" b="1" i="1">
                                <a:latin typeface="Cambria Math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sz="22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200" b="1" i="1">
                                    <a:latin typeface="Cambria Math" charset="0"/>
                                  </a:rPr>
                                  <m:t>𝒙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sz="22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200" i="1">
                                        <a:latin typeface="Cambria Math" charset="0"/>
                                      </a:rPr>
                                      <m:t>𝑖</m:t>
                                    </m:r>
                                  </m:e>
                                </m:d>
                              </m:sup>
                            </m:sSup>
                            <m:sSup>
                              <m:sSupPr>
                                <m:ctrlPr>
                                  <a:rPr lang="en-US" sz="22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200" i="1">
                                    <a:latin typeface="Cambria Math" charset="0"/>
                                  </a:rPr>
                                  <m:t>𝑦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sz="22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200" i="1">
                                        <a:latin typeface="Cambria Math" charset="0"/>
                                      </a:rPr>
                                      <m:t>𝑖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e>
                      <m:sup>
                        <m:r>
                          <a:rPr lang="en-US" sz="2200" b="0" i="1" smtClean="0">
                            <a:latin typeface="Cambria Math" charset="0"/>
                          </a:rPr>
                          <m:t>𝑇</m:t>
                        </m:r>
                      </m:sup>
                    </m:sSup>
                    <m:d>
                      <m:dPr>
                        <m:ctrlPr>
                          <a:rPr lang="en-US" sz="22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1" i="1">
                            <a:latin typeface="Cambria Math" charset="0"/>
                          </a:rPr>
                          <m:t>𝒘</m:t>
                        </m:r>
                        <m:r>
                          <a:rPr lang="en-US" sz="2200" b="1" i="1">
                            <a:latin typeface="Cambria Math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22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b="1" i="1">
                                <a:latin typeface="Cambria Math" charset="0"/>
                              </a:rPr>
                              <m:t>𝒙</m:t>
                            </m:r>
                          </m:e>
                          <m:sup>
                            <m:d>
                              <m:dPr>
                                <m:ctrlPr>
                                  <a:rPr lang="en-US" sz="22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200" i="1">
                                    <a:latin typeface="Cambria Math" charset="0"/>
                                  </a:rPr>
                                  <m:t>𝑖</m:t>
                                </m:r>
                              </m:e>
                            </m:d>
                          </m:sup>
                        </m:sSup>
                        <m:sSup>
                          <m:sSupPr>
                            <m:ctrlPr>
                              <a:rPr lang="en-US" sz="22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i="1">
                                <a:latin typeface="Cambria Math" charset="0"/>
                              </a:rPr>
                              <m:t>𝑦</m:t>
                            </m:r>
                          </m:e>
                          <m:sup>
                            <m:d>
                              <m:dPr>
                                <m:ctrlPr>
                                  <a:rPr lang="en-US" sz="22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200" i="1">
                                    <a:latin typeface="Cambria Math" charset="0"/>
                                  </a:rPr>
                                  <m:t>𝑖</m:t>
                                </m:r>
                              </m:e>
                            </m:d>
                          </m:sup>
                        </m:sSup>
                      </m:e>
                    </m:d>
                    <m:r>
                      <a:rPr lang="en-US" sz="2200" b="1" i="1" smtClean="0">
                        <a:latin typeface="Cambria Math" charset="0"/>
                      </a:rPr>
                      <m:t>=</m:t>
                    </m:r>
                    <m:sSup>
                      <m:sSupPr>
                        <m:ctrlPr>
                          <a:rPr lang="en-US" sz="22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2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2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200" b="1" i="1" smtClean="0">
                                    <a:latin typeface="Cambria Math" charset="0"/>
                                  </a:rPr>
                                  <m:t>𝒘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sz="2200" b="0" i="1" smtClean="0"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sz="2200" b="0" i="1" smtClean="0">
                        <a:latin typeface="Cambria Math" charset="0"/>
                      </a:rPr>
                      <m:t>+2</m:t>
                    </m:r>
                    <m:sSup>
                      <m:sSupPr>
                        <m:ctrlPr>
                          <a:rPr lang="en-US" sz="22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latin typeface="Cambria Math" charset="0"/>
                          </a:rPr>
                          <m:t>𝑦</m:t>
                        </m:r>
                      </m:e>
                      <m:sup>
                        <m:d>
                          <m:dPr>
                            <m:ctrlPr>
                              <a:rPr lang="en-US" sz="22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i="1">
                                <a:latin typeface="Cambria Math" charset="0"/>
                              </a:rPr>
                              <m:t>𝑖</m:t>
                            </m:r>
                          </m:e>
                        </m:d>
                      </m:sup>
                    </m:sSup>
                    <m:sSup>
                      <m:sSupPr>
                        <m:ctrlPr>
                          <a:rPr lang="en-US" sz="22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2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2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200" b="1" i="1">
                                    <a:latin typeface="Cambria Math" charset="0"/>
                                  </a:rPr>
                                  <m:t>𝒙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sz="22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200" i="1">
                                        <a:latin typeface="Cambria Math" charset="0"/>
                                      </a:rPr>
                                      <m:t>𝑖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e>
                      <m:sup>
                        <m:r>
                          <a:rPr lang="en-US" sz="2200" b="0" i="1" smtClean="0">
                            <a:latin typeface="Cambria Math" charset="0"/>
                          </a:rPr>
                          <m:t>𝑇</m:t>
                        </m:r>
                      </m:sup>
                    </m:sSup>
                    <m:r>
                      <a:rPr lang="en-US" sz="2200" b="1" i="1">
                        <a:latin typeface="Cambria Math" charset="0"/>
                      </a:rPr>
                      <m:t>𝒘</m:t>
                    </m:r>
                    <m:r>
                      <a:rPr lang="en-US" sz="2200" b="0" i="1" smtClean="0">
                        <a:latin typeface="Cambria Math" charset="0"/>
                      </a:rPr>
                      <m:t>+</m:t>
                    </m:r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2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200" i="1">
                                    <a:latin typeface="Cambria Math" charset="0"/>
                                  </a:rPr>
                                  <m:t>𝑦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sz="22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200" i="1">
                                        <a:latin typeface="Cambria Math" charset="0"/>
                                      </a:rPr>
                                      <m:t>𝑖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e>
                      <m:sup>
                        <m:r>
                          <a:rPr lang="en-US" sz="2200" b="0" i="0" smtClean="0">
                            <a:latin typeface="Cambria Math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sz="22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1" i="1" smtClean="0">
                            <a:latin typeface="Cambria Math" charset="0"/>
                          </a:rPr>
                          <m:t>||</m:t>
                        </m:r>
                        <m:r>
                          <a:rPr lang="en-US" sz="2200" b="1" i="1">
                            <a:latin typeface="Cambria Math" charset="0"/>
                          </a:rPr>
                          <m:t>𝒙</m:t>
                        </m:r>
                      </m:e>
                      <m:sup>
                        <m:d>
                          <m:dPr>
                            <m:ctrlPr>
                              <a:rPr lang="en-US" sz="22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i="1">
                                <a:latin typeface="Cambria Math" charset="0"/>
                              </a:rPr>
                              <m:t>𝑖</m:t>
                            </m:r>
                          </m:e>
                        </m:d>
                      </m:sup>
                    </m:sSup>
                    <m:r>
                      <a:rPr lang="en-US" sz="2200" i="1">
                        <a:latin typeface="Cambria Math" charset="0"/>
                      </a:rPr>
                      <m:t>|</m:t>
                    </m:r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>
                                <a:latin typeface="Cambria Math" charset="0"/>
                              </a:rPr>
                              <m:t>​</m:t>
                            </m:r>
                          </m:e>
                        </m:d>
                      </m:e>
                      <m:sup>
                        <m:r>
                          <a:rPr lang="en-US" sz="2200" i="1">
                            <a:latin typeface="Cambria Math" charset="0"/>
                          </a:rPr>
                          <m:t>2</m:t>
                        </m:r>
                      </m:sup>
                    </m:sSup>
                  </m:oMath>
                </a14:m>
                <a:endParaRPr lang="en-IN" sz="2200" dirty="0"/>
              </a:p>
              <a:p>
                <a:pPr marL="342900" indent="-342900">
                  <a:buFont typeface="Arial" charset="0"/>
                  <a:buChar char="•"/>
                </a:pPr>
                <a:endParaRPr lang="en-IN" sz="2200" dirty="0"/>
              </a:p>
              <a:p>
                <a:pPr marL="342900" indent="-342900">
                  <a:buFont typeface="Arial" charset="0"/>
                  <a:buChar char="•"/>
                </a:pPr>
                <a:r>
                  <a:rPr lang="en-IN" sz="2400" dirty="0"/>
                  <a:t>Let us consider the case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charset="0"/>
                          </a:rPr>
                          <m:t>𝑦</m:t>
                        </m:r>
                      </m:e>
                      <m:sup>
                        <m:d>
                          <m:dPr>
                            <m:ctrlPr>
                              <a:rPr lang="en-US" sz="24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prstClr val="black"/>
                                </a:solidFill>
                                <a:latin typeface="Cambria Math" charset="0"/>
                              </a:rPr>
                              <m:t>𝑖</m:t>
                            </m:r>
                          </m:e>
                        </m:d>
                      </m:sup>
                    </m:sSup>
                    <m:r>
                      <a:rPr lang="en-US" sz="2400" b="1" i="1">
                        <a:solidFill>
                          <a:prstClr val="black"/>
                        </a:solidFill>
                        <a:latin typeface="Cambria Math" charset="0"/>
                      </a:rPr>
                      <m:t>=+</m:t>
                    </m:r>
                    <m:r>
                      <a:rPr lang="en-US" sz="2400" i="1">
                        <a:solidFill>
                          <a:prstClr val="black"/>
                        </a:solidFill>
                        <a:latin typeface="Cambria Math" charset="0"/>
                      </a:rPr>
                      <m:t>1</m:t>
                    </m:r>
                  </m:oMath>
                </a14:m>
                <a:r>
                  <a:rPr lang="en-IN" sz="2400" dirty="0"/>
                  <a:t> first.</a:t>
                </a:r>
              </a:p>
              <a:p>
                <a:pPr marL="342900" indent="-342900">
                  <a:buFont typeface="Arial" charset="0"/>
                  <a:buChar char="•"/>
                </a:pPr>
                <a:endParaRPr lang="en-IN" sz="2400" dirty="0"/>
              </a:p>
              <a:p>
                <a:pPr marL="342900" indent="-342900">
                  <a:buFont typeface="Arial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charset="0"/>
                          </a:rPr>
                          <m:t>||</m:t>
                        </m:r>
                        <m:r>
                          <a:rPr lang="en-US" sz="2400" b="1" i="1">
                            <a:latin typeface="Cambria Math" charset="0"/>
                          </a:rPr>
                          <m:t>𝒘</m:t>
                        </m:r>
                      </m:e>
                      <m:sup>
                        <m:r>
                          <a:rPr lang="en-US" sz="2400" i="1">
                            <a:latin typeface="Cambria Math" charset="0"/>
                          </a:rPr>
                          <m:t>′</m:t>
                        </m:r>
                      </m:sup>
                    </m:sSup>
                    <m:r>
                      <a:rPr lang="en-US" sz="2400" i="1">
                        <a:latin typeface="Cambria Math" charset="0"/>
                      </a:rPr>
                      <m:t>|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>
                                <a:latin typeface="Cambria Math" charset="0"/>
                              </a:rPr>
                              <m:t>​</m:t>
                            </m:r>
                          </m:e>
                        </m:d>
                      </m:e>
                      <m:sup>
                        <m:r>
                          <a:rPr lang="en-US" sz="2400" i="1"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charset="0"/>
                      </a:rPr>
                      <m:t>=</m:t>
                    </m:r>
                    <m:sSup>
                      <m:sSupPr>
                        <m:ctrlPr>
                          <a:rPr lang="en-US" sz="2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4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40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1" i="1">
                                    <a:solidFill>
                                      <a:prstClr val="black"/>
                                    </a:solidFill>
                                    <a:latin typeface="Cambria Math" charset="0"/>
                                  </a:rPr>
                                  <m:t>𝒘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solidFill>
                          <a:prstClr val="black"/>
                        </a:solidFill>
                        <a:latin typeface="Cambria Math" charset="0"/>
                      </a:rPr>
                      <m:t>+2</m:t>
                    </m:r>
                    <m:sSup>
                      <m:sSupPr>
                        <m:ctrlPr>
                          <a:rPr lang="en-US" sz="2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40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1" i="1">
                                    <a:solidFill>
                                      <a:prstClr val="black"/>
                                    </a:solidFill>
                                    <a:latin typeface="Cambria Math" charset="0"/>
                                  </a:rPr>
                                  <m:t>𝒙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sz="2400" b="1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solidFill>
                                          <a:prstClr val="black"/>
                                        </a:solidFill>
                                        <a:latin typeface="Cambria Math" charset="0"/>
                                      </a:rPr>
                                      <m:t>𝑖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e>
                      <m:sup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charset="0"/>
                          </a:rPr>
                          <m:t>𝑇</m:t>
                        </m:r>
                      </m:sup>
                    </m:sSup>
                    <m:r>
                      <a:rPr lang="en-US" sz="2400" b="1" i="1">
                        <a:solidFill>
                          <a:prstClr val="black"/>
                        </a:solidFill>
                        <a:latin typeface="Cambria Math" charset="0"/>
                      </a:rPr>
                      <m:t>𝒘</m:t>
                    </m:r>
                    <m:r>
                      <a:rPr lang="en-US" sz="2400" i="1">
                        <a:solidFill>
                          <a:prstClr val="black"/>
                        </a:solidFill>
                        <a:latin typeface="Cambria Math" charset="0"/>
                      </a:rPr>
                      <m:t>+</m:t>
                    </m:r>
                    <m:sSup>
                      <m:sSupPr>
                        <m:ctrlPr>
                          <a:rPr lang="en-US" sz="2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solidFill>
                              <a:prstClr val="black"/>
                            </a:solidFill>
                            <a:latin typeface="Cambria Math" charset="0"/>
                          </a:rPr>
                          <m:t>||</m:t>
                        </m:r>
                        <m:r>
                          <a:rPr lang="en-US" sz="2400" b="1" i="1">
                            <a:solidFill>
                              <a:prstClr val="black"/>
                            </a:solidFill>
                            <a:latin typeface="Cambria Math" charset="0"/>
                          </a:rPr>
                          <m:t>𝒙</m:t>
                        </m:r>
                      </m:e>
                      <m:sup>
                        <m:d>
                          <m:dPr>
                            <m:ctrlPr>
                              <a:rPr lang="en-US" sz="24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prstClr val="black"/>
                                </a:solidFill>
                                <a:latin typeface="Cambria Math" charset="0"/>
                              </a:rPr>
                              <m:t>𝑖</m:t>
                            </m:r>
                          </m:e>
                        </m:d>
                      </m:sup>
                    </m:sSup>
                    <m:r>
                      <a:rPr lang="en-US" sz="2400" i="1">
                        <a:solidFill>
                          <a:prstClr val="black"/>
                        </a:solidFill>
                        <a:latin typeface="Cambria Math" charset="0"/>
                      </a:rPr>
                      <m:t>|</m:t>
                    </m:r>
                    <m:sSup>
                      <m:sSupPr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>
                                <a:solidFill>
                                  <a:prstClr val="black"/>
                                </a:solidFill>
                                <a:latin typeface="Cambria Math" charset="0"/>
                              </a:rPr>
                              <m:t>​</m:t>
                            </m:r>
                          </m:e>
                        </m:d>
                      </m:e>
                      <m:sup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charset="0"/>
                          </a:rPr>
                          <m:t>2</m:t>
                        </m:r>
                      </m:sup>
                    </m:sSup>
                  </m:oMath>
                </a14:m>
                <a:endParaRPr lang="en-IN" sz="2400" dirty="0"/>
              </a:p>
              <a:p>
                <a:pPr marL="342900" indent="-342900">
                  <a:buFont typeface="Arial" charset="0"/>
                  <a:buChar char="•"/>
                </a:pPr>
                <a:endParaRPr lang="en-IN" sz="2400" dirty="0"/>
              </a:p>
              <a:p>
                <a:pPr marL="342900" indent="-342900">
                  <a:buFont typeface="Arial" charset="0"/>
                  <a:buChar char="•"/>
                </a:pPr>
                <a:endParaRPr lang="en-IN" sz="2400" dirty="0"/>
              </a:p>
              <a:p>
                <a:pPr marL="342900" indent="-342900">
                  <a:buFont typeface="Arial" charset="0"/>
                  <a:buChar char="•"/>
                </a:pPr>
                <a:endParaRPr lang="en-IN" sz="2400" dirty="0"/>
              </a:p>
              <a:p>
                <a:pPr marL="342900" indent="-342900">
                  <a:buFont typeface="Arial" charset="0"/>
                  <a:buChar char="•"/>
                </a:pPr>
                <a:endParaRPr lang="en-IN" sz="2400" dirty="0"/>
              </a:p>
              <a:p>
                <a:pPr marL="342900" indent="-342900">
                  <a:buFont typeface="Arial" charset="0"/>
                  <a:buChar char="•"/>
                </a:pPr>
                <a:r>
                  <a:rPr lang="en-IN" sz="2400" dirty="0"/>
                  <a:t>So,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charset="0"/>
                          </a:rPr>
                          <m:t>||</m:t>
                        </m:r>
                        <m:r>
                          <a:rPr lang="en-US" sz="2400" b="1" i="1">
                            <a:latin typeface="Cambria Math" charset="0"/>
                          </a:rPr>
                          <m:t>𝒘</m:t>
                        </m:r>
                      </m:e>
                      <m:sup>
                        <m:r>
                          <a:rPr lang="en-US" sz="2400" i="1">
                            <a:latin typeface="Cambria Math" charset="0"/>
                          </a:rPr>
                          <m:t>′</m:t>
                        </m:r>
                      </m:sup>
                    </m:sSup>
                    <m:r>
                      <a:rPr lang="en-US" sz="2400" i="1">
                        <a:latin typeface="Cambria Math" charset="0"/>
                      </a:rPr>
                      <m:t>|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>
                                <a:latin typeface="Cambria Math" charset="0"/>
                              </a:rPr>
                              <m:t>​</m:t>
                            </m:r>
                          </m:e>
                        </m:d>
                      </m:e>
                      <m:sup>
                        <m:r>
                          <a:rPr lang="en-US" sz="2400" i="1"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sz="2400" b="1" i="1" smtClean="0">
                        <a:latin typeface="Cambria Math" charset="0"/>
                      </a:rPr>
                      <m:t>≤</m:t>
                    </m:r>
                    <m:sSup>
                      <m:sSupPr>
                        <m:ctrlPr>
                          <a:rPr lang="en-US" sz="2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4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40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1" i="1">
                                    <a:solidFill>
                                      <a:prstClr val="black"/>
                                    </a:solidFill>
                                    <a:latin typeface="Cambria Math" charset="0"/>
                                  </a:rPr>
                                  <m:t>𝒘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solidFill>
                          <a:prstClr val="black"/>
                        </a:solidFill>
                        <a:latin typeface="Cambria Math" charset="0"/>
                      </a:rPr>
                      <m:t>+1</m:t>
                    </m:r>
                  </m:oMath>
                </a14:m>
                <a:endParaRPr lang="en-IN" sz="2400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868" y="1371009"/>
                <a:ext cx="12011132" cy="4853188"/>
              </a:xfrm>
              <a:prstGeom prst="rect">
                <a:avLst/>
              </a:prstGeom>
              <a:blipFill rotWithShape="0">
                <a:blip r:embed="rId3"/>
                <a:stretch>
                  <a:fillRect l="-711" t="-11935" b="-16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2012197" y="6356350"/>
            <a:ext cx="8167606" cy="365125"/>
          </a:xfrm>
        </p:spPr>
        <p:txBody>
          <a:bodyPr/>
          <a:lstStyle/>
          <a:p>
            <a:r>
              <a:rPr lang="en-US"/>
              <a:t>CS21206 / FAIML | Perceptron (c) Abir Das, Ayan Chaudhury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9844" y="6356350"/>
            <a:ext cx="783956" cy="365125"/>
          </a:xfrm>
        </p:spPr>
        <p:txBody>
          <a:bodyPr/>
          <a:lstStyle/>
          <a:p>
            <a:fld id="{683B8651-0143-4140-839E-3D36292080E8}" type="slidenum">
              <a:rPr lang="en-US" smtClean="0"/>
              <a:t>13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33546" y="4471284"/>
                <a:ext cx="4028592" cy="103759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This is negative as update occurs only on misclassification and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charset="0"/>
                          </a:rPr>
                          <m:t>𝑦</m:t>
                        </m:r>
                      </m:e>
                      <m:sup>
                        <m:d>
                          <m:dPr>
                            <m:ctrlPr>
                              <a:rPr lang="en-US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 charset="0"/>
                              </a:rPr>
                              <m:t>𝑖</m:t>
                            </m:r>
                          </m:e>
                        </m:d>
                      </m:sup>
                    </m:sSup>
                    <m:r>
                      <a:rPr lang="en-US" b="1" i="1">
                        <a:solidFill>
                          <a:prstClr val="black"/>
                        </a:solidFill>
                        <a:latin typeface="Cambria Math" charset="0"/>
                      </a:rPr>
                      <m:t>=+</m:t>
                    </m:r>
                    <m:r>
                      <a:rPr lang="en-US" i="1">
                        <a:solidFill>
                          <a:prstClr val="black"/>
                        </a:solidFill>
                        <a:latin typeface="Cambria Math" charset="0"/>
                      </a:rPr>
                      <m:t>1</m:t>
                    </m:r>
                  </m:oMath>
                </a14:m>
                <a:r>
                  <a:rPr lang="en-US" dirty="0"/>
                  <a:t>, misclassification means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>
                                    <a:solidFill>
                                      <a:prstClr val="black"/>
                                    </a:solidFill>
                                    <a:latin typeface="Cambria Math" charset="0"/>
                                  </a:rPr>
                                  <m:t>𝒙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b="1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solidFill>
                                          <a:prstClr val="black"/>
                                        </a:solidFill>
                                        <a:latin typeface="Cambria Math" charset="0"/>
                                      </a:rPr>
                                      <m:t>𝑖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e>
                      <m:sup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charset="0"/>
                          </a:rPr>
                          <m:t>𝑇</m:t>
                        </m:r>
                      </m:sup>
                    </m:sSup>
                    <m:r>
                      <a:rPr lang="en-US" b="1" i="1">
                        <a:solidFill>
                          <a:prstClr val="black"/>
                        </a:solidFill>
                        <a:latin typeface="Cambria Math" charset="0"/>
                      </a:rPr>
                      <m:t>𝒘</m:t>
                    </m:r>
                    <m:r>
                      <a:rPr lang="en-US" b="0" i="1" smtClean="0">
                        <a:solidFill>
                          <a:prstClr val="black"/>
                        </a:solidFill>
                        <a:latin typeface="Cambria Math" charset="0"/>
                      </a:rPr>
                      <m:t>≤0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546" y="4471284"/>
                <a:ext cx="4028592" cy="1037592"/>
              </a:xfrm>
              <a:prstGeom prst="rect">
                <a:avLst/>
              </a:prstGeom>
              <a:blipFill rotWithShape="0">
                <a:blip r:embed="rId4"/>
                <a:stretch>
                  <a:fillRect l="-1207" t="-2312" r="-302" b="-635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938024" y="4471284"/>
                <a:ext cx="4028592" cy="64633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This is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prstClr val="black"/>
                        </a:solidFill>
                        <a:latin typeface="Cambria Math" charset="0"/>
                      </a:rPr>
                      <m:t>≤1</m:t>
                    </m:r>
                  </m:oMath>
                </a14:m>
                <a:r>
                  <a:rPr lang="en-US" dirty="0"/>
                  <a:t>, as we assumed every point is rescaled to unit ball.</a:t>
                </a: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8024" y="4471284"/>
                <a:ext cx="4028592" cy="646331"/>
              </a:xfrm>
              <a:prstGeom prst="rect">
                <a:avLst/>
              </a:prstGeom>
              <a:blipFill rotWithShape="0">
                <a:blip r:embed="rId5"/>
                <a:stretch>
                  <a:fillRect l="-1056" t="-3670" r="-1207" b="-1192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Curved Connector 8"/>
          <p:cNvCxnSpPr>
            <a:endCxn id="11" idx="0"/>
          </p:cNvCxnSpPr>
          <p:nvPr/>
        </p:nvCxnSpPr>
        <p:spPr>
          <a:xfrm rot="10800000" flipV="1">
            <a:off x="2347843" y="4062334"/>
            <a:ext cx="1384709" cy="408950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Curved Connector 13"/>
          <p:cNvCxnSpPr>
            <a:endCxn id="12" idx="0"/>
          </p:cNvCxnSpPr>
          <p:nvPr/>
        </p:nvCxnSpPr>
        <p:spPr>
          <a:xfrm>
            <a:off x="4967682" y="4062334"/>
            <a:ext cx="1984638" cy="408950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159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11" grpId="0" animBg="1"/>
      <p:bldP spid="1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 txBox="1"/>
          <p:nvPr/>
        </p:nvSpPr>
        <p:spPr>
          <a:xfrm>
            <a:off x="674557" y="832857"/>
            <a:ext cx="10088381" cy="8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434343"/>
                </a:solidFill>
              </a:rPr>
              <a:t>Perceptron Learning Algorithm </a:t>
            </a:r>
            <a:r>
              <a:rPr lang="mr-IN" sz="3200" dirty="0">
                <a:solidFill>
                  <a:srgbClr val="434343"/>
                </a:solidFill>
              </a:rPr>
              <a:t>–</a:t>
            </a:r>
            <a:r>
              <a:rPr lang="en-US" sz="3200" dirty="0">
                <a:solidFill>
                  <a:srgbClr val="434343"/>
                </a:solidFill>
              </a:rPr>
              <a:t> Convergence Proof</a:t>
            </a:r>
            <a:endParaRPr sz="3200" dirty="0">
              <a:solidFill>
                <a:srgbClr val="434343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/>
              <p:cNvSpPr txBox="1"/>
              <p:nvPr/>
            </p:nvSpPr>
            <p:spPr>
              <a:xfrm>
                <a:off x="180868" y="1371009"/>
                <a:ext cx="12011132" cy="4556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charset="0"/>
                  <a:buChar char="•"/>
                </a:pPr>
                <a:r>
                  <a:rPr lang="en-IN" sz="2400" dirty="0"/>
                  <a:t>Let us now consider the case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charset="0"/>
                          </a:rPr>
                          <m:t>𝑦</m:t>
                        </m:r>
                      </m:e>
                      <m:sup>
                        <m:d>
                          <m:dPr>
                            <m:ctrlPr>
                              <a:rPr lang="en-US" sz="24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prstClr val="black"/>
                                </a:solidFill>
                                <a:latin typeface="Cambria Math" charset="0"/>
                              </a:rPr>
                              <m:t>𝑖</m:t>
                            </m:r>
                          </m:e>
                        </m:d>
                      </m:sup>
                    </m:sSup>
                    <m:r>
                      <a:rPr lang="en-US" sz="2400" b="1" i="1">
                        <a:solidFill>
                          <a:prstClr val="black"/>
                        </a:solidFill>
                        <a:latin typeface="Cambria Math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prstClr val="black"/>
                        </a:solidFill>
                        <a:latin typeface="Cambria Math" charset="0"/>
                      </a:rPr>
                      <m:t>−</m:t>
                    </m:r>
                    <m:r>
                      <a:rPr lang="en-US" sz="2400" i="1">
                        <a:solidFill>
                          <a:prstClr val="black"/>
                        </a:solidFill>
                        <a:latin typeface="Cambria Math" charset="0"/>
                      </a:rPr>
                      <m:t>1</m:t>
                    </m:r>
                  </m:oMath>
                </a14:m>
                <a:r>
                  <a:rPr lang="en-IN" sz="2400" dirty="0"/>
                  <a:t>.</a:t>
                </a:r>
              </a:p>
              <a:p>
                <a:pPr marL="342900" indent="-342900">
                  <a:buFont typeface="Arial" charset="0"/>
                  <a:buChar char="•"/>
                </a:pPr>
                <a:endParaRPr lang="en-IN" sz="2400" dirty="0"/>
              </a:p>
              <a:p>
                <a:pPr marL="342900" indent="-342900">
                  <a:buFont typeface="Arial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charset="0"/>
                          </a:rPr>
                          <m:t>||</m:t>
                        </m:r>
                        <m:r>
                          <a:rPr lang="en-US" sz="2400" b="1" i="1">
                            <a:latin typeface="Cambria Math" charset="0"/>
                          </a:rPr>
                          <m:t>𝒘</m:t>
                        </m:r>
                      </m:e>
                      <m:sup>
                        <m:r>
                          <a:rPr lang="en-US" sz="2400" i="1">
                            <a:latin typeface="Cambria Math" charset="0"/>
                          </a:rPr>
                          <m:t>′</m:t>
                        </m:r>
                      </m:sup>
                    </m:sSup>
                    <m:r>
                      <a:rPr lang="en-US" sz="2400" i="1">
                        <a:latin typeface="Cambria Math" charset="0"/>
                      </a:rPr>
                      <m:t>|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>
                                <a:latin typeface="Cambria Math" charset="0"/>
                              </a:rPr>
                              <m:t>​</m:t>
                            </m:r>
                          </m:e>
                        </m:d>
                      </m:e>
                      <m:sup>
                        <m:r>
                          <a:rPr lang="en-US" sz="2400" i="1"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charset="0"/>
                      </a:rPr>
                      <m:t>=</m:t>
                    </m:r>
                    <m:sSup>
                      <m:sSupPr>
                        <m:ctrlPr>
                          <a:rPr lang="en-US" sz="2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4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40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1" i="1">
                                    <a:solidFill>
                                      <a:prstClr val="black"/>
                                    </a:solidFill>
                                    <a:latin typeface="Cambria Math" charset="0"/>
                                  </a:rPr>
                                  <m:t>𝒘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solidFill>
                          <a:prstClr val="black"/>
                        </a:solidFill>
                        <a:latin typeface="Cambria Math" charset="0"/>
                      </a:rPr>
                      <m:t>−</m:t>
                    </m:r>
                    <m:r>
                      <a:rPr lang="en-US" sz="2400" i="1">
                        <a:solidFill>
                          <a:prstClr val="black"/>
                        </a:solidFill>
                        <a:latin typeface="Cambria Math" charset="0"/>
                      </a:rPr>
                      <m:t>2</m:t>
                    </m:r>
                    <m:sSup>
                      <m:sSupPr>
                        <m:ctrlPr>
                          <a:rPr lang="en-US" sz="2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40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1" i="1">
                                    <a:solidFill>
                                      <a:prstClr val="black"/>
                                    </a:solidFill>
                                    <a:latin typeface="Cambria Math" charset="0"/>
                                  </a:rPr>
                                  <m:t>𝒙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sz="2400" b="1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solidFill>
                                          <a:prstClr val="black"/>
                                        </a:solidFill>
                                        <a:latin typeface="Cambria Math" charset="0"/>
                                      </a:rPr>
                                      <m:t>𝑖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e>
                      <m:sup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charset="0"/>
                          </a:rPr>
                          <m:t>𝑇</m:t>
                        </m:r>
                      </m:sup>
                    </m:sSup>
                    <m:r>
                      <a:rPr lang="en-US" sz="2400" b="1" i="1">
                        <a:solidFill>
                          <a:prstClr val="black"/>
                        </a:solidFill>
                        <a:latin typeface="Cambria Math" charset="0"/>
                      </a:rPr>
                      <m:t>𝒘</m:t>
                    </m:r>
                    <m:r>
                      <a:rPr lang="en-US" sz="2400" i="1">
                        <a:solidFill>
                          <a:prstClr val="black"/>
                        </a:solidFill>
                        <a:latin typeface="Cambria Math" charset="0"/>
                      </a:rPr>
                      <m:t>+</m:t>
                    </m:r>
                    <m:sSup>
                      <m:sSupPr>
                        <m:ctrlPr>
                          <a:rPr lang="en-US" sz="2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solidFill>
                              <a:prstClr val="black"/>
                            </a:solidFill>
                            <a:latin typeface="Cambria Math" charset="0"/>
                          </a:rPr>
                          <m:t>||</m:t>
                        </m:r>
                        <m:r>
                          <a:rPr lang="en-US" sz="2400" b="1" i="1">
                            <a:solidFill>
                              <a:prstClr val="black"/>
                            </a:solidFill>
                            <a:latin typeface="Cambria Math" charset="0"/>
                          </a:rPr>
                          <m:t>𝒙</m:t>
                        </m:r>
                      </m:e>
                      <m:sup>
                        <m:d>
                          <m:dPr>
                            <m:ctrlPr>
                              <a:rPr lang="en-US" sz="24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prstClr val="black"/>
                                </a:solidFill>
                                <a:latin typeface="Cambria Math" charset="0"/>
                              </a:rPr>
                              <m:t>𝑖</m:t>
                            </m:r>
                          </m:e>
                        </m:d>
                      </m:sup>
                    </m:sSup>
                    <m:r>
                      <a:rPr lang="en-US" sz="2400" i="1">
                        <a:solidFill>
                          <a:prstClr val="black"/>
                        </a:solidFill>
                        <a:latin typeface="Cambria Math" charset="0"/>
                      </a:rPr>
                      <m:t>|</m:t>
                    </m:r>
                    <m:sSup>
                      <m:sSupPr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>
                                <a:solidFill>
                                  <a:prstClr val="black"/>
                                </a:solidFill>
                                <a:latin typeface="Cambria Math" charset="0"/>
                              </a:rPr>
                              <m:t>​</m:t>
                            </m:r>
                          </m:e>
                        </m:d>
                      </m:e>
                      <m:sup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charset="0"/>
                          </a:rPr>
                          <m:t>2</m:t>
                        </m:r>
                      </m:sup>
                    </m:sSup>
                  </m:oMath>
                </a14:m>
                <a:endParaRPr lang="en-IN" sz="2400" dirty="0"/>
              </a:p>
              <a:p>
                <a:pPr marL="342900" indent="-342900">
                  <a:buFont typeface="Arial" charset="0"/>
                  <a:buChar char="•"/>
                </a:pPr>
                <a:endParaRPr lang="en-IN" sz="2400" dirty="0"/>
              </a:p>
              <a:p>
                <a:pPr marL="342900" indent="-342900">
                  <a:buFont typeface="Arial" charset="0"/>
                  <a:buChar char="•"/>
                </a:pPr>
                <a:r>
                  <a:rPr lang="en-IN" sz="2400" dirty="0"/>
                  <a:t>Using similar arguments,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40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1" i="1">
                                    <a:solidFill>
                                      <a:prstClr val="black"/>
                                    </a:solidFill>
                                    <a:latin typeface="Cambria Math" charset="0"/>
                                  </a:rPr>
                                  <m:t>𝒙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sz="2400" b="1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solidFill>
                                          <a:prstClr val="black"/>
                                        </a:solidFill>
                                        <a:latin typeface="Cambria Math" charset="0"/>
                                      </a:rPr>
                                      <m:t>𝑖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e>
                      <m:sup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charset="0"/>
                          </a:rPr>
                          <m:t>𝑇</m:t>
                        </m:r>
                      </m:sup>
                    </m:sSup>
                    <m:r>
                      <a:rPr lang="en-US" sz="2400" b="1" i="1">
                        <a:solidFill>
                          <a:prstClr val="black"/>
                        </a:solidFill>
                        <a:latin typeface="Cambria Math" charset="0"/>
                      </a:rPr>
                      <m:t>𝒘</m:t>
                    </m:r>
                    <m:r>
                      <a:rPr lang="en-US" sz="2400" b="1" i="1" smtClean="0">
                        <a:solidFill>
                          <a:prstClr val="black"/>
                        </a:solidFill>
                        <a:latin typeface="Cambria Math" charset="0"/>
                      </a:rPr>
                      <m:t>≥</m:t>
                    </m:r>
                    <m:r>
                      <a:rPr lang="en-US" sz="2400" b="0" i="1" smtClean="0">
                        <a:solidFill>
                          <a:prstClr val="black"/>
                        </a:solidFill>
                        <a:latin typeface="Cambria Math" charset="0"/>
                      </a:rPr>
                      <m:t>0</m:t>
                    </m:r>
                  </m:oMath>
                </a14:m>
                <a:r>
                  <a:rPr lang="en-IN" sz="2400" dirty="0"/>
                  <a:t>, so,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solidFill>
                          <a:prstClr val="black"/>
                        </a:solidFill>
                        <a:latin typeface="Cambria Math" charset="0"/>
                      </a:rPr>
                      <m:t>−2</m:t>
                    </m:r>
                    <m:sSup>
                      <m:sSupPr>
                        <m:ctrlPr>
                          <a:rPr lang="en-US" sz="2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40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1" i="1">
                                    <a:solidFill>
                                      <a:prstClr val="black"/>
                                    </a:solidFill>
                                    <a:latin typeface="Cambria Math" charset="0"/>
                                  </a:rPr>
                                  <m:t>𝒙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sz="2400" b="1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solidFill>
                                          <a:prstClr val="black"/>
                                        </a:solidFill>
                                        <a:latin typeface="Cambria Math" charset="0"/>
                                      </a:rPr>
                                      <m:t>𝑖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e>
                      <m:sup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charset="0"/>
                          </a:rPr>
                          <m:t>𝑇</m:t>
                        </m:r>
                      </m:sup>
                    </m:sSup>
                    <m:r>
                      <a:rPr lang="en-US" sz="2400" b="1" i="1">
                        <a:solidFill>
                          <a:prstClr val="black"/>
                        </a:solidFill>
                        <a:latin typeface="Cambria Math" charset="0"/>
                      </a:rPr>
                      <m:t>𝒘</m:t>
                    </m:r>
                    <m:r>
                      <a:rPr lang="en-US" sz="2400" b="1" i="1" smtClean="0">
                        <a:solidFill>
                          <a:prstClr val="black"/>
                        </a:solidFill>
                        <a:latin typeface="Cambria Math" charset="0"/>
                      </a:rPr>
                      <m:t>≤</m:t>
                    </m:r>
                    <m:r>
                      <a:rPr lang="en-US" sz="2400" i="1">
                        <a:solidFill>
                          <a:prstClr val="black"/>
                        </a:solidFill>
                        <a:latin typeface="Cambria Math" charset="0"/>
                      </a:rPr>
                      <m:t>0</m:t>
                    </m:r>
                  </m:oMath>
                </a14:m>
                <a:r>
                  <a:rPr lang="en-IN" sz="2400" dirty="0"/>
                  <a:t> and also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solidFill>
                              <a:prstClr val="black"/>
                            </a:solidFill>
                            <a:latin typeface="Cambria Math" charset="0"/>
                          </a:rPr>
                          <m:t>||</m:t>
                        </m:r>
                        <m:r>
                          <a:rPr lang="en-US" sz="2400" b="1" i="1">
                            <a:solidFill>
                              <a:prstClr val="black"/>
                            </a:solidFill>
                            <a:latin typeface="Cambria Math" charset="0"/>
                          </a:rPr>
                          <m:t>𝒙</m:t>
                        </m:r>
                      </m:e>
                      <m:sup>
                        <m:d>
                          <m:dPr>
                            <m:ctrlPr>
                              <a:rPr lang="en-US" sz="24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prstClr val="black"/>
                                </a:solidFill>
                                <a:latin typeface="Cambria Math" charset="0"/>
                              </a:rPr>
                              <m:t>𝑖</m:t>
                            </m:r>
                          </m:e>
                        </m:d>
                      </m:sup>
                    </m:sSup>
                    <m:r>
                      <a:rPr lang="en-US" sz="2400" i="1">
                        <a:solidFill>
                          <a:prstClr val="black"/>
                        </a:solidFill>
                        <a:latin typeface="Cambria Math" charset="0"/>
                      </a:rPr>
                      <m:t>|</m:t>
                    </m:r>
                    <m:sSup>
                      <m:sSupPr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>
                                <a:solidFill>
                                  <a:prstClr val="black"/>
                                </a:solidFill>
                                <a:latin typeface="Cambria Math" charset="0"/>
                              </a:rPr>
                              <m:t>​</m:t>
                            </m:r>
                          </m:e>
                        </m:d>
                      </m:e>
                      <m:sup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solidFill>
                          <a:prstClr val="black"/>
                        </a:solidFill>
                        <a:latin typeface="Cambria Math" charset="0"/>
                      </a:rPr>
                      <m:t>≤1</m:t>
                    </m:r>
                  </m:oMath>
                </a14:m>
                <a:endParaRPr lang="en-IN" sz="2400" dirty="0"/>
              </a:p>
              <a:p>
                <a:pPr marL="342900" indent="-342900">
                  <a:buFont typeface="Arial" charset="0"/>
                  <a:buChar char="•"/>
                </a:pPr>
                <a:endParaRPr lang="en-IN" sz="2400" dirty="0"/>
              </a:p>
              <a:p>
                <a:pPr marL="342900" indent="-342900">
                  <a:buFont typeface="Arial" charset="0"/>
                  <a:buChar char="•"/>
                </a:pPr>
                <a:endParaRPr lang="en-IN" sz="2400" dirty="0"/>
              </a:p>
              <a:p>
                <a:pPr marL="342900" indent="-342900">
                  <a:buFont typeface="Arial" charset="0"/>
                  <a:buChar char="•"/>
                </a:pPr>
                <a:r>
                  <a:rPr lang="en-IN" sz="2400" dirty="0"/>
                  <a:t>So, here also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charset="0"/>
                          </a:rPr>
                          <m:t>||</m:t>
                        </m:r>
                        <m:r>
                          <a:rPr lang="en-US" sz="2400" b="1" i="1">
                            <a:latin typeface="Cambria Math" charset="0"/>
                          </a:rPr>
                          <m:t>𝒘</m:t>
                        </m:r>
                      </m:e>
                      <m:sup>
                        <m:r>
                          <a:rPr lang="en-US" sz="2400" i="1">
                            <a:latin typeface="Cambria Math" charset="0"/>
                          </a:rPr>
                          <m:t>′</m:t>
                        </m:r>
                      </m:sup>
                    </m:sSup>
                    <m:r>
                      <a:rPr lang="en-US" sz="2400" i="1">
                        <a:latin typeface="Cambria Math" charset="0"/>
                      </a:rPr>
                      <m:t>|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>
                                <a:latin typeface="Cambria Math" charset="0"/>
                              </a:rPr>
                              <m:t>​</m:t>
                            </m:r>
                          </m:e>
                        </m:d>
                      </m:e>
                      <m:sup>
                        <m:r>
                          <a:rPr lang="en-US" sz="2400" i="1"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sz="2400" b="1" i="1" smtClean="0">
                        <a:latin typeface="Cambria Math" charset="0"/>
                      </a:rPr>
                      <m:t>≤</m:t>
                    </m:r>
                    <m:sSup>
                      <m:sSupPr>
                        <m:ctrlPr>
                          <a:rPr lang="en-US" sz="2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4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40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1" i="1">
                                    <a:solidFill>
                                      <a:prstClr val="black"/>
                                    </a:solidFill>
                                    <a:latin typeface="Cambria Math" charset="0"/>
                                  </a:rPr>
                                  <m:t>𝒘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solidFill>
                          <a:prstClr val="black"/>
                        </a:solidFill>
                        <a:latin typeface="Cambria Math" charset="0"/>
                      </a:rPr>
                      <m:t>+1</m:t>
                    </m:r>
                  </m:oMath>
                </a14:m>
                <a:endParaRPr lang="en-IN" sz="2400" dirty="0"/>
              </a:p>
              <a:p>
                <a:pPr marL="342900" indent="-342900">
                  <a:buFont typeface="Arial" charset="0"/>
                  <a:buChar char="•"/>
                </a:pPr>
                <a:endParaRPr lang="en-IN" sz="2400" dirty="0"/>
              </a:p>
              <a:p>
                <a:pPr marL="342900" indent="-342900">
                  <a:buFont typeface="Arial" charset="0"/>
                  <a:buChar char="•"/>
                </a:pPr>
                <a:r>
                  <a:rPr lang="en-IN" sz="2400" dirty="0"/>
                  <a:t>So, the length of the updated vector can get modified and that too in a controlled way. </a:t>
                </a:r>
                <a:r>
                  <a:rPr lang="en-IN" sz="2400" dirty="0">
                    <a:solidFill>
                      <a:srgbClr val="FF0000"/>
                    </a:solidFill>
                    <a:sym typeface="Wingdings"/>
                  </a:rPr>
                  <a:t> Observation 2</a:t>
                </a:r>
                <a:endParaRPr lang="en-IN" sz="24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868" y="1371009"/>
                <a:ext cx="12011132" cy="4556055"/>
              </a:xfrm>
              <a:prstGeom prst="rect">
                <a:avLst/>
              </a:prstGeom>
              <a:blipFill>
                <a:blip r:embed="rId3"/>
                <a:stretch>
                  <a:fillRect l="-739" t="-279" b="-22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2012197" y="6356350"/>
            <a:ext cx="8167606" cy="365125"/>
          </a:xfrm>
        </p:spPr>
        <p:txBody>
          <a:bodyPr/>
          <a:lstStyle/>
          <a:p>
            <a:r>
              <a:rPr lang="en-US"/>
              <a:t>CS21206 / FAIML | Perceptron (c) Abir Das, Ayan Chaudhury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9844" y="6356350"/>
            <a:ext cx="783956" cy="365125"/>
          </a:xfrm>
        </p:spPr>
        <p:txBody>
          <a:bodyPr/>
          <a:lstStyle/>
          <a:p>
            <a:fld id="{683B8651-0143-4140-839E-3D36292080E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2289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 txBox="1"/>
          <p:nvPr/>
        </p:nvSpPr>
        <p:spPr>
          <a:xfrm>
            <a:off x="674557" y="832857"/>
            <a:ext cx="10088381" cy="8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434343"/>
                </a:solidFill>
              </a:rPr>
              <a:t>Perceptron Learning Algorithm </a:t>
            </a:r>
            <a:r>
              <a:rPr lang="mr-IN" sz="3200" dirty="0">
                <a:solidFill>
                  <a:srgbClr val="434343"/>
                </a:solidFill>
              </a:rPr>
              <a:t>–</a:t>
            </a:r>
            <a:r>
              <a:rPr lang="en-US" sz="3200" dirty="0">
                <a:solidFill>
                  <a:srgbClr val="434343"/>
                </a:solidFill>
              </a:rPr>
              <a:t> Convergence Proof</a:t>
            </a:r>
            <a:endParaRPr sz="3200" dirty="0">
              <a:solidFill>
                <a:srgbClr val="434343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180868" y="1371009"/>
                <a:ext cx="12011132" cy="43073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charset="0"/>
                  <a:buChar char="•"/>
                </a:pPr>
                <a:r>
                  <a:rPr lang="en-IN" sz="2400" dirty="0"/>
                  <a:t>Say after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charset="0"/>
                      </a:rPr>
                      <m:t>𝑘</m:t>
                    </m:r>
                  </m:oMath>
                </a14:m>
                <a:r>
                  <a:rPr lang="en-IN" sz="2400" dirty="0"/>
                  <a:t> iterations,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prstClr val="black"/>
                        </a:solidFill>
                        <a:latin typeface="Cambria Math" charset="0"/>
                      </a:rPr>
                      <m:t>𝒘</m:t>
                    </m:r>
                  </m:oMath>
                </a14:m>
                <a:r>
                  <a:rPr lang="en-IN" sz="2400" dirty="0"/>
                  <a:t> is denoted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prstClr val="black"/>
                            </a:solidFill>
                            <a:latin typeface="Cambria Math" charset="0"/>
                          </a:rPr>
                          <m:t>𝒘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IN" sz="2400" dirty="0"/>
                  <a:t>.</a:t>
                </a:r>
              </a:p>
              <a:p>
                <a:pPr marL="342900" indent="-342900">
                  <a:buFont typeface="Arial" charset="0"/>
                  <a:buChar char="•"/>
                </a:pPr>
                <a:endParaRPr lang="en-IN" sz="2400" dirty="0"/>
              </a:p>
              <a:p>
                <a:pPr marL="342900" indent="-342900">
                  <a:buFont typeface="Arial" charset="0"/>
                  <a:buChar char="•"/>
                </a:pPr>
                <a:r>
                  <a:rPr lang="en-IN" sz="2400" dirty="0"/>
                  <a:t>So </a:t>
                </a:r>
                <a:r>
                  <a:rPr lang="en-IN" sz="2400" dirty="0">
                    <a:solidFill>
                      <a:srgbClr val="FF0000"/>
                    </a:solidFill>
                  </a:rPr>
                  <a:t>observation 1</a:t>
                </a:r>
                <a:r>
                  <a:rPr lang="en-IN" sz="2400" dirty="0"/>
                  <a:t> implies,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1" i="1">
                            <a:solidFill>
                              <a:prstClr val="black"/>
                            </a:solidFill>
                            <a:latin typeface="Cambria Math" charset="0"/>
                          </a:rPr>
                          <m:t>𝒘</m:t>
                        </m:r>
                      </m:e>
                      <m:sub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charset="0"/>
                          </a:rPr>
                          <m:t>𝑘</m:t>
                        </m:r>
                      </m:sub>
                      <m:sup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charset="0"/>
                          </a:rPr>
                          <m:t>𝑇</m:t>
                        </m:r>
                      </m:sup>
                    </m:sSubSup>
                    <m:sSup>
                      <m:sSupPr>
                        <m:ctrlPr>
                          <a:rPr lang="en-US" sz="2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solidFill>
                              <a:prstClr val="black"/>
                            </a:solidFill>
                            <a:latin typeface="Cambria Math" charset="0"/>
                          </a:rPr>
                          <m:t>𝒘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charset="0"/>
                          </a:rPr>
                          <m:t>∗</m:t>
                        </m:r>
                      </m:sup>
                    </m:sSup>
                    <m:r>
                      <a:rPr lang="en-US" sz="2400" b="1" i="1" smtClean="0">
                        <a:solidFill>
                          <a:prstClr val="black"/>
                        </a:solidFill>
                        <a:latin typeface="Cambria Math" charset="0"/>
                      </a:rPr>
                      <m:t>≥</m:t>
                    </m:r>
                    <m:r>
                      <a:rPr lang="en-US" sz="2400" b="0" i="1" smtClean="0">
                        <a:solidFill>
                          <a:prstClr val="black"/>
                        </a:solidFill>
                        <a:latin typeface="Cambria Math" charset="0"/>
                      </a:rPr>
                      <m:t>𝑘</m:t>
                    </m:r>
                    <m:r>
                      <a:rPr lang="en-US" sz="2400" b="0" i="1" smtClean="0">
                        <a:solidFill>
                          <a:prstClr val="black"/>
                        </a:solidFill>
                        <a:latin typeface="Cambria Math" charset="0"/>
                      </a:rPr>
                      <m:t>𝛾</m:t>
                    </m:r>
                  </m:oMath>
                </a14:m>
                <a:r>
                  <a:rPr lang="en-IN" sz="2400" dirty="0"/>
                  <a:t> and </a:t>
                </a:r>
                <a:r>
                  <a:rPr lang="en-IN" sz="2400" dirty="0">
                    <a:solidFill>
                      <a:srgbClr val="FF0000"/>
                    </a:solidFill>
                  </a:rPr>
                  <a:t>observation 2</a:t>
                </a:r>
                <a:r>
                  <a:rPr lang="en-IN" sz="2400" dirty="0"/>
                  <a:t> implies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latin typeface="Cambria Math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  <m:sup>
                        <m:r>
                          <a:rPr lang="en-US" sz="2400" b="0" i="1" smtClean="0"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charset="0"/>
                      </a:rPr>
                      <m:t>≤</m:t>
                    </m:r>
                    <m:r>
                      <a:rPr lang="en-US" sz="2400" b="0" i="1" smtClean="0">
                        <a:latin typeface="Cambria Math" charset="0"/>
                      </a:rPr>
                      <m:t>𝑘</m:t>
                    </m:r>
                  </m:oMath>
                </a14:m>
                <a:r>
                  <a:rPr lang="en-IN" sz="2400" dirty="0"/>
                  <a:t> [remember the initial value of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prstClr val="black"/>
                        </a:solidFill>
                        <a:latin typeface="Cambria Math" charset="0"/>
                      </a:rPr>
                      <m:t>𝒘</m:t>
                    </m:r>
                  </m:oMath>
                </a14:m>
                <a:r>
                  <a:rPr lang="en-IN" sz="2400" dirty="0"/>
                  <a:t> is </a:t>
                </a:r>
                <a:r>
                  <a:rPr lang="en-IN" sz="2400" b="1" dirty="0"/>
                  <a:t>0</a:t>
                </a:r>
                <a:r>
                  <a:rPr lang="en-IN" sz="2400" dirty="0"/>
                  <a:t>]</a:t>
                </a:r>
              </a:p>
              <a:p>
                <a:pPr marL="342900" indent="-342900">
                  <a:buFont typeface="Arial" charset="0"/>
                  <a:buChar char="•"/>
                </a:pPr>
                <a:endParaRPr lang="en-IN" sz="2400" dirty="0"/>
              </a:p>
              <a:p>
                <a:pPr marL="342900" indent="-342900">
                  <a:buFont typeface="Arial" charset="0"/>
                  <a:buChar char="•"/>
                </a:pPr>
                <a:r>
                  <a:rPr lang="en-IN" sz="2400" dirty="0"/>
                  <a:t>Now we have to apply the Cauchy-Swartz inequality.</a:t>
                </a:r>
              </a:p>
              <a:p>
                <a:pPr marL="342900" indent="-342900">
                  <a:buFont typeface="Arial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 i="1">
                                    <a:latin typeface="Cambria Math" charset="0"/>
                                  </a:rPr>
                                  <m:t>𝒘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</m:d>
                    <m:d>
                      <m:dPr>
                        <m:begChr m:val="|"/>
                        <m:endChr m:val="|"/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1" i="1" smtClean="0">
                                    <a:latin typeface="Cambria Math" charset="0"/>
                                  </a:rPr>
                                  <m:t>𝒘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e>
                    </m:d>
                    <m:r>
                      <a:rPr lang="en-US" sz="2400" b="1" i="1" smtClean="0">
                        <a:latin typeface="Cambria Math" charset="0"/>
                      </a:rPr>
                      <m:t>≥</m:t>
                    </m:r>
                    <m:sSubSup>
                      <m:sSubSup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1" i="1">
                            <a:latin typeface="Cambria Math" charset="0"/>
                          </a:rPr>
                          <m:t>𝒘</m:t>
                        </m:r>
                      </m:e>
                      <m:sub>
                        <m:r>
                          <a:rPr lang="en-US" sz="2400" i="1">
                            <a:latin typeface="Cambria Math" charset="0"/>
                          </a:rPr>
                          <m:t>𝑘</m:t>
                        </m:r>
                      </m:sub>
                      <m:sup>
                        <m:r>
                          <a:rPr lang="en-US" sz="2400" b="0" i="1" smtClean="0">
                            <a:latin typeface="Cambria Math" charset="0"/>
                          </a:rPr>
                          <m:t>𝑇</m:t>
                        </m:r>
                      </m:sup>
                    </m:sSubSup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charset="0"/>
                          </a:rPr>
                          <m:t>𝒘</m:t>
                        </m:r>
                      </m:e>
                      <m:sup>
                        <m:r>
                          <a:rPr lang="en-US" sz="2400" i="1">
                            <a:latin typeface="Cambria Math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IN" sz="2400" dirty="0"/>
                  <a:t> , but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4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1" i="1">
                                    <a:latin typeface="Cambria Math" charset="0"/>
                                  </a:rPr>
                                  <m:t>𝒘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e>
                    </m:d>
                    <m:r>
                      <a:rPr lang="en-US" sz="2400" b="1" i="1" smtClean="0">
                        <a:latin typeface="Cambria Math" charset="0"/>
                      </a:rPr>
                      <m:t>=</m:t>
                    </m:r>
                    <m:r>
                      <a:rPr lang="en-US" sz="2400" b="0" i="1" smtClean="0">
                        <a:latin typeface="Cambria Math" charset="0"/>
                      </a:rPr>
                      <m:t>1</m:t>
                    </m:r>
                  </m:oMath>
                </a14:m>
                <a:r>
                  <a:rPr lang="en-IN" sz="2400" dirty="0"/>
                  <a:t>, so, </a:t>
                </a:r>
              </a:p>
              <a:p>
                <a:pPr marL="342900" indent="-342900">
                  <a:buFont typeface="Arial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 i="1">
                                    <a:latin typeface="Cambria Math" charset="0"/>
                                  </a:rPr>
                                  <m:t>𝒘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sz="2400" b="1" i="1">
                        <a:latin typeface="Cambria Math" charset="0"/>
                      </a:rPr>
                      <m:t>≥</m:t>
                    </m:r>
                    <m:sSubSup>
                      <m:sSubSup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1" i="1">
                            <a:latin typeface="Cambria Math" charset="0"/>
                          </a:rPr>
                          <m:t>𝒘</m:t>
                        </m:r>
                      </m:e>
                      <m:sub>
                        <m:r>
                          <a:rPr lang="en-US" sz="2400" i="1">
                            <a:latin typeface="Cambria Math" charset="0"/>
                          </a:rPr>
                          <m:t>𝑘</m:t>
                        </m:r>
                      </m:sub>
                      <m:sup>
                        <m:r>
                          <a:rPr lang="en-US" sz="2400" i="1">
                            <a:latin typeface="Cambria Math" charset="0"/>
                          </a:rPr>
                          <m:t>𝑇</m:t>
                        </m:r>
                      </m:sup>
                    </m:sSubSup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charset="0"/>
                          </a:rPr>
                          <m:t>𝒘</m:t>
                        </m:r>
                      </m:e>
                      <m:sup>
                        <m:r>
                          <a:rPr lang="en-US" sz="2400" i="1">
                            <a:latin typeface="Cambria Math" charset="0"/>
                          </a:rPr>
                          <m:t>∗</m:t>
                        </m:r>
                      </m:sup>
                    </m:sSup>
                    <m:r>
                      <a:rPr lang="en-US" sz="2400" b="1" i="1" smtClean="0">
                        <a:latin typeface="Cambria Math" charset="0"/>
                      </a:rPr>
                      <m:t>≥</m:t>
                    </m:r>
                    <m:r>
                      <a:rPr lang="en-US" sz="2400" b="0" i="1" smtClean="0">
                        <a:latin typeface="Cambria Math" charset="0"/>
                      </a:rPr>
                      <m:t>𝑘</m:t>
                    </m:r>
                    <m:r>
                      <a:rPr lang="en-US" sz="2400" b="0" i="1" smtClean="0">
                        <a:latin typeface="Cambria Math" charset="0"/>
                      </a:rPr>
                      <m:t>𝛾</m:t>
                    </m:r>
                  </m:oMath>
                </a14:m>
                <a:r>
                  <a:rPr lang="en-IN" sz="2400" dirty="0"/>
                  <a:t> [</a:t>
                </a:r>
                <a:r>
                  <a:rPr lang="en-IN" sz="2400" dirty="0">
                    <a:solidFill>
                      <a:srgbClr val="FF0000"/>
                    </a:solidFill>
                  </a:rPr>
                  <a:t>observation 1</a:t>
                </a:r>
                <a:r>
                  <a:rPr lang="en-IN" sz="2400" dirty="0"/>
                  <a:t>]</a:t>
                </a:r>
              </a:p>
              <a:p>
                <a:pPr marL="342900" indent="-342900">
                  <a:buFont typeface="Arial" charset="0"/>
                  <a:buChar char="•"/>
                </a:pPr>
                <a:r>
                  <a:rPr lang="en-IN" sz="2400" dirty="0"/>
                  <a:t>This implies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charset="0"/>
                          </a:rPr>
                          <m:t>𝑘</m:t>
                        </m:r>
                      </m:e>
                      <m:sup>
                        <m:r>
                          <a:rPr lang="en-US" sz="2400" b="0" i="1" smtClean="0">
                            <a:latin typeface="Cambria Math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charset="0"/>
                          </a:rPr>
                          <m:t>𝛾</m:t>
                        </m:r>
                      </m:e>
                      <m:sup>
                        <m:r>
                          <a:rPr lang="en-US" sz="2400" b="0" i="1" smtClean="0"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charset="0"/>
                      </a:rPr>
                      <m:t>≤</m:t>
                    </m:r>
                    <m:sSup>
                      <m:sSup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4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4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>
                                        <a:latin typeface="Cambria Math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  <m:sup>
                        <m:r>
                          <a:rPr lang="en-US" sz="2400" b="0" i="1" smtClean="0"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sz="2400" b="1" i="1" smtClean="0">
                        <a:latin typeface="Cambria Math" charset="0"/>
                      </a:rPr>
                      <m:t>≤</m:t>
                    </m:r>
                    <m:r>
                      <a:rPr lang="en-US" sz="2400" b="0" i="1" smtClean="0">
                        <a:latin typeface="Cambria Math" charset="0"/>
                      </a:rPr>
                      <m:t>𝑘</m:t>
                    </m:r>
                  </m:oMath>
                </a14:m>
                <a:r>
                  <a:rPr lang="en-IN" sz="2400" dirty="0"/>
                  <a:t> [</a:t>
                </a:r>
                <a:r>
                  <a:rPr lang="en-IN" sz="2400" dirty="0">
                    <a:solidFill>
                      <a:srgbClr val="FF0000"/>
                    </a:solidFill>
                  </a:rPr>
                  <a:t>observation 2</a:t>
                </a:r>
                <a:r>
                  <a:rPr lang="en-IN" sz="2400" dirty="0"/>
                  <a:t>]</a:t>
                </a:r>
              </a:p>
              <a:p>
                <a:pPr marL="342900" indent="-342900">
                  <a:buFont typeface="Arial" charset="0"/>
                  <a:buChar char="•"/>
                </a:pPr>
                <a:r>
                  <a:rPr lang="en-IN" sz="2400" dirty="0"/>
                  <a:t>So,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charset="0"/>
                      </a:rPr>
                      <m:t>𝑘</m:t>
                    </m:r>
                    <m:r>
                      <a:rPr lang="en-US" sz="2400" b="0" i="1" smtClean="0">
                        <a:latin typeface="Cambria Math" charset="0"/>
                      </a:rPr>
                      <m:t>≤</m:t>
                    </m:r>
                    <m:f>
                      <m:fPr>
                        <m:ctrlPr>
                          <a:rPr lang="mr-IN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charset="0"/>
                              </a:rPr>
                              <m:t>𝛾</m:t>
                            </m:r>
                          </m:e>
                          <m:sup>
                            <m:r>
                              <a:rPr lang="en-US" sz="2400" i="1">
                                <a:latin typeface="Cambria Math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IN" sz="2400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868" y="1371009"/>
                <a:ext cx="12011132" cy="4307333"/>
              </a:xfrm>
              <a:prstGeom prst="rect">
                <a:avLst/>
              </a:prstGeom>
              <a:blipFill rotWithShape="0">
                <a:blip r:embed="rId3"/>
                <a:stretch>
                  <a:fillRect l="-711" t="-1133" r="-7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2012197" y="6356350"/>
            <a:ext cx="8167606" cy="365125"/>
          </a:xfrm>
        </p:spPr>
        <p:txBody>
          <a:bodyPr/>
          <a:lstStyle/>
          <a:p>
            <a:r>
              <a:rPr lang="en-US"/>
              <a:t>CS21206 / FAIML | Perceptron (c) Abir Das, Ayan Chaudhury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9844" y="6356350"/>
            <a:ext cx="783956" cy="365125"/>
          </a:xfrm>
        </p:spPr>
        <p:txBody>
          <a:bodyPr/>
          <a:lstStyle/>
          <a:p>
            <a:fld id="{683B8651-0143-4140-839E-3D36292080E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074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2882" y="925429"/>
            <a:ext cx="5395159" cy="5395159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2012197" y="6356350"/>
            <a:ext cx="8167606" cy="365125"/>
          </a:xfrm>
        </p:spPr>
        <p:txBody>
          <a:bodyPr/>
          <a:lstStyle/>
          <a:p>
            <a:r>
              <a:rPr lang="en-US"/>
              <a:t>CS21206 / FAIML | Perceptron (c) Abir Das, Ayan Chaudhury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0569844" y="6356350"/>
            <a:ext cx="783956" cy="365125"/>
          </a:xfrm>
        </p:spPr>
        <p:txBody>
          <a:bodyPr/>
          <a:lstStyle/>
          <a:p>
            <a:fld id="{683B8651-0143-4140-839E-3D36292080E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3142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8925" y="4153921"/>
            <a:ext cx="3581862" cy="2409616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012197" y="6377866"/>
            <a:ext cx="8167606" cy="365125"/>
          </a:xfrm>
        </p:spPr>
        <p:txBody>
          <a:bodyPr/>
          <a:lstStyle/>
          <a:p>
            <a:r>
              <a:rPr lang="en-US"/>
              <a:t>CS21206 / FAIML | Perceptron (c) Abir Das, Ayan Chaudhury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0569844" y="6356350"/>
            <a:ext cx="783956" cy="365125"/>
          </a:xfrm>
        </p:spPr>
        <p:txBody>
          <a:bodyPr/>
          <a:lstStyle/>
          <a:p>
            <a:fld id="{683B8651-0143-4140-839E-3D36292080E8}" type="slidenum">
              <a:rPr lang="en-US" smtClean="0"/>
              <a:t>17</a:t>
            </a:fld>
            <a:endParaRPr lang="en-US"/>
          </a:p>
        </p:txBody>
      </p:sp>
      <p:sp>
        <p:nvSpPr>
          <p:cNvPr id="15" name="Google Shape;100;p14"/>
          <p:cNvSpPr txBox="1"/>
          <p:nvPr/>
        </p:nvSpPr>
        <p:spPr>
          <a:xfrm>
            <a:off x="2501680" y="832857"/>
            <a:ext cx="7208400" cy="8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434343"/>
                </a:solidFill>
              </a:rPr>
              <a:t>Popular Choices of Activation Functions</a:t>
            </a:r>
            <a:endParaRPr sz="2800" dirty="0">
              <a:solidFill>
                <a:srgbClr val="434343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" y="1253307"/>
            <a:ext cx="2501680" cy="25016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2501680" y="1468058"/>
                <a:ext cx="2575641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Linear activation function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IN" sz="18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Unbounded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1680" y="1468058"/>
                <a:ext cx="2575641" cy="1200329"/>
              </a:xfrm>
              <a:prstGeom prst="rect">
                <a:avLst/>
              </a:prstGeom>
              <a:blipFill rotWithShape="0">
                <a:blip r:embed="rId5"/>
                <a:stretch>
                  <a:fillRect l="-1891" t="-3046" r="-1655" b="-507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8925" y="1253307"/>
            <a:ext cx="3712290" cy="249735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9280787" y="1468058"/>
                <a:ext cx="2896370" cy="16286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Sigmoid activation function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m:rPr>
                            <m:sty m:val="p"/>
                          </m:rPr>
                          <a:rPr lang="en-US" sz="1800" b="0" i="0" smtClean="0">
                            <a:latin typeface="Cambria Math" panose="02040503050406030204" pitchFamily="18" charset="0"/>
                          </a:rPr>
                          <m:t>exp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⁡(−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IN" sz="18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Bounded (0, 1)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800" dirty="0"/>
                  <a:t>Always positive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(1−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0787" y="1468058"/>
                <a:ext cx="2896370" cy="1628651"/>
              </a:xfrm>
              <a:prstGeom prst="rect">
                <a:avLst/>
              </a:prstGeom>
              <a:blipFill rotWithShape="0">
                <a:blip r:embed="rId7"/>
                <a:stretch>
                  <a:fillRect l="-1681" t="-2247" b="-374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" y="4153921"/>
            <a:ext cx="3216765" cy="216400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3118439" y="4175437"/>
                <a:ext cx="2674322" cy="22694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tanh activation function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𝑡𝑎𝑛h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br>
                  <a:rPr lang="en-US" sz="1800" b="0" i="1" dirty="0">
                    <a:latin typeface="Cambria Math" panose="02040503050406030204" pitchFamily="18" charset="0"/>
                  </a:rPr>
                </a:br>
                <a:r>
                  <a:rPr lang="en-US" sz="1800" b="0" i="1" dirty="0">
                    <a:latin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800" b="0" i="0" smtClean="0">
                                <a:latin typeface="Cambria Math" panose="02040503050406030204" pitchFamily="18" charset="0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d>
                          </m:e>
                        </m:func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sz="1800" b="0" i="0" smtClean="0">
                            <a:latin typeface="Cambria Math" panose="02040503050406030204" pitchFamily="18" charset="0"/>
                          </a:rPr>
                          <m:t>exp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⁡(−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1800" b="0" i="0" smtClean="0">
                            <a:latin typeface="Cambria Math" panose="02040503050406030204" pitchFamily="18" charset="0"/>
                          </a:rPr>
                          <m:t>exp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)+</m:t>
                        </m:r>
                        <m:r>
                          <m:rPr>
                            <m:sty m:val="p"/>
                          </m:rPr>
                          <a:rPr lang="en-US" sz="1800" b="0" i="0" smtClean="0">
                            <a:latin typeface="Cambria Math" panose="02040503050406030204" pitchFamily="18" charset="0"/>
                          </a:rPr>
                          <m:t>exp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⁡(−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IN" sz="18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Bounded (-1, 1)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800" dirty="0"/>
                  <a:t>Can be positive or</a:t>
                </a:r>
                <a:br>
                  <a:rPr lang="en-US" sz="1800" dirty="0"/>
                </a:br>
                <a:r>
                  <a:rPr lang="en-US" sz="1800" dirty="0"/>
                  <a:t>negative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8439" y="4175437"/>
                <a:ext cx="2674322" cy="2269467"/>
              </a:xfrm>
              <a:prstGeom prst="rect">
                <a:avLst/>
              </a:prstGeom>
              <a:blipFill rotWithShape="0">
                <a:blip r:embed="rId9"/>
                <a:stretch>
                  <a:fillRect l="-2055" t="-161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9411215" y="4180322"/>
                <a:ext cx="2701381" cy="18868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ReLU activation function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800" b="0" i="0" smtClean="0">
                        <a:latin typeface="Cambria Math" panose="02040503050406030204" pitchFamily="18" charset="0"/>
                      </a:rPr>
                      <m:t>max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⁡(0,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18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Bounded below by 0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But not upper-bounded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)=</m:t>
                    </m:r>
                    <m:d>
                      <m:dPr>
                        <m:begChr m:val="{"/>
                        <m:endChr m:val="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&amp;0, 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&lt;0</m:t>
                            </m:r>
                          </m:e>
                        </m:eqArr>
                      </m:e>
                    </m:d>
                  </m:oMath>
                </a14:m>
                <a:endParaRPr lang="en-IN" sz="1800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1215" y="4180322"/>
                <a:ext cx="2701381" cy="1886863"/>
              </a:xfrm>
              <a:prstGeom prst="rect">
                <a:avLst/>
              </a:prstGeom>
              <a:blipFill>
                <a:blip r:embed="rId10"/>
                <a:stretch>
                  <a:fillRect l="-2347" t="-15436" r="-939" b="-1013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2242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0" grpId="0"/>
      <p:bldP spid="2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nter4AITemplate" id="{0D5693AE-206D-E541-A370-EAE42AF6800D}" vid="{4B2C9114-E5EC-7D4A-AE95-EC178593E73C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nter4AITemplate" id="{0D5693AE-206D-E541-A370-EAE42AF6800D}" vid="{4B2C9114-E5EC-7D4A-AE95-EC178593E73C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Center4AITemplate</Template>
  <TotalTime>22918</TotalTime>
  <Words>1681</Words>
  <Application>Microsoft Macintosh PowerPoint</Application>
  <PresentationFormat>Widescreen</PresentationFormat>
  <Paragraphs>217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Arial Narrow</vt:lpstr>
      <vt:lpstr>Calibri</vt:lpstr>
      <vt:lpstr>Cambria Math</vt:lpstr>
      <vt:lpstr>Quattrocento Sans</vt:lpstr>
      <vt:lpstr>Segoe UI</vt:lpstr>
      <vt:lpstr>Office Theme</vt:lpstr>
      <vt:lpstr>1_Office Theme</vt:lpstr>
      <vt:lpstr>Foundations of AI and ML CS21206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 Foundations and Applications</dc:title>
  <dc:creator>Das, Abir</dc:creator>
  <cp:lastModifiedBy>abir</cp:lastModifiedBy>
  <cp:revision>290</cp:revision>
  <dcterms:created xsi:type="dcterms:W3CDTF">2019-01-13T09:33:50Z</dcterms:created>
  <dcterms:modified xsi:type="dcterms:W3CDTF">2026-03-03T10:04:38Z</dcterms:modified>
</cp:coreProperties>
</file>